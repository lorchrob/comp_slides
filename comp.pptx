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5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419" r:id="rId89"/>
    <p:sldId id="382" r:id="rId90"/>
    <p:sldId id="369" r:id="rId91"/>
    <p:sldId id="371" r:id="rId92"/>
    <p:sldId id="370" r:id="rId93"/>
    <p:sldId id="384" r:id="rId94"/>
    <p:sldId id="417" r:id="rId95"/>
    <p:sldId id="372" r:id="rId96"/>
    <p:sldId id="385" r:id="rId97"/>
    <p:sldId id="352" r:id="rId98"/>
    <p:sldId id="272" r:id="rId99"/>
    <p:sldId id="407" r:id="rId100"/>
    <p:sldId id="273" r:id="rId101"/>
    <p:sldId id="414" r:id="rId102"/>
    <p:sldId id="415" r:id="rId103"/>
    <p:sldId id="412" r:id="rId104"/>
    <p:sldId id="413" r:id="rId105"/>
    <p:sldId id="416" r:id="rId106"/>
    <p:sldId id="301" r:id="rId107"/>
    <p:sldId id="300" r:id="rId108"/>
    <p:sldId id="270" r:id="rId109"/>
    <p:sldId id="345" r:id="rId110"/>
    <p:sldId id="346" r:id="rId111"/>
    <p:sldId id="347" r:id="rId112"/>
    <p:sldId id="361" r:id="rId113"/>
    <p:sldId id="378" r:id="rId114"/>
    <p:sldId id="348" r:id="rId115"/>
    <p:sldId id="360" r:id="rId116"/>
    <p:sldId id="363" r:id="rId117"/>
    <p:sldId id="349" r:id="rId118"/>
    <p:sldId id="353" r:id="rId119"/>
    <p:sldId id="355" r:id="rId120"/>
    <p:sldId id="317" r:id="rId121"/>
    <p:sldId id="299" r:id="rId122"/>
    <p:sldId id="316" r:id="rId123"/>
    <p:sldId id="257" r:id="rId1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4" autoAdjust="0"/>
    <p:restoredTop sz="85918"/>
  </p:normalViewPr>
  <p:slideViewPr>
    <p:cSldViewPr snapToGrid="0">
      <p:cViewPr>
        <p:scale>
          <a:sx n="78" d="100"/>
          <a:sy n="78" d="100"/>
        </p:scale>
        <p:origin x="69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86.png"/><Relationship Id="rId7" Type="http://schemas.openxmlformats.org/officeDocument/2006/relationships/image" Target="../media/image32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88.png"/><Relationship Id="rId10" Type="http://schemas.openxmlformats.org/officeDocument/2006/relationships/image" Target="../media/image89.png"/><Relationship Id="rId4" Type="http://schemas.openxmlformats.org/officeDocument/2006/relationships/image" Target="../media/image87.png"/><Relationship Id="rId9" Type="http://schemas.openxmlformats.org/officeDocument/2006/relationships/image" Target="../media/image35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6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0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5.png"/><Relationship Id="rId4" Type="http://schemas.openxmlformats.org/officeDocument/2006/relationships/image" Target="../media/image112.png"/><Relationship Id="rId9" Type="http://schemas.openxmlformats.org/officeDocument/2006/relationships/image" Target="../media/image10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05.png"/><Relationship Id="rId4" Type="http://schemas.openxmlformats.org/officeDocument/2006/relationships/image" Target="../media/image12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22.png"/><Relationship Id="rId7" Type="http://schemas.openxmlformats.org/officeDocument/2006/relationships/image" Target="../media/image102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2099864" y="2692117"/>
            <a:ext cx="1458122" cy="1929455"/>
            <a:chOff x="2146300" y="2692117"/>
            <a:chExt cx="1458122" cy="1929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146300" y="3948985"/>
              <a:ext cx="145812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974850" y="4588235"/>
            <a:ext cx="1708150" cy="2051996"/>
            <a:chOff x="1974850" y="4588235"/>
            <a:chExt cx="1708150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974850" y="5967644"/>
              <a:ext cx="17081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(semi)-automated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1117600" y="1612583"/>
            <a:ext cx="10525760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1117600" y="3352182"/>
            <a:ext cx="10525760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261143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447823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261143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447823" y="4244849"/>
            <a:ext cx="5195537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51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91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1117600" y="5035191"/>
            <a:ext cx="10525760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1171591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447823" y="5889266"/>
            <a:ext cx="5195537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24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268425-787A-EE67-7AE8-D786A7CA8056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2873C5-2BCB-0426-B2DB-D2A6CC8EC5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565D10D-C2EA-18ED-B065-AAB7CCEE354C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4922643" y="4006468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5473369" y="4683309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27358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43139F-27EB-8342-44F7-EBBC52120B13}"/>
              </a:ext>
            </a:extLst>
          </p:cNvPr>
          <p:cNvSpPr/>
          <p:nvPr/>
        </p:nvSpPr>
        <p:spPr>
          <a:xfrm>
            <a:off x="5029199" y="4318348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5918A8-10B3-FBAC-4A0B-D7BE2DF81C57}"/>
              </a:ext>
            </a:extLst>
          </p:cNvPr>
          <p:cNvSpPr/>
          <p:nvPr/>
        </p:nvSpPr>
        <p:spPr>
          <a:xfrm>
            <a:off x="5078776" y="4219854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𝐷𝑒𝑐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𝐸𝑛𝑐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𝐺𝑒𝑛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𝐸𝑛𝑐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𝐷𝑒𝑐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3084050"/>
            <a:ext cx="12192000" cy="1544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currently too difficult to automate, so we instead use the symbolic threat model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facts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𝑒𝑛𝑐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6667" r="-33333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4059653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25" grpId="0"/>
      <p:bldP spid="26" grpId="0"/>
      <p:bldP spid="27" grpId="0" animBg="1"/>
      <p:bldP spid="18" grpId="0"/>
      <p:bldP spid="20" grpId="0"/>
      <p:bldP spid="21" grpId="0"/>
      <p:bldP spid="35" grpId="0" animBg="1"/>
      <p:bldP spid="38" grpId="0" animBg="1"/>
      <p:bldP spid="40" grpId="0"/>
      <p:bldP spid="41" grpId="0"/>
      <p:bldP spid="42" grpId="0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𝑂𝑢𝑡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𝐼𝑛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𝐾𝑒𝑦𝐵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{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𝑀𝑦𝐸𝑛𝑐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}</m:t>
                          </m:r>
                        </m:sup>
                      </m:sSup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𝐹𝑟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𝐾𝑒𝑦𝐵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974554-2FD0-1B33-591D-992A645E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86D1EC-B8A1-3888-792C-9DF368AA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1281545" y="3536457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1267690" y="3939090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1F48DC-3375-8098-7CF8-B70A5EDD44B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𝐼𝑑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3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𝑆𝑒𝑐𝑟𝑒𝑡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𝑆𝑒𝑐𝑟𝑒𝑡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3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172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𝐸𝑞𝑢𝑖𝑣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7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We have achieved mutual authentication!(?)</a:t>
                </a:r>
              </a:p>
              <a:p>
                <a:pPr algn="ctr"/>
                <a:endParaRPr lang="en-US" sz="18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blipFill>
                <a:blip r:embed="rId3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𝑅𝑒𝑣𝑒𝑎𝑙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blipFill>
                <a:blip r:embed="rId5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10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4767943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4767943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5E090C31-A8A4-2C6B-B263-D594BF52846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3C0B6612-DC15-CA90-EA96-4EC2594F10A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12080" y="2724316"/>
            <a:ext cx="3515360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338112" y="3175000"/>
            <a:ext cx="4287727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7B380F-7AD5-DC68-DD2D-E1AA7779E69F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2" grpId="0" animBg="1"/>
      <p:bldP spid="16" grpId="0" animBg="1"/>
      <p:bldP spid="1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14817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14817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ea typeface="Source Sans Pro"/>
              </a:rPr>
              <a:t>Reminder: symbolic model (unbounded)                protocol security is undecidable</a:t>
            </a:r>
            <a:endParaRPr lang="en-US" sz="3200" dirty="0">
              <a:solidFill>
                <a:schemeClr val="accent6">
                  <a:lumMod val="7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3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04380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I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but gets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𝑡𝑎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3" name="Picture 12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61C6F8A8-9751-0408-87C2-548F82D2C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304" y="2438600"/>
            <a:ext cx="4344995" cy="34378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311" y="4219927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246356" y="3450344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3.</m:t>
                      </m:r>
                      <m:r>
                        <a:rPr lang="en-US" i="1">
                          <a:latin typeface="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335332" y="4948562"/>
            <a:ext cx="4289566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2620138" y="5843030"/>
            <a:ext cx="3604671" cy="5543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0" y="2756392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14" grpId="0" animBg="1"/>
      <p:bldP spid="15" grpId="0" animBg="1"/>
      <p:bldP spid="19" grpId="0" animBg="1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37279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524000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454401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2CDD4-A2CB-32B7-F2A2-3F82765ECBCD}"/>
              </a:ext>
            </a:extLst>
          </p:cNvPr>
          <p:cNvGrpSpPr/>
          <p:nvPr/>
        </p:nvGrpSpPr>
        <p:grpSpPr>
          <a:xfrm>
            <a:off x="2570480" y="3820160"/>
            <a:ext cx="6725329" cy="2887043"/>
            <a:chOff x="2487168" y="3440475"/>
            <a:chExt cx="7065264" cy="34211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F69930-C776-20D9-9B54-216A6A2E91D6}"/>
                </a:ext>
              </a:extLst>
            </p:cNvPr>
            <p:cNvSpPr/>
            <p:nvPr/>
          </p:nvSpPr>
          <p:spPr>
            <a:xfrm>
              <a:off x="2487168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B765F9C-1C59-4D91-07DA-684D125E4978}"/>
                </a:ext>
              </a:extLst>
            </p:cNvPr>
            <p:cNvSpPr/>
            <p:nvPr/>
          </p:nvSpPr>
          <p:spPr>
            <a:xfrm>
              <a:off x="4419600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591F1D5-E183-AA04-E8A2-35920459F27E}"/>
                </a:ext>
              </a:extLst>
            </p:cNvPr>
            <p:cNvSpPr/>
            <p:nvPr/>
          </p:nvSpPr>
          <p:spPr>
            <a:xfrm>
              <a:off x="6352032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06A176-F6D2-0183-B3A1-65B916D475A9}"/>
                </a:ext>
              </a:extLst>
            </p:cNvPr>
            <p:cNvSpPr/>
            <p:nvPr/>
          </p:nvSpPr>
          <p:spPr>
            <a:xfrm>
              <a:off x="8284464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D7CE68-BBD2-4DE4-ED8A-246528FCF1B5}"/>
                </a:ext>
              </a:extLst>
            </p:cNvPr>
            <p:cNvSpPr/>
            <p:nvPr/>
          </p:nvSpPr>
          <p:spPr>
            <a:xfrm>
              <a:off x="5404104" y="5923915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7F912332-AB1B-C695-5BF6-5CC516A5CCF2}"/>
                </a:ext>
              </a:extLst>
            </p:cNvPr>
            <p:cNvCxnSpPr>
              <a:cxnSpLocks/>
              <a:stCxn id="11" idx="1"/>
              <a:endCxn id="5" idx="2"/>
            </p:cNvCxnSpPr>
            <p:nvPr/>
          </p:nvCxnSpPr>
          <p:spPr>
            <a:xfrm rot="10800000">
              <a:off x="3121152" y="5604447"/>
              <a:ext cx="2282952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478B3F80-9B63-E799-2CC3-9E24F3931DA8}"/>
                </a:ext>
              </a:extLst>
            </p:cNvPr>
            <p:cNvCxnSpPr>
              <a:cxnSpLocks/>
              <a:stCxn id="11" idx="3"/>
              <a:endCxn id="10" idx="2"/>
            </p:cNvCxnSpPr>
            <p:nvPr/>
          </p:nvCxnSpPr>
          <p:spPr>
            <a:xfrm flipV="1">
              <a:off x="6672072" y="5604447"/>
              <a:ext cx="2246376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>
              <a:extLst>
                <a:ext uri="{FF2B5EF4-FFF2-40B4-BE49-F238E27FC236}">
                  <a16:creationId xmlns:a16="http://schemas.microsoft.com/office/drawing/2014/main" id="{ED29170D-C608-5EE6-BCF0-727E7CDC8BF7}"/>
                </a:ext>
              </a:extLst>
            </p:cNvPr>
            <p:cNvCxnSpPr>
              <a:cxnSpLocks/>
              <a:stCxn id="11" idx="1"/>
              <a:endCxn id="8" idx="2"/>
            </p:cNvCxnSpPr>
            <p:nvPr/>
          </p:nvCxnSpPr>
          <p:spPr>
            <a:xfrm rot="10800000">
              <a:off x="5053584" y="5604447"/>
              <a:ext cx="350520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656132C5-635D-C8B6-13A7-0DD6DEC7B299}"/>
                </a:ext>
              </a:extLst>
            </p:cNvPr>
            <p:cNvCxnSpPr>
              <a:cxnSpLocks/>
              <a:stCxn id="11" idx="3"/>
              <a:endCxn id="9" idx="2"/>
            </p:cNvCxnSpPr>
            <p:nvPr/>
          </p:nvCxnSpPr>
          <p:spPr>
            <a:xfrm flipV="1">
              <a:off x="6672072" y="56044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F00FD49-A5B5-E700-9AC7-89275E879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2357" y="5831884"/>
              <a:ext cx="476504" cy="476504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52167E3-17E3-D57A-92A9-70000F3B5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9631" y="5831884"/>
              <a:ext cx="476504" cy="476504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E7C7281-C90E-E0C0-3BE1-20F42FE3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6475" y="5819692"/>
              <a:ext cx="500888" cy="500888"/>
            </a:xfrm>
            <a:prstGeom prst="rect">
              <a:avLst/>
            </a:prstGeom>
          </p:spPr>
        </p:pic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3E319BDC-A2C6-88FE-2039-B0E17E60EA4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16200000" flipH="1">
              <a:off x="5474494" y="5360321"/>
              <a:ext cx="776668" cy="350520"/>
            </a:xfrm>
            <a:prstGeom prst="bentConnector3">
              <a:avLst>
                <a:gd name="adj1" fmla="val -2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D0680970-AC2F-EB19-AAA9-44A6596F232C}"/>
                </a:ext>
              </a:extLst>
            </p:cNvPr>
            <p:cNvCxnSpPr>
              <a:cxnSpLocks/>
              <a:stCxn id="9" idx="1"/>
              <a:endCxn id="11" idx="0"/>
            </p:cNvCxnSpPr>
            <p:nvPr/>
          </p:nvCxnSpPr>
          <p:spPr>
            <a:xfrm rot="10800000" flipV="1">
              <a:off x="6038088" y="51472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8CC4BB0-2E84-1437-DAB5-1EFC20F5862C}"/>
                </a:ext>
              </a:extLst>
            </p:cNvPr>
            <p:cNvCxnSpPr>
              <a:cxnSpLocks/>
              <a:stCxn id="10" idx="0"/>
              <a:endCxn id="11" idx="0"/>
            </p:cNvCxnSpPr>
            <p:nvPr/>
          </p:nvCxnSpPr>
          <p:spPr>
            <a:xfrm rot="16200000" flipH="1" flipV="1">
              <a:off x="6861334" y="3866801"/>
              <a:ext cx="1233868" cy="2880360"/>
            </a:xfrm>
            <a:prstGeom prst="bentConnector3">
              <a:avLst>
                <a:gd name="adj1" fmla="val -2927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7CF1E0B4-FDF6-549A-2FA8-9F5808DE46A0}"/>
                </a:ext>
              </a:extLst>
            </p:cNvPr>
            <p:cNvCxnSpPr>
              <a:cxnSpLocks/>
              <a:stCxn id="5" idx="0"/>
              <a:endCxn id="11" idx="0"/>
            </p:cNvCxnSpPr>
            <p:nvPr/>
          </p:nvCxnSpPr>
          <p:spPr>
            <a:xfrm rot="16200000" flipH="1">
              <a:off x="3962686" y="3848513"/>
              <a:ext cx="1233868" cy="2916936"/>
            </a:xfrm>
            <a:prstGeom prst="bentConnector3">
              <a:avLst>
                <a:gd name="adj1" fmla="val -2939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879377B4-E86C-9A19-6778-B1D4CB0B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5857" y="3725734"/>
              <a:ext cx="476504" cy="476504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5D7FA38-7EC8-8849-E603-5F9027EED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131" y="3725734"/>
              <a:ext cx="476504" cy="476504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6916E8A-D83C-FB78-0F08-6092E202D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86679" y="3713542"/>
              <a:ext cx="500888" cy="500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F8E46FB4-5505-2D6B-EF28-8CA081830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90686" y="5831884"/>
              <a:ext cx="476504" cy="47650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2143079-FDF6-FED4-DA45-1A3F9AF82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7960" y="5831884"/>
              <a:ext cx="476504" cy="476504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F19D24E6-E3E2-B209-12E5-1F24EA63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4804" y="5819692"/>
              <a:ext cx="500888" cy="500888"/>
            </a:xfrm>
            <a:prstGeom prst="rect">
              <a:avLst/>
            </a:prstGeom>
          </p:spPr>
        </p:pic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5892A11D-D3E4-5DD4-50FB-9C69DE612000}"/>
                </a:ext>
              </a:extLst>
            </p:cNvPr>
            <p:cNvSpPr txBox="1">
              <a:spLocks/>
            </p:cNvSpPr>
            <p:nvPr/>
          </p:nvSpPr>
          <p:spPr>
            <a:xfrm>
              <a:off x="5362914" y="6168407"/>
              <a:ext cx="1341753" cy="46224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Environment multiplexer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0017CA83-264C-DD00-6487-142E84330011}"/>
                </a:ext>
              </a:extLst>
            </p:cNvPr>
            <p:cNvSpPr txBox="1">
              <a:spLocks/>
            </p:cNvSpPr>
            <p:nvPr/>
          </p:nvSpPr>
          <p:spPr>
            <a:xfrm>
              <a:off x="2487168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1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3" name="Content Placeholder 2">
              <a:extLst>
                <a:ext uri="{FF2B5EF4-FFF2-40B4-BE49-F238E27FC236}">
                  <a16:creationId xmlns:a16="http://schemas.microsoft.com/office/drawing/2014/main" id="{A8C4C458-982B-4F45-7C89-3694B4C75711}"/>
                </a:ext>
              </a:extLst>
            </p:cNvPr>
            <p:cNvSpPr txBox="1">
              <a:spLocks/>
            </p:cNvSpPr>
            <p:nvPr/>
          </p:nvSpPr>
          <p:spPr>
            <a:xfrm>
              <a:off x="4419600" y="4778390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2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4" name="Content Placeholder 2">
              <a:extLst>
                <a:ext uri="{FF2B5EF4-FFF2-40B4-BE49-F238E27FC236}">
                  <a16:creationId xmlns:a16="http://schemas.microsoft.com/office/drawing/2014/main" id="{3BCA634C-1FE7-DEA4-D14B-44F351577811}"/>
                </a:ext>
              </a:extLst>
            </p:cNvPr>
            <p:cNvSpPr txBox="1">
              <a:spLocks/>
            </p:cNvSpPr>
            <p:nvPr/>
          </p:nvSpPr>
          <p:spPr>
            <a:xfrm>
              <a:off x="6350125" y="4773879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5" name="Content Placeholder 2">
              <a:extLst>
                <a:ext uri="{FF2B5EF4-FFF2-40B4-BE49-F238E27FC236}">
                  <a16:creationId xmlns:a16="http://schemas.microsoft.com/office/drawing/2014/main" id="{B669791E-151B-F769-829A-562105671363}"/>
                </a:ext>
              </a:extLst>
            </p:cNvPr>
            <p:cNvSpPr txBox="1">
              <a:spLocks/>
            </p:cNvSpPr>
            <p:nvPr/>
          </p:nvSpPr>
          <p:spPr>
            <a:xfrm>
              <a:off x="8284464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Adversary step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6" name="Content Placeholder 2">
              <a:extLst>
                <a:ext uri="{FF2B5EF4-FFF2-40B4-BE49-F238E27FC236}">
                  <a16:creationId xmlns:a16="http://schemas.microsoft.com/office/drawing/2014/main" id="{C8C85CB7-E87B-ECC6-32D8-9B795F38D54C}"/>
                </a:ext>
              </a:extLst>
            </p:cNvPr>
            <p:cNvSpPr txBox="1">
              <a:spLocks/>
            </p:cNvSpPr>
            <p:nvPr/>
          </p:nvSpPr>
          <p:spPr>
            <a:xfrm>
              <a:off x="4803139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State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</p:txBody>
        </p:sp>
        <p:sp>
          <p:nvSpPr>
            <p:cNvPr id="77" name="Content Placeholder 2">
              <a:extLst>
                <a:ext uri="{FF2B5EF4-FFF2-40B4-BE49-F238E27FC236}">
                  <a16:creationId xmlns:a16="http://schemas.microsoft.com/office/drawing/2014/main" id="{D28C5D49-86CB-A912-8758-BB5C3745BB48}"/>
                </a:ext>
              </a:extLst>
            </p:cNvPr>
            <p:cNvSpPr txBox="1">
              <a:spLocks/>
            </p:cNvSpPr>
            <p:nvPr/>
          </p:nvSpPr>
          <p:spPr>
            <a:xfrm>
              <a:off x="5650101" y="3457152"/>
              <a:ext cx="2179067" cy="2471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dirty="0">
                  <a:latin typeface=""/>
                  <a:ea typeface="Source Sans Pro"/>
                </a:rPr>
                <a:t>Adversary knowledge</a:t>
              </a:r>
              <a:endParaRPr lang="en-US" sz="15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81" name="Content Placeholder 2">
              <a:extLst>
                <a:ext uri="{FF2B5EF4-FFF2-40B4-BE49-F238E27FC236}">
                  <a16:creationId xmlns:a16="http://schemas.microsoft.com/office/drawing/2014/main" id="{EF5F80CF-A730-78EB-248C-82EEAAF81307}"/>
                </a:ext>
              </a:extLst>
            </p:cNvPr>
            <p:cNvSpPr txBox="1">
              <a:spLocks/>
            </p:cNvSpPr>
            <p:nvPr/>
          </p:nvSpPr>
          <p:spPr>
            <a:xfrm>
              <a:off x="3635500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Session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821B072-3CEC-08C1-1893-66C3CC681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3818" y="3766436"/>
              <a:ext cx="395100" cy="3951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99A81680-CF40-9278-4FED-C61D1BF9C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59435" y="6460807"/>
              <a:ext cx="395100" cy="39510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3927E5B-17FD-9B1C-5757-4A33E5803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917" y="6466552"/>
              <a:ext cx="395100" cy="3951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A97808D-5D20-E50B-6CFB-26A3DA2B8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15228" y="5060528"/>
              <a:ext cx="415207" cy="415207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B6C99A1-416A-687D-1969-1E346632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88903" y="5060528"/>
              <a:ext cx="415207" cy="415207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45BDFF4-ACC7-564E-CB60-4D442D828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6978" y="5060528"/>
              <a:ext cx="415207" cy="415207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A25CF4D-A406-C119-6859-BA8697F3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15278" y="5060528"/>
              <a:ext cx="415207" cy="415207"/>
            </a:xfrm>
            <a:prstGeom prst="rect">
              <a:avLst/>
            </a:prstGeom>
          </p:spPr>
        </p:pic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1321776" y="2398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1C3B9F-5B98-36F2-E05A-554CE24BDF39}"/>
              </a:ext>
            </a:extLst>
          </p:cNvPr>
          <p:cNvSpPr/>
          <p:nvPr/>
        </p:nvSpPr>
        <p:spPr>
          <a:xfrm>
            <a:off x="4611199" y="2986159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124ACD1-828C-6EDE-1C19-350777C7F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238" y="2420188"/>
            <a:ext cx="467360" cy="4673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389E5A-A31F-DAD0-BB51-3C2EBCCF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76" y="2920393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--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20606</TotalTime>
  <Words>8156</Words>
  <Application>Microsoft Macintosh PowerPoint</Application>
  <PresentationFormat>Widescreen</PresentationFormat>
  <Paragraphs>1118</Paragraphs>
  <Slides>123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34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1036</cp:revision>
  <cp:lastPrinted>2026-04-01T18:06:29Z</cp:lastPrinted>
  <dcterms:created xsi:type="dcterms:W3CDTF">2026-03-16T17:02:12Z</dcterms:created>
  <dcterms:modified xsi:type="dcterms:W3CDTF">2026-04-21T22:25:16Z</dcterms:modified>
</cp:coreProperties>
</file>