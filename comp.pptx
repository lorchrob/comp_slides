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3"/>
  </p:notesMasterIdLst>
  <p:sldIdLst>
    <p:sldId id="256" r:id="rId2"/>
    <p:sldId id="357" r:id="rId3"/>
    <p:sldId id="278" r:id="rId4"/>
    <p:sldId id="356" r:id="rId5"/>
    <p:sldId id="291" r:id="rId6"/>
    <p:sldId id="290" r:id="rId7"/>
    <p:sldId id="266" r:id="rId8"/>
    <p:sldId id="395" r:id="rId9"/>
    <p:sldId id="343" r:id="rId10"/>
    <p:sldId id="379" r:id="rId11"/>
    <p:sldId id="280" r:id="rId12"/>
    <p:sldId id="393" r:id="rId13"/>
    <p:sldId id="394" r:id="rId14"/>
    <p:sldId id="281" r:id="rId15"/>
    <p:sldId id="309" r:id="rId16"/>
    <p:sldId id="332" r:id="rId17"/>
    <p:sldId id="333" r:id="rId18"/>
    <p:sldId id="282" r:id="rId19"/>
    <p:sldId id="284" r:id="rId20"/>
    <p:sldId id="358" r:id="rId21"/>
    <p:sldId id="283" r:id="rId22"/>
    <p:sldId id="387" r:id="rId23"/>
    <p:sldId id="388" r:id="rId24"/>
    <p:sldId id="389" r:id="rId25"/>
    <p:sldId id="391" r:id="rId26"/>
    <p:sldId id="380" r:id="rId27"/>
    <p:sldId id="263" r:id="rId28"/>
    <p:sldId id="427" r:id="rId29"/>
    <p:sldId id="289" r:id="rId30"/>
    <p:sldId id="292" r:id="rId31"/>
    <p:sldId id="293" r:id="rId32"/>
    <p:sldId id="294" r:id="rId33"/>
    <p:sldId id="298" r:id="rId34"/>
    <p:sldId id="338" r:id="rId35"/>
    <p:sldId id="325" r:id="rId36"/>
    <p:sldId id="397" r:id="rId37"/>
    <p:sldId id="398" r:id="rId38"/>
    <p:sldId id="275" r:id="rId39"/>
    <p:sldId id="318" r:id="rId40"/>
    <p:sldId id="319" r:id="rId41"/>
    <p:sldId id="320" r:id="rId42"/>
    <p:sldId id="322" r:id="rId43"/>
    <p:sldId id="321" r:id="rId44"/>
    <p:sldId id="324" r:id="rId45"/>
    <p:sldId id="323" r:id="rId46"/>
    <p:sldId id="376" r:id="rId47"/>
    <p:sldId id="326" r:id="rId48"/>
    <p:sldId id="400" r:id="rId49"/>
    <p:sldId id="399" r:id="rId50"/>
    <p:sldId id="329" r:id="rId51"/>
    <p:sldId id="302" r:id="rId52"/>
    <p:sldId id="331" r:id="rId53"/>
    <p:sldId id="276" r:id="rId54"/>
    <p:sldId id="401" r:id="rId55"/>
    <p:sldId id="405" r:id="rId56"/>
    <p:sldId id="403" r:id="rId57"/>
    <p:sldId id="404" r:id="rId58"/>
    <p:sldId id="402" r:id="rId59"/>
    <p:sldId id="303" r:id="rId60"/>
    <p:sldId id="330" r:id="rId61"/>
    <p:sldId id="337" r:id="rId62"/>
    <p:sldId id="340" r:id="rId63"/>
    <p:sldId id="312" r:id="rId64"/>
    <p:sldId id="262" r:id="rId65"/>
    <p:sldId id="334" r:id="rId66"/>
    <p:sldId id="335" r:id="rId67"/>
    <p:sldId id="336" r:id="rId68"/>
    <p:sldId id="365" r:id="rId69"/>
    <p:sldId id="367" r:id="rId70"/>
    <p:sldId id="368" r:id="rId71"/>
    <p:sldId id="430" r:id="rId72"/>
    <p:sldId id="431" r:id="rId73"/>
    <p:sldId id="307" r:id="rId74"/>
    <p:sldId id="306" r:id="rId75"/>
    <p:sldId id="366" r:id="rId76"/>
    <p:sldId id="310" r:id="rId77"/>
    <p:sldId id="373" r:id="rId78"/>
    <p:sldId id="432" r:id="rId79"/>
    <p:sldId id="311" r:id="rId80"/>
    <p:sldId id="410" r:id="rId81"/>
    <p:sldId id="314" r:id="rId82"/>
    <p:sldId id="419" r:id="rId83"/>
    <p:sldId id="382" r:id="rId84"/>
    <p:sldId id="369" r:id="rId85"/>
    <p:sldId id="371" r:id="rId86"/>
    <p:sldId id="370" r:id="rId87"/>
    <p:sldId id="384" r:id="rId88"/>
    <p:sldId id="372" r:id="rId89"/>
    <p:sldId id="385" r:id="rId90"/>
    <p:sldId id="425" r:id="rId91"/>
    <p:sldId id="426" r:id="rId92"/>
    <p:sldId id="352" r:id="rId93"/>
    <p:sldId id="272" r:id="rId94"/>
    <p:sldId id="407" r:id="rId95"/>
    <p:sldId id="273" r:id="rId96"/>
    <p:sldId id="414" r:id="rId97"/>
    <p:sldId id="415" r:id="rId98"/>
    <p:sldId id="412" r:id="rId99"/>
    <p:sldId id="413" r:id="rId100"/>
    <p:sldId id="416" r:id="rId101"/>
    <p:sldId id="301" r:id="rId102"/>
    <p:sldId id="300" r:id="rId103"/>
    <p:sldId id="304" r:id="rId104"/>
    <p:sldId id="428" r:id="rId105"/>
    <p:sldId id="364" r:id="rId106"/>
    <p:sldId id="429" r:id="rId107"/>
    <p:sldId id="305" r:id="rId108"/>
    <p:sldId id="418" r:id="rId109"/>
    <p:sldId id="406" r:id="rId110"/>
    <p:sldId id="409" r:id="rId111"/>
    <p:sldId id="308" r:id="rId112"/>
    <p:sldId id="420" r:id="rId113"/>
    <p:sldId id="417" r:id="rId114"/>
    <p:sldId id="423" r:id="rId115"/>
    <p:sldId id="424" r:id="rId116"/>
    <p:sldId id="422" r:id="rId117"/>
    <p:sldId id="270" r:id="rId118"/>
    <p:sldId id="345" r:id="rId119"/>
    <p:sldId id="346" r:id="rId120"/>
    <p:sldId id="347" r:id="rId121"/>
    <p:sldId id="361" r:id="rId122"/>
    <p:sldId id="378" r:id="rId123"/>
    <p:sldId id="348" r:id="rId124"/>
    <p:sldId id="360" r:id="rId125"/>
    <p:sldId id="363" r:id="rId126"/>
    <p:sldId id="349" r:id="rId127"/>
    <p:sldId id="353" r:id="rId128"/>
    <p:sldId id="355" r:id="rId129"/>
    <p:sldId id="317" r:id="rId130"/>
    <p:sldId id="299" r:id="rId131"/>
    <p:sldId id="316" r:id="rId1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0F826-5AE4-1C40-1D2A-DC633039E620}" v="294" dt="2026-03-16T17:08:32.134"/>
    <p1510:client id="{5BAA2FE9-2AE3-1C6F-7B69-0FE2221A7331}" v="4365" dt="2026-03-17T00:27:49.150"/>
    <p1510:client id="{B02DEEF2-F061-53BA-C87A-FF5908ACECB1}" v="536" dt="2026-03-17T15:38:34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62" autoAdjust="0"/>
    <p:restoredTop sz="85919"/>
  </p:normalViewPr>
  <p:slideViewPr>
    <p:cSldViewPr snapToGrid="0">
      <p:cViewPr>
        <p:scale>
          <a:sx n="110" d="100"/>
          <a:sy n="110" d="100"/>
        </p:scale>
        <p:origin x="768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microsoft.com/office/2016/11/relationships/changesInfo" Target="changesInfos/changesInfo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presProps" Target="presProps.xml"/><Relationship Id="rId139" Type="http://schemas.microsoft.com/office/2015/10/relationships/revisionInfo" Target="revisionInfo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ch, Robert M" userId="S::rlorch@uiowa.edu::fab7d2ca-73fd-43ac-88ae-e4267d71ff13" providerId="AD" clId="Web-{B02DEEF2-F061-53BA-C87A-FF5908ACECB1}"/>
    <pc:docChg chg="addSld modSld sldOrd">
      <pc:chgData name="Lorch, Robert M" userId="S::rlorch@uiowa.edu::fab7d2ca-73fd-43ac-88ae-e4267d71ff13" providerId="AD" clId="Web-{B02DEEF2-F061-53BA-C87A-FF5908ACECB1}" dt="2026-03-17T15:38:34.404" v="537" actId="20577"/>
      <pc:docMkLst>
        <pc:docMk/>
      </pc:docMkLst>
      <pc:sldChg chg="modSp">
        <pc:chgData name="Lorch, Robert M" userId="S::rlorch@uiowa.edu::fab7d2ca-73fd-43ac-88ae-e4267d71ff13" providerId="AD" clId="Web-{B02DEEF2-F061-53BA-C87A-FF5908ACECB1}" dt="2026-03-17T15:38:34.404" v="537" actId="20577"/>
        <pc:sldMkLst>
          <pc:docMk/>
          <pc:sldMk cId="3827240189" sldId="260"/>
        </pc:sldMkLst>
        <pc:spChg chg="mod">
          <ac:chgData name="Lorch, Robert M" userId="S::rlorch@uiowa.edu::fab7d2ca-73fd-43ac-88ae-e4267d71ff13" providerId="AD" clId="Web-{B02DEEF2-F061-53BA-C87A-FF5908ACECB1}" dt="2026-03-17T15:38:34.404" v="537" actId="20577"/>
          <ac:spMkLst>
            <pc:docMk/>
            <pc:sldMk cId="3827240189" sldId="260"/>
            <ac:spMk id="3" creationId="{408FE3CC-B3C1-2EB5-2B26-CEE053F6D54F}"/>
          </ac:spMkLst>
        </pc:spChg>
      </pc:sldChg>
      <pc:sldChg chg="addSp delSp modSp">
        <pc:chgData name="Lorch, Robert M" userId="S::rlorch@uiowa.edu::fab7d2ca-73fd-43ac-88ae-e4267d71ff13" providerId="AD" clId="Web-{B02DEEF2-F061-53BA-C87A-FF5908ACECB1}" dt="2026-03-17T14:35:09.170" v="175" actId="20577"/>
        <pc:sldMkLst>
          <pc:docMk/>
          <pc:sldMk cId="2740590959" sldId="261"/>
        </pc:sldMkLst>
        <pc:spChg chg="mod">
          <ac:chgData name="Lorch, Robert M" userId="S::rlorch@uiowa.edu::fab7d2ca-73fd-43ac-88ae-e4267d71ff13" providerId="AD" clId="Web-{B02DEEF2-F061-53BA-C87A-FF5908ACECB1}" dt="2026-03-17T14:35:09.170" v="175" actId="20577"/>
          <ac:spMkLst>
            <pc:docMk/>
            <pc:sldMk cId="2740590959" sldId="261"/>
            <ac:spMk id="3" creationId="{AF5CADC4-C336-F3FF-CB42-A10E1EA9086C}"/>
          </ac:spMkLst>
        </pc:spChg>
        <pc:picChg chg="add del">
          <ac:chgData name="Lorch, Robert M" userId="S::rlorch@uiowa.edu::fab7d2ca-73fd-43ac-88ae-e4267d71ff13" providerId="AD" clId="Web-{B02DEEF2-F061-53BA-C87A-FF5908ACECB1}" dt="2026-03-17T14:20:00.510" v="8"/>
          <ac:picMkLst>
            <pc:docMk/>
            <pc:sldMk cId="2740590959" sldId="261"/>
            <ac:picMk id="6" creationId="{7FE97D8E-A90F-03C7-7BA6-F2B35D21B7C5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4:33:08.167" v="114"/>
          <ac:picMkLst>
            <pc:docMk/>
            <pc:sldMk cId="2740590959" sldId="261"/>
            <ac:picMk id="8" creationId="{C735EF69-6110-6416-D067-99A8BC37A0D4}"/>
          </ac:picMkLst>
        </pc:picChg>
        <pc:picChg chg="add del mod">
          <ac:chgData name="Lorch, Robert M" userId="S::rlorch@uiowa.edu::fab7d2ca-73fd-43ac-88ae-e4267d71ff13" providerId="AD" clId="Web-{B02DEEF2-F061-53BA-C87A-FF5908ACECB1}" dt="2026-03-17T14:21:19.089" v="23"/>
          <ac:picMkLst>
            <pc:docMk/>
            <pc:sldMk cId="2740590959" sldId="261"/>
            <ac:picMk id="9" creationId="{B599509D-7DB0-B9FA-4BF6-3578B4277F9C}"/>
          </ac:picMkLst>
        </pc:picChg>
      </pc:sldChg>
      <pc:sldChg chg="modSp">
        <pc:chgData name="Lorch, Robert M" userId="S::rlorch@uiowa.edu::fab7d2ca-73fd-43ac-88ae-e4267d71ff13" providerId="AD" clId="Web-{B02DEEF2-F061-53BA-C87A-FF5908ACECB1}" dt="2026-03-17T14:24:27.205" v="49" actId="20577"/>
        <pc:sldMkLst>
          <pc:docMk/>
          <pc:sldMk cId="2390616772" sldId="277"/>
        </pc:sldMkLst>
        <pc:spChg chg="mod">
          <ac:chgData name="Lorch, Robert M" userId="S::rlorch@uiowa.edu::fab7d2ca-73fd-43ac-88ae-e4267d71ff13" providerId="AD" clId="Web-{B02DEEF2-F061-53BA-C87A-FF5908ACECB1}" dt="2026-03-17T14:24:27.205" v="49" actId="20577"/>
          <ac:spMkLst>
            <pc:docMk/>
            <pc:sldMk cId="2390616772" sldId="277"/>
            <ac:spMk id="3" creationId="{A2769A3B-1AD2-7DE9-BA3C-9D6741CF1CF4}"/>
          </ac:spMkLst>
        </pc:spChg>
      </pc:sldChg>
      <pc:sldChg chg="modSp">
        <pc:chgData name="Lorch, Robert M" userId="S::rlorch@uiowa.edu::fab7d2ca-73fd-43ac-88ae-e4267d71ff13" providerId="AD" clId="Web-{B02DEEF2-F061-53BA-C87A-FF5908ACECB1}" dt="2026-03-17T14:33:26.808" v="119"/>
        <pc:sldMkLst>
          <pc:docMk/>
          <pc:sldMk cId="2589333419" sldId="278"/>
        </pc:sldMkLst>
        <pc:picChg chg="mod modCrop">
          <ac:chgData name="Lorch, Robert M" userId="S::rlorch@uiowa.edu::fab7d2ca-73fd-43ac-88ae-e4267d71ff13" providerId="AD" clId="Web-{B02DEEF2-F061-53BA-C87A-FF5908ACECB1}" dt="2026-03-17T14:33:26.808" v="119"/>
          <ac:picMkLst>
            <pc:docMk/>
            <pc:sldMk cId="2589333419" sldId="278"/>
            <ac:picMk id="5" creationId="{E24F264D-0BAD-E1FE-CF19-8575F2BBE2DD}"/>
          </ac:picMkLst>
        </pc:picChg>
      </pc:sldChg>
      <pc:sldChg chg="addSp delSp modSp add replId">
        <pc:chgData name="Lorch, Robert M" userId="S::rlorch@uiowa.edu::fab7d2ca-73fd-43ac-88ae-e4267d71ff13" providerId="AD" clId="Web-{B02DEEF2-F061-53BA-C87A-FF5908ACECB1}" dt="2026-03-17T14:35:25.498" v="181" actId="1076"/>
        <pc:sldMkLst>
          <pc:docMk/>
          <pc:sldMk cId="1893583948" sldId="279"/>
        </pc:sldMkLst>
        <pc:spChg chg="mod">
          <ac:chgData name="Lorch, Robert M" userId="S::rlorch@uiowa.edu::fab7d2ca-73fd-43ac-88ae-e4267d71ff13" providerId="AD" clId="Web-{B02DEEF2-F061-53BA-C87A-FF5908ACECB1}" dt="2026-03-17T14:35:14.810" v="177" actId="20577"/>
          <ac:spMkLst>
            <pc:docMk/>
            <pc:sldMk cId="1893583948" sldId="279"/>
            <ac:spMk id="3" creationId="{2AF93952-35F0-AF2E-6FA0-F11415240F8A}"/>
          </ac:spMkLst>
        </pc:spChg>
        <pc:picChg chg="add del">
          <ac:chgData name="Lorch, Robert M" userId="S::rlorch@uiowa.edu::fab7d2ca-73fd-43ac-88ae-e4267d71ff13" providerId="AD" clId="Web-{B02DEEF2-F061-53BA-C87A-FF5908ACECB1}" dt="2026-03-17T14:35:16.232" v="179"/>
          <ac:picMkLst>
            <pc:docMk/>
            <pc:sldMk cId="1893583948" sldId="279"/>
            <ac:picMk id="6" creationId="{B0EBF5C2-8ECD-BDE7-D28F-9C85B6E545D9}"/>
          </ac:picMkLst>
        </pc:picChg>
        <pc:picChg chg="add mod">
          <ac:chgData name="Lorch, Robert M" userId="S::rlorch@uiowa.edu::fab7d2ca-73fd-43ac-88ae-e4267d71ff13" providerId="AD" clId="Web-{B02DEEF2-F061-53BA-C87A-FF5908ACECB1}" dt="2026-03-17T14:35:25.498" v="181" actId="1076"/>
          <ac:picMkLst>
            <pc:docMk/>
            <pc:sldMk cId="1893583948" sldId="279"/>
            <ac:picMk id="8" creationId="{01777698-7B5C-C18A-E8C8-5DCEEE8F3964}"/>
          </ac:picMkLst>
        </pc:picChg>
      </pc:sldChg>
      <pc:sldChg chg="addSp delSp modSp add replId">
        <pc:chgData name="Lorch, Robert M" userId="S::rlorch@uiowa.edu::fab7d2ca-73fd-43ac-88ae-e4267d71ff13" providerId="AD" clId="Web-{B02DEEF2-F061-53BA-C87A-FF5908ACECB1}" dt="2026-03-17T14:35:03.466" v="172" actId="20577"/>
        <pc:sldMkLst>
          <pc:docMk/>
          <pc:sldMk cId="2182094920" sldId="280"/>
        </pc:sldMkLst>
        <pc:spChg chg="mod">
          <ac:chgData name="Lorch, Robert M" userId="S::rlorch@uiowa.edu::fab7d2ca-73fd-43ac-88ae-e4267d71ff13" providerId="AD" clId="Web-{B02DEEF2-F061-53BA-C87A-FF5908ACECB1}" dt="2026-03-17T14:35:03.466" v="172" actId="20577"/>
          <ac:spMkLst>
            <pc:docMk/>
            <pc:sldMk cId="2182094920" sldId="280"/>
            <ac:spMk id="3" creationId="{31AFCCB9-084E-F500-EA8B-C6F0A361EE74}"/>
          </ac:spMkLst>
        </pc:spChg>
        <pc:spChg chg="add del mod">
          <ac:chgData name="Lorch, Robert M" userId="S::rlorch@uiowa.edu::fab7d2ca-73fd-43ac-88ae-e4267d71ff13" providerId="AD" clId="Web-{B02DEEF2-F061-53BA-C87A-FF5908ACECB1}" dt="2026-03-17T14:28:04.204" v="76"/>
          <ac:spMkLst>
            <pc:docMk/>
            <pc:sldMk cId="2182094920" sldId="280"/>
            <ac:spMk id="6" creationId="{743EFDA1-7B88-7487-B351-DB1BEF951D96}"/>
          </ac:spMkLst>
        </pc:spChg>
        <pc:spChg chg="add del mod">
          <ac:chgData name="Lorch, Robert M" userId="S::rlorch@uiowa.edu::fab7d2ca-73fd-43ac-88ae-e4267d71ff13" providerId="AD" clId="Web-{B02DEEF2-F061-53BA-C87A-FF5908ACECB1}" dt="2026-03-17T14:28:00.438" v="75"/>
          <ac:spMkLst>
            <pc:docMk/>
            <pc:sldMk cId="2182094920" sldId="280"/>
            <ac:spMk id="7" creationId="{C4BB3A4E-47FA-4365-F147-45A83A332015}"/>
          </ac:spMkLst>
        </pc:spChg>
        <pc:spChg chg="add mod">
          <ac:chgData name="Lorch, Robert M" userId="S::rlorch@uiowa.edu::fab7d2ca-73fd-43ac-88ae-e4267d71ff13" providerId="AD" clId="Web-{B02DEEF2-F061-53BA-C87A-FF5908ACECB1}" dt="2026-03-17T14:29:11.254" v="83"/>
          <ac:spMkLst>
            <pc:docMk/>
            <pc:sldMk cId="2182094920" sldId="280"/>
            <ac:spMk id="10" creationId="{DEA188B3-2C76-1245-5117-08DDC482597B}"/>
          </ac:spMkLst>
        </pc:spChg>
        <pc:spChg chg="add mod">
          <ac:chgData name="Lorch, Robert M" userId="S::rlorch@uiowa.edu::fab7d2ca-73fd-43ac-88ae-e4267d71ff13" providerId="AD" clId="Web-{B02DEEF2-F061-53BA-C87A-FF5908ACECB1}" dt="2026-03-17T14:29:14.785" v="85" actId="1076"/>
          <ac:spMkLst>
            <pc:docMk/>
            <pc:sldMk cId="2182094920" sldId="280"/>
            <ac:spMk id="11" creationId="{16834DC1-C074-A677-509A-E515F324237E}"/>
          </ac:spMkLst>
        </pc:spChg>
        <pc:spChg chg="add mod">
          <ac:chgData name="Lorch, Robert M" userId="S::rlorch@uiowa.edu::fab7d2ca-73fd-43ac-88ae-e4267d71ff13" providerId="AD" clId="Web-{B02DEEF2-F061-53BA-C87A-FF5908ACECB1}" dt="2026-03-17T14:29:43.615" v="92" actId="1076"/>
          <ac:spMkLst>
            <pc:docMk/>
            <pc:sldMk cId="2182094920" sldId="280"/>
            <ac:spMk id="12" creationId="{F9B50925-B04A-7DE8-B6C5-384D761DDABC}"/>
          </ac:spMkLst>
        </pc:spChg>
        <pc:spChg chg="add mod">
          <ac:chgData name="Lorch, Robert M" userId="S::rlorch@uiowa.edu::fab7d2ca-73fd-43ac-88ae-e4267d71ff13" providerId="AD" clId="Web-{B02DEEF2-F061-53BA-C87A-FF5908ACECB1}" dt="2026-03-17T14:29:48.443" v="94" actId="1076"/>
          <ac:spMkLst>
            <pc:docMk/>
            <pc:sldMk cId="2182094920" sldId="280"/>
            <ac:spMk id="13" creationId="{4DE95B5E-2141-3EB1-D16B-6463926F0EFB}"/>
          </ac:spMkLst>
        </pc:spChg>
        <pc:picChg chg="add del mod">
          <ac:chgData name="Lorch, Robert M" userId="S::rlorch@uiowa.edu::fab7d2ca-73fd-43ac-88ae-e4267d71ff13" providerId="AD" clId="Web-{B02DEEF2-F061-53BA-C87A-FF5908ACECB1}" dt="2026-03-17T14:28:00.032" v="74"/>
          <ac:picMkLst>
            <pc:docMk/>
            <pc:sldMk cId="2182094920" sldId="280"/>
            <ac:picMk id="5" creationId="{47C64D53-0BC6-2BEE-53C4-B7E80BCA675A}"/>
          </ac:picMkLst>
        </pc:picChg>
        <pc:picChg chg="del">
          <ac:chgData name="Lorch, Robert M" userId="S::rlorch@uiowa.edu::fab7d2ca-73fd-43ac-88ae-e4267d71ff13" providerId="AD" clId="Web-{B02DEEF2-F061-53BA-C87A-FF5908ACECB1}" dt="2026-03-17T14:21:20.761" v="24"/>
          <ac:picMkLst>
            <pc:docMk/>
            <pc:sldMk cId="2182094920" sldId="280"/>
            <ac:picMk id="8" creationId="{F7021294-FAAE-0CDF-7494-22F8AE68DEE9}"/>
          </ac:picMkLst>
        </pc:picChg>
        <pc:picChg chg="mod modCrop">
          <ac:chgData name="Lorch, Robert M" userId="S::rlorch@uiowa.edu::fab7d2ca-73fd-43ac-88ae-e4267d71ff13" providerId="AD" clId="Web-{B02DEEF2-F061-53BA-C87A-FF5908ACECB1}" dt="2026-03-17T14:32:49.354" v="110"/>
          <ac:picMkLst>
            <pc:docMk/>
            <pc:sldMk cId="2182094920" sldId="280"/>
            <ac:picMk id="9" creationId="{A49E92C4-6F3A-185A-2DDB-FD97B92D29D0}"/>
          </ac:picMkLst>
        </pc:picChg>
      </pc:sldChg>
      <pc:sldChg chg="delSp modSp add ord replId">
        <pc:chgData name="Lorch, Robert M" userId="S::rlorch@uiowa.edu::fab7d2ca-73fd-43ac-88ae-e4267d71ff13" providerId="AD" clId="Web-{B02DEEF2-F061-53BA-C87A-FF5908ACECB1}" dt="2026-03-17T14:35:05.107" v="173" actId="20577"/>
        <pc:sldMkLst>
          <pc:docMk/>
          <pc:sldMk cId="876203954" sldId="281"/>
        </pc:sldMkLst>
        <pc:spChg chg="mod">
          <ac:chgData name="Lorch, Robert M" userId="S::rlorch@uiowa.edu::fab7d2ca-73fd-43ac-88ae-e4267d71ff13" providerId="AD" clId="Web-{B02DEEF2-F061-53BA-C87A-FF5908ACECB1}" dt="2026-03-17T14:35:05.107" v="173" actId="20577"/>
          <ac:spMkLst>
            <pc:docMk/>
            <pc:sldMk cId="876203954" sldId="281"/>
            <ac:spMk id="3" creationId="{A52826FA-B668-1032-DAC6-3AF7A74F38F0}"/>
          </ac:spMkLst>
        </pc:spChg>
        <pc:spChg chg="del">
          <ac:chgData name="Lorch, Robert M" userId="S::rlorch@uiowa.edu::fab7d2ca-73fd-43ac-88ae-e4267d71ff13" providerId="AD" clId="Web-{B02DEEF2-F061-53BA-C87A-FF5908ACECB1}" dt="2026-03-17T14:30:01.600" v="100"/>
          <ac:spMkLst>
            <pc:docMk/>
            <pc:sldMk cId="876203954" sldId="281"/>
            <ac:spMk id="10" creationId="{1469F5A9-E764-049C-D59B-647446E5116F}"/>
          </ac:spMkLst>
        </pc:spChg>
        <pc:spChg chg="del">
          <ac:chgData name="Lorch, Robert M" userId="S::rlorch@uiowa.edu::fab7d2ca-73fd-43ac-88ae-e4267d71ff13" providerId="AD" clId="Web-{B02DEEF2-F061-53BA-C87A-FF5908ACECB1}" dt="2026-03-17T14:30:01.600" v="99"/>
          <ac:spMkLst>
            <pc:docMk/>
            <pc:sldMk cId="876203954" sldId="281"/>
            <ac:spMk id="11" creationId="{DDB509CC-1BEE-F286-8DA9-9EB1AAC1AE5F}"/>
          </ac:spMkLst>
        </pc:spChg>
        <pc:spChg chg="del">
          <ac:chgData name="Lorch, Robert M" userId="S::rlorch@uiowa.edu::fab7d2ca-73fd-43ac-88ae-e4267d71ff13" providerId="AD" clId="Web-{B02DEEF2-F061-53BA-C87A-FF5908ACECB1}" dt="2026-03-17T14:30:01.600" v="98"/>
          <ac:spMkLst>
            <pc:docMk/>
            <pc:sldMk cId="876203954" sldId="281"/>
            <ac:spMk id="12" creationId="{58B2F6B3-2162-1F83-3EC9-01356D985D71}"/>
          </ac:spMkLst>
        </pc:spChg>
        <pc:spChg chg="del">
          <ac:chgData name="Lorch, Robert M" userId="S::rlorch@uiowa.edu::fab7d2ca-73fd-43ac-88ae-e4267d71ff13" providerId="AD" clId="Web-{B02DEEF2-F061-53BA-C87A-FF5908ACECB1}" dt="2026-03-17T14:30:01.600" v="97"/>
          <ac:spMkLst>
            <pc:docMk/>
            <pc:sldMk cId="876203954" sldId="281"/>
            <ac:spMk id="13" creationId="{D12D654D-9436-5AAF-E208-46DD6BD246D7}"/>
          </ac:spMkLst>
        </pc:spChg>
        <pc:picChg chg="mod modCrop">
          <ac:chgData name="Lorch, Robert M" userId="S::rlorch@uiowa.edu::fab7d2ca-73fd-43ac-88ae-e4267d71ff13" providerId="AD" clId="Web-{B02DEEF2-F061-53BA-C87A-FF5908ACECB1}" dt="2026-03-17T14:32:59.745" v="112"/>
          <ac:picMkLst>
            <pc:docMk/>
            <pc:sldMk cId="876203954" sldId="281"/>
            <ac:picMk id="9" creationId="{D93CA980-B60C-BF94-9DD3-7F4A315CF533}"/>
          </ac:picMkLst>
        </pc:picChg>
      </pc:sldChg>
      <pc:sldChg chg="addSp modSp add replId">
        <pc:chgData name="Lorch, Robert M" userId="S::rlorch@uiowa.edu::fab7d2ca-73fd-43ac-88ae-e4267d71ff13" providerId="AD" clId="Web-{B02DEEF2-F061-53BA-C87A-FF5908ACECB1}" dt="2026-03-17T15:02:58.718" v="412" actId="1076"/>
        <pc:sldMkLst>
          <pc:docMk/>
          <pc:sldMk cId="3695412493" sldId="282"/>
        </pc:sldMkLst>
        <pc:spChg chg="mod">
          <ac:chgData name="Lorch, Robert M" userId="S::rlorch@uiowa.edu::fab7d2ca-73fd-43ac-88ae-e4267d71ff13" providerId="AD" clId="Web-{B02DEEF2-F061-53BA-C87A-FF5908ACECB1}" dt="2026-03-17T14:57:45.445" v="407" actId="20577"/>
          <ac:spMkLst>
            <pc:docMk/>
            <pc:sldMk cId="3695412493" sldId="282"/>
            <ac:spMk id="3" creationId="{C80BA38A-6F1B-F268-C2CE-A682BBAF9031}"/>
          </ac:spMkLst>
        </pc:spChg>
        <pc:picChg chg="add mod modCrop">
          <ac:chgData name="Lorch, Robert M" userId="S::rlorch@uiowa.edu::fab7d2ca-73fd-43ac-88ae-e4267d71ff13" providerId="AD" clId="Web-{B02DEEF2-F061-53BA-C87A-FF5908ACECB1}" dt="2026-03-17T15:02:58.718" v="412" actId="1076"/>
          <ac:picMkLst>
            <pc:docMk/>
            <pc:sldMk cId="3695412493" sldId="282"/>
            <ac:picMk id="5" creationId="{EBC644CB-0768-F3D6-988F-8DEC1E1C7EE0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4:57:22.554" v="398" actId="1076"/>
          <ac:picMkLst>
            <pc:docMk/>
            <pc:sldMk cId="3695412493" sldId="282"/>
            <ac:picMk id="6" creationId="{602A8E75-24D2-603B-0A12-6981EB7699B0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4:57:30.398" v="401" actId="1076"/>
          <ac:picMkLst>
            <pc:docMk/>
            <pc:sldMk cId="3695412493" sldId="282"/>
            <ac:picMk id="7" creationId="{9F046185-4F73-74F7-AC53-9C81E5572457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4:57:58.197" v="409" actId="1076"/>
          <ac:picMkLst>
            <pc:docMk/>
            <pc:sldMk cId="3695412493" sldId="282"/>
            <ac:picMk id="8" creationId="{1994A92C-CBEC-02AC-F137-771FA8E46C84}"/>
          </ac:picMkLst>
        </pc:picChg>
      </pc:sldChg>
      <pc:sldChg chg="addSp delSp modSp add replId">
        <pc:chgData name="Lorch, Robert M" userId="S::rlorch@uiowa.edu::fab7d2ca-73fd-43ac-88ae-e4267d71ff13" providerId="AD" clId="Web-{B02DEEF2-F061-53BA-C87A-FF5908ACECB1}" dt="2026-03-17T15:20:28.255" v="484" actId="20577"/>
        <pc:sldMkLst>
          <pc:docMk/>
          <pc:sldMk cId="1578314425" sldId="283"/>
        </pc:sldMkLst>
        <pc:spChg chg="mod">
          <ac:chgData name="Lorch, Robert M" userId="S::rlorch@uiowa.edu::fab7d2ca-73fd-43ac-88ae-e4267d71ff13" providerId="AD" clId="Web-{B02DEEF2-F061-53BA-C87A-FF5908ACECB1}" dt="2026-03-17T14:56:50.554" v="392" actId="20577"/>
          <ac:spMkLst>
            <pc:docMk/>
            <pc:sldMk cId="1578314425" sldId="283"/>
            <ac:spMk id="2" creationId="{27BC1D01-275B-5B1A-5B4C-BF551167A338}"/>
          </ac:spMkLst>
        </pc:spChg>
        <pc:spChg chg="mod">
          <ac:chgData name="Lorch, Robert M" userId="S::rlorch@uiowa.edu::fab7d2ca-73fd-43ac-88ae-e4267d71ff13" providerId="AD" clId="Web-{B02DEEF2-F061-53BA-C87A-FF5908ACECB1}" dt="2026-03-17T15:20:28.255" v="484" actId="20577"/>
          <ac:spMkLst>
            <pc:docMk/>
            <pc:sldMk cId="1578314425" sldId="283"/>
            <ac:spMk id="3" creationId="{AEEE72D8-3650-8C68-6BCA-AD446BEAB69B}"/>
          </ac:spMkLst>
        </pc:spChg>
        <pc:picChg chg="add del mod">
          <ac:chgData name="Lorch, Robert M" userId="S::rlorch@uiowa.edu::fab7d2ca-73fd-43ac-88ae-e4267d71ff13" providerId="AD" clId="Web-{B02DEEF2-F061-53BA-C87A-FF5908ACECB1}" dt="2026-03-17T14:56:36.648" v="391"/>
          <ac:picMkLst>
            <pc:docMk/>
            <pc:sldMk cId="1578314425" sldId="283"/>
            <ac:picMk id="5" creationId="{C31C4A7B-277D-C3A4-C1E6-52E08865CEC8}"/>
          </ac:picMkLst>
        </pc:picChg>
      </pc:sldChg>
      <pc:sldChg chg="addSp delSp modSp add replId">
        <pc:chgData name="Lorch, Robert M" userId="S::rlorch@uiowa.edu::fab7d2ca-73fd-43ac-88ae-e4267d71ff13" providerId="AD" clId="Web-{B02DEEF2-F061-53BA-C87A-FF5908ACECB1}" dt="2026-03-17T15:33:26.387" v="492" actId="1076"/>
        <pc:sldMkLst>
          <pc:docMk/>
          <pc:sldMk cId="3083722524" sldId="284"/>
        </pc:sldMkLst>
        <pc:spChg chg="mod">
          <ac:chgData name="Lorch, Robert M" userId="S::rlorch@uiowa.edu::fab7d2ca-73fd-43ac-88ae-e4267d71ff13" providerId="AD" clId="Web-{B02DEEF2-F061-53BA-C87A-FF5908ACECB1}" dt="2026-03-17T14:56:18.976" v="390" actId="20577"/>
          <ac:spMkLst>
            <pc:docMk/>
            <pc:sldMk cId="3083722524" sldId="284"/>
            <ac:spMk id="2" creationId="{A21CA72D-3DB6-EEEC-F530-38F354DB2108}"/>
          </ac:spMkLst>
        </pc:spChg>
        <pc:spChg chg="mod">
          <ac:chgData name="Lorch, Robert M" userId="S::rlorch@uiowa.edu::fab7d2ca-73fd-43ac-88ae-e4267d71ff13" providerId="AD" clId="Web-{B02DEEF2-F061-53BA-C87A-FF5908ACECB1}" dt="2026-03-17T15:04:04.970" v="432" actId="20577"/>
          <ac:spMkLst>
            <pc:docMk/>
            <pc:sldMk cId="3083722524" sldId="284"/>
            <ac:spMk id="3" creationId="{8B030B31-7B36-0E59-A9F1-9E72792BE172}"/>
          </ac:spMkLst>
        </pc:spChg>
        <pc:picChg chg="del">
          <ac:chgData name="Lorch, Robert M" userId="S::rlorch@uiowa.edu::fab7d2ca-73fd-43ac-88ae-e4267d71ff13" providerId="AD" clId="Web-{B02DEEF2-F061-53BA-C87A-FF5908ACECB1}" dt="2026-03-17T14:49:54.047" v="324"/>
          <ac:picMkLst>
            <pc:docMk/>
            <pc:sldMk cId="3083722524" sldId="284"/>
            <ac:picMk id="5" creationId="{63386BA8-9E47-6E14-BA9B-02848EEC451A}"/>
          </ac:picMkLst>
        </pc:picChg>
        <pc:picChg chg="del">
          <ac:chgData name="Lorch, Robert M" userId="S::rlorch@uiowa.edu::fab7d2ca-73fd-43ac-88ae-e4267d71ff13" providerId="AD" clId="Web-{B02DEEF2-F061-53BA-C87A-FF5908ACECB1}" dt="2026-03-17T14:49:54.047" v="323"/>
          <ac:picMkLst>
            <pc:docMk/>
            <pc:sldMk cId="3083722524" sldId="284"/>
            <ac:picMk id="6" creationId="{41F8A0C8-80A6-DB69-BE0C-1CA1BF6EBD5F}"/>
          </ac:picMkLst>
        </pc:picChg>
        <pc:picChg chg="del">
          <ac:chgData name="Lorch, Robert M" userId="S::rlorch@uiowa.edu::fab7d2ca-73fd-43ac-88ae-e4267d71ff13" providerId="AD" clId="Web-{B02DEEF2-F061-53BA-C87A-FF5908ACECB1}" dt="2026-03-17T14:49:54.047" v="322"/>
          <ac:picMkLst>
            <pc:docMk/>
            <pc:sldMk cId="3083722524" sldId="284"/>
            <ac:picMk id="7" creationId="{EFAC6531-9C39-3B16-98DF-A295C90AF6CC}"/>
          </ac:picMkLst>
        </pc:picChg>
        <pc:picChg chg="del">
          <ac:chgData name="Lorch, Robert M" userId="S::rlorch@uiowa.edu::fab7d2ca-73fd-43ac-88ae-e4267d71ff13" providerId="AD" clId="Web-{B02DEEF2-F061-53BA-C87A-FF5908ACECB1}" dt="2026-03-17T14:49:54.047" v="321"/>
          <ac:picMkLst>
            <pc:docMk/>
            <pc:sldMk cId="3083722524" sldId="284"/>
            <ac:picMk id="8" creationId="{14E26DAE-3C77-61E2-F02D-E45F8D2E325C}"/>
          </ac:picMkLst>
        </pc:picChg>
        <pc:picChg chg="add del mod modCrop">
          <ac:chgData name="Lorch, Robert M" userId="S::rlorch@uiowa.edu::fab7d2ca-73fd-43ac-88ae-e4267d71ff13" providerId="AD" clId="Web-{B02DEEF2-F061-53BA-C87A-FF5908ACECB1}" dt="2026-03-17T14:52:27.894" v="334"/>
          <ac:picMkLst>
            <pc:docMk/>
            <pc:sldMk cId="3083722524" sldId="284"/>
            <ac:picMk id="10" creationId="{55FCA19D-DFF3-D808-EC34-9B2BB0E1E6B5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5:04:07.736" v="433" actId="1076"/>
          <ac:picMkLst>
            <pc:docMk/>
            <pc:sldMk cId="3083722524" sldId="284"/>
            <ac:picMk id="11" creationId="{C90B600F-7E09-33F1-3529-977C40CDC773}"/>
          </ac:picMkLst>
        </pc:picChg>
        <pc:picChg chg="add del mod modCrop">
          <ac:chgData name="Lorch, Robert M" userId="S::rlorch@uiowa.edu::fab7d2ca-73fd-43ac-88ae-e4267d71ff13" providerId="AD" clId="Web-{B02DEEF2-F061-53BA-C87A-FF5908ACECB1}" dt="2026-03-17T15:33:10.386" v="486"/>
          <ac:picMkLst>
            <pc:docMk/>
            <pc:sldMk cId="3083722524" sldId="284"/>
            <ac:picMk id="12" creationId="{EA1DCA36-6E80-5978-627B-C730443FD38C}"/>
          </ac:picMkLst>
        </pc:picChg>
        <pc:picChg chg="add mod">
          <ac:chgData name="Lorch, Robert M" userId="S::rlorch@uiowa.edu::fab7d2ca-73fd-43ac-88ae-e4267d71ff13" providerId="AD" clId="Web-{B02DEEF2-F061-53BA-C87A-FF5908ACECB1}" dt="2026-03-17T15:33:26.387" v="492" actId="1076"/>
          <ac:picMkLst>
            <pc:docMk/>
            <pc:sldMk cId="3083722524" sldId="284"/>
            <ac:picMk id="13" creationId="{6D084651-EE8D-F9C4-AA9F-5B59EA00E186}"/>
          </ac:picMkLst>
        </pc:picChg>
      </pc:sldChg>
    </pc:docChg>
  </pc:docChgLst>
  <pc:docChgLst>
    <pc:chgData name="Lorch, Robert M" userId="S::rlorch@uiowa.edu::fab7d2ca-73fd-43ac-88ae-e4267d71ff13" providerId="AD" clId="Web-{5BAA2FE9-2AE3-1C6F-7B69-0FE2221A7331}"/>
    <pc:docChg chg="mod addSld delSld modSld sldOrd addMainMaster delMainMaster">
      <pc:chgData name="Lorch, Robert M" userId="S::rlorch@uiowa.edu::fab7d2ca-73fd-43ac-88ae-e4267d71ff13" providerId="AD" clId="Web-{5BAA2FE9-2AE3-1C6F-7B69-0FE2221A7331}" dt="2026-03-17T00:27:49.150" v="4419" actId="20577"/>
      <pc:docMkLst>
        <pc:docMk/>
      </pc:docMkLst>
      <pc:sldChg chg="modSp mod modClrScheme chgLayout">
        <pc:chgData name="Lorch, Robert M" userId="S::rlorch@uiowa.edu::fab7d2ca-73fd-43ac-88ae-e4267d71ff13" providerId="AD" clId="Web-{5BAA2FE9-2AE3-1C6F-7B69-0FE2221A7331}" dt="2026-03-16T21:53:48.846" v="122" actId="20577"/>
        <pc:sldMkLst>
          <pc:docMk/>
          <pc:sldMk cId="109857222" sldId="256"/>
        </pc:sldMkLst>
        <pc:spChg chg="mod ord">
          <ac:chgData name="Lorch, Robert M" userId="S::rlorch@uiowa.edu::fab7d2ca-73fd-43ac-88ae-e4267d71ff13" providerId="AD" clId="Web-{5BAA2FE9-2AE3-1C6F-7B69-0FE2221A7331}" dt="2026-03-16T21:52:42.734" v="93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Lorch, Robert M" userId="S::rlorch@uiowa.edu::fab7d2ca-73fd-43ac-88ae-e4267d71ff13" providerId="AD" clId="Web-{5BAA2FE9-2AE3-1C6F-7B69-0FE2221A7331}" dt="2026-03-16T21:53:48.846" v="12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modClrScheme chgLayout">
        <pc:chgData name="Lorch, Robert M" userId="S::rlorch@uiowa.edu::fab7d2ca-73fd-43ac-88ae-e4267d71ff13" providerId="AD" clId="Web-{5BAA2FE9-2AE3-1C6F-7B69-0FE2221A7331}" dt="2026-03-16T23:56:27.968" v="3394" actId="20577"/>
        <pc:sldMkLst>
          <pc:docMk/>
          <pc:sldMk cId="1572822883" sldId="257"/>
        </pc:sldMkLst>
        <pc:spChg chg="mod ord">
          <ac:chgData name="Lorch, Robert M" userId="S::rlorch@uiowa.edu::fab7d2ca-73fd-43ac-88ae-e4267d71ff13" providerId="AD" clId="Web-{5BAA2FE9-2AE3-1C6F-7B69-0FE2221A7331}" dt="2026-03-16T21:48:27.159" v="63"/>
          <ac:spMkLst>
            <pc:docMk/>
            <pc:sldMk cId="1572822883" sldId="257"/>
            <ac:spMk id="2" creationId="{B973628D-B4CD-4C8A-B76A-1315567874F0}"/>
          </ac:spMkLst>
        </pc:spChg>
        <pc:spChg chg="mod ord">
          <ac:chgData name="Lorch, Robert M" userId="S::rlorch@uiowa.edu::fab7d2ca-73fd-43ac-88ae-e4267d71ff13" providerId="AD" clId="Web-{5BAA2FE9-2AE3-1C6F-7B69-0FE2221A7331}" dt="2026-03-16T23:56:27.968" v="3394" actId="20577"/>
          <ac:spMkLst>
            <pc:docMk/>
            <pc:sldMk cId="1572822883" sldId="257"/>
            <ac:spMk id="3" creationId="{962115ED-9912-DA77-67F5-5CDAA597005B}"/>
          </ac:spMkLst>
        </pc:spChg>
      </pc:sldChg>
      <pc:sldChg chg="add del replId">
        <pc:chgData name="Lorch, Robert M" userId="S::rlorch@uiowa.edu::fab7d2ca-73fd-43ac-88ae-e4267d71ff13" providerId="AD" clId="Web-{5BAA2FE9-2AE3-1C6F-7B69-0FE2221A7331}" dt="2026-03-16T21:43:31.362" v="38"/>
        <pc:sldMkLst>
          <pc:docMk/>
          <pc:sldMk cId="474723863" sldId="258"/>
        </pc:sldMkLst>
      </pc:sldChg>
      <pc:sldChg chg="modSp new del mod modClrScheme chgLayout">
        <pc:chgData name="Lorch, Robert M" userId="S::rlorch@uiowa.edu::fab7d2ca-73fd-43ac-88ae-e4267d71ff13" providerId="AD" clId="Web-{5BAA2FE9-2AE3-1C6F-7B69-0FE2221A7331}" dt="2026-03-16T21:54:04.018" v="132"/>
        <pc:sldMkLst>
          <pc:docMk/>
          <pc:sldMk cId="4139694835" sldId="258"/>
        </pc:sldMkLst>
        <pc:spChg chg="mod ord">
          <ac:chgData name="Lorch, Robert M" userId="S::rlorch@uiowa.edu::fab7d2ca-73fd-43ac-88ae-e4267d71ff13" providerId="AD" clId="Web-{5BAA2FE9-2AE3-1C6F-7B69-0FE2221A7331}" dt="2026-03-16T21:48:27.159" v="63"/>
          <ac:spMkLst>
            <pc:docMk/>
            <pc:sldMk cId="4139694835" sldId="258"/>
            <ac:spMk id="2" creationId="{21A54794-2CEE-C009-941E-FD0159BACCFF}"/>
          </ac:spMkLst>
        </pc:spChg>
        <pc:spChg chg="mod ord">
          <ac:chgData name="Lorch, Robert M" userId="S::rlorch@uiowa.edu::fab7d2ca-73fd-43ac-88ae-e4267d71ff13" providerId="AD" clId="Web-{5BAA2FE9-2AE3-1C6F-7B69-0FE2221A7331}" dt="2026-03-16T21:48:27.159" v="63"/>
          <ac:spMkLst>
            <pc:docMk/>
            <pc:sldMk cId="4139694835" sldId="258"/>
            <ac:spMk id="3" creationId="{EED0854E-4B26-C12F-5984-841F06E5148D}"/>
          </ac:spMkLst>
        </pc:spChg>
      </pc:sldChg>
      <pc:sldChg chg="new del">
        <pc:chgData name="Lorch, Robert M" userId="S::rlorch@uiowa.edu::fab7d2ca-73fd-43ac-88ae-e4267d71ff13" providerId="AD" clId="Web-{5BAA2FE9-2AE3-1C6F-7B69-0FE2221A7331}" dt="2026-03-16T21:47:49.204" v="57"/>
        <pc:sldMkLst>
          <pc:docMk/>
          <pc:sldMk cId="2514177281" sldId="259"/>
        </pc:sldMkLst>
      </pc:sldChg>
      <pc:sldChg chg="addSp modSp add ord replId">
        <pc:chgData name="Lorch, Robert M" userId="S::rlorch@uiowa.edu::fab7d2ca-73fd-43ac-88ae-e4267d71ff13" providerId="AD" clId="Web-{5BAA2FE9-2AE3-1C6F-7B69-0FE2221A7331}" dt="2026-03-16T21:52:30.593" v="92"/>
        <pc:sldMkLst>
          <pc:docMk/>
          <pc:sldMk cId="3893009471" sldId="259"/>
        </pc:sldMkLst>
        <pc:spChg chg="mod">
          <ac:chgData name="Lorch, Robert M" userId="S::rlorch@uiowa.edu::fab7d2ca-73fd-43ac-88ae-e4267d71ff13" providerId="AD" clId="Web-{5BAA2FE9-2AE3-1C6F-7B69-0FE2221A7331}" dt="2026-03-16T21:52:26.702" v="91" actId="20577"/>
          <ac:spMkLst>
            <pc:docMk/>
            <pc:sldMk cId="3893009471" sldId="259"/>
            <ac:spMk id="2" creationId="{14A76D21-2912-7FB4-938B-6F91AE4A34C8}"/>
          </ac:spMkLst>
        </pc:spChg>
        <pc:spChg chg="mod">
          <ac:chgData name="Lorch, Robert M" userId="S::rlorch@uiowa.edu::fab7d2ca-73fd-43ac-88ae-e4267d71ff13" providerId="AD" clId="Web-{5BAA2FE9-2AE3-1C6F-7B69-0FE2221A7331}" dt="2026-03-16T21:51:56.858" v="86" actId="20577"/>
          <ac:spMkLst>
            <pc:docMk/>
            <pc:sldMk cId="3893009471" sldId="259"/>
            <ac:spMk id="3" creationId="{79199D7C-F5B0-7CD6-91DA-759916D20D7F}"/>
          </ac:spMkLst>
        </pc:spChg>
        <pc:spChg chg="add mod">
          <ac:chgData name="Lorch, Robert M" userId="S::rlorch@uiowa.edu::fab7d2ca-73fd-43ac-88ae-e4267d71ff13" providerId="AD" clId="Web-{5BAA2FE9-2AE3-1C6F-7B69-0FE2221A7331}" dt="2026-03-16T21:52:30.593" v="92"/>
          <ac:spMkLst>
            <pc:docMk/>
            <pc:sldMk cId="3893009471" sldId="259"/>
            <ac:spMk id="4" creationId="{22711865-C81F-F8BC-09CB-FA46AAD3DEAF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2:29:24.713" v="1414" actId="20577"/>
        <pc:sldMkLst>
          <pc:docMk/>
          <pc:sldMk cId="3827240189" sldId="260"/>
        </pc:sldMkLst>
        <pc:spChg chg="mod">
          <ac:chgData name="Lorch, Robert M" userId="S::rlorch@uiowa.edu::fab7d2ca-73fd-43ac-88ae-e4267d71ff13" providerId="AD" clId="Web-{5BAA2FE9-2AE3-1C6F-7B69-0FE2221A7331}" dt="2026-03-16T21:54:01.174" v="131" actId="20577"/>
          <ac:spMkLst>
            <pc:docMk/>
            <pc:sldMk cId="3827240189" sldId="260"/>
            <ac:spMk id="2" creationId="{53504503-9F41-4A11-446B-56A49286A5B6}"/>
          </ac:spMkLst>
        </pc:spChg>
        <pc:spChg chg="mod">
          <ac:chgData name="Lorch, Robert M" userId="S::rlorch@uiowa.edu::fab7d2ca-73fd-43ac-88ae-e4267d71ff13" providerId="AD" clId="Web-{5BAA2FE9-2AE3-1C6F-7B69-0FE2221A7331}" dt="2026-03-16T22:29:24.713" v="1414" actId="20577"/>
          <ac:spMkLst>
            <pc:docMk/>
            <pc:sldMk cId="3827240189" sldId="260"/>
            <ac:spMk id="3" creationId="{408FE3CC-B3C1-2EB5-2B26-CEE053F6D54F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7T00:15:43.619" v="3974"/>
        <pc:sldMkLst>
          <pc:docMk/>
          <pc:sldMk cId="2740590959" sldId="261"/>
        </pc:sldMkLst>
        <pc:spChg chg="mod">
          <ac:chgData name="Lorch, Robert M" userId="S::rlorch@uiowa.edu::fab7d2ca-73fd-43ac-88ae-e4267d71ff13" providerId="AD" clId="Web-{5BAA2FE9-2AE3-1C6F-7B69-0FE2221A7331}" dt="2026-03-17T00:15:43.619" v="3974"/>
          <ac:spMkLst>
            <pc:docMk/>
            <pc:sldMk cId="2740590959" sldId="261"/>
            <ac:spMk id="2" creationId="{E192FB49-4862-A0D7-FAD6-F2105BC22822}"/>
          </ac:spMkLst>
        </pc:spChg>
        <pc:spChg chg="mod">
          <ac:chgData name="Lorch, Robert M" userId="S::rlorch@uiowa.edu::fab7d2ca-73fd-43ac-88ae-e4267d71ff13" providerId="AD" clId="Web-{5BAA2FE9-2AE3-1C6F-7B69-0FE2221A7331}" dt="2026-03-16T23:31:42.477" v="2887" actId="20577"/>
          <ac:spMkLst>
            <pc:docMk/>
            <pc:sldMk cId="2740590959" sldId="261"/>
            <ac:spMk id="3" creationId="{AF5CADC4-C336-F3FF-CB42-A10E1EA9086C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3:28:20.801" v="2691" actId="20577"/>
        <pc:sldMkLst>
          <pc:docMk/>
          <pc:sldMk cId="403707338" sldId="262"/>
        </pc:sldMkLst>
        <pc:spChg chg="mod">
          <ac:chgData name="Lorch, Robert M" userId="S::rlorch@uiowa.edu::fab7d2ca-73fd-43ac-88ae-e4267d71ff13" providerId="AD" clId="Web-{5BAA2FE9-2AE3-1C6F-7B69-0FE2221A7331}" dt="2026-03-16T23:28:20.801" v="2691" actId="20577"/>
          <ac:spMkLst>
            <pc:docMk/>
            <pc:sldMk cId="403707338" sldId="262"/>
            <ac:spMk id="2" creationId="{3146B134-327B-0941-EFA2-626FD1C1FF1E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3:26:47.500" v="2671" actId="20577"/>
        <pc:sldMkLst>
          <pc:docMk/>
          <pc:sldMk cId="1846142589" sldId="263"/>
        </pc:sldMkLst>
        <pc:spChg chg="mod">
          <ac:chgData name="Lorch, Robert M" userId="S::rlorch@uiowa.edu::fab7d2ca-73fd-43ac-88ae-e4267d71ff13" providerId="AD" clId="Web-{5BAA2FE9-2AE3-1C6F-7B69-0FE2221A7331}" dt="2026-03-16T22:17:06.992" v="1087" actId="20577"/>
          <ac:spMkLst>
            <pc:docMk/>
            <pc:sldMk cId="1846142589" sldId="263"/>
            <ac:spMk id="2" creationId="{36739B0F-70D7-34B6-60AC-1068790DDFAA}"/>
          </ac:spMkLst>
        </pc:spChg>
        <pc:spChg chg="mod">
          <ac:chgData name="Lorch, Robert M" userId="S::rlorch@uiowa.edu::fab7d2ca-73fd-43ac-88ae-e4267d71ff13" providerId="AD" clId="Web-{5BAA2FE9-2AE3-1C6F-7B69-0FE2221A7331}" dt="2026-03-16T23:26:47.500" v="2671" actId="20577"/>
          <ac:spMkLst>
            <pc:docMk/>
            <pc:sldMk cId="1846142589" sldId="263"/>
            <ac:spMk id="3" creationId="{E3678F8D-41CB-3795-3829-9EC13AAB82AC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7T00:15:54.744" v="3991"/>
        <pc:sldMkLst>
          <pc:docMk/>
          <pc:sldMk cId="941070285" sldId="264"/>
        </pc:sldMkLst>
        <pc:spChg chg="mod">
          <ac:chgData name="Lorch, Robert M" userId="S::rlorch@uiowa.edu::fab7d2ca-73fd-43ac-88ae-e4267d71ff13" providerId="AD" clId="Web-{5BAA2FE9-2AE3-1C6F-7B69-0FE2221A7331}" dt="2026-03-17T00:15:54.744" v="3991"/>
          <ac:spMkLst>
            <pc:docMk/>
            <pc:sldMk cId="941070285" sldId="264"/>
            <ac:spMk id="2" creationId="{8F692418-F66A-8937-E85D-04EB60050446}"/>
          </ac:spMkLst>
        </pc:spChg>
        <pc:spChg chg="mod">
          <ac:chgData name="Lorch, Robert M" userId="S::rlorch@uiowa.edu::fab7d2ca-73fd-43ac-88ae-e4267d71ff13" providerId="AD" clId="Web-{5BAA2FE9-2AE3-1C6F-7B69-0FE2221A7331}" dt="2026-03-16T23:32:08.649" v="2890" actId="20577"/>
          <ac:spMkLst>
            <pc:docMk/>
            <pc:sldMk cId="941070285" sldId="264"/>
            <ac:spMk id="3" creationId="{512FFBEF-3548-B961-3FD8-7CC3479BE07C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2:18:12.211" v="1145" actId="20577"/>
        <pc:sldMkLst>
          <pc:docMk/>
          <pc:sldMk cId="2922320612" sldId="265"/>
        </pc:sldMkLst>
        <pc:spChg chg="mod">
          <ac:chgData name="Lorch, Robert M" userId="S::rlorch@uiowa.edu::fab7d2ca-73fd-43ac-88ae-e4267d71ff13" providerId="AD" clId="Web-{5BAA2FE9-2AE3-1C6F-7B69-0FE2221A7331}" dt="2026-03-16T22:17:40.961" v="1103" actId="20577"/>
          <ac:spMkLst>
            <pc:docMk/>
            <pc:sldMk cId="2922320612" sldId="265"/>
            <ac:spMk id="2" creationId="{10F26390-A99B-8227-83E3-FF53C34F821C}"/>
          </ac:spMkLst>
        </pc:spChg>
        <pc:spChg chg="mod">
          <ac:chgData name="Lorch, Robert M" userId="S::rlorch@uiowa.edu::fab7d2ca-73fd-43ac-88ae-e4267d71ff13" providerId="AD" clId="Web-{5BAA2FE9-2AE3-1C6F-7B69-0FE2221A7331}" dt="2026-03-16T22:18:12.211" v="1145" actId="20577"/>
          <ac:spMkLst>
            <pc:docMk/>
            <pc:sldMk cId="2922320612" sldId="265"/>
            <ac:spMk id="3" creationId="{CE79F317-AD5E-66F2-F397-E45910B43883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2:29:31.041" v="1416" actId="20577"/>
        <pc:sldMkLst>
          <pc:docMk/>
          <pc:sldMk cId="1270319923" sldId="266"/>
        </pc:sldMkLst>
        <pc:spChg chg="mod">
          <ac:chgData name="Lorch, Robert M" userId="S::rlorch@uiowa.edu::fab7d2ca-73fd-43ac-88ae-e4267d71ff13" providerId="AD" clId="Web-{5BAA2FE9-2AE3-1C6F-7B69-0FE2221A7331}" dt="2026-03-16T22:29:31.041" v="1416" actId="20577"/>
          <ac:spMkLst>
            <pc:docMk/>
            <pc:sldMk cId="1270319923" sldId="266"/>
            <ac:spMk id="3" creationId="{175B88B1-2267-9A92-9381-94A9E59DCC13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29:39.697" v="1422" actId="20577"/>
        <pc:sldMkLst>
          <pc:docMk/>
          <pc:sldMk cId="3132142358" sldId="267"/>
        </pc:sldMkLst>
        <pc:spChg chg="mod">
          <ac:chgData name="Lorch, Robert M" userId="S::rlorch@uiowa.edu::fab7d2ca-73fd-43ac-88ae-e4267d71ff13" providerId="AD" clId="Web-{5BAA2FE9-2AE3-1C6F-7B69-0FE2221A7331}" dt="2026-03-16T22:29:39.697" v="1422" actId="20577"/>
          <ac:spMkLst>
            <pc:docMk/>
            <pc:sldMk cId="3132142358" sldId="267"/>
            <ac:spMk id="3" creationId="{304188DF-1799-9856-8C7E-3B78A2D6F14D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2:24:34.781" v="1407" actId="20577"/>
        <pc:sldMkLst>
          <pc:docMk/>
          <pc:sldMk cId="2436005611" sldId="268"/>
        </pc:sldMkLst>
        <pc:spChg chg="mod">
          <ac:chgData name="Lorch, Robert M" userId="S::rlorch@uiowa.edu::fab7d2ca-73fd-43ac-88ae-e4267d71ff13" providerId="AD" clId="Web-{5BAA2FE9-2AE3-1C6F-7B69-0FE2221A7331}" dt="2026-03-16T22:20:26.029" v="1202" actId="20577"/>
          <ac:spMkLst>
            <pc:docMk/>
            <pc:sldMk cId="2436005611" sldId="268"/>
            <ac:spMk id="2" creationId="{D54537C6-935D-A904-71A1-664F47E1648F}"/>
          </ac:spMkLst>
        </pc:spChg>
        <pc:spChg chg="mod">
          <ac:chgData name="Lorch, Robert M" userId="S::rlorch@uiowa.edu::fab7d2ca-73fd-43ac-88ae-e4267d71ff13" providerId="AD" clId="Web-{5BAA2FE9-2AE3-1C6F-7B69-0FE2221A7331}" dt="2026-03-16T22:24:34.781" v="1407" actId="20577"/>
          <ac:spMkLst>
            <pc:docMk/>
            <pc:sldMk cId="2436005611" sldId="268"/>
            <ac:spMk id="3" creationId="{21D266E0-3AE2-538B-2897-FC68DF25BF39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45:34.473" v="2000" actId="20577"/>
        <pc:sldMkLst>
          <pc:docMk/>
          <pc:sldMk cId="2258023790" sldId="269"/>
        </pc:sldMkLst>
        <pc:spChg chg="mod">
          <ac:chgData name="Lorch, Robert M" userId="S::rlorch@uiowa.edu::fab7d2ca-73fd-43ac-88ae-e4267d71ff13" providerId="AD" clId="Web-{5BAA2FE9-2AE3-1C6F-7B69-0FE2221A7331}" dt="2026-03-16T22:20:34.530" v="1213" actId="20577"/>
          <ac:spMkLst>
            <pc:docMk/>
            <pc:sldMk cId="2258023790" sldId="269"/>
            <ac:spMk id="2" creationId="{E443A17B-322A-09FE-4B4C-0AFA6D7224E0}"/>
          </ac:spMkLst>
        </pc:spChg>
        <pc:spChg chg="mod">
          <ac:chgData name="Lorch, Robert M" userId="S::rlorch@uiowa.edu::fab7d2ca-73fd-43ac-88ae-e4267d71ff13" providerId="AD" clId="Web-{5BAA2FE9-2AE3-1C6F-7B69-0FE2221A7331}" dt="2026-03-16T22:45:34.473" v="2000" actId="20577"/>
          <ac:spMkLst>
            <pc:docMk/>
            <pc:sldMk cId="2258023790" sldId="269"/>
            <ac:spMk id="3" creationId="{BAD9A992-E5F6-1706-8A28-87A2E4222AB4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30:02.157" v="1429" actId="20577"/>
        <pc:sldMkLst>
          <pc:docMk/>
          <pc:sldMk cId="2134368667" sldId="270"/>
        </pc:sldMkLst>
        <pc:spChg chg="mod">
          <ac:chgData name="Lorch, Robert M" userId="S::rlorch@uiowa.edu::fab7d2ca-73fd-43ac-88ae-e4267d71ff13" providerId="AD" clId="Web-{5BAA2FE9-2AE3-1C6F-7B69-0FE2221A7331}" dt="2026-03-16T22:30:02.157" v="1429" actId="20577"/>
          <ac:spMkLst>
            <pc:docMk/>
            <pc:sldMk cId="2134368667" sldId="270"/>
            <ac:spMk id="3" creationId="{7E65C1B9-E4DF-459B-F285-ACE5151B9C28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30:17.133" v="1436" actId="20577"/>
        <pc:sldMkLst>
          <pc:docMk/>
          <pc:sldMk cId="3988185736" sldId="271"/>
        </pc:sldMkLst>
        <pc:spChg chg="mod">
          <ac:chgData name="Lorch, Robert M" userId="S::rlorch@uiowa.edu::fab7d2ca-73fd-43ac-88ae-e4267d71ff13" providerId="AD" clId="Web-{5BAA2FE9-2AE3-1C6F-7B69-0FE2221A7331}" dt="2026-03-16T22:30:17.133" v="1436" actId="20577"/>
          <ac:spMkLst>
            <pc:docMk/>
            <pc:sldMk cId="3988185736" sldId="271"/>
            <ac:spMk id="3" creationId="{72A39524-62D8-EAA7-21B2-F034F4C30BA5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30:33.198" v="1442" actId="20577"/>
        <pc:sldMkLst>
          <pc:docMk/>
          <pc:sldMk cId="4156527928" sldId="272"/>
        </pc:sldMkLst>
        <pc:spChg chg="mod">
          <ac:chgData name="Lorch, Robert M" userId="S::rlorch@uiowa.edu::fab7d2ca-73fd-43ac-88ae-e4267d71ff13" providerId="AD" clId="Web-{5BAA2FE9-2AE3-1C6F-7B69-0FE2221A7331}" dt="2026-03-16T22:30:33.198" v="1442" actId="20577"/>
          <ac:spMkLst>
            <pc:docMk/>
            <pc:sldMk cId="4156527928" sldId="272"/>
            <ac:spMk id="3" creationId="{8B48AD0F-4517-B249-7CE9-91AC653710AA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33:30.172" v="1595" actId="20577"/>
        <pc:sldMkLst>
          <pc:docMk/>
          <pc:sldMk cId="2042930995" sldId="273"/>
        </pc:sldMkLst>
        <pc:spChg chg="mod">
          <ac:chgData name="Lorch, Robert M" userId="S::rlorch@uiowa.edu::fab7d2ca-73fd-43ac-88ae-e4267d71ff13" providerId="AD" clId="Web-{5BAA2FE9-2AE3-1C6F-7B69-0FE2221A7331}" dt="2026-03-16T22:30:45.168" v="1447" actId="20577"/>
          <ac:spMkLst>
            <pc:docMk/>
            <pc:sldMk cId="2042930995" sldId="273"/>
            <ac:spMk id="2" creationId="{B3B9F69A-6D95-337C-7195-5237D2D26DA8}"/>
          </ac:spMkLst>
        </pc:spChg>
        <pc:spChg chg="mod">
          <ac:chgData name="Lorch, Robert M" userId="S::rlorch@uiowa.edu::fab7d2ca-73fd-43ac-88ae-e4267d71ff13" providerId="AD" clId="Web-{5BAA2FE9-2AE3-1C6F-7B69-0FE2221A7331}" dt="2026-03-16T22:33:30.172" v="1595" actId="20577"/>
          <ac:spMkLst>
            <pc:docMk/>
            <pc:sldMk cId="2042930995" sldId="273"/>
            <ac:spMk id="3" creationId="{C0C6950D-385F-A98D-531F-5975D69E3B2C}"/>
          </ac:spMkLst>
        </pc:spChg>
      </pc:sldChg>
      <pc:sldChg chg="addSp delSp modSp add replId">
        <pc:chgData name="Lorch, Robert M" userId="S::rlorch@uiowa.edu::fab7d2ca-73fd-43ac-88ae-e4267d71ff13" providerId="AD" clId="Web-{5BAA2FE9-2AE3-1C6F-7B69-0FE2221A7331}" dt="2026-03-17T00:20:26.637" v="4034" actId="20577"/>
        <pc:sldMkLst>
          <pc:docMk/>
          <pc:sldMk cId="2649711781" sldId="274"/>
        </pc:sldMkLst>
        <pc:spChg chg="mod">
          <ac:chgData name="Lorch, Robert M" userId="S::rlorch@uiowa.edu::fab7d2ca-73fd-43ac-88ae-e4267d71ff13" providerId="AD" clId="Web-{5BAA2FE9-2AE3-1C6F-7B69-0FE2221A7331}" dt="2026-03-16T22:46:14.802" v="2015" actId="20577"/>
          <ac:spMkLst>
            <pc:docMk/>
            <pc:sldMk cId="2649711781" sldId="274"/>
            <ac:spMk id="2" creationId="{B13E951D-1B73-58A4-4D65-EEC266C2EA4C}"/>
          </ac:spMkLst>
        </pc:spChg>
        <pc:spChg chg="mod">
          <ac:chgData name="Lorch, Robert M" userId="S::rlorch@uiowa.edu::fab7d2ca-73fd-43ac-88ae-e4267d71ff13" providerId="AD" clId="Web-{5BAA2FE9-2AE3-1C6F-7B69-0FE2221A7331}" dt="2026-03-17T00:20:26.637" v="4034" actId="20577"/>
          <ac:spMkLst>
            <pc:docMk/>
            <pc:sldMk cId="2649711781" sldId="274"/>
            <ac:spMk id="3" creationId="{ADA3750E-F487-A549-7A81-AEE104966113}"/>
          </ac:spMkLst>
        </pc:spChg>
        <pc:picChg chg="add del mod">
          <ac:chgData name="Lorch, Robert M" userId="S::rlorch@uiowa.edu::fab7d2ca-73fd-43ac-88ae-e4267d71ff13" providerId="AD" clId="Web-{5BAA2FE9-2AE3-1C6F-7B69-0FE2221A7331}" dt="2026-03-17T00:17:41.448" v="3995"/>
          <ac:picMkLst>
            <pc:docMk/>
            <pc:sldMk cId="2649711781" sldId="274"/>
            <ac:picMk id="5" creationId="{199B6E32-0DC6-E8A3-9F6E-5A17B6A7A221}"/>
          </ac:picMkLst>
        </pc:picChg>
        <pc:picChg chg="add mod modCrop">
          <ac:chgData name="Lorch, Robert M" userId="S::rlorch@uiowa.edu::fab7d2ca-73fd-43ac-88ae-e4267d71ff13" providerId="AD" clId="Web-{5BAA2FE9-2AE3-1C6F-7B69-0FE2221A7331}" dt="2026-03-17T00:19:09.761" v="4011" actId="1076"/>
          <ac:picMkLst>
            <pc:docMk/>
            <pc:sldMk cId="2649711781" sldId="274"/>
            <ac:picMk id="6" creationId="{FAE4E3F3-7E89-2B70-F6A4-B554A5174BF4}"/>
          </ac:picMkLst>
        </pc:picChg>
        <pc:picChg chg="add mod">
          <ac:chgData name="Lorch, Robert M" userId="S::rlorch@uiowa.edu::fab7d2ca-73fd-43ac-88ae-e4267d71ff13" providerId="AD" clId="Web-{5BAA2FE9-2AE3-1C6F-7B69-0FE2221A7331}" dt="2026-03-17T00:19:39.340" v="4025" actId="1076"/>
          <ac:picMkLst>
            <pc:docMk/>
            <pc:sldMk cId="2649711781" sldId="274"/>
            <ac:picMk id="7" creationId="{46C7BAC6-E453-4B42-B23B-F16AF3C00A5B}"/>
          </ac:picMkLst>
        </pc:picChg>
      </pc:sldChg>
      <pc:sldChg chg="modSp add ord replId">
        <pc:chgData name="Lorch, Robert M" userId="S::rlorch@uiowa.edu::fab7d2ca-73fd-43ac-88ae-e4267d71ff13" providerId="AD" clId="Web-{5BAA2FE9-2AE3-1C6F-7B69-0FE2221A7331}" dt="2026-03-16T23:34:52.528" v="3106" actId="20577"/>
        <pc:sldMkLst>
          <pc:docMk/>
          <pc:sldMk cId="4162872853" sldId="275"/>
        </pc:sldMkLst>
        <pc:spChg chg="mod">
          <ac:chgData name="Lorch, Robert M" userId="S::rlorch@uiowa.edu::fab7d2ca-73fd-43ac-88ae-e4267d71ff13" providerId="AD" clId="Web-{5BAA2FE9-2AE3-1C6F-7B69-0FE2221A7331}" dt="2026-03-16T23:29:21.631" v="2717"/>
          <ac:spMkLst>
            <pc:docMk/>
            <pc:sldMk cId="4162872853" sldId="275"/>
            <ac:spMk id="2" creationId="{8E06837E-A714-7106-AF8E-5FEAA148D6AC}"/>
          </ac:spMkLst>
        </pc:spChg>
        <pc:spChg chg="mod">
          <ac:chgData name="Lorch, Robert M" userId="S::rlorch@uiowa.edu::fab7d2ca-73fd-43ac-88ae-e4267d71ff13" providerId="AD" clId="Web-{5BAA2FE9-2AE3-1C6F-7B69-0FE2221A7331}" dt="2026-03-16T23:34:52.528" v="3106" actId="20577"/>
          <ac:spMkLst>
            <pc:docMk/>
            <pc:sldMk cId="4162872853" sldId="275"/>
            <ac:spMk id="3" creationId="{1AB62D15-35BC-BCF6-BE0F-8854AFE972F8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3:35:48.548" v="3193" actId="20577"/>
        <pc:sldMkLst>
          <pc:docMk/>
          <pc:sldMk cId="775107580" sldId="276"/>
        </pc:sldMkLst>
        <pc:spChg chg="mod">
          <ac:chgData name="Lorch, Robert M" userId="S::rlorch@uiowa.edu::fab7d2ca-73fd-43ac-88ae-e4267d71ff13" providerId="AD" clId="Web-{5BAA2FE9-2AE3-1C6F-7B69-0FE2221A7331}" dt="2026-03-16T23:29:42.787" v="2771" actId="20577"/>
          <ac:spMkLst>
            <pc:docMk/>
            <pc:sldMk cId="775107580" sldId="276"/>
            <ac:spMk id="2" creationId="{65C09264-82F7-B022-27F1-66F6F0CE0435}"/>
          </ac:spMkLst>
        </pc:spChg>
        <pc:spChg chg="mod">
          <ac:chgData name="Lorch, Robert M" userId="S::rlorch@uiowa.edu::fab7d2ca-73fd-43ac-88ae-e4267d71ff13" providerId="AD" clId="Web-{5BAA2FE9-2AE3-1C6F-7B69-0FE2221A7331}" dt="2026-03-16T23:35:48.548" v="3193" actId="20577"/>
          <ac:spMkLst>
            <pc:docMk/>
            <pc:sldMk cId="775107580" sldId="276"/>
            <ac:spMk id="3" creationId="{CDEF22A8-9E30-F8AE-5C33-7B06409382C2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7T00:27:49.150" v="4419" actId="20577"/>
        <pc:sldMkLst>
          <pc:docMk/>
          <pc:sldMk cId="2390616772" sldId="277"/>
        </pc:sldMkLst>
        <pc:spChg chg="mod">
          <ac:chgData name="Lorch, Robert M" userId="S::rlorch@uiowa.edu::fab7d2ca-73fd-43ac-88ae-e4267d71ff13" providerId="AD" clId="Web-{5BAA2FE9-2AE3-1C6F-7B69-0FE2221A7331}" dt="2026-03-17T00:27:49.150" v="4419" actId="20577"/>
          <ac:spMkLst>
            <pc:docMk/>
            <pc:sldMk cId="2390616772" sldId="277"/>
            <ac:spMk id="3" creationId="{A2769A3B-1AD2-7DE9-BA3C-9D6741CF1CF4}"/>
          </ac:spMkLst>
        </pc:spChg>
      </pc:sldChg>
      <pc:sldChg chg="addSp modSp add replId">
        <pc:chgData name="Lorch, Robert M" userId="S::rlorch@uiowa.edu::fab7d2ca-73fd-43ac-88ae-e4267d71ff13" providerId="AD" clId="Web-{5BAA2FE9-2AE3-1C6F-7B69-0FE2221A7331}" dt="2026-03-17T00:23:21.248" v="4067" actId="1076"/>
        <pc:sldMkLst>
          <pc:docMk/>
          <pc:sldMk cId="2589333419" sldId="278"/>
        </pc:sldMkLst>
        <pc:spChg chg="mod">
          <ac:chgData name="Lorch, Robert M" userId="S::rlorch@uiowa.edu::fab7d2ca-73fd-43ac-88ae-e4267d71ff13" providerId="AD" clId="Web-{5BAA2FE9-2AE3-1C6F-7B69-0FE2221A7331}" dt="2026-03-17T00:23:21.248" v="4067" actId="1076"/>
          <ac:spMkLst>
            <pc:docMk/>
            <pc:sldMk cId="2589333419" sldId="278"/>
            <ac:spMk id="3" creationId="{FA8AA9FF-9E9C-D585-7639-BD2ADE435A3B}"/>
          </ac:spMkLst>
        </pc:spChg>
        <pc:picChg chg="add mod">
          <ac:chgData name="Lorch, Robert M" userId="S::rlorch@uiowa.edu::fab7d2ca-73fd-43ac-88ae-e4267d71ff13" providerId="AD" clId="Web-{5BAA2FE9-2AE3-1C6F-7B69-0FE2221A7331}" dt="2026-03-17T00:22:56.842" v="4052" actId="1076"/>
          <ac:picMkLst>
            <pc:docMk/>
            <pc:sldMk cId="2589333419" sldId="278"/>
            <ac:picMk id="5" creationId="{E24F264D-0BAD-E1FE-CF19-8575F2BBE2DD}"/>
          </ac:picMkLst>
        </pc:picChg>
      </pc:sldChg>
      <pc:sldMasterChg chg="del delSldLayout">
        <pc:chgData name="Lorch, Robert M" userId="S::rlorch@uiowa.edu::fab7d2ca-73fd-43ac-88ae-e4267d71ff13" providerId="AD" clId="Web-{5BAA2FE9-2AE3-1C6F-7B69-0FE2221A7331}" dt="2026-03-16T21:48:25.644" v="62"/>
        <pc:sldMasterMkLst>
          <pc:docMk/>
          <pc:sldMasterMk cId="2460954070" sldId="2147483660"/>
        </pc:sldMasterMkLst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Lorch, Robert M" userId="S::rlorch@uiowa.edu::fab7d2ca-73fd-43ac-88ae-e4267d71ff13" providerId="AD" clId="Web-{5BAA2FE9-2AE3-1C6F-7B69-0FE2221A7331}" dt="2026-03-16T21:48:27.159" v="63"/>
        <pc:sldMasterMkLst>
          <pc:docMk/>
          <pc:sldMasterMk cId="2084619209" sldId="2147483672"/>
        </pc:sldMasterMkLst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367300181" sldId="2147483673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448326141" sldId="2147483674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3228152714" sldId="2147483675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223577600" sldId="2147483676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519939757" sldId="2147483677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3580781506" sldId="2147483678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3994299043" sldId="2147483679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928482330" sldId="2147483680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4167794681" sldId="2147483681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969230434" sldId="2147483682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187278210" sldId="2147483683"/>
          </pc:sldLayoutMkLst>
        </pc:sldLayoutChg>
      </pc:sldMasterChg>
      <pc:sldMasterChg chg="add addSldLayout modSldLayout">
        <pc:chgData name="Lorch, Robert M" userId="S::rlorch@uiowa.edu::fab7d2ca-73fd-43ac-88ae-e4267d71ff13" providerId="AD" clId="Web-{5BAA2FE9-2AE3-1C6F-7B69-0FE2221A7331}" dt="2026-03-16T21:48:27.159" v="63"/>
        <pc:sldMasterMkLst>
          <pc:docMk/>
          <pc:sldMasterMk cId="2333122478" sldId="2147483684"/>
        </pc:sldMasterMkLst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70120977" sldId="2147483685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2708266053" sldId="2147483686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4001219097" sldId="2147483687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1369839402" sldId="2147483688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550839062" sldId="2147483689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3488069156" sldId="2147483690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1791349665" sldId="2147483691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972709162" sldId="2147483692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1951958673" sldId="2147483693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1073315943" sldId="2147483694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4042305509" sldId="2147483695"/>
          </pc:sldLayoutMkLst>
        </pc:sldLayoutChg>
      </pc:sldMasterChg>
    </pc:docChg>
  </pc:docChgLst>
  <pc:docChgLst>
    <pc:chgData name="Lorch, Robert M" userId="S::rlorch@uiowa.edu::fab7d2ca-73fd-43ac-88ae-e4267d71ff13" providerId="AD" clId="Web-{0220F826-5AE4-1C40-1D2A-DC633039E620}"/>
    <pc:docChg chg="addSld modSld">
      <pc:chgData name="Lorch, Robert M" userId="S::rlorch@uiowa.edu::fab7d2ca-73fd-43ac-88ae-e4267d71ff13" providerId="AD" clId="Web-{0220F826-5AE4-1C40-1D2A-DC633039E620}" dt="2026-03-16T17:08:32.134" v="311" actId="20577"/>
      <pc:docMkLst>
        <pc:docMk/>
      </pc:docMkLst>
      <pc:sldChg chg="modSp new">
        <pc:chgData name="Lorch, Robert M" userId="S::rlorch@uiowa.edu::fab7d2ca-73fd-43ac-88ae-e4267d71ff13" providerId="AD" clId="Web-{0220F826-5AE4-1C40-1D2A-DC633039E620}" dt="2026-03-16T17:08:32.134" v="311" actId="20577"/>
        <pc:sldMkLst>
          <pc:docMk/>
          <pc:sldMk cId="1572822883" sldId="257"/>
        </pc:sldMkLst>
        <pc:spChg chg="mod">
          <ac:chgData name="Lorch, Robert M" userId="S::rlorch@uiowa.edu::fab7d2ca-73fd-43ac-88ae-e4267d71ff13" providerId="AD" clId="Web-{0220F826-5AE4-1C40-1D2A-DC633039E620}" dt="2026-03-16T17:02:30.087" v="5" actId="20577"/>
          <ac:spMkLst>
            <pc:docMk/>
            <pc:sldMk cId="1572822883" sldId="257"/>
            <ac:spMk id="2" creationId="{B973628D-B4CD-4C8A-B76A-1315567874F0}"/>
          </ac:spMkLst>
        </pc:spChg>
        <pc:spChg chg="mod">
          <ac:chgData name="Lorch, Robert M" userId="S::rlorch@uiowa.edu::fab7d2ca-73fd-43ac-88ae-e4267d71ff13" providerId="AD" clId="Web-{0220F826-5AE4-1C40-1D2A-DC633039E620}" dt="2026-03-16T17:08:32.134" v="311" actId="20577"/>
          <ac:spMkLst>
            <pc:docMk/>
            <pc:sldMk cId="1572822883" sldId="257"/>
            <ac:spMk id="3" creationId="{962115ED-9912-DA77-67F5-5CDAA59700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88D58-EBEB-3940-91FB-2E70D58DD4F8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7D3BD-964E-9548-96C7-33ED27501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49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18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79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98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&lt;transition point – formalizing properties (in presentation) &gt;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&lt;connect to previous point&gt;</a:t>
            </a:r>
          </a:p>
          <a:p>
            <a:endParaRPr lang="en-US" dirty="0"/>
          </a:p>
          <a:p>
            <a:r>
              <a:rPr lang="en-US" dirty="0"/>
              <a:t>Order-sorted FOL (many-sorted FOL with </a:t>
            </a:r>
            <a:r>
              <a:rPr lang="en-US" dirty="0" err="1"/>
              <a:t>subsorting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79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43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13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 starts a session with I</a:t>
            </a:r>
          </a:p>
          <a:p>
            <a:pPr marL="228600" indent="-228600">
              <a:buAutoNum type="arabicPeriod"/>
            </a:pPr>
            <a:r>
              <a:rPr lang="en-US" dirty="0"/>
              <a:t>I starts a session with B, impersonating A</a:t>
            </a:r>
          </a:p>
          <a:p>
            <a:pPr marL="228600" indent="-228600">
              <a:buAutoNum type="arabicPeriod"/>
            </a:pPr>
            <a:r>
              <a:rPr lang="en-US" dirty="0"/>
              <a:t>B authenticates to I (and I is impersonating A)</a:t>
            </a:r>
          </a:p>
          <a:p>
            <a:pPr marL="228600" indent="-228600">
              <a:buAutoNum type="arabicPeriod"/>
            </a:pPr>
            <a:r>
              <a:rPr lang="en-US" dirty="0"/>
              <a:t>I authenticates to A</a:t>
            </a:r>
          </a:p>
          <a:p>
            <a:pPr marL="228600" indent="-228600">
              <a:buAutoNum type="arabicPeriod"/>
            </a:pPr>
            <a:r>
              <a:rPr lang="en-US" dirty="0"/>
              <a:t>A authenticates to I</a:t>
            </a:r>
          </a:p>
          <a:p>
            <a:pPr marL="228600" indent="-228600">
              <a:buAutoNum type="arabicPeriod"/>
            </a:pPr>
            <a:r>
              <a:rPr lang="en-US" dirty="0"/>
              <a:t>I authenticates to B, impersonating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10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 starts a session with I</a:t>
            </a:r>
          </a:p>
          <a:p>
            <a:pPr marL="228600" indent="-228600">
              <a:buAutoNum type="arabicPeriod"/>
            </a:pPr>
            <a:r>
              <a:rPr lang="en-US" dirty="0"/>
              <a:t>I starts a session with B, impersonating A</a:t>
            </a:r>
          </a:p>
          <a:p>
            <a:pPr marL="228600" indent="-228600">
              <a:buAutoNum type="arabicPeriod"/>
            </a:pPr>
            <a:r>
              <a:rPr lang="en-US" dirty="0"/>
              <a:t>B authenticates to I (and I is impersonating A)</a:t>
            </a:r>
          </a:p>
          <a:p>
            <a:pPr marL="228600" indent="-228600">
              <a:buAutoNum type="arabicPeriod"/>
            </a:pPr>
            <a:r>
              <a:rPr lang="en-US" dirty="0"/>
              <a:t>I authenticates to A</a:t>
            </a:r>
          </a:p>
          <a:p>
            <a:pPr marL="228600" indent="-228600">
              <a:buAutoNum type="arabicPeriod"/>
            </a:pPr>
            <a:r>
              <a:rPr lang="en-US" dirty="0"/>
              <a:t>A authenticates to I</a:t>
            </a:r>
          </a:p>
          <a:p>
            <a:pPr marL="228600" indent="-228600">
              <a:buAutoNum type="arabicPeriod"/>
            </a:pPr>
            <a:r>
              <a:rPr lang="en-US" dirty="0"/>
              <a:t>I authenticates to B, impersonating A</a:t>
            </a:r>
          </a:p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64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 starts a session with I</a:t>
            </a:r>
          </a:p>
          <a:p>
            <a:pPr marL="228600" indent="-228600">
              <a:buAutoNum type="arabicPeriod"/>
            </a:pPr>
            <a:r>
              <a:rPr lang="en-US" dirty="0"/>
              <a:t>I starts a session with B, impersonating A</a:t>
            </a:r>
          </a:p>
          <a:p>
            <a:pPr marL="228600" indent="-228600">
              <a:buAutoNum type="arabicPeriod"/>
            </a:pPr>
            <a:r>
              <a:rPr lang="en-US" dirty="0"/>
              <a:t>B authenticates to I (and I is impersonating A)</a:t>
            </a:r>
          </a:p>
          <a:p>
            <a:pPr marL="228600" indent="-228600">
              <a:buAutoNum type="arabicPeriod"/>
            </a:pPr>
            <a:r>
              <a:rPr lang="en-US" dirty="0"/>
              <a:t>I authenticates to A</a:t>
            </a:r>
          </a:p>
          <a:p>
            <a:pPr marL="228600" indent="-228600">
              <a:buAutoNum type="arabicPeriod"/>
            </a:pPr>
            <a:r>
              <a:rPr lang="en-US" dirty="0"/>
              <a:t>A authenticates to I</a:t>
            </a:r>
          </a:p>
          <a:p>
            <a:pPr marL="228600" indent="-228600">
              <a:buAutoNum type="arabicPeriod"/>
            </a:pPr>
            <a:r>
              <a:rPr lang="en-US" dirty="0"/>
              <a:t>I authenticates to B, impersonating A</a:t>
            </a:r>
          </a:p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29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 starts a session with I</a:t>
            </a:r>
          </a:p>
          <a:p>
            <a:pPr marL="228600" indent="-228600">
              <a:buAutoNum type="arabicPeriod"/>
            </a:pPr>
            <a:r>
              <a:rPr lang="en-US" dirty="0"/>
              <a:t>I starts a session with B, impersonating A</a:t>
            </a:r>
          </a:p>
          <a:p>
            <a:pPr marL="228600" indent="-228600">
              <a:buAutoNum type="arabicPeriod"/>
            </a:pPr>
            <a:r>
              <a:rPr lang="en-US" dirty="0"/>
              <a:t>B authenticates to I (and I is impersonating A)</a:t>
            </a:r>
          </a:p>
          <a:p>
            <a:pPr marL="228600" indent="-228600">
              <a:buAutoNum type="arabicPeriod"/>
            </a:pPr>
            <a:r>
              <a:rPr lang="en-US" dirty="0"/>
              <a:t>I authenticates to A</a:t>
            </a:r>
          </a:p>
          <a:p>
            <a:pPr marL="228600" indent="-228600">
              <a:buAutoNum type="arabicPeriod"/>
            </a:pPr>
            <a:r>
              <a:rPr lang="en-US" dirty="0"/>
              <a:t>A authenticates to I</a:t>
            </a:r>
          </a:p>
          <a:p>
            <a:pPr marL="228600" indent="-228600">
              <a:buAutoNum type="arabicPeriod"/>
            </a:pPr>
            <a:r>
              <a:rPr lang="en-US" dirty="0"/>
              <a:t>I authenticates to B, impersonating A</a:t>
            </a:r>
          </a:p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41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 starts a session with I</a:t>
            </a:r>
          </a:p>
          <a:p>
            <a:pPr marL="228600" indent="-228600">
              <a:buAutoNum type="arabicPeriod"/>
            </a:pPr>
            <a:r>
              <a:rPr lang="en-US" dirty="0"/>
              <a:t>I starts a session with B, impersonating A</a:t>
            </a:r>
          </a:p>
          <a:p>
            <a:pPr marL="228600" indent="-228600">
              <a:buAutoNum type="arabicPeriod"/>
            </a:pPr>
            <a:r>
              <a:rPr lang="en-US" dirty="0"/>
              <a:t>B authenticates to I (and I is impersonating A)</a:t>
            </a:r>
          </a:p>
          <a:p>
            <a:pPr marL="228600" indent="-228600">
              <a:buAutoNum type="arabicPeriod"/>
            </a:pPr>
            <a:r>
              <a:rPr lang="en-US" dirty="0"/>
              <a:t>I authenticates to A</a:t>
            </a:r>
          </a:p>
          <a:p>
            <a:pPr marL="228600" indent="-228600">
              <a:buAutoNum type="arabicPeriod"/>
            </a:pPr>
            <a:r>
              <a:rPr lang="en-US" dirty="0"/>
              <a:t>A authenticates to I</a:t>
            </a:r>
          </a:p>
          <a:p>
            <a:pPr marL="228600" indent="-228600">
              <a:buAutoNum type="arabicPeriod"/>
            </a:pPr>
            <a:r>
              <a:rPr lang="en-US" dirty="0"/>
              <a:t>I authenticates to B, impersonating 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10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61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I initiates, impersonating P_2 and replacing the first nonce with their identity I (see step 4)</a:t>
            </a:r>
          </a:p>
          <a:p>
            <a:pPr marL="228600" indent="-228600">
              <a:buAutoNum type="arabicPeriod"/>
            </a:pPr>
            <a:r>
              <a:rPr lang="en-US" dirty="0"/>
              <a:t>P_1 responds as expected</a:t>
            </a:r>
          </a:p>
          <a:p>
            <a:pPr marL="228600" indent="-228600">
              <a:buAutoNum type="arabicPeriod"/>
            </a:pPr>
            <a:r>
              <a:rPr lang="en-US" dirty="0"/>
              <a:t>I forwards the response to P_2 unchanged</a:t>
            </a:r>
          </a:p>
          <a:p>
            <a:pPr marL="228600" indent="-228600">
              <a:buAutoNum type="arabicPeriod"/>
            </a:pPr>
            <a:r>
              <a:rPr lang="en-US" dirty="0"/>
              <a:t>P_2 took the previous message as an initiation, confusing &lt;N_P1, P1&gt; with a nonce! P_2 responds, leaking N_P1 to I. (P_2 encrypts with I’s public key because I is the first component of the encryption, which we smuggled in earlier)</a:t>
            </a:r>
          </a:p>
          <a:p>
            <a:pPr marL="228600" indent="-228600">
              <a:buAutoNum type="arabicPeriod"/>
            </a:pPr>
            <a:r>
              <a:rPr lang="en-US" dirty="0"/>
              <a:t>I has successfully impersonated P_2!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35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I initiates, impersonating P_2 and replacing the first nonce with their identity I (see step 4)</a:t>
            </a:r>
          </a:p>
          <a:p>
            <a:pPr marL="228600" indent="-228600">
              <a:buAutoNum type="arabicPeriod"/>
            </a:pPr>
            <a:r>
              <a:rPr lang="en-US" dirty="0"/>
              <a:t>P_1 responds as expected</a:t>
            </a:r>
          </a:p>
          <a:p>
            <a:pPr marL="228600" indent="-228600">
              <a:buAutoNum type="arabicPeriod"/>
            </a:pPr>
            <a:r>
              <a:rPr lang="en-US" dirty="0"/>
              <a:t>I forwards the response to P_2 unchanged</a:t>
            </a:r>
          </a:p>
          <a:p>
            <a:pPr marL="228600" indent="-228600">
              <a:buAutoNum type="arabicPeriod"/>
            </a:pPr>
            <a:r>
              <a:rPr lang="en-US" dirty="0"/>
              <a:t>P_2 took the previous message as an initiation, confusing &lt;N_P1, P1&gt; with a nonce! P_2 responds, leaking N_P1 to I. (P_2 encrypts with I’s public key because I is the first component of the encryption, which we smuggled in earlier)</a:t>
            </a:r>
          </a:p>
          <a:p>
            <a:pPr marL="228600" indent="-228600">
              <a:buAutoNum type="arabicPeriod"/>
            </a:pPr>
            <a:r>
              <a:rPr lang="en-US" dirty="0"/>
              <a:t>I has successfully impersonated P_2!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511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I initiates, impersonating P_2 and replacing the first nonce with their identity I (see step 4)</a:t>
            </a:r>
          </a:p>
          <a:p>
            <a:pPr marL="228600" indent="-228600">
              <a:buAutoNum type="arabicPeriod"/>
            </a:pPr>
            <a:r>
              <a:rPr lang="en-US" dirty="0"/>
              <a:t>P_1 responds as expected</a:t>
            </a:r>
          </a:p>
          <a:p>
            <a:pPr marL="228600" indent="-228600">
              <a:buAutoNum type="arabicPeriod"/>
            </a:pPr>
            <a:r>
              <a:rPr lang="en-US" dirty="0"/>
              <a:t>I forwards the response to P_2 unchanged</a:t>
            </a:r>
          </a:p>
          <a:p>
            <a:pPr marL="228600" indent="-228600">
              <a:buAutoNum type="arabicPeriod"/>
            </a:pPr>
            <a:r>
              <a:rPr lang="en-US" dirty="0"/>
              <a:t>P_2 took the previous message as an initiation, confusing &lt;N_P1, P1&gt; with a nonce! P_2 responds, leaking N_P1 to I. (P_2 encrypts with I’s public key because I is the first component of the encryption, which we smuggled in earlier)</a:t>
            </a:r>
          </a:p>
          <a:p>
            <a:pPr marL="228600" indent="-228600">
              <a:buAutoNum type="arabicPeriod"/>
            </a:pPr>
            <a:r>
              <a:rPr lang="en-US" dirty="0"/>
              <a:t>I has successfully impersonated P_2!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44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I initiates, impersonating P_2 and replacing the first nonce with their identity I (see step 4)</a:t>
            </a:r>
          </a:p>
          <a:p>
            <a:pPr marL="228600" indent="-228600">
              <a:buAutoNum type="arabicPeriod"/>
            </a:pPr>
            <a:r>
              <a:rPr lang="en-US" dirty="0"/>
              <a:t>P_1 responds as expected</a:t>
            </a:r>
          </a:p>
          <a:p>
            <a:pPr marL="228600" indent="-228600">
              <a:buAutoNum type="arabicPeriod"/>
            </a:pPr>
            <a:r>
              <a:rPr lang="en-US" dirty="0"/>
              <a:t>I forwards the response to P_2 unchanged</a:t>
            </a:r>
          </a:p>
          <a:p>
            <a:pPr marL="228600" indent="-228600">
              <a:buAutoNum type="arabicPeriod"/>
            </a:pPr>
            <a:r>
              <a:rPr lang="en-US" dirty="0"/>
              <a:t>P_2 took the previous message as an initiation, confusing &lt;N_P1, P1&gt; with a nonce! P_2 responds, leaking N_P1 to I. (P_2 encrypts with I’s public key because I is the first component of the encryption, which we smuggled in earlier)</a:t>
            </a:r>
          </a:p>
          <a:p>
            <a:pPr marL="228600" indent="-228600">
              <a:buAutoNum type="arabicPeriod"/>
            </a:pPr>
            <a:r>
              <a:rPr lang="en-US" dirty="0"/>
              <a:t>I has successfully impersonated P_2!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908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  <a:p>
            <a:r>
              <a:rPr lang="en-US" dirty="0"/>
              <a:t>For </a:t>
            </a:r>
            <a:r>
              <a:rPr lang="en-US" dirty="0" err="1"/>
              <a:t>sortedness</a:t>
            </a:r>
            <a:r>
              <a:rPr lang="en-US" dirty="0"/>
              <a:t> – more formally, function inputs should be contravariant (we can accept the same sort or a </a:t>
            </a:r>
            <a:r>
              <a:rPr lang="en-US" dirty="0" err="1"/>
              <a:t>subsort</a:t>
            </a:r>
            <a:r>
              <a:rPr lang="en-US" dirty="0"/>
              <a:t>; we don’t know how to handle a more general sort)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382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  <a:p>
            <a:r>
              <a:rPr lang="en-US" dirty="0"/>
              <a:t>For </a:t>
            </a:r>
            <a:r>
              <a:rPr lang="en-US" dirty="0" err="1"/>
              <a:t>sortedness</a:t>
            </a:r>
            <a:r>
              <a:rPr lang="en-US" dirty="0"/>
              <a:t> – more formally, function inputs should be contravariant (we can accept the same sort or a </a:t>
            </a:r>
            <a:r>
              <a:rPr lang="en-US" dirty="0" err="1"/>
              <a:t>subsort</a:t>
            </a:r>
            <a:r>
              <a:rPr lang="en-US" dirty="0"/>
              <a:t>; we don’t know how to handle a more general sort)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388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intruder could modify the tag, then one could have a successful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839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point of type confusion? If a principal (who gets confused, like P2) actually tries to destruct, then the attack will fail. </a:t>
            </a:r>
            <a:br>
              <a:rPr lang="en-US" dirty="0"/>
            </a:br>
            <a:r>
              <a:rPr lang="en-US" dirty="0"/>
              <a:t>But if the principal tries to forward, some other participant may act insecurely. </a:t>
            </a:r>
            <a:br>
              <a:rPr lang="en-US" dirty="0"/>
            </a:br>
            <a:r>
              <a:rPr lang="en-US" dirty="0"/>
              <a:t>But if no cryptographic protection, then we can do the same attack without type confusion at the forwarding step!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193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point of type confusion? If a principal (who gets confused, like P2) actually tries to destruct, then the attack will fail. </a:t>
            </a:r>
            <a:br>
              <a:rPr lang="en-US" dirty="0"/>
            </a:br>
            <a:r>
              <a:rPr lang="en-US" dirty="0"/>
              <a:t>But if the principal tries to forward, some other participant may act insecurely. </a:t>
            </a:r>
            <a:br>
              <a:rPr lang="en-US" dirty="0"/>
            </a:br>
            <a:r>
              <a:rPr lang="en-US" dirty="0"/>
              <a:t>But if no cryptographic protection, then we can do the same attack without type confusion at the forwarding step!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241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point of type confusion? If a principal (who gets confused, like P2) actually tries to destruct, then the attack will fail. </a:t>
            </a:r>
            <a:br>
              <a:rPr lang="en-US" dirty="0"/>
            </a:br>
            <a:r>
              <a:rPr lang="en-US" dirty="0"/>
              <a:t>But if the principal tries to forward, some other participant may act insecurely. </a:t>
            </a:r>
            <a:br>
              <a:rPr lang="en-US" dirty="0"/>
            </a:br>
            <a:r>
              <a:rPr lang="en-US" dirty="0"/>
              <a:t>But if no cryptographic protection, then we can do the same attack without type confusion at the forwarding step!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016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point of type confusion? If a principal (who gets confused, like P2) actually tries to destruct, then the attack will fail. </a:t>
            </a:r>
            <a:br>
              <a:rPr lang="en-US" dirty="0"/>
            </a:br>
            <a:r>
              <a:rPr lang="en-US" dirty="0"/>
              <a:t>But if the principal tries to forward, some other participant may act insecurely. </a:t>
            </a:r>
            <a:br>
              <a:rPr lang="en-US" dirty="0"/>
            </a:br>
            <a:r>
              <a:rPr lang="en-US" dirty="0"/>
              <a:t>But if no cryptographic protection, then we can do the same attack without type confusion at the forwarding step!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596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point of type confusion? If a principal (who gets confused, like P2) actually tries to destruct, then the attack will fail. </a:t>
            </a:r>
            <a:br>
              <a:rPr lang="en-US" dirty="0"/>
            </a:br>
            <a:r>
              <a:rPr lang="en-US" dirty="0"/>
              <a:t>But if the principal tries to forward, some other participant may act insecurely. </a:t>
            </a:r>
            <a:br>
              <a:rPr lang="en-US" dirty="0"/>
            </a:br>
            <a:r>
              <a:rPr lang="en-US" dirty="0"/>
              <a:t>But if no cryptographic protection, then we can do the same attack without type confusion at the forwarding step!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35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point of type confusion? If a principal (who gets confused, like P2) actually tries to destruct, then the attack will fail. </a:t>
            </a:r>
            <a:br>
              <a:rPr lang="en-US" dirty="0"/>
            </a:br>
            <a:r>
              <a:rPr lang="en-US" dirty="0"/>
              <a:t>But if the principal tries to forward, some other participant may act insecurely. </a:t>
            </a:r>
            <a:br>
              <a:rPr lang="en-US" dirty="0"/>
            </a:br>
            <a:r>
              <a:rPr lang="en-US" dirty="0"/>
              <a:t>But if no cryptographic protection, then we can do the same attack without type confusion at the forwarding step!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057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447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04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482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598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164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point of type confusion? If a principal (who gets confused, like P2) actually tries to destruct, then the attack will fail. </a:t>
            </a:r>
            <a:br>
              <a:rPr lang="en-US" dirty="0"/>
            </a:br>
            <a:r>
              <a:rPr lang="en-US" dirty="0"/>
              <a:t>But if the principal tries to forward, some other participant may act insecurely. </a:t>
            </a:r>
            <a:br>
              <a:rPr lang="en-US" dirty="0"/>
            </a:br>
            <a:r>
              <a:rPr lang="en-US" dirty="0"/>
              <a:t>But if no cryptographic protection, then we can do the same attack without type confusion at the forwarding step!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444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point of type confusion? If a principal (who gets confused, like P2) actually tries to destruct, then the attack will fail. </a:t>
            </a:r>
            <a:br>
              <a:rPr lang="en-US" dirty="0"/>
            </a:br>
            <a:r>
              <a:rPr lang="en-US" dirty="0"/>
              <a:t>But if the principal tries to forward, some other participant may act insecurely. </a:t>
            </a:r>
            <a:br>
              <a:rPr lang="en-US" dirty="0"/>
            </a:br>
            <a:r>
              <a:rPr lang="en-US" dirty="0"/>
              <a:t>But if no cryptographic protection, then we can do the same attack without type confusion at the forwarding step!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605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point of type confusion? If a principal (who gets confused, like P2) actually tries to destruct, then the attack will fail. </a:t>
            </a:r>
            <a:br>
              <a:rPr lang="en-US" dirty="0"/>
            </a:br>
            <a:r>
              <a:rPr lang="en-US" dirty="0"/>
              <a:t>But if the principal tries to forward, some other participant may act insecurely. </a:t>
            </a:r>
            <a:br>
              <a:rPr lang="en-US" dirty="0"/>
            </a:br>
            <a:r>
              <a:rPr lang="en-US" dirty="0"/>
              <a:t>But if no cryptographic protection, then we can do the same attack without type confusion at the forwarding step!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1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point of type confusion? If a principal (who gets confused, like P2) actually tries to destruct, then the attack will fail. </a:t>
            </a:r>
            <a:br>
              <a:rPr lang="en-US" dirty="0"/>
            </a:br>
            <a:r>
              <a:rPr lang="en-US" dirty="0"/>
              <a:t>But if the principal tries to forward, some other participant may act insecurely. </a:t>
            </a:r>
            <a:br>
              <a:rPr lang="en-US" dirty="0"/>
            </a:br>
            <a:r>
              <a:rPr lang="en-US" dirty="0"/>
              <a:t>But if no cryptographic protection, then we can do the same attack without type confusion at the forwarding step!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369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point of type confusion? If a principal (who gets confused, like P2) actually tries to destruct, then the attack will fail. </a:t>
            </a:r>
            <a:br>
              <a:rPr lang="en-US" dirty="0"/>
            </a:br>
            <a:r>
              <a:rPr lang="en-US" dirty="0"/>
              <a:t>But if the principal tries to forward, some other participant may act insecurely. </a:t>
            </a:r>
            <a:br>
              <a:rPr lang="en-US" dirty="0"/>
            </a:br>
            <a:r>
              <a:rPr lang="en-US" dirty="0"/>
              <a:t>But if no cryptographic protection, then we can do the same attack without type confusion at the forwarding step!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24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=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𝐸</m:t>
                        </m:r>
                      </m:sub>
                    </m:sSub>
                    <m:sSub>
                      <m:sSubPr>
                        <m:ctrlP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sz="12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1200" dirty="0">
                    <a:latin typeface="Source Sans Pro"/>
                    <a:ea typeface="Source Sans Pro"/>
                  </a:rPr>
                  <a:t>means that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12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sz="12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</m:t>
                    </m:r>
                  </m:oMath>
                </a14:m>
                <a:r>
                  <a:rPr lang="en-US" sz="1200" dirty="0">
                    <a:latin typeface="Source Sans Pro"/>
                    <a:ea typeface="Source Sans Pro"/>
                  </a:rPr>
                  <a:t> is in the smallest congruence relation containing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𝐸</m:t>
                    </m:r>
                  </m:oMath>
                </a14:m>
                <a:r>
                  <a:rPr lang="en-US" sz="1200" dirty="0">
                    <a:latin typeface="Source Sans Pro"/>
                    <a:ea typeface="Source Sans Pro"/>
                  </a:rPr>
                  <a:t> that is closed under substitutions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Source Sans Pro"/>
                  </a:rPr>
                  <a:t>𝑡_</a:t>
                </a:r>
                <a:r>
                  <a:rPr lang="en-US" sz="1200" i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Source Sans Pro"/>
                  </a:rPr>
                  <a:t>1 =_𝐸 𝑡_2  </a:t>
                </a:r>
                <a:r>
                  <a:rPr lang="en-US" sz="1200" dirty="0">
                    <a:latin typeface="Source Sans Pro"/>
                    <a:ea typeface="Source Sans Pro"/>
                  </a:rPr>
                  <a:t>means that </a:t>
                </a:r>
                <a:r>
                  <a:rPr lang="en-US" sz="1200" i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Source Sans Pro"/>
                  </a:rPr>
                  <a:t>(𝑡_1, 𝑡_2)</a:t>
                </a:r>
                <a:r>
                  <a:rPr lang="en-US" sz="1200" dirty="0">
                    <a:latin typeface="Source Sans Pro"/>
                    <a:ea typeface="Source Sans Pro"/>
                  </a:rPr>
                  <a:t> is in the smallest congruence relation containing </a:t>
                </a:r>
                <a:r>
                  <a:rPr lang="en-US" sz="1200" i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Source Sans Pro"/>
                  </a:rPr>
                  <a:t>𝐸</a:t>
                </a:r>
                <a:r>
                  <a:rPr lang="en-US" sz="1200" dirty="0">
                    <a:latin typeface="Source Sans Pro"/>
                    <a:ea typeface="Source Sans Pro"/>
                  </a:rPr>
                  <a:t> that is closed under substitutions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272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839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on the LHS of the equation there is normalization arrow, on the RHS there is no normalization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022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on the LHS of the equation there is normalization arrow, on the RHS there is no normalization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175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on the LHS of the equation there is normalization arrow, on the RHS there is no normalization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13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0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"/>
              </a:defRPr>
            </a:lvl1pPr>
            <a:lvl2pPr>
              <a:defRPr>
                <a:latin typeface=""/>
              </a:defRPr>
            </a:lvl2pPr>
            <a:lvl3pPr>
              <a:defRPr>
                <a:latin typeface=""/>
              </a:defRPr>
            </a:lvl3pPr>
            <a:lvl4pPr>
              <a:defRPr>
                <a:latin typeface=""/>
              </a:defRPr>
            </a:lvl4pPr>
            <a:lvl5pPr>
              <a:defRPr>
                <a:latin typeface="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26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19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83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3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069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4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09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58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315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30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2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1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10.png"/><Relationship Id="rId7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0.png"/><Relationship Id="rId9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1.png"/><Relationship Id="rId7" Type="http://schemas.openxmlformats.org/officeDocument/2006/relationships/image" Target="../media/image6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openxmlformats.org/officeDocument/2006/relationships/image" Target="../media/image43.png"/><Relationship Id="rId10" Type="http://schemas.openxmlformats.org/officeDocument/2006/relationships/image" Target="../media/image47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5" Type="http://schemas.openxmlformats.org/officeDocument/2006/relationships/image" Target="../media/image330.png"/><Relationship Id="rId4" Type="http://schemas.openxmlformats.org/officeDocument/2006/relationships/image" Target="../media/image3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30.png"/><Relationship Id="rId4" Type="http://schemas.openxmlformats.org/officeDocument/2006/relationships/image" Target="../media/image3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7" Type="http://schemas.openxmlformats.org/officeDocument/2006/relationships/image" Target="../media/image35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30.png"/><Relationship Id="rId4" Type="http://schemas.openxmlformats.org/officeDocument/2006/relationships/image" Target="../media/image31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6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7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2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10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2.png"/><Relationship Id="rId4" Type="http://schemas.openxmlformats.org/officeDocument/2006/relationships/image" Target="../media/image10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2.png"/><Relationship Id="rId4" Type="http://schemas.openxmlformats.org/officeDocument/2006/relationships/image" Target="../media/image10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2.png"/><Relationship Id="rId4" Type="http://schemas.openxmlformats.org/officeDocument/2006/relationships/image" Target="../media/image10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2.png"/><Relationship Id="rId4" Type="http://schemas.openxmlformats.org/officeDocument/2006/relationships/image" Target="../media/image10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104.png"/><Relationship Id="rId4" Type="http://schemas.openxmlformats.org/officeDocument/2006/relationships/image" Target="../media/image10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22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6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8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8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36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35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34.png"/><Relationship Id="rId5" Type="http://schemas.openxmlformats.org/officeDocument/2006/relationships/image" Target="../media/image141.png"/><Relationship Id="rId10" Type="http://schemas.openxmlformats.org/officeDocument/2006/relationships/image" Target="../media/image133.png"/><Relationship Id="rId4" Type="http://schemas.openxmlformats.org/officeDocument/2006/relationships/image" Target="../media/image140.png"/><Relationship Id="rId9" Type="http://schemas.openxmlformats.org/officeDocument/2006/relationships/image" Target="../media/image84.png"/><Relationship Id="rId14" Type="http://schemas.openxmlformats.org/officeDocument/2006/relationships/image" Target="../media/image137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36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35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34.png"/><Relationship Id="rId5" Type="http://schemas.openxmlformats.org/officeDocument/2006/relationships/image" Target="../media/image141.png"/><Relationship Id="rId15" Type="http://schemas.openxmlformats.org/officeDocument/2006/relationships/image" Target="../media/image122.png"/><Relationship Id="rId10" Type="http://schemas.openxmlformats.org/officeDocument/2006/relationships/image" Target="../media/image133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image" Target="../media/image137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51.png"/><Relationship Id="rId7" Type="http://schemas.openxmlformats.org/officeDocument/2006/relationships/image" Target="../media/image1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5" Type="http://schemas.openxmlformats.org/officeDocument/2006/relationships/image" Target="../media/image127.png"/><Relationship Id="rId4" Type="http://schemas.openxmlformats.org/officeDocument/2006/relationships/image" Target="../media/image153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15.png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10" Type="http://schemas.openxmlformats.org/officeDocument/2006/relationships/image" Target="../media/image94.png"/><Relationship Id="rId4" Type="http://schemas.openxmlformats.org/officeDocument/2006/relationships/image" Target="../media/image154.png"/><Relationship Id="rId9" Type="http://schemas.openxmlformats.org/officeDocument/2006/relationships/image" Target="../media/image93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0.png"/><Relationship Id="rId3" Type="http://schemas.openxmlformats.org/officeDocument/2006/relationships/image" Target="../media/image900.png"/><Relationship Id="rId7" Type="http://schemas.openxmlformats.org/officeDocument/2006/relationships/image" Target="../media/image9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0.png"/><Relationship Id="rId5" Type="http://schemas.openxmlformats.org/officeDocument/2006/relationships/image" Target="../media/image920.png"/><Relationship Id="rId4" Type="http://schemas.openxmlformats.org/officeDocument/2006/relationships/image" Target="../media/image91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0.png"/><Relationship Id="rId4" Type="http://schemas.openxmlformats.org/officeDocument/2006/relationships/image" Target="../media/image58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980.png"/><Relationship Id="rId7" Type="http://schemas.openxmlformats.org/officeDocument/2006/relationships/image" Target="../media/image10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0.png"/><Relationship Id="rId5" Type="http://schemas.openxmlformats.org/officeDocument/2006/relationships/image" Target="../media/image1000.png"/><Relationship Id="rId4" Type="http://schemas.openxmlformats.org/officeDocument/2006/relationships/image" Target="../media/image990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0.png"/><Relationship Id="rId3" Type="http://schemas.openxmlformats.org/officeDocument/2006/relationships/image" Target="../media/image1050.png"/><Relationship Id="rId7" Type="http://schemas.openxmlformats.org/officeDocument/2006/relationships/image" Target="../media/image1090.png"/><Relationship Id="rId12" Type="http://schemas.openxmlformats.org/officeDocument/2006/relationships/image" Target="../media/image11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0.png"/><Relationship Id="rId11" Type="http://schemas.openxmlformats.org/officeDocument/2006/relationships/image" Target="../media/image16.png"/><Relationship Id="rId5" Type="http://schemas.openxmlformats.org/officeDocument/2006/relationships/image" Target="../media/image1070.png"/><Relationship Id="rId10" Type="http://schemas.openxmlformats.org/officeDocument/2006/relationships/image" Target="../media/image1120.png"/><Relationship Id="rId4" Type="http://schemas.openxmlformats.org/officeDocument/2006/relationships/image" Target="../media/image1060.png"/><Relationship Id="rId9" Type="http://schemas.openxmlformats.org/officeDocument/2006/relationships/image" Target="../media/image1110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0.png"/><Relationship Id="rId3" Type="http://schemas.openxmlformats.org/officeDocument/2006/relationships/image" Target="../media/image1140.png"/><Relationship Id="rId7" Type="http://schemas.openxmlformats.org/officeDocument/2006/relationships/image" Target="../media/image117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160.png"/><Relationship Id="rId4" Type="http://schemas.openxmlformats.org/officeDocument/2006/relationships/image" Target="../media/image1150.png"/><Relationship Id="rId9" Type="http://schemas.openxmlformats.org/officeDocument/2006/relationships/image" Target="../media/image1190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Avenir Next" panose="020B0503020202020204" pitchFamily="34" charset="0"/>
                <a:ea typeface="Source Sans Pro"/>
              </a:rPr>
              <a:t>Automated Reasoning for Security Protocols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"/>
                <a:ea typeface="Source Sans Pro"/>
              </a:rPr>
              <a:t>Rob Lorch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"/>
                <a:ea typeface="Source Sans Pro"/>
              </a:rPr>
              <a:t>4/23/26</a:t>
            </a:r>
            <a:endParaRPr lang="en-US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C5C56-34AF-1672-AA9A-65E7A4D3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951D-1B73-58A4-4D65-EEC266C2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Introduction &amp; 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3750E-F487-A549-7A81-AEE104966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25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Most of the Internet </a:t>
            </a:r>
            <a:r>
              <a:rPr lang="en-US" dirty="0">
                <a:ea typeface="Source Sans Pro"/>
              </a:rPr>
              <a:t>runs on layers of security protocols</a:t>
            </a:r>
          </a:p>
          <a:p>
            <a:pPr marL="457200" indent="-457200" algn="ctr"/>
            <a:endParaRPr lang="en-US" dirty="0">
              <a:solidFill>
                <a:srgbClr val="3B7F23"/>
              </a:solidFill>
              <a:ea typeface="Source Sans Pro"/>
            </a:endParaRPr>
          </a:p>
          <a:p>
            <a:pPr marL="457200" indent="-457200" algn="ctr"/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B8BC3C-5CD4-B017-228A-84FACB86DDB4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A1D63E8-ACF7-03C1-666B-F6A3E8655631}"/>
              </a:ext>
            </a:extLst>
          </p:cNvPr>
          <p:cNvGrpSpPr/>
          <p:nvPr/>
        </p:nvGrpSpPr>
        <p:grpSpPr>
          <a:xfrm>
            <a:off x="1973678" y="2692117"/>
            <a:ext cx="1692900" cy="1952758"/>
            <a:chOff x="2020114" y="2692117"/>
            <a:chExt cx="1692900" cy="19527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711B14A-3B98-7A7D-DD01-83DF8AD2D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2911" y="2692117"/>
              <a:ext cx="1104900" cy="1104900"/>
            </a:xfrm>
            <a:prstGeom prst="rect">
              <a:avLst/>
            </a:prstGeom>
          </p:spPr>
        </p:pic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6218C238-ECB7-0556-76B6-39A90486B980}"/>
                </a:ext>
              </a:extLst>
            </p:cNvPr>
            <p:cNvSpPr txBox="1">
              <a:spLocks/>
            </p:cNvSpPr>
            <p:nvPr/>
          </p:nvSpPr>
          <p:spPr>
            <a:xfrm>
              <a:off x="2020114" y="3972288"/>
              <a:ext cx="1692900" cy="67258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latin typeface=""/>
                  <a:ea typeface="Source Sans Pro"/>
                </a:rPr>
                <a:t>DNSSEC</a:t>
              </a:r>
            </a:p>
            <a:p>
              <a:pPr marL="457200" indent="-457200" algn="ctr"/>
              <a:endParaRPr lang="en-US" dirty="0">
                <a:latin typeface=""/>
                <a:ea typeface="Source Sans Pro"/>
              </a:endParaRPr>
            </a:p>
            <a:p>
              <a:pPr marL="457200" indent="-457200" algn="ctr"/>
              <a:endParaRPr lang="en-US" dirty="0">
                <a:latin typeface=""/>
                <a:ea typeface="Source Sans Pro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A47E08-EC15-749D-7F56-27BD256E18ED}"/>
              </a:ext>
            </a:extLst>
          </p:cNvPr>
          <p:cNvGrpSpPr/>
          <p:nvPr/>
        </p:nvGrpSpPr>
        <p:grpSpPr>
          <a:xfrm>
            <a:off x="5294744" y="2581786"/>
            <a:ext cx="1325563" cy="2039786"/>
            <a:chOff x="5433011" y="2581786"/>
            <a:chExt cx="1325563" cy="203978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9749D97-77D6-60F3-15A4-6B57FA90C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33011" y="2581786"/>
              <a:ext cx="1325563" cy="1325563"/>
            </a:xfrm>
            <a:prstGeom prst="rect">
              <a:avLst/>
            </a:prstGeom>
          </p:spPr>
        </p:pic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37527191-08E4-3EF9-563F-1CF0ED1D0A84}"/>
                </a:ext>
              </a:extLst>
            </p:cNvPr>
            <p:cNvSpPr txBox="1">
              <a:spLocks/>
            </p:cNvSpPr>
            <p:nvPr/>
          </p:nvSpPr>
          <p:spPr>
            <a:xfrm>
              <a:off x="5672701" y="3948985"/>
              <a:ext cx="846182" cy="67258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latin typeface=""/>
                  <a:ea typeface="Source Sans Pro"/>
                </a:rPr>
                <a:t>TLS</a:t>
              </a:r>
            </a:p>
            <a:p>
              <a:pPr marL="457200" indent="-457200" algn="ctr"/>
              <a:endParaRPr lang="en-US" dirty="0">
                <a:latin typeface=""/>
                <a:ea typeface="Source Sans Pro"/>
              </a:endParaRPr>
            </a:p>
            <a:p>
              <a:pPr marL="457200" indent="-457200" algn="ctr"/>
              <a:endParaRPr lang="en-US" dirty="0">
                <a:latin typeface=""/>
                <a:ea typeface="Source Sans Pro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C7A1465-1C6F-2D6D-50FA-AF77494BD5FF}"/>
              </a:ext>
            </a:extLst>
          </p:cNvPr>
          <p:cNvGrpSpPr/>
          <p:nvPr/>
        </p:nvGrpSpPr>
        <p:grpSpPr>
          <a:xfrm>
            <a:off x="8347868" y="2514317"/>
            <a:ext cx="1536700" cy="2107255"/>
            <a:chOff x="8356600" y="2514317"/>
            <a:chExt cx="1536700" cy="210725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243C4A9-7D87-8CF5-75C5-E02885E60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94700" y="2514317"/>
              <a:ext cx="1460500" cy="146050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E4FB1A73-21B4-FF66-06B4-F0360E25F11E}"/>
                </a:ext>
              </a:extLst>
            </p:cNvPr>
            <p:cNvSpPr txBox="1">
              <a:spLocks/>
            </p:cNvSpPr>
            <p:nvPr/>
          </p:nvSpPr>
          <p:spPr>
            <a:xfrm>
              <a:off x="8356600" y="3948985"/>
              <a:ext cx="1536700" cy="67258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latin typeface=""/>
                  <a:ea typeface="Source Sans Pro"/>
                </a:rPr>
                <a:t>X.509</a:t>
              </a:r>
            </a:p>
            <a:p>
              <a:pPr marL="457200" indent="-457200" algn="ctr"/>
              <a:endParaRPr lang="en-US" dirty="0">
                <a:latin typeface=""/>
                <a:ea typeface="Source Sans Pro"/>
              </a:endParaRPr>
            </a:p>
            <a:p>
              <a:pPr marL="457200" indent="-457200" algn="ctr"/>
              <a:endParaRPr lang="en-US" dirty="0">
                <a:latin typeface=""/>
                <a:ea typeface="Source Sans Pro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881211-8FDC-E7C8-B906-0A4B302E6C57}"/>
              </a:ext>
            </a:extLst>
          </p:cNvPr>
          <p:cNvGrpSpPr/>
          <p:nvPr/>
        </p:nvGrpSpPr>
        <p:grpSpPr>
          <a:xfrm>
            <a:off x="1865085" y="4588235"/>
            <a:ext cx="1927679" cy="2051996"/>
            <a:chOff x="1865085" y="4588235"/>
            <a:chExt cx="1927679" cy="205199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657AE62-675E-8847-5E95-0FFEB05B0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66144" y="4588235"/>
              <a:ext cx="1325563" cy="1325563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3C3759EF-153B-2582-E217-183168FFE981}"/>
                </a:ext>
              </a:extLst>
            </p:cNvPr>
            <p:cNvSpPr txBox="1">
              <a:spLocks/>
            </p:cNvSpPr>
            <p:nvPr/>
          </p:nvSpPr>
          <p:spPr>
            <a:xfrm>
              <a:off x="1865085" y="5967644"/>
              <a:ext cx="1927679" cy="67258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latin typeface=""/>
                  <a:ea typeface="Source Sans Pro"/>
                </a:rPr>
                <a:t>4G LTE/5G</a:t>
              </a:r>
            </a:p>
            <a:p>
              <a:pPr marL="457200" indent="-457200" algn="ctr"/>
              <a:endParaRPr lang="en-US" dirty="0">
                <a:latin typeface=""/>
                <a:ea typeface="Source Sans Pro"/>
              </a:endParaRPr>
            </a:p>
            <a:p>
              <a:pPr marL="457200" indent="-457200" algn="ctr"/>
              <a:endParaRPr lang="en-US" dirty="0">
                <a:latin typeface=""/>
                <a:ea typeface="Source Sans Pro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9ADC705-E6C6-D102-1BD6-177AB5B668FE}"/>
              </a:ext>
            </a:extLst>
          </p:cNvPr>
          <p:cNvGrpSpPr/>
          <p:nvPr/>
        </p:nvGrpSpPr>
        <p:grpSpPr>
          <a:xfrm>
            <a:off x="5294744" y="4588235"/>
            <a:ext cx="1325563" cy="2051996"/>
            <a:chOff x="5271758" y="4588235"/>
            <a:chExt cx="1325563" cy="205199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B53710E-2000-A714-BCDE-075020287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71758" y="4588235"/>
              <a:ext cx="1325563" cy="1325563"/>
            </a:xfrm>
            <a:prstGeom prst="rect">
              <a:avLst/>
            </a:prstGeom>
          </p:spPr>
        </p:pic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A5564162-1EE0-C143-2287-2AC2E3E70F7D}"/>
                </a:ext>
              </a:extLst>
            </p:cNvPr>
            <p:cNvSpPr txBox="1">
              <a:spLocks/>
            </p:cNvSpPr>
            <p:nvPr/>
          </p:nvSpPr>
          <p:spPr>
            <a:xfrm>
              <a:off x="5332213" y="5967644"/>
              <a:ext cx="1265107" cy="67258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latin typeface=""/>
                  <a:ea typeface="Source Sans Pro"/>
                </a:rPr>
                <a:t>Uptane</a:t>
              </a:r>
            </a:p>
            <a:p>
              <a:pPr marL="457200" indent="-457200" algn="ctr"/>
              <a:endParaRPr lang="en-US" dirty="0">
                <a:latin typeface=""/>
                <a:ea typeface="Source Sans Pro"/>
              </a:endParaRPr>
            </a:p>
            <a:p>
              <a:pPr marL="457200" indent="-457200" algn="ctr"/>
              <a:endParaRPr lang="en-US" dirty="0">
                <a:latin typeface=""/>
                <a:ea typeface="Source Sans Pro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8C70D3-47E0-ECCE-161B-EA5820C60774}"/>
              </a:ext>
            </a:extLst>
          </p:cNvPr>
          <p:cNvGrpSpPr/>
          <p:nvPr/>
        </p:nvGrpSpPr>
        <p:grpSpPr>
          <a:xfrm>
            <a:off x="8453437" y="4588235"/>
            <a:ext cx="1325563" cy="2051996"/>
            <a:chOff x="8339137" y="4588235"/>
            <a:chExt cx="1325563" cy="205199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793A1BB-D35F-A767-60AA-4F4D8C83F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39137" y="4588235"/>
              <a:ext cx="1325563" cy="1325563"/>
            </a:xfrm>
            <a:prstGeom prst="rect">
              <a:avLst/>
            </a:prstGeom>
          </p:spPr>
        </p:pic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78436A5C-1B76-A31A-DEEC-2FE01B9CF33A}"/>
                </a:ext>
              </a:extLst>
            </p:cNvPr>
            <p:cNvSpPr txBox="1">
              <a:spLocks/>
            </p:cNvSpPr>
            <p:nvPr/>
          </p:nvSpPr>
          <p:spPr>
            <a:xfrm>
              <a:off x="8500268" y="5967644"/>
              <a:ext cx="1003300" cy="67258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latin typeface=""/>
                  <a:ea typeface="Source Sans Pro"/>
                </a:rPr>
                <a:t>More</a:t>
              </a:r>
            </a:p>
            <a:p>
              <a:pPr marL="457200" indent="-457200" algn="ctr"/>
              <a:endParaRPr lang="en-US" dirty="0">
                <a:latin typeface=""/>
                <a:ea typeface="Source Sans Pro"/>
              </a:endParaRPr>
            </a:p>
            <a:p>
              <a:pPr marL="457200" indent="-457200" algn="ctr"/>
              <a:endParaRPr lang="en-US" dirty="0">
                <a:latin typeface=""/>
                <a:ea typeface="Source Sans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967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95CDF-283F-6DAB-88F2-6E0AFFAA9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EDF7-A7B3-688E-86C2-C8CF92F77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Introduction &amp; 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AA9FF-9E9C-D585-7639-BD2ADE435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590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i="1" dirty="0">
                <a:ea typeface="Source Sans Pro"/>
              </a:rPr>
              <a:t>Security protocols are 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hard to get right</a:t>
            </a:r>
          </a:p>
          <a:p>
            <a:endParaRPr lang="en-US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endParaRPr lang="en-US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endParaRPr lang="en-US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endParaRPr lang="en-US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endParaRPr lang="en-US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endParaRPr lang="en-US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endParaRPr lang="en-US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endParaRPr lang="en-US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endParaRPr lang="en-US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endParaRPr lang="en-US" dirty="0">
              <a:ea typeface="Source Sans Pro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1ACC05-EC25-CDC9-272B-12DD48F853D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4F264D-0BAD-E1FE-CF19-8575F2BBE2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0" t="452" r="58098" b="301"/>
          <a:stretch/>
        </p:blipFill>
        <p:spPr>
          <a:xfrm>
            <a:off x="1008268" y="3289586"/>
            <a:ext cx="3310133" cy="32032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B01B9A-7C9F-77EC-2A61-B78628FA24C9}"/>
              </a:ext>
            </a:extLst>
          </p:cNvPr>
          <p:cNvSpPr/>
          <p:nvPr/>
        </p:nvSpPr>
        <p:spPr>
          <a:xfrm>
            <a:off x="4136866" y="4425536"/>
            <a:ext cx="477079" cy="20673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7248ED-3C71-CEBD-3CC6-15DBDB4594C9}"/>
              </a:ext>
            </a:extLst>
          </p:cNvPr>
          <p:cNvSpPr/>
          <p:nvPr/>
        </p:nvSpPr>
        <p:spPr>
          <a:xfrm>
            <a:off x="5821680" y="3428999"/>
            <a:ext cx="5262880" cy="88275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"/>
              </a:rPr>
              <a:t>Undiscovered vulnerability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"/>
              </a:rPr>
              <a:t>in production</a:t>
            </a:r>
            <a:r>
              <a:rPr lang="en-US" sz="2000" dirty="0">
                <a:solidFill>
                  <a:schemeClr val="tx1"/>
                </a:solidFill>
                <a:latin typeface=""/>
              </a:rPr>
              <a:t> for 17 years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48C16A-6943-8301-61D4-074BAD151A8E}"/>
              </a:ext>
            </a:extLst>
          </p:cNvPr>
          <p:cNvSpPr/>
          <p:nvPr/>
        </p:nvSpPr>
        <p:spPr>
          <a:xfrm>
            <a:off x="5821680" y="4770822"/>
            <a:ext cx="5262880" cy="57912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"/>
              </a:rPr>
              <a:t>Discovered with automated reasoning tools!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556A18-6692-BC34-2C2F-D86BB8D50428}"/>
              </a:ext>
            </a:extLst>
          </p:cNvPr>
          <p:cNvSpPr txBox="1"/>
          <p:nvPr/>
        </p:nvSpPr>
        <p:spPr>
          <a:xfrm>
            <a:off x="951263" y="2368007"/>
            <a:ext cx="38475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"/>
                <a:ea typeface="Source Sans Pro"/>
              </a:rPr>
              <a:t>Needham-Schroeder public key </a:t>
            </a:r>
          </a:p>
          <a:p>
            <a:r>
              <a:rPr lang="en-US" sz="2000" dirty="0">
                <a:latin typeface=""/>
                <a:ea typeface="Source Sans Pro"/>
              </a:rPr>
              <a:t>mutual authentication protocol</a:t>
            </a:r>
          </a:p>
          <a:p>
            <a:endParaRPr lang="en-US" sz="2000" dirty="0">
              <a:latin typeface="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904D08-EA03-ABF9-AB0A-69C4F2544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0" y="3639354"/>
            <a:ext cx="497840" cy="497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345252-7707-00EF-A5A9-2E10EE0F7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840" y="4818118"/>
            <a:ext cx="579120" cy="57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3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A5078-A6A6-7052-10F7-D025B5E8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74181EF-049F-5BE0-0683-CADD64C44E03}"/>
              </a:ext>
            </a:extLst>
          </p:cNvPr>
          <p:cNvSpPr txBox="1"/>
          <p:nvPr/>
        </p:nvSpPr>
        <p:spPr>
          <a:xfrm>
            <a:off x="129119" y="2500537"/>
            <a:ext cx="60976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latin typeface="Britannic Bold" panose="020B0903060703020204" pitchFamily="34" charset="77"/>
                <a:ea typeface="Source Sans Pro"/>
              </a:rPr>
              <a:t>Victories of SOTA </a:t>
            </a:r>
          </a:p>
          <a:p>
            <a:pPr marL="0" indent="0" algn="ctr">
              <a:buNone/>
            </a:pPr>
            <a:r>
              <a:rPr lang="en-US" sz="2400" dirty="0">
                <a:latin typeface="Britannic Bold" panose="020B0903060703020204" pitchFamily="34" charset="77"/>
                <a:ea typeface="Source Sans Pro"/>
              </a:rPr>
              <a:t>(automated protocol analysis)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FA475-E857-22DA-A9D0-3CC1DE78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Introduction &amp; 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69A3B-1AD2-7DE9-BA3C-9D6741CF1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93" y="1808873"/>
            <a:ext cx="10515600" cy="11765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Modern protocols are 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orders of magnitude more complicated!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ECE3B-C7E3-6DD0-1BA3-E94895F2879A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CD991F-396C-9EC0-19B7-2DCD9AD14B4A}"/>
              </a:ext>
            </a:extLst>
          </p:cNvPr>
          <p:cNvSpPr txBox="1">
            <a:spLocks/>
          </p:cNvSpPr>
          <p:nvPr/>
        </p:nvSpPr>
        <p:spPr>
          <a:xfrm>
            <a:off x="1122017" y="3231807"/>
            <a:ext cx="5092700" cy="33011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157960-9B91-BAAA-4643-E25994BD02B7}"/>
              </a:ext>
            </a:extLst>
          </p:cNvPr>
          <p:cNvSpPr txBox="1">
            <a:spLocks/>
          </p:cNvSpPr>
          <p:nvPr/>
        </p:nvSpPr>
        <p:spPr>
          <a:xfrm>
            <a:off x="6525039" y="3232524"/>
            <a:ext cx="5092700" cy="33011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03E128-FF21-0FFF-65D7-47E3EE261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944" y="2336750"/>
            <a:ext cx="672727" cy="6727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F62373-57FD-30E0-26BA-62CB76D82752}"/>
              </a:ext>
            </a:extLst>
          </p:cNvPr>
          <p:cNvSpPr txBox="1"/>
          <p:nvPr/>
        </p:nvSpPr>
        <p:spPr>
          <a:xfrm>
            <a:off x="6022561" y="2498303"/>
            <a:ext cx="60976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latin typeface="Britannic Bold" panose="020B0903060703020204" pitchFamily="34" charset="77"/>
                <a:ea typeface="Source Sans Pro"/>
              </a:rPr>
              <a:t>Drawbacks of SOTA                      (automated protocol analysis)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27C020C-4192-B40B-5BF3-2515BD0F6AF9}"/>
              </a:ext>
            </a:extLst>
          </p:cNvPr>
          <p:cNvSpPr/>
          <p:nvPr/>
        </p:nvSpPr>
        <p:spPr>
          <a:xfrm>
            <a:off x="951263" y="3396607"/>
            <a:ext cx="4987662" cy="9642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Needham-Schroeder analysis with full automation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752F8C-EE2B-7020-27B1-E32C41B0763A}"/>
              </a:ext>
            </a:extLst>
          </p:cNvPr>
          <p:cNvSpPr/>
          <p:nvPr/>
        </p:nvSpPr>
        <p:spPr>
          <a:xfrm>
            <a:off x="898744" y="4650323"/>
            <a:ext cx="5092700" cy="9642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Properties of </a:t>
            </a:r>
            <a:r>
              <a:rPr lang="en-US" sz="2000" dirty="0" err="1">
                <a:solidFill>
                  <a:schemeClr val="tx1"/>
                </a:solidFill>
                <a:latin typeface=""/>
                <a:ea typeface="Source Sans Pro"/>
              </a:rPr>
              <a:t>WireGuard</a:t>
            </a:r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, SSH, Signal, and TLS formally verified</a:t>
            </a:r>
            <a:endParaRPr lang="en-US" sz="2000" dirty="0">
              <a:solidFill>
                <a:schemeClr val="tx1"/>
              </a:solidFill>
              <a:latin typeface="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2C93226-6C79-09D7-9A7F-2636E5D74F80}"/>
              </a:ext>
            </a:extLst>
          </p:cNvPr>
          <p:cNvSpPr/>
          <p:nvPr/>
        </p:nvSpPr>
        <p:spPr>
          <a:xfrm>
            <a:off x="6577558" y="3396607"/>
            <a:ext cx="4987662" cy="9642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Nontrivial protocols require knowledge of internal workings of tools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66E5CE7-CBA9-2AA6-D0F2-EAB005091AF4}"/>
              </a:ext>
            </a:extLst>
          </p:cNvPr>
          <p:cNvSpPr/>
          <p:nvPr/>
        </p:nvSpPr>
        <p:spPr>
          <a:xfrm>
            <a:off x="6630077" y="4650322"/>
            <a:ext cx="4987662" cy="9642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Certain classes of protocols are still not amenable to (semi-)automated analysis</a:t>
            </a:r>
            <a:endParaRPr lang="en-US" sz="2000" dirty="0">
              <a:solidFill>
                <a:schemeClr val="tx1"/>
              </a:solidFill>
              <a:latin typeface="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7166B5-00B6-926D-5693-AF2AE90AF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48" y="2336705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7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4BBA-AEEF-F02E-2A0A-27B08706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4503-9F41-4A11-446B-56A49286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FE3CC-B3C1-2EB5-2B26-CEE053F6D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Talk objectives</a:t>
            </a:r>
          </a:p>
          <a:p>
            <a:r>
              <a:rPr lang="en-US" sz="3200" dirty="0">
                <a:ea typeface="Source Sans Pro"/>
              </a:rPr>
              <a:t>Cryptographic protocol verification background</a:t>
            </a:r>
          </a:p>
          <a:p>
            <a:r>
              <a:rPr lang="en-US" sz="3200" dirty="0">
                <a:ea typeface="Source Sans Pro"/>
              </a:rPr>
              <a:t>Automated reasoning for protocols</a:t>
            </a:r>
            <a:endParaRPr lang="en-US" sz="3200" dirty="0"/>
          </a:p>
          <a:p>
            <a:r>
              <a:rPr lang="en-US" sz="3200" dirty="0">
                <a:ea typeface="Source Sans Pro"/>
              </a:rPr>
              <a:t>Breaking, fixing, and breaking Needham-Schroeder</a:t>
            </a:r>
          </a:p>
          <a:p>
            <a:r>
              <a:rPr lang="en-US" sz="3200" dirty="0">
                <a:ea typeface="Source Sans Pro"/>
              </a:rPr>
              <a:t>Making reasoning tractable</a:t>
            </a:r>
          </a:p>
          <a:p>
            <a:r>
              <a:rPr lang="en-US" sz="3200" dirty="0">
                <a:ea typeface="Source Sans Pro"/>
              </a:rPr>
              <a:t>Discussion, Research Questions, &amp; Conclusion </a:t>
            </a:r>
          </a:p>
          <a:p>
            <a:r>
              <a:rPr lang="en-US" sz="3200" dirty="0">
                <a:ea typeface="Source Sans Pro"/>
              </a:rPr>
              <a:t>Appendix: Making reasoning expressive </a:t>
            </a:r>
          </a:p>
          <a:p>
            <a:endParaRPr lang="en-US" sz="3200" dirty="0"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CEFFD2-B460-F9F6-EA13-A58AA167383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98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35E0-BEEA-EB4D-28A6-402771B8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0EAD-0D27-1C7F-A0A8-F961B406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Talk Objectives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013BD-B792-7885-524D-3E34C6C84D3E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941B0F-7E23-56C7-6262-EF4EADE1740C}"/>
              </a:ext>
            </a:extLst>
          </p:cNvPr>
          <p:cNvSpPr/>
          <p:nvPr/>
        </p:nvSpPr>
        <p:spPr>
          <a:xfrm>
            <a:off x="951264" y="1612583"/>
            <a:ext cx="10324766" cy="886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"/>
                <a:ea typeface="Source Sans Pro"/>
              </a:rPr>
              <a:t>Mechanize &amp; automate reasoning about                                   cryptographic protocol security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AC7BBF2-27B7-0688-0A4A-7AEDD4CFD2F5}"/>
              </a:ext>
            </a:extLst>
          </p:cNvPr>
          <p:cNvSpPr/>
          <p:nvPr/>
        </p:nvSpPr>
        <p:spPr>
          <a:xfrm>
            <a:off x="951264" y="3352182"/>
            <a:ext cx="10324766" cy="8113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"/>
                <a:ea typeface="Source Sans Pro"/>
              </a:rPr>
              <a:t>Reason expressively!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5977C5-30F3-F7D5-C66E-CD6581538F61}"/>
              </a:ext>
            </a:extLst>
          </p:cNvPr>
          <p:cNvSpPr/>
          <p:nvPr/>
        </p:nvSpPr>
        <p:spPr>
          <a:xfrm>
            <a:off x="1032537" y="2565774"/>
            <a:ext cx="5019040" cy="40254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Proofs of security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86B6AA-33D9-2734-BA66-20D38C53E891}"/>
              </a:ext>
            </a:extLst>
          </p:cNvPr>
          <p:cNvSpPr/>
          <p:nvPr/>
        </p:nvSpPr>
        <p:spPr>
          <a:xfrm>
            <a:off x="6235551" y="2556181"/>
            <a:ext cx="5019040" cy="40254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Attack traces for insecurity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1496784-D2CE-D262-CBF6-20CF722B9EE0}"/>
              </a:ext>
            </a:extLst>
          </p:cNvPr>
          <p:cNvSpPr/>
          <p:nvPr/>
        </p:nvSpPr>
        <p:spPr>
          <a:xfrm>
            <a:off x="1032537" y="4244849"/>
            <a:ext cx="5019040" cy="442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Unbounded setting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6859DFD-C6B3-40BE-0535-267DC83ACE1F}"/>
              </a:ext>
            </a:extLst>
          </p:cNvPr>
          <p:cNvSpPr/>
          <p:nvPr/>
        </p:nvSpPr>
        <p:spPr>
          <a:xfrm>
            <a:off x="6235551" y="4244849"/>
            <a:ext cx="5040479" cy="442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Protocol features (primitives, control flow, …)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1F0A77C-3EA4-898F-BEC5-443646CAA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16" y="1747044"/>
            <a:ext cx="624840" cy="6248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00FBC5-C212-A30B-C9C1-1A5E270C4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56" y="3462717"/>
            <a:ext cx="593761" cy="593761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084050F-E8B5-512D-BD23-64DD5C115CA0}"/>
              </a:ext>
            </a:extLst>
          </p:cNvPr>
          <p:cNvSpPr/>
          <p:nvPr/>
        </p:nvSpPr>
        <p:spPr>
          <a:xfrm>
            <a:off x="951264" y="5035191"/>
            <a:ext cx="10324766" cy="7375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"/>
                <a:ea typeface="Source Sans Pro"/>
              </a:rPr>
              <a:t>Identify open research questions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79E784C-13B0-9C1F-C187-521DB7CD609B}"/>
              </a:ext>
            </a:extLst>
          </p:cNvPr>
          <p:cNvSpPr/>
          <p:nvPr/>
        </p:nvSpPr>
        <p:spPr>
          <a:xfrm>
            <a:off x="942985" y="5889266"/>
            <a:ext cx="5108592" cy="40254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Compositional reasoning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BCCA455-A4B1-0E8A-34E6-78FB425F23CB}"/>
              </a:ext>
            </a:extLst>
          </p:cNvPr>
          <p:cNvSpPr/>
          <p:nvPr/>
        </p:nvSpPr>
        <p:spPr>
          <a:xfrm>
            <a:off x="6235552" y="5889266"/>
            <a:ext cx="5013463" cy="40254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More expressivity, e.g. theory reasoning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339769C-5FD9-AB01-BC9F-B0DD4A906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60" y="5058838"/>
            <a:ext cx="737552" cy="73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44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3" grpId="0" animBg="1"/>
      <p:bldP spid="14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35E0-BEEA-EB4D-28A6-402771B8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0EAD-0D27-1C7F-A0A8-F961B406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88B1-2267-9A92-9381-94A9E59DC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Source Sans Pro"/>
              </a:rPr>
              <a:t>Talk objectives</a:t>
            </a:r>
          </a:p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Cryptographic protocol verification background</a:t>
            </a:r>
          </a:p>
          <a:p>
            <a:r>
              <a:rPr lang="en-US" sz="3200" dirty="0">
                <a:ea typeface="Source Sans Pro"/>
              </a:rPr>
              <a:t>Automated reasoning for protocols </a:t>
            </a:r>
          </a:p>
          <a:p>
            <a:r>
              <a:rPr lang="en-US" sz="3200" dirty="0">
                <a:ea typeface="Source Sans Pro"/>
              </a:rPr>
              <a:t>Breaking, fixing, and breaking Needham-Schroeder</a:t>
            </a:r>
          </a:p>
          <a:p>
            <a:r>
              <a:rPr lang="en-US" sz="3200" dirty="0">
                <a:ea typeface="Source Sans Pro"/>
              </a:rPr>
              <a:t>Making reasoning tractable</a:t>
            </a:r>
          </a:p>
          <a:p>
            <a:r>
              <a:rPr lang="en-US" sz="3200" dirty="0">
                <a:ea typeface="Source Sans Pro"/>
              </a:rPr>
              <a:t>Discussion, Research Questions, &amp; Conclusion </a:t>
            </a:r>
          </a:p>
          <a:p>
            <a:r>
              <a:rPr lang="en-US" sz="3200" dirty="0">
                <a:ea typeface="Source Sans Pro"/>
              </a:rPr>
              <a:t>Appendix: Making reasoning expressive </a:t>
            </a:r>
          </a:p>
          <a:p>
            <a:endParaRPr lang="en-US" sz="3200" dirty="0"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013BD-B792-7885-524D-3E34C6C84D3E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19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969D4-3B0B-411E-C3CD-62798E61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FB49-4862-A0D7-FAD6-F2105BC2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CADC4-C336-F3FF-CB42-A10E1EA90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Example protocol: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Alice-Bob notation</a:t>
            </a:r>
          </a:p>
          <a:p>
            <a:endParaRPr lang="en-US" dirty="0">
              <a:ea typeface="Source Sans Pro"/>
            </a:endParaRPr>
          </a:p>
          <a:p>
            <a:endParaRPr lang="en-US" dirty="0">
              <a:ea typeface="Source Sans Pro"/>
            </a:endParaRPr>
          </a:p>
          <a:p>
            <a:endParaRPr lang="en-US" dirty="0">
              <a:solidFill>
                <a:srgbClr val="000000"/>
              </a:solidFill>
              <a:ea typeface="Source Sans Pro"/>
            </a:endParaRPr>
          </a:p>
          <a:p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368CFF-7915-DFE4-A835-3B6E528F45FC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3676730-5BE1-0044-739F-3311636C1628}"/>
              </a:ext>
            </a:extLst>
          </p:cNvPr>
          <p:cNvGrpSpPr/>
          <p:nvPr/>
        </p:nvGrpSpPr>
        <p:grpSpPr>
          <a:xfrm>
            <a:off x="4225824" y="2565773"/>
            <a:ext cx="3904624" cy="3531510"/>
            <a:chOff x="4225824" y="2565773"/>
            <a:chExt cx="3904624" cy="353151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735EF69-6110-6416-D067-99A8BC37A0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334" t="2377" r="57470" b="125"/>
            <a:stretch/>
          </p:blipFill>
          <p:spPr>
            <a:xfrm>
              <a:off x="4225824" y="2565773"/>
              <a:ext cx="3739937" cy="353151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A6FC23-29B6-77FA-BC39-6D42412FA23E}"/>
                </a:ext>
              </a:extLst>
            </p:cNvPr>
            <p:cNvSpPr/>
            <p:nvPr/>
          </p:nvSpPr>
          <p:spPr>
            <a:xfrm>
              <a:off x="7667740" y="3855904"/>
              <a:ext cx="462708" cy="20160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2815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969D4-3B0B-411E-C3CD-62798E61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1A207A1-D389-AFD2-E616-DB6F21734167}"/>
              </a:ext>
            </a:extLst>
          </p:cNvPr>
          <p:cNvGrpSpPr/>
          <p:nvPr/>
        </p:nvGrpSpPr>
        <p:grpSpPr>
          <a:xfrm>
            <a:off x="4225824" y="2565773"/>
            <a:ext cx="3904624" cy="3531510"/>
            <a:chOff x="4225824" y="2565773"/>
            <a:chExt cx="3904624" cy="35315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9D81E8-B8EA-B26D-E114-0151D08115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334" t="2377" r="57470" b="125"/>
            <a:stretch/>
          </p:blipFill>
          <p:spPr>
            <a:xfrm>
              <a:off x="4225824" y="2565773"/>
              <a:ext cx="3739937" cy="353151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787C72-96CE-D33E-64F3-F11F6F50F1E8}"/>
                </a:ext>
              </a:extLst>
            </p:cNvPr>
            <p:cNvSpPr/>
            <p:nvPr/>
          </p:nvSpPr>
          <p:spPr>
            <a:xfrm>
              <a:off x="7667740" y="3855904"/>
              <a:ext cx="462708" cy="20160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92FB49-4862-A0D7-FAD6-F2105BC2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CADC4-C336-F3FF-CB42-A10E1EA90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Example protocol: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roles</a:t>
            </a:r>
            <a:endParaRPr lang="en-US" dirty="0">
              <a:ea typeface="Source Sans Pro"/>
            </a:endParaRPr>
          </a:p>
          <a:p>
            <a:endParaRPr lang="en-US" dirty="0">
              <a:ea typeface="Source Sans Pro"/>
            </a:endParaRPr>
          </a:p>
          <a:p>
            <a:endParaRPr lang="en-US" dirty="0">
              <a:ea typeface="Source Sans Pro"/>
            </a:endParaRPr>
          </a:p>
          <a:p>
            <a:endParaRPr lang="en-US" dirty="0">
              <a:solidFill>
                <a:srgbClr val="000000"/>
              </a:solidFill>
              <a:ea typeface="Source Sans Pro"/>
            </a:endParaRPr>
          </a:p>
          <a:p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368CFF-7915-DFE4-A835-3B6E528F45FC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174532-6BFF-5AF0-1BFF-056A8486674F}"/>
              </a:ext>
            </a:extLst>
          </p:cNvPr>
          <p:cNvSpPr/>
          <p:nvPr/>
        </p:nvSpPr>
        <p:spPr>
          <a:xfrm>
            <a:off x="4225824" y="2430836"/>
            <a:ext cx="1056213" cy="118766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ACFA8A-A214-BB2B-3487-AF54F3E38282}"/>
              </a:ext>
            </a:extLst>
          </p:cNvPr>
          <p:cNvSpPr/>
          <p:nvPr/>
        </p:nvSpPr>
        <p:spPr>
          <a:xfrm>
            <a:off x="6911217" y="2430836"/>
            <a:ext cx="1056213" cy="118766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787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Example protocol: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trace</a:t>
            </a:r>
            <a:r>
              <a:rPr lang="en-US" dirty="0">
                <a:ea typeface="Source Sans Pro"/>
              </a:rPr>
              <a:t>, session, principal, adversary</a:t>
            </a:r>
          </a:p>
          <a:p>
            <a:endParaRPr lang="en-US" dirty="0">
              <a:ea typeface="Source Sans Pro"/>
            </a:endParaRPr>
          </a:p>
          <a:p>
            <a:endParaRPr lang="en-US" dirty="0">
              <a:ea typeface="Source Sans Pro"/>
            </a:endParaRPr>
          </a:p>
          <a:p>
            <a:endParaRPr lang="en-US" dirty="0">
              <a:solidFill>
                <a:srgbClr val="000000"/>
              </a:solidFill>
              <a:ea typeface="Source Sans Pro"/>
            </a:endParaRPr>
          </a:p>
          <a:p>
            <a:endParaRPr lang="en-US" dirty="0">
              <a:solidFill>
                <a:srgbClr val="000000"/>
              </a:solidFill>
              <a:ea typeface="Source Sans Pro"/>
            </a:endParaRPr>
          </a:p>
          <a:p>
            <a:endParaRPr lang="en-US" dirty="0">
              <a:solidFill>
                <a:srgbClr val="000000"/>
              </a:solidFill>
              <a:ea typeface="Source Sans Pro"/>
            </a:endParaRPr>
          </a:p>
          <a:p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784C2F-D2B3-CD81-1954-5FCBCCC02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0256E3-FB7E-2C9E-3EF9-41BE76066959}"/>
              </a:ext>
            </a:extLst>
          </p:cNvPr>
          <p:cNvGrpSpPr/>
          <p:nvPr/>
        </p:nvGrpSpPr>
        <p:grpSpPr>
          <a:xfrm>
            <a:off x="3927358" y="2496951"/>
            <a:ext cx="4568223" cy="3409813"/>
            <a:chOff x="3927358" y="2496951"/>
            <a:chExt cx="4568223" cy="34098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3CA980-B60C-BF94-9DD3-7F4A315CF5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-1" r="42573" b="133"/>
            <a:stretch/>
          </p:blipFill>
          <p:spPr>
            <a:xfrm>
              <a:off x="3927358" y="2496951"/>
              <a:ext cx="4336869" cy="340981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FA5F2D8-252A-5CA2-50CB-C5DBA620222B}"/>
                </a:ext>
              </a:extLst>
            </p:cNvPr>
            <p:cNvSpPr/>
            <p:nvPr/>
          </p:nvSpPr>
          <p:spPr>
            <a:xfrm>
              <a:off x="8032873" y="3428831"/>
              <a:ext cx="462708" cy="23797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B924EE5-5ED0-0004-8638-EA6DBBBA879D}"/>
              </a:ext>
            </a:extLst>
          </p:cNvPr>
          <p:cNvSpPr/>
          <p:nvPr/>
        </p:nvSpPr>
        <p:spPr>
          <a:xfrm>
            <a:off x="3999549" y="2477643"/>
            <a:ext cx="4336869" cy="331166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837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C45DB-C9C3-C84F-1364-768F7C48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1BBC5D7-804A-3AE6-6FD6-32FAD23256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3165" b="133"/>
          <a:stretch/>
        </p:blipFill>
        <p:spPr>
          <a:xfrm>
            <a:off x="3927358" y="2496951"/>
            <a:ext cx="7312966" cy="34098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FCCB9-084E-F500-EA8B-C6F0A361E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08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Example protocol: trace,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session</a:t>
            </a:r>
            <a:r>
              <a:rPr lang="en-US" dirty="0">
                <a:ea typeface="Source Sans Pro"/>
              </a:rPr>
              <a:t>, principal, adversary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B97FDA-D9C1-91D7-3BAC-B1EEC7F89A37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A188B3-2C76-1245-5117-08DDC482597B}"/>
              </a:ext>
            </a:extLst>
          </p:cNvPr>
          <p:cNvSpPr/>
          <p:nvPr/>
        </p:nvSpPr>
        <p:spPr>
          <a:xfrm>
            <a:off x="4594195" y="3457778"/>
            <a:ext cx="1501805" cy="2885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834DC1-C074-A677-509A-E515F324237E}"/>
              </a:ext>
            </a:extLst>
          </p:cNvPr>
          <p:cNvSpPr/>
          <p:nvPr/>
        </p:nvSpPr>
        <p:spPr>
          <a:xfrm>
            <a:off x="6208909" y="3870528"/>
            <a:ext cx="1501805" cy="2885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B50925-B04A-7DE8-B6C5-384D761DDABC}"/>
              </a:ext>
            </a:extLst>
          </p:cNvPr>
          <p:cNvSpPr/>
          <p:nvPr/>
        </p:nvSpPr>
        <p:spPr>
          <a:xfrm>
            <a:off x="8254325" y="3503133"/>
            <a:ext cx="1170698" cy="2522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E95B5E-2141-3EB1-D16B-6463926F0EFB}"/>
              </a:ext>
            </a:extLst>
          </p:cNvPr>
          <p:cNvSpPr/>
          <p:nvPr/>
        </p:nvSpPr>
        <p:spPr>
          <a:xfrm>
            <a:off x="8195359" y="3915882"/>
            <a:ext cx="1170698" cy="2522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7A844D5-357A-33D1-2EC2-8F13D4F3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70030C-47A2-2BDC-1792-9C8F28E19685}"/>
              </a:ext>
            </a:extLst>
          </p:cNvPr>
          <p:cNvSpPr/>
          <p:nvPr/>
        </p:nvSpPr>
        <p:spPr>
          <a:xfrm>
            <a:off x="7989957" y="4221693"/>
            <a:ext cx="4261758" cy="1916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94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C45DB-C9C3-C84F-1364-768F7C48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716692C3-EC4D-E369-957F-CC6449C72F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3165" b="133"/>
          <a:stretch/>
        </p:blipFill>
        <p:spPr>
          <a:xfrm>
            <a:off x="3927358" y="2496951"/>
            <a:ext cx="7312966" cy="34098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FCCB9-084E-F500-EA8B-C6F0A361E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85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Example protocol: trace,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session</a:t>
            </a:r>
            <a:r>
              <a:rPr lang="en-US" dirty="0">
                <a:ea typeface="Source Sans Pro"/>
              </a:rPr>
              <a:t>, principal, adversary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B97FDA-D9C1-91D7-3BAC-B1EEC7F89A37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78537-41E0-6DA3-5530-69A93387D1B1}"/>
              </a:ext>
            </a:extLst>
          </p:cNvPr>
          <p:cNvSpPr txBox="1"/>
          <p:nvPr/>
        </p:nvSpPr>
        <p:spPr>
          <a:xfrm>
            <a:off x="9266974" y="2942118"/>
            <a:ext cx="3946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"/>
              </a:rPr>
              <a:t>Parallel sessions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8EB9C8-644F-ADC0-265D-A025FEAE113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8756492" y="3142173"/>
            <a:ext cx="510482" cy="359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AEAB10-85A1-43AC-ECCD-F6586A2542B7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8697526" y="3142173"/>
            <a:ext cx="569448" cy="771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6C32267B-703B-AA4B-97D2-E693CC47A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E265B7-DAD3-696F-334D-042ADB816EAC}"/>
              </a:ext>
            </a:extLst>
          </p:cNvPr>
          <p:cNvSpPr/>
          <p:nvPr/>
        </p:nvSpPr>
        <p:spPr>
          <a:xfrm>
            <a:off x="4594195" y="3457778"/>
            <a:ext cx="1501805" cy="2885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40E641D-5F21-C7B1-DC91-41B22471A46D}"/>
              </a:ext>
            </a:extLst>
          </p:cNvPr>
          <p:cNvSpPr/>
          <p:nvPr/>
        </p:nvSpPr>
        <p:spPr>
          <a:xfrm>
            <a:off x="6208909" y="3870528"/>
            <a:ext cx="1501805" cy="2885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8F29E0-D0BA-CB4C-C141-DA535E396B3C}"/>
              </a:ext>
            </a:extLst>
          </p:cNvPr>
          <p:cNvSpPr/>
          <p:nvPr/>
        </p:nvSpPr>
        <p:spPr>
          <a:xfrm>
            <a:off x="8254325" y="3503133"/>
            <a:ext cx="1170698" cy="2522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95CC014-64EF-FD9F-A345-DF11D9A4603D}"/>
              </a:ext>
            </a:extLst>
          </p:cNvPr>
          <p:cNvSpPr/>
          <p:nvPr/>
        </p:nvSpPr>
        <p:spPr>
          <a:xfrm>
            <a:off x="8195359" y="3915882"/>
            <a:ext cx="1170698" cy="2522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74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C45DB-C9C3-C84F-1364-768F7C48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710BF960-7E4C-92E3-55BC-8379DC09C9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3165" b="133"/>
          <a:stretch/>
        </p:blipFill>
        <p:spPr>
          <a:xfrm>
            <a:off x="3927358" y="2496951"/>
            <a:ext cx="7312966" cy="34098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FCCB9-084E-F500-EA8B-C6F0A361E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85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Example protocol: trace,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session</a:t>
            </a:r>
            <a:r>
              <a:rPr lang="en-US" dirty="0">
                <a:ea typeface="Source Sans Pro"/>
              </a:rPr>
              <a:t>, principal, adversary</a:t>
            </a:r>
          </a:p>
          <a:p>
            <a:endParaRPr lang="en-US" dirty="0">
              <a:ea typeface="Source Sans Pro"/>
            </a:endParaRPr>
          </a:p>
          <a:p>
            <a:endParaRPr lang="en-US" dirty="0">
              <a:ea typeface="Source Sans Pro"/>
            </a:endParaRPr>
          </a:p>
          <a:p>
            <a:endParaRPr lang="en-US" dirty="0">
              <a:solidFill>
                <a:srgbClr val="000000"/>
              </a:solidFill>
              <a:ea typeface="Source Sans Pro"/>
            </a:endParaRPr>
          </a:p>
          <a:p>
            <a:endParaRPr lang="en-US" dirty="0">
              <a:solidFill>
                <a:srgbClr val="000000"/>
              </a:solidFill>
              <a:ea typeface="Source Sans Pro"/>
            </a:endParaRPr>
          </a:p>
          <a:p>
            <a:endParaRPr lang="en-US" dirty="0">
              <a:solidFill>
                <a:srgbClr val="000000"/>
              </a:solidFill>
              <a:ea typeface="Source Sans Pro"/>
            </a:endParaRPr>
          </a:p>
          <a:p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B97FDA-D9C1-91D7-3BAC-B1EEC7F89A37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78537-41E0-6DA3-5530-69A93387D1B1}"/>
              </a:ext>
            </a:extLst>
          </p:cNvPr>
          <p:cNvSpPr txBox="1"/>
          <p:nvPr/>
        </p:nvSpPr>
        <p:spPr>
          <a:xfrm>
            <a:off x="7877633" y="6073184"/>
            <a:ext cx="2925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"/>
              </a:rPr>
              <a:t>Sequential sessions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8EB9C8-644F-ADC0-265D-A025FEAE113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390290" y="6304017"/>
            <a:ext cx="14873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7B95CC3C-28FD-7A29-9BCD-444E3E574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845E46-D715-CBD5-090D-1ED68E984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267" y="5800903"/>
            <a:ext cx="1005839" cy="100583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9D1EE41-B032-2EC2-4C9B-31B3A25B4E1C}"/>
              </a:ext>
            </a:extLst>
          </p:cNvPr>
          <p:cNvSpPr/>
          <p:nvPr/>
        </p:nvSpPr>
        <p:spPr>
          <a:xfrm>
            <a:off x="7928461" y="4156793"/>
            <a:ext cx="4261758" cy="1916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53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Example protocol: trace, session,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principal</a:t>
            </a:r>
            <a:r>
              <a:rPr lang="en-US" dirty="0">
                <a:ea typeface="Source Sans Pro"/>
              </a:rPr>
              <a:t>, adversary</a:t>
            </a:r>
          </a:p>
          <a:p>
            <a:pPr algn="ctr"/>
            <a:endParaRPr lang="en-US" dirty="0">
              <a:ea typeface="Source Sans Pro"/>
            </a:endParaRPr>
          </a:p>
          <a:p>
            <a:pPr algn="ctr"/>
            <a:endParaRPr lang="en-US" dirty="0">
              <a:ea typeface="Source Sans Pro"/>
            </a:endParaRPr>
          </a:p>
          <a:p>
            <a:pPr algn="ctr"/>
            <a:endParaRPr lang="en-US" dirty="0">
              <a:solidFill>
                <a:srgbClr val="000000"/>
              </a:solidFill>
              <a:ea typeface="Source Sans Pro"/>
            </a:endParaRPr>
          </a:p>
          <a:p>
            <a:pPr algn="ctr"/>
            <a:endParaRPr lang="en-US" dirty="0">
              <a:solidFill>
                <a:srgbClr val="000000"/>
              </a:solidFill>
              <a:ea typeface="Source Sans Pro"/>
            </a:endParaRPr>
          </a:p>
          <a:p>
            <a:pPr algn="ctr"/>
            <a:endParaRPr lang="en-US" dirty="0">
              <a:solidFill>
                <a:srgbClr val="000000"/>
              </a:solidFill>
              <a:ea typeface="Source Sans Pro"/>
            </a:endParaRPr>
          </a:p>
          <a:p>
            <a:pPr algn="ctr"/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63DE3F-9992-8D6E-01C0-757C28803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3FA281-570D-3EBD-0FE1-4CBC6344F210}"/>
              </a:ext>
            </a:extLst>
          </p:cNvPr>
          <p:cNvGrpSpPr/>
          <p:nvPr/>
        </p:nvGrpSpPr>
        <p:grpSpPr>
          <a:xfrm>
            <a:off x="3927358" y="2496951"/>
            <a:ext cx="4568223" cy="3409813"/>
            <a:chOff x="3927358" y="2496951"/>
            <a:chExt cx="4568223" cy="340981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DA2BBE4-9124-5F3B-BADB-B655EC8ED7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-1" r="42573" b="133"/>
            <a:stretch/>
          </p:blipFill>
          <p:spPr>
            <a:xfrm>
              <a:off x="3927358" y="2496951"/>
              <a:ext cx="4336869" cy="340981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9292010-C64C-8194-AF51-FE7E9FACE908}"/>
                </a:ext>
              </a:extLst>
            </p:cNvPr>
            <p:cNvSpPr/>
            <p:nvPr/>
          </p:nvSpPr>
          <p:spPr>
            <a:xfrm>
              <a:off x="8032873" y="3428831"/>
              <a:ext cx="462708" cy="23797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42EB38B-D705-3AD0-B2E8-03518DDA6930}"/>
              </a:ext>
            </a:extLst>
          </p:cNvPr>
          <p:cNvSpPr/>
          <p:nvPr/>
        </p:nvSpPr>
        <p:spPr>
          <a:xfrm>
            <a:off x="4143313" y="2488519"/>
            <a:ext cx="841664" cy="78741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6CD545-38E7-08D8-9288-C22D0A445CE4}"/>
              </a:ext>
            </a:extLst>
          </p:cNvPr>
          <p:cNvSpPr/>
          <p:nvPr/>
        </p:nvSpPr>
        <p:spPr>
          <a:xfrm>
            <a:off x="7382809" y="2473143"/>
            <a:ext cx="841664" cy="78741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03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Example protocol: trace, session, principal,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adversary</a:t>
            </a:r>
          </a:p>
          <a:p>
            <a:pPr algn="ctr"/>
            <a:endParaRPr lang="en-US" dirty="0">
              <a:ea typeface="Source Sans Pro"/>
            </a:endParaRPr>
          </a:p>
          <a:p>
            <a:pPr algn="ctr"/>
            <a:endParaRPr lang="en-US" dirty="0">
              <a:ea typeface="Source Sans Pro"/>
            </a:endParaRPr>
          </a:p>
          <a:p>
            <a:pPr algn="ctr"/>
            <a:endParaRPr lang="en-US" dirty="0">
              <a:solidFill>
                <a:srgbClr val="000000"/>
              </a:solidFill>
              <a:ea typeface="Source Sans Pro"/>
            </a:endParaRPr>
          </a:p>
          <a:p>
            <a:pPr algn="ctr"/>
            <a:endParaRPr lang="en-US" dirty="0">
              <a:solidFill>
                <a:srgbClr val="000000"/>
              </a:solidFill>
              <a:ea typeface="Source Sans Pro"/>
            </a:endParaRPr>
          </a:p>
          <a:p>
            <a:pPr algn="ctr"/>
            <a:endParaRPr lang="en-US" dirty="0">
              <a:solidFill>
                <a:srgbClr val="000000"/>
              </a:solidFill>
              <a:ea typeface="Source Sans Pro"/>
            </a:endParaRPr>
          </a:p>
          <a:p>
            <a:pPr algn="ctr"/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FBCAAB-9FA9-465C-5B43-6DD1EF4B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DD5C88-B01B-0A4C-7DC6-4D5E270AEE8C}"/>
              </a:ext>
            </a:extLst>
          </p:cNvPr>
          <p:cNvGrpSpPr/>
          <p:nvPr/>
        </p:nvGrpSpPr>
        <p:grpSpPr>
          <a:xfrm>
            <a:off x="3927358" y="2496951"/>
            <a:ext cx="4568223" cy="3409813"/>
            <a:chOff x="3927358" y="2496951"/>
            <a:chExt cx="4568223" cy="340981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4BFAAF5-BB15-3A56-48F8-70D6A33011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-1" r="42573" b="133"/>
            <a:stretch/>
          </p:blipFill>
          <p:spPr>
            <a:xfrm>
              <a:off x="3927358" y="2496951"/>
              <a:ext cx="4336869" cy="3409813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C5788A-DBBC-637E-14F8-B566B3C4E9D5}"/>
                </a:ext>
              </a:extLst>
            </p:cNvPr>
            <p:cNvSpPr/>
            <p:nvPr/>
          </p:nvSpPr>
          <p:spPr>
            <a:xfrm>
              <a:off x="8032873" y="3428831"/>
              <a:ext cx="462708" cy="23797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EDF1E44-930F-C054-671A-8D2C45F25187}"/>
              </a:ext>
            </a:extLst>
          </p:cNvPr>
          <p:cNvSpPr/>
          <p:nvPr/>
        </p:nvSpPr>
        <p:spPr>
          <a:xfrm>
            <a:off x="5770335" y="2496951"/>
            <a:ext cx="841664" cy="78741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96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FB3F9-54FA-4CF4-1F36-4477E8CF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93952-35F0-AF2E-6FA0-F11415240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ea typeface="Source Sans Pro"/>
              </a:rPr>
              <a:t>Cryptographic 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ea typeface="Source Sans Pro"/>
              </a:rPr>
              <a:t>protocol </a:t>
            </a:r>
            <a:r>
              <a:rPr lang="en-US" dirty="0">
                <a:solidFill>
                  <a:srgbClr val="000000"/>
                </a:solidFill>
                <a:ea typeface="Source Sans Pro"/>
              </a:rPr>
              <a:t>vs </a:t>
            </a:r>
            <a:r>
              <a:rPr lang="en-US" dirty="0">
                <a:ea typeface="Source Sans Pro"/>
              </a:rPr>
              <a:t>primitive</a:t>
            </a:r>
          </a:p>
          <a:p>
            <a:pPr algn="ctr"/>
            <a:endParaRPr lang="en-US" dirty="0">
              <a:solidFill>
                <a:srgbClr val="000000"/>
              </a:solidFill>
              <a:ea typeface="Source Sans Pro"/>
            </a:endParaRPr>
          </a:p>
          <a:p>
            <a:pPr marL="0" indent="0" algn="ctr">
              <a:buNone/>
            </a:pPr>
            <a:endParaRPr lang="en-US" dirty="0">
              <a:solidFill>
                <a:srgbClr val="000000"/>
              </a:solidFill>
              <a:ea typeface="Source Sans Pro"/>
            </a:endParaRPr>
          </a:p>
          <a:p>
            <a:pPr algn="ctr"/>
            <a:endParaRPr lang="en-US" dirty="0">
              <a:solidFill>
                <a:srgbClr val="000000"/>
              </a:solidFill>
              <a:ea typeface="Source Sans Pro"/>
            </a:endParaRPr>
          </a:p>
          <a:p>
            <a:pPr algn="ctr"/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2650FD-C6C8-724E-FA70-57F6E762D1D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3C352E-69E5-5227-2AC8-1D0B9A0027FB}"/>
              </a:ext>
            </a:extLst>
          </p:cNvPr>
          <p:cNvSpPr/>
          <p:nvPr/>
        </p:nvSpPr>
        <p:spPr>
          <a:xfrm>
            <a:off x="5425517" y="1738095"/>
            <a:ext cx="1712422" cy="64357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006EE30-8EEA-FA24-AB59-38AD03B14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A14DCA-9ED3-E09B-BB48-13201608C7F5}"/>
              </a:ext>
            </a:extLst>
          </p:cNvPr>
          <p:cNvGrpSpPr/>
          <p:nvPr/>
        </p:nvGrpSpPr>
        <p:grpSpPr>
          <a:xfrm>
            <a:off x="4256809" y="2516605"/>
            <a:ext cx="3953390" cy="3712241"/>
            <a:chOff x="4917821" y="2314649"/>
            <a:chExt cx="3953390" cy="3712241"/>
          </a:xfrm>
        </p:grpSpPr>
        <p:pic>
          <p:nvPicPr>
            <p:cNvPr id="8" name="Picture 7" descr="A screenshot of a cell phone&#10;&#10;AI-generated content may be incorrect.">
              <a:extLst>
                <a:ext uri="{FF2B5EF4-FFF2-40B4-BE49-F238E27FC236}">
                  <a16:creationId xmlns:a16="http://schemas.microsoft.com/office/drawing/2014/main" id="{01777698-7B5C-C18A-E8C8-5DCEEE8F39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333" t="2377" r="58153" b="125"/>
            <a:stretch/>
          </p:blipFill>
          <p:spPr>
            <a:xfrm>
              <a:off x="4917821" y="2314649"/>
              <a:ext cx="3677968" cy="353151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0C3C22A-0D51-E6C8-9A86-B1F0F7095E97}"/>
                </a:ext>
              </a:extLst>
            </p:cNvPr>
            <p:cNvSpPr/>
            <p:nvPr/>
          </p:nvSpPr>
          <p:spPr>
            <a:xfrm>
              <a:off x="8408503" y="3647105"/>
              <a:ext cx="462708" cy="23797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CB50893-1FA2-A152-0DFC-B9F634816B13}"/>
              </a:ext>
            </a:extLst>
          </p:cNvPr>
          <p:cNvSpPr/>
          <p:nvPr/>
        </p:nvSpPr>
        <p:spPr>
          <a:xfrm>
            <a:off x="4579972" y="3524361"/>
            <a:ext cx="3075710" cy="246533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30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FB3F9-54FA-4CF4-1F36-4477E8CF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93952-35F0-AF2E-6FA0-F11415240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ea typeface="Source Sans Pro"/>
              </a:rPr>
              <a:t>Cryptographic </a:t>
            </a:r>
            <a:r>
              <a:rPr lang="en-US" dirty="0">
                <a:ea typeface="Source Sans Pro"/>
              </a:rPr>
              <a:t>protocol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ea typeface="Source Sans Pro"/>
              </a:rPr>
              <a:t> </a:t>
            </a:r>
            <a:r>
              <a:rPr lang="en-US" dirty="0">
                <a:solidFill>
                  <a:srgbClr val="000000"/>
                </a:solidFill>
                <a:ea typeface="Source Sans Pro"/>
              </a:rPr>
              <a:t>vs 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ea typeface="Source Sans Pro"/>
              </a:rPr>
              <a:t>primitive</a:t>
            </a:r>
          </a:p>
          <a:p>
            <a:pPr algn="ctr"/>
            <a:endParaRPr lang="en-US" dirty="0">
              <a:solidFill>
                <a:srgbClr val="000000"/>
              </a:solidFill>
              <a:ea typeface="Source Sans Pro"/>
            </a:endParaRPr>
          </a:p>
          <a:p>
            <a:pPr marL="0" indent="0" algn="ctr">
              <a:buNone/>
            </a:pPr>
            <a:endParaRPr lang="en-US" dirty="0">
              <a:solidFill>
                <a:srgbClr val="000000"/>
              </a:solidFill>
              <a:ea typeface="Source Sans Pro"/>
            </a:endParaRPr>
          </a:p>
          <a:p>
            <a:pPr algn="ctr"/>
            <a:endParaRPr lang="en-US" dirty="0">
              <a:solidFill>
                <a:srgbClr val="000000"/>
              </a:solidFill>
              <a:ea typeface="Source Sans Pro"/>
            </a:endParaRPr>
          </a:p>
          <a:p>
            <a:pPr algn="ctr"/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2650FD-C6C8-724E-FA70-57F6E762D1D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29F6157-F0B8-23B0-B18B-E8AB7BAFEEEF}"/>
              </a:ext>
            </a:extLst>
          </p:cNvPr>
          <p:cNvSpPr/>
          <p:nvPr/>
        </p:nvSpPr>
        <p:spPr>
          <a:xfrm>
            <a:off x="7319052" y="1750359"/>
            <a:ext cx="1712422" cy="64357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ECCA11-FEF6-66DB-0BFD-1A1D818BF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0BE685-F365-1A46-988C-51F17675427D}"/>
              </a:ext>
            </a:extLst>
          </p:cNvPr>
          <p:cNvGrpSpPr/>
          <p:nvPr/>
        </p:nvGrpSpPr>
        <p:grpSpPr>
          <a:xfrm>
            <a:off x="4256809" y="2516605"/>
            <a:ext cx="3953390" cy="3712241"/>
            <a:chOff x="4917821" y="2314649"/>
            <a:chExt cx="3953390" cy="3712241"/>
          </a:xfrm>
        </p:grpSpPr>
        <p:pic>
          <p:nvPicPr>
            <p:cNvPr id="15" name="Picture 14" descr="A screenshot of a cell phone&#10;&#10;AI-generated content may be incorrect.">
              <a:extLst>
                <a:ext uri="{FF2B5EF4-FFF2-40B4-BE49-F238E27FC236}">
                  <a16:creationId xmlns:a16="http://schemas.microsoft.com/office/drawing/2014/main" id="{3BCBA9AB-13AD-2E1A-E0AD-0B4F2D37F0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333" t="2377" r="58153" b="125"/>
            <a:stretch/>
          </p:blipFill>
          <p:spPr>
            <a:xfrm>
              <a:off x="4917821" y="2314649"/>
              <a:ext cx="3677968" cy="353151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E062E4-F18D-B937-59A1-4BB056C2C955}"/>
                </a:ext>
              </a:extLst>
            </p:cNvPr>
            <p:cNvSpPr/>
            <p:nvPr/>
          </p:nvSpPr>
          <p:spPr>
            <a:xfrm>
              <a:off x="8408503" y="3647105"/>
              <a:ext cx="462708" cy="23797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B42255E8-217D-1456-14A6-3D8B7908A019}"/>
              </a:ext>
            </a:extLst>
          </p:cNvPr>
          <p:cNvSpPr/>
          <p:nvPr/>
        </p:nvSpPr>
        <p:spPr>
          <a:xfrm>
            <a:off x="4917340" y="3949851"/>
            <a:ext cx="723207" cy="332509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90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3DA93-DD83-7928-B4DD-5FA1B9A81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BA38A-6F1B-F268-C2CE-A682BBAF9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9577"/>
            <a:ext cx="10515600" cy="6767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How to define security for a cryptographic 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ea typeface="Source Sans Pro"/>
              </a:rPr>
              <a:t>primitive</a:t>
            </a:r>
            <a:r>
              <a:rPr lang="en-US" dirty="0">
                <a:ea typeface="Source Sans Pro"/>
              </a:rPr>
              <a:t>?</a:t>
            </a:r>
          </a:p>
          <a:p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3E1E5C-BA57-5432-EDDA-1C53BCEDED97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B8A59A-A848-AAC1-B64E-10218245C8C8}"/>
                  </a:ext>
                </a:extLst>
              </p:cNvPr>
              <p:cNvSpPr/>
              <p:nvPr/>
            </p:nvSpPr>
            <p:spPr>
              <a:xfrm>
                <a:off x="838200" y="4836160"/>
                <a:ext cx="10581640" cy="14757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>
                  <a:buNone/>
                </a:pPr>
                <a:r>
                  <a:rPr lang="en-US" sz="2400" i="1" dirty="0">
                    <a:solidFill>
                      <a:srgbClr val="000000"/>
                    </a:solidFill>
                    <a:latin typeface=""/>
                    <a:ea typeface="Source Sans Pro"/>
                  </a:rPr>
                  <a:t>Well-formedness requirement:</a:t>
                </a:r>
                <a:r>
                  <a:rPr lang="en-US" sz="2400" dirty="0">
                    <a:solidFill>
                      <a:srgbClr val="000000"/>
                    </a:solidFill>
                    <a:latin typeface=""/>
                    <a:ea typeface="Source Sans Pro"/>
                  </a:rPr>
                  <a:t> </a:t>
                </a:r>
                <a:endParaRPr lang="en-US" sz="2400" b="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∀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∈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𝑀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∈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𝐾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. 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Dec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Enc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, 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𝑚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B8A59A-A848-AAC1-B64E-10218245C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36160"/>
                <a:ext cx="10581640" cy="1475740"/>
              </a:xfrm>
              <a:prstGeom prst="rect">
                <a:avLst/>
              </a:prstGeom>
              <a:blipFill>
                <a:blip r:embed="rId2"/>
                <a:stretch>
                  <a:fillRect l="-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DB836FD-5B50-E470-3675-B13E1EEA7880}"/>
              </a:ext>
            </a:extLst>
          </p:cNvPr>
          <p:cNvGrpSpPr/>
          <p:nvPr/>
        </p:nvGrpSpPr>
        <p:grpSpPr>
          <a:xfrm>
            <a:off x="828040" y="2306320"/>
            <a:ext cx="10591800" cy="2418080"/>
            <a:chOff x="828040" y="2306320"/>
            <a:chExt cx="10591800" cy="24180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498D42-F0FF-59C1-8212-5270F8941211}"/>
                </a:ext>
              </a:extLst>
            </p:cNvPr>
            <p:cNvSpPr txBox="1"/>
            <p:nvPr/>
          </p:nvSpPr>
          <p:spPr>
            <a:xfrm>
              <a:off x="4810553" y="3861604"/>
              <a:ext cx="25442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"/>
                  <a:ea typeface="Source Sans Pro"/>
                </a:rPr>
                <a:t>Sets of bit strings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Rounded Rectangle 4">
                  <a:extLst>
                    <a:ext uri="{FF2B5EF4-FFF2-40B4-BE49-F238E27FC236}">
                      <a16:creationId xmlns:a16="http://schemas.microsoft.com/office/drawing/2014/main" id="{33D951C1-037E-EBB2-6FC7-C84C7CBB3BFF}"/>
                    </a:ext>
                  </a:extLst>
                </p:cNvPr>
                <p:cNvSpPr/>
                <p:nvPr/>
              </p:nvSpPr>
              <p:spPr>
                <a:xfrm>
                  <a:off x="1243746" y="2996870"/>
                  <a:ext cx="2570480" cy="553720"/>
                </a:xfrm>
                <a:prstGeom prst="round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Gen</m:t>
                        </m:r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 : </m:t>
                        </m:r>
                        <m:r>
                          <m:rPr>
                            <m:lit/>
                          </m:rP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ℕ</m:t>
                        </m:r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→</m:t>
                        </m:r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𝐾</m:t>
                        </m:r>
                      </m:oMath>
                    </m:oMathPara>
                  </a14:m>
                  <a:endPara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5" name="Rounded Rectangle 4">
                  <a:extLst>
                    <a:ext uri="{FF2B5EF4-FFF2-40B4-BE49-F238E27FC236}">
                      <a16:creationId xmlns:a16="http://schemas.microsoft.com/office/drawing/2014/main" id="{33D951C1-037E-EBB2-6FC7-C84C7CBB3B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746" y="2996870"/>
                  <a:ext cx="2570480" cy="553720"/>
                </a:xfrm>
                <a:prstGeom prst="roundRect">
                  <a:avLst/>
                </a:prstGeom>
                <a:blipFill>
                  <a:blip r:embed="rId3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Rounded Rectangle 5">
                  <a:extLst>
                    <a:ext uri="{FF2B5EF4-FFF2-40B4-BE49-F238E27FC236}">
                      <a16:creationId xmlns:a16="http://schemas.microsoft.com/office/drawing/2014/main" id="{96098C7A-8E24-85E9-E07B-56569186B45C}"/>
                    </a:ext>
                  </a:extLst>
                </p:cNvPr>
                <p:cNvSpPr/>
                <p:nvPr/>
              </p:nvSpPr>
              <p:spPr>
                <a:xfrm>
                  <a:off x="4810553" y="3001950"/>
                  <a:ext cx="2570480" cy="553720"/>
                </a:xfrm>
                <a:prstGeom prst="round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400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Enc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 :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𝑀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 × 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𝐾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 →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𝐶</m:t>
                        </m:r>
                      </m:oMath>
                    </m:oMathPara>
                  </a14:m>
                  <a:endPara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6" name="Rounded Rectangle 5">
                  <a:extLst>
                    <a:ext uri="{FF2B5EF4-FFF2-40B4-BE49-F238E27FC236}">
                      <a16:creationId xmlns:a16="http://schemas.microsoft.com/office/drawing/2014/main" id="{96098C7A-8E24-85E9-E07B-56569186B4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0553" y="3001950"/>
                  <a:ext cx="2570480" cy="553720"/>
                </a:xfrm>
                <a:prstGeom prst="roundRect">
                  <a:avLst/>
                </a:prstGeom>
                <a:blipFill>
                  <a:blip r:embed="rId4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id="{63F71A6E-9A3D-620D-36F0-D212A19C5ECD}"/>
                    </a:ext>
                  </a:extLst>
                </p:cNvPr>
                <p:cNvSpPr/>
                <p:nvPr/>
              </p:nvSpPr>
              <p:spPr>
                <a:xfrm>
                  <a:off x="8377774" y="2996870"/>
                  <a:ext cx="2570480" cy="553720"/>
                </a:xfrm>
                <a:prstGeom prst="round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400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Dec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 :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𝐶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 × 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𝐾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→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𝑀</m:t>
                        </m:r>
                      </m:oMath>
                    </m:oMathPara>
                  </a14:m>
                  <a:endPara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id="{63F71A6E-9A3D-620D-36F0-D212A19C5E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7774" y="2996870"/>
                  <a:ext cx="2570480" cy="553720"/>
                </a:xfrm>
                <a:prstGeom prst="roundRect">
                  <a:avLst/>
                </a:prstGeom>
                <a:blipFill>
                  <a:blip r:embed="rId5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C5FBFF-E7FE-D862-D744-5AB38054EEAF}"/>
                </a:ext>
              </a:extLst>
            </p:cNvPr>
            <p:cNvCxnSpPr/>
            <p:nvPr/>
          </p:nvCxnSpPr>
          <p:spPr>
            <a:xfrm flipH="1" flipV="1">
              <a:off x="5842000" y="3429000"/>
              <a:ext cx="253793" cy="4216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42792A3-C288-CDFF-23C9-5579CAFC2F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793" y="3429000"/>
              <a:ext cx="294847" cy="4216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5125C90-E7D9-4069-9F8F-36F1EAF39F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793" y="3439964"/>
              <a:ext cx="1031447" cy="4106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B94A5B-C8A7-5441-7DA6-CF430BF1E15D}"/>
                </a:ext>
              </a:extLst>
            </p:cNvPr>
            <p:cNvSpPr/>
            <p:nvPr/>
          </p:nvSpPr>
          <p:spPr>
            <a:xfrm>
              <a:off x="828040" y="2306320"/>
              <a:ext cx="10591800" cy="24180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C674AB4-B694-CEC8-B3DC-11ECAA71F03D}"/>
                </a:ext>
              </a:extLst>
            </p:cNvPr>
            <p:cNvSpPr txBox="1"/>
            <p:nvPr/>
          </p:nvSpPr>
          <p:spPr>
            <a:xfrm>
              <a:off x="828247" y="2418081"/>
              <a:ext cx="708399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latin typeface=""/>
                  <a:ea typeface="Source Sans Pro"/>
                </a:rPr>
                <a:t>Consider symmetric key encryption and decryption</a:t>
              </a:r>
            </a:p>
            <a:p>
              <a:endParaRPr lang="en-US" sz="2400" dirty="0">
                <a:latin typeface=""/>
              </a:endParaRPr>
            </a:p>
          </p:txBody>
        </p: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A51A69F4-D6AF-A0F1-7CD6-E4D1F575D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9541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B028EF8-F2F8-0E05-E44F-BE0AD1615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CA72D-3DB6-EEEC-F530-38F354DB2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Security of Primitives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30B31-7B36-0E59-A9F1-9E72792BE1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62879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We</a:t>
                </a:r>
                <a:r>
                  <a:rPr lang="en-US" sz="2400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 play a </a:t>
                </a:r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cryptographic game </a:t>
                </a:r>
                <a:r>
                  <a:rPr lang="en-US" sz="2400" dirty="0">
                    <a:latin typeface="Source Sans Pro"/>
                    <a:ea typeface="Source Sans Pro"/>
                  </a:rPr>
                  <a:t>between a</a:t>
                </a:r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 challenger </a:t>
                </a:r>
                <a:r>
                  <a:rPr lang="en-US" sz="2400" dirty="0">
                    <a:latin typeface="Source Sans Pro"/>
                    <a:ea typeface="Source Sans Pro"/>
                  </a:rPr>
                  <a:t>and an</a:t>
                </a:r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 adversary</a:t>
                </a:r>
                <a:endParaRPr lang="en-US" sz="2400" dirty="0">
                  <a:solidFill>
                    <a:schemeClr val="accent6">
                      <a:lumMod val="76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Scheme is </a:t>
                </a:r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IND-CPA secure</a:t>
                </a:r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  <a:r>
                  <a:rPr lang="en-US" sz="2400" dirty="0" err="1">
                    <a:latin typeface="Source Sans Pro"/>
                    <a:ea typeface="Source Sans Pro"/>
                  </a:rPr>
                  <a:t>iff</a:t>
                </a:r>
                <a:r>
                  <a:rPr lang="en-US" sz="2400" dirty="0">
                    <a:latin typeface="Source Sans Pro"/>
                    <a:ea typeface="Source Sans Pro"/>
                  </a:rPr>
                  <a:t> 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𝐴𝑑𝑣𝑒𝑟𝑠𝑎𝑟𝑦</m:t>
                            </m:r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𝑤𝑖𝑛𝑠</m:t>
                            </m:r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𝑔𝑎𝑚𝑒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≤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𝑛𝑒𝑔𝑙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𝜆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30B31-7B36-0E59-A9F1-9E72792BE1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62879"/>
              </a:xfrm>
              <a:blipFill>
                <a:blip r:embed="rId2"/>
                <a:stretch>
                  <a:fillRect l="-965" t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72176BA-DE49-43A6-5D70-FD569C8FA64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3F433041-9C36-340E-B73B-6C2AEC2DB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63" y="2400978"/>
            <a:ext cx="7772400" cy="318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722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28EF8-F2F8-0E05-E44F-BE0AD1615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CA72D-3DB6-EEEC-F530-38F354DB2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Security of Primitives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30B31-7B36-0E59-A9F1-9E72792BE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7401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ea typeface="Source Sans Pro"/>
              </a:rPr>
              <a:t>We</a:t>
            </a:r>
            <a:r>
              <a:rPr lang="en-US" sz="2400" dirty="0">
                <a:solidFill>
                  <a:srgbClr val="000000"/>
                </a:solidFill>
                <a:ea typeface="Source Sans Pro"/>
              </a:rPr>
              <a:t> play a </a:t>
            </a:r>
            <a:r>
              <a:rPr lang="en-US" sz="2400" dirty="0">
                <a:solidFill>
                  <a:schemeClr val="accent6">
                    <a:lumMod val="76000"/>
                  </a:schemeClr>
                </a:solidFill>
                <a:ea typeface="Source Sans Pro"/>
              </a:rPr>
              <a:t>cryptographic game </a:t>
            </a:r>
            <a:r>
              <a:rPr lang="en-US" sz="2400" dirty="0">
                <a:ea typeface="Source Sans Pro"/>
              </a:rPr>
              <a:t>between a</a:t>
            </a:r>
            <a:r>
              <a:rPr lang="en-US" sz="2400" dirty="0">
                <a:solidFill>
                  <a:schemeClr val="accent6">
                    <a:lumMod val="76000"/>
                  </a:schemeClr>
                </a:solidFill>
                <a:ea typeface="Source Sans Pro"/>
              </a:rPr>
              <a:t> challenger </a:t>
            </a:r>
            <a:r>
              <a:rPr lang="en-US" sz="2400" dirty="0">
                <a:ea typeface="Source Sans Pro"/>
              </a:rPr>
              <a:t>and an</a:t>
            </a:r>
            <a:r>
              <a:rPr lang="en-US" sz="2400" dirty="0">
                <a:solidFill>
                  <a:schemeClr val="accent6">
                    <a:lumMod val="76000"/>
                  </a:schemeClr>
                </a:solidFill>
                <a:ea typeface="Source Sans Pro"/>
              </a:rPr>
              <a:t> adversary</a:t>
            </a:r>
            <a:endParaRPr lang="en-US" sz="2400" dirty="0">
              <a:solidFill>
                <a:schemeClr val="accent6">
                  <a:lumMod val="76000"/>
                </a:schemeClr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  <a:p>
            <a:pPr algn="ctr"/>
            <a:endParaRPr lang="en-US" sz="2400" dirty="0">
              <a:solidFill>
                <a:schemeClr val="accent6">
                  <a:lumMod val="76000"/>
                </a:schemeClr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2176BA-DE49-43A6-5D70-FD569C8FA64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E6E4A-EF7F-1704-C074-11D951D7B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247" y="3043084"/>
            <a:ext cx="1367245" cy="1367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60BFFD-4C08-40C3-6FCA-C444BEFB9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074" y="2877983"/>
            <a:ext cx="1697446" cy="16974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067410-DB04-5129-762E-C28EF2561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432" y="3217255"/>
            <a:ext cx="1018903" cy="10189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4356D5-58E9-1DD5-849D-2F710B8ADA4A}"/>
              </a:ext>
            </a:extLst>
          </p:cNvPr>
          <p:cNvSpPr txBox="1"/>
          <p:nvPr/>
        </p:nvSpPr>
        <p:spPr>
          <a:xfrm>
            <a:off x="2753360" y="6249206"/>
            <a:ext cx="4262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Notion of security depends on the game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81045E1-7D8A-4CAA-D45C-D1F6E1DD7938}"/>
                  </a:ext>
                </a:extLst>
              </p:cNvPr>
              <p:cNvSpPr/>
              <p:nvPr/>
            </p:nvSpPr>
            <p:spPr>
              <a:xfrm>
                <a:off x="951263" y="5226910"/>
                <a:ext cx="10515600" cy="740147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"/>
                    <a:ea typeface="Source Sans Pro"/>
                  </a:rPr>
                  <a:t>Scheme is </a:t>
                </a:r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"/>
                    <a:ea typeface="Source Sans Pro"/>
                  </a:rPr>
                  <a:t>IND-CPA secure</a:t>
                </a:r>
                <a:r>
                  <a:rPr lang="en-US" sz="2400" dirty="0">
                    <a:latin typeface=""/>
                    <a:ea typeface="Source Sans Pro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"/>
                    <a:ea typeface="Source Sans Pro"/>
                  </a:rPr>
                  <a:t>iff</a:t>
                </a:r>
                <a:r>
                  <a:rPr lang="en-US" sz="2400" dirty="0">
                    <a:latin typeface=""/>
                    <a:ea typeface="Source Sans Pro"/>
                  </a:rPr>
                  <a:t> 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400" b="0" i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Adversary</m:t>
                            </m:r>
                            <m:r>
                              <m:rPr>
                                <m:nor/>
                              </m:rPr>
                              <a:rPr lang="en-US" sz="2400" b="0" i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wins</m:t>
                            </m:r>
                            <m:r>
                              <m:rPr>
                                <m:nor/>
                              </m:rPr>
                              <a:rPr lang="en-US" sz="2400" b="0" i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game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≤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+</m:t>
                    </m:r>
                    <m:r>
                      <m:rPr>
                        <m:nor/>
                      </m:rPr>
                      <a:rPr lang="en-US" sz="2400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negl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𝜆</m:t>
                        </m:r>
                      </m:e>
                    </m:d>
                  </m:oMath>
                </a14:m>
                <a:endParaRPr lang="en-US" sz="2400" dirty="0">
                  <a:latin typeface=""/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81045E1-7D8A-4CAA-D45C-D1F6E1DD79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3" y="5226910"/>
                <a:ext cx="10515600" cy="740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2B0276-FEDD-29E2-29AE-BA1E3D9E0C48}"/>
              </a:ext>
            </a:extLst>
          </p:cNvPr>
          <p:cNvCxnSpPr>
            <a:cxnSpLocks/>
            <a:stCxn id="6" idx="0"/>
            <a:endCxn id="12" idx="5"/>
          </p:cNvCxnSpPr>
          <p:nvPr/>
        </p:nvCxnSpPr>
        <p:spPr>
          <a:xfrm flipH="1" flipV="1">
            <a:off x="4071700" y="5811759"/>
            <a:ext cx="813013" cy="437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DFBD3FD-EA0C-D6B5-913E-7DD395F3AADC}"/>
              </a:ext>
            </a:extLst>
          </p:cNvPr>
          <p:cNvSpPr/>
          <p:nvPr/>
        </p:nvSpPr>
        <p:spPr>
          <a:xfrm>
            <a:off x="2866278" y="5320926"/>
            <a:ext cx="1412240" cy="57504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1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3C1A-8686-9E62-A82A-AEDA56F5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72D8-3650-8C68-6BCA-AD446BEAB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How to define security for a cryptographic 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ea typeface="Source Sans Pro"/>
              </a:rPr>
              <a:t>protocol</a:t>
            </a:r>
            <a:r>
              <a:rPr lang="en-US" dirty="0">
                <a:ea typeface="Source Sans Pro"/>
              </a:rPr>
              <a:t>?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000000"/>
              </a:solidFill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8CD242-EBA7-D0B3-0D29-D6228ACD89D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EE8558CB-545E-4FE0-26CF-F1EE36A09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43" y="3556843"/>
            <a:ext cx="4336222" cy="262012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635869-6972-A227-9EDB-2E275553974F}"/>
              </a:ext>
            </a:extLst>
          </p:cNvPr>
          <p:cNvSpPr/>
          <p:nvPr/>
        </p:nvSpPr>
        <p:spPr>
          <a:xfrm>
            <a:off x="1377332" y="2527596"/>
            <a:ext cx="4328160" cy="74168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"/>
                <a:ea typeface="Source Sans Pro"/>
              </a:rPr>
              <a:t>(a) Define a protocol-level game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A82250-B316-7EB4-CE29-8D96AD8E7592}"/>
              </a:ext>
            </a:extLst>
          </p:cNvPr>
          <p:cNvSpPr/>
          <p:nvPr/>
        </p:nvSpPr>
        <p:spPr>
          <a:xfrm>
            <a:off x="6244623" y="2527596"/>
            <a:ext cx="4328160" cy="74168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"/>
                <a:ea typeface="Source Sans Pro"/>
              </a:rPr>
              <a:t>(b) Assume primitives are secure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89B00B24-A548-CA62-2449-5C73710185B2}"/>
                  </a:ext>
                </a:extLst>
              </p:cNvPr>
              <p:cNvSpPr/>
              <p:nvPr/>
            </p:nvSpPr>
            <p:spPr>
              <a:xfrm>
                <a:off x="5563108" y="4001294"/>
                <a:ext cx="6446012" cy="200425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1. (a) Define security game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⟨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sr</m:t>
                    </m:r>
                    <m:r>
                      <m:rPr>
                        <m:lit/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_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enc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𝐼𝑉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h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𝑚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)⟩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tx2">
                        <a:lumMod val="10000"/>
                        <a:lumOff val="90000"/>
                      </a:schemeClr>
                    </a:solidFill>
                    <a:latin typeface=""/>
                    <a:ea typeface="Source Sans Pro"/>
                  </a:rPr>
                  <a:t>2. (b) Assume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𝑠𝑟</m:t>
                    </m:r>
                    <m:r>
                      <a:rPr lang="en-US" i="1" dirty="0" smtClean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𝑒𝑛𝑐</m:t>
                    </m:r>
                    <m:r>
                      <a:rPr lang="en-US" i="1" dirty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(.,.,.) </m:t>
                    </m:r>
                  </m:oMath>
                </a14:m>
                <a:r>
                  <a:rPr lang="en-US" dirty="0">
                    <a:solidFill>
                      <a:schemeClr val="tx2">
                        <a:lumMod val="10000"/>
                        <a:lumOff val="90000"/>
                      </a:schemeClr>
                    </a:solidFill>
                    <a:latin typeface=""/>
                    <a:ea typeface="Source Sans Pro"/>
                  </a:rPr>
                  <a:t>is IND-CPA secure</a:t>
                </a:r>
              </a:p>
              <a:p>
                <a:r>
                  <a:rPr lang="en-US" dirty="0">
                    <a:solidFill>
                      <a:schemeClr val="tx2">
                        <a:lumMod val="10000"/>
                        <a:lumOff val="90000"/>
                      </a:schemeClr>
                    </a:solidFill>
                    <a:latin typeface=""/>
                    <a:ea typeface="Source Sans Pro"/>
                  </a:rPr>
                  <a:t>3. (b) Assume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(.) </m:t>
                    </m:r>
                  </m:oMath>
                </a14:m>
                <a:r>
                  <a:rPr lang="en-US" dirty="0">
                    <a:solidFill>
                      <a:schemeClr val="tx2">
                        <a:lumMod val="10000"/>
                        <a:lumOff val="90000"/>
                      </a:schemeClr>
                    </a:solidFill>
                    <a:latin typeface=""/>
                    <a:ea typeface="Source Sans Pro"/>
                  </a:rPr>
                  <a:t>collision-resistant &amp; one-way function</a:t>
                </a:r>
              </a:p>
              <a:p>
                <a:r>
                  <a:rPr lang="en-US" dirty="0">
                    <a:solidFill>
                      <a:schemeClr val="tx2">
                        <a:lumMod val="10000"/>
                        <a:lumOff val="90000"/>
                      </a:schemeClr>
                    </a:solidFill>
                    <a:latin typeface=""/>
                    <a:ea typeface="Source Sans Pro"/>
                  </a:rPr>
                  <a:t>4. Adversary can count how many times each message </a:t>
                </a:r>
              </a:p>
              <a:p>
                <a:r>
                  <a:rPr lang="en-US" dirty="0">
                    <a:solidFill>
                      <a:schemeClr val="tx2">
                        <a:lumMod val="10000"/>
                        <a:lumOff val="90000"/>
                      </a:schemeClr>
                    </a:solidFill>
                    <a:latin typeface=""/>
                    <a:ea typeface="Source Sans Pro"/>
                  </a:rPr>
                  <a:t>     is sent!</a:t>
                </a:r>
                <a:endParaRPr lang="en-US" sz="24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89B00B24-A548-CA62-2449-5C73710185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108" y="4001294"/>
                <a:ext cx="6446012" cy="200425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B32D6E00-806E-551D-3DF0-BA48CF774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7831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3C1A-8686-9E62-A82A-AEDA56F5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72D8-3650-8C68-6BCA-AD446BEAB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How to define security for a cryptographic 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ea typeface="Source Sans Pro"/>
              </a:rPr>
              <a:t>protocol</a:t>
            </a:r>
            <a:r>
              <a:rPr lang="en-US" dirty="0">
                <a:ea typeface="Source Sans Pro"/>
              </a:rPr>
              <a:t>?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000000"/>
              </a:solidFill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8CD242-EBA7-D0B3-0D29-D6228ACD89D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EE8558CB-545E-4FE0-26CF-F1EE36A09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43" y="3556843"/>
            <a:ext cx="4336222" cy="262012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635869-6972-A227-9EDB-2E275553974F}"/>
              </a:ext>
            </a:extLst>
          </p:cNvPr>
          <p:cNvSpPr/>
          <p:nvPr/>
        </p:nvSpPr>
        <p:spPr>
          <a:xfrm>
            <a:off x="1377332" y="2527596"/>
            <a:ext cx="4328160" cy="74168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"/>
                <a:ea typeface="Source Sans Pro"/>
              </a:rPr>
              <a:t>(a) Define a protocol-level game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A82250-B316-7EB4-CE29-8D96AD8E7592}"/>
              </a:ext>
            </a:extLst>
          </p:cNvPr>
          <p:cNvSpPr/>
          <p:nvPr/>
        </p:nvSpPr>
        <p:spPr>
          <a:xfrm>
            <a:off x="6244623" y="2527596"/>
            <a:ext cx="4328160" cy="74168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"/>
                <a:ea typeface="Source Sans Pro"/>
              </a:rPr>
              <a:t>(b) Assume primitives are secure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F4880D14-F5E4-D310-61C2-1FBECE40E5C4}"/>
                  </a:ext>
                </a:extLst>
              </p:cNvPr>
              <p:cNvSpPr/>
              <p:nvPr/>
            </p:nvSpPr>
            <p:spPr>
              <a:xfrm>
                <a:off x="5563108" y="4001294"/>
                <a:ext cx="6446012" cy="200425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1. (a) Define security game for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⟨</m:t>
                    </m:r>
                    <m:r>
                      <m:rPr>
                        <m:nor/>
                      </m:rPr>
                      <a:rPr lang="en-US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sr</m:t>
                    </m:r>
                    <m:r>
                      <m:rPr>
                        <m:lit/>
                        <m:nor/>
                      </m:rPr>
                      <a:rPr lang="en-US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_</m:t>
                    </m:r>
                    <m:r>
                      <m:rPr>
                        <m:nor/>
                      </m:rPr>
                      <a:rPr lang="en-US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enc</m:t>
                    </m:r>
                    <m:d>
                      <m:dPr>
                        <m:ctrlP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𝐼𝑉</m:t>
                        </m:r>
                      </m:e>
                    </m:d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h</m:t>
                    </m:r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</m:t>
                    </m:r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)⟩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2. (b) Assume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sr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_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enc</m:t>
                    </m:r>
                    <m:r>
                      <a:rPr lang="en-US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(.,.,.)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is IND-CPA secure</a:t>
                </a:r>
              </a:p>
              <a:p>
                <a:r>
                  <a:rPr lang="en-US" dirty="0">
                    <a:solidFill>
                      <a:schemeClr val="tx2">
                        <a:lumMod val="10000"/>
                        <a:lumOff val="90000"/>
                      </a:schemeClr>
                    </a:solidFill>
                    <a:latin typeface=""/>
                    <a:ea typeface="Source Sans Pro"/>
                  </a:rPr>
                  <a:t>3. (b) Assume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(.) </m:t>
                    </m:r>
                  </m:oMath>
                </a14:m>
                <a:r>
                  <a:rPr lang="en-US" dirty="0">
                    <a:solidFill>
                      <a:schemeClr val="tx2">
                        <a:lumMod val="10000"/>
                        <a:lumOff val="90000"/>
                      </a:schemeClr>
                    </a:solidFill>
                    <a:latin typeface=""/>
                    <a:ea typeface="Source Sans Pro"/>
                  </a:rPr>
                  <a:t>collision-resistant &amp; one-way function</a:t>
                </a:r>
              </a:p>
              <a:p>
                <a:r>
                  <a:rPr lang="en-US" dirty="0">
                    <a:solidFill>
                      <a:schemeClr val="tx2">
                        <a:lumMod val="10000"/>
                        <a:lumOff val="90000"/>
                      </a:schemeClr>
                    </a:solidFill>
                    <a:latin typeface=""/>
                    <a:ea typeface="Source Sans Pro"/>
                  </a:rPr>
                  <a:t>4. Adversary can count how many times each message </a:t>
                </a:r>
              </a:p>
              <a:p>
                <a:r>
                  <a:rPr lang="en-US" dirty="0">
                    <a:solidFill>
                      <a:schemeClr val="tx2">
                        <a:lumMod val="10000"/>
                        <a:lumOff val="90000"/>
                      </a:schemeClr>
                    </a:solidFill>
                    <a:latin typeface=""/>
                    <a:ea typeface="Source Sans Pro"/>
                  </a:rPr>
                  <a:t>     is sent!</a:t>
                </a:r>
                <a:endParaRPr lang="en-US" sz="24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F4880D14-F5E4-D310-61C2-1FBECE40E5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108" y="4001294"/>
                <a:ext cx="6446012" cy="200425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2C1AAD5B-D372-16AC-955E-C6409BD8D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32812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3C1A-8686-9E62-A82A-AEDA56F5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72D8-3650-8C68-6BCA-AD446BEAB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How to define security for a cryptographic 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ea typeface="Source Sans Pro"/>
              </a:rPr>
              <a:t>protocol</a:t>
            </a:r>
            <a:r>
              <a:rPr lang="en-US" dirty="0">
                <a:ea typeface="Source Sans Pro"/>
              </a:rPr>
              <a:t>?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000000"/>
              </a:solidFill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8CD242-EBA7-D0B3-0D29-D6228ACD89D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EE8558CB-545E-4FE0-26CF-F1EE36A09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43" y="3556843"/>
            <a:ext cx="4336222" cy="262012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635869-6972-A227-9EDB-2E275553974F}"/>
              </a:ext>
            </a:extLst>
          </p:cNvPr>
          <p:cNvSpPr/>
          <p:nvPr/>
        </p:nvSpPr>
        <p:spPr>
          <a:xfrm>
            <a:off x="1377332" y="2527596"/>
            <a:ext cx="4328160" cy="74168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"/>
                <a:ea typeface="Source Sans Pro"/>
              </a:rPr>
              <a:t>(a) Define a protocol-level game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A82250-B316-7EB4-CE29-8D96AD8E7592}"/>
              </a:ext>
            </a:extLst>
          </p:cNvPr>
          <p:cNvSpPr/>
          <p:nvPr/>
        </p:nvSpPr>
        <p:spPr>
          <a:xfrm>
            <a:off x="6244623" y="2527596"/>
            <a:ext cx="4328160" cy="74168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"/>
                <a:ea typeface="Source Sans Pro"/>
              </a:rPr>
              <a:t>(b) Assume primitives are secure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F34B84E5-6E40-FFC6-A3AF-F6F277E6B55E}"/>
                  </a:ext>
                </a:extLst>
              </p:cNvPr>
              <p:cNvSpPr/>
              <p:nvPr/>
            </p:nvSpPr>
            <p:spPr>
              <a:xfrm>
                <a:off x="5563108" y="4001294"/>
                <a:ext cx="6446012" cy="200425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1. (a) Define security game for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⟨</m:t>
                    </m:r>
                    <m:r>
                      <m:rPr>
                        <m:nor/>
                      </m:rPr>
                      <a:rPr lang="en-US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sr</m:t>
                    </m:r>
                    <m:r>
                      <m:rPr>
                        <m:lit/>
                        <m:nor/>
                      </m:rPr>
                      <a:rPr lang="en-US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_</m:t>
                    </m:r>
                    <m:r>
                      <m:rPr>
                        <m:nor/>
                      </m:rPr>
                      <a:rPr lang="en-US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enc</m:t>
                    </m:r>
                    <m:d>
                      <m:dPr>
                        <m:ctrlP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𝐼𝑉</m:t>
                        </m:r>
                      </m:e>
                    </m:d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h</m:t>
                    </m:r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</m:t>
                    </m:r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)⟩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"/>
                  <a:ea typeface="Source Sans Pro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2. (b) Assume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sr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_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enc</m:t>
                    </m:r>
                    <m:r>
                      <a:rPr lang="en-US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(.,.,.)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is IND-CPA secure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3. (b) Assume </a:t>
                </a: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h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(.)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collision-resistant &amp; one-way function</a:t>
                </a:r>
              </a:p>
              <a:p>
                <a:r>
                  <a:rPr lang="en-US" dirty="0">
                    <a:solidFill>
                      <a:schemeClr val="tx2">
                        <a:lumMod val="10000"/>
                        <a:lumOff val="90000"/>
                      </a:schemeClr>
                    </a:solidFill>
                    <a:latin typeface=""/>
                    <a:ea typeface="Source Sans Pro"/>
                  </a:rPr>
                  <a:t>4. Adversary can count how many times each message </a:t>
                </a:r>
              </a:p>
              <a:p>
                <a:r>
                  <a:rPr lang="en-US" dirty="0">
                    <a:solidFill>
                      <a:schemeClr val="tx2">
                        <a:lumMod val="10000"/>
                        <a:lumOff val="90000"/>
                      </a:schemeClr>
                    </a:solidFill>
                    <a:latin typeface=""/>
                    <a:ea typeface="Source Sans Pro"/>
                  </a:rPr>
                  <a:t>     is sent!</a:t>
                </a:r>
                <a:endParaRPr lang="en-US" sz="24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F34B84E5-6E40-FFC6-A3AF-F6F277E6B5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108" y="4001294"/>
                <a:ext cx="6446012" cy="200425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393C6FD9-DDAE-47CF-C16F-59DE7B2BC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78062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3C1A-8686-9E62-A82A-AEDA56F5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72D8-3650-8C68-6BCA-AD446BEAB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How to define security for a cryptographic 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ea typeface="Source Sans Pro"/>
              </a:rPr>
              <a:t>protocol</a:t>
            </a:r>
            <a:r>
              <a:rPr lang="en-US" dirty="0">
                <a:ea typeface="Source Sans Pro"/>
              </a:rPr>
              <a:t>?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000000"/>
              </a:solidFill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8CD242-EBA7-D0B3-0D29-D6228ACD89D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EE8558CB-545E-4FE0-26CF-F1EE36A09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43" y="3556843"/>
            <a:ext cx="4336222" cy="262012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635869-6972-A227-9EDB-2E275553974F}"/>
              </a:ext>
            </a:extLst>
          </p:cNvPr>
          <p:cNvSpPr/>
          <p:nvPr/>
        </p:nvSpPr>
        <p:spPr>
          <a:xfrm>
            <a:off x="1377332" y="2527596"/>
            <a:ext cx="4328160" cy="74168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"/>
                <a:ea typeface="Source Sans Pro"/>
              </a:rPr>
              <a:t>(a) Define a protocol-level game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A82250-B316-7EB4-CE29-8D96AD8E7592}"/>
              </a:ext>
            </a:extLst>
          </p:cNvPr>
          <p:cNvSpPr/>
          <p:nvPr/>
        </p:nvSpPr>
        <p:spPr>
          <a:xfrm>
            <a:off x="6244623" y="2527596"/>
            <a:ext cx="4328160" cy="74168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"/>
                <a:ea typeface="Source Sans Pro"/>
              </a:rPr>
              <a:t>(b) Assume primitives are secure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F56D4A9F-7ADD-49F4-EFC9-B795F81F57A3}"/>
                  </a:ext>
                </a:extLst>
              </p:cNvPr>
              <p:cNvSpPr/>
              <p:nvPr/>
            </p:nvSpPr>
            <p:spPr>
              <a:xfrm>
                <a:off x="5563108" y="4001294"/>
                <a:ext cx="6446012" cy="200425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1. (a) Define security game for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⟨</m:t>
                    </m:r>
                    <m:r>
                      <m:rPr>
                        <m:nor/>
                      </m:rPr>
                      <a:rPr lang="en-US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sr</m:t>
                    </m:r>
                    <m:r>
                      <m:rPr>
                        <m:lit/>
                        <m:nor/>
                      </m:rPr>
                      <a:rPr lang="en-US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_</m:t>
                    </m:r>
                    <m:r>
                      <m:rPr>
                        <m:nor/>
                      </m:rPr>
                      <a:rPr lang="en-US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enc</m:t>
                    </m:r>
                    <m:d>
                      <m:dPr>
                        <m:ctrlP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𝐼𝑉</m:t>
                        </m:r>
                      </m:e>
                    </m:d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h</m:t>
                    </m:r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</m:t>
                    </m:r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)⟩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2. (b) Assume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sr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_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enc</m:t>
                    </m:r>
                    <m:r>
                      <a:rPr lang="en-US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(.,.,.)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is IND-CPA secure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3. (b) Assume </a:t>
                </a: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h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(.)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collision-resistant &amp; one-way function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4. Adversary can count how many times each message 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    is sent!</a:t>
                </a:r>
                <a:endParaRPr lang="en-US" sz="2400" dirty="0">
                  <a:solidFill>
                    <a:schemeClr val="tx1"/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F56D4A9F-7ADD-49F4-EFC9-B795F81F57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108" y="4001294"/>
                <a:ext cx="6446012" cy="200425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5D5CF19E-8059-223C-B041-35CF2587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98858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3C1A-8686-9E62-A82A-AEDA56F5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5AE9E2-F575-DEC7-EB62-76213D49DE7C}"/>
                  </a:ext>
                </a:extLst>
              </p:cNvPr>
              <p:cNvSpPr/>
              <p:nvPr/>
            </p:nvSpPr>
            <p:spPr>
              <a:xfrm>
                <a:off x="5563108" y="4001294"/>
                <a:ext cx="6446012" cy="200425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1. (a) Define security game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⟨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sr</m:t>
                    </m:r>
                    <m:r>
                      <m:rPr>
                        <m:lit/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_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enc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𝐼𝑉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h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𝑚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)⟩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2. (b) Assume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sr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_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enc</m:t>
                    </m:r>
                    <m:r>
                      <a:rPr lang="en-US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(.,.,.)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is IND-CPA secure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3. (b) Assume </a:t>
                </a: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Cambria Math" panose="02040503050406030204" pitchFamily="18" charset="0"/>
                      </a:rPr>
                      <m:t>(.)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collision-resistant &amp; one-way function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4. Adversary can count how many times each message 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     is sent!</a:t>
                </a:r>
                <a:endParaRPr lang="en-US" sz="2400" dirty="0">
                  <a:solidFill>
                    <a:schemeClr val="tx1"/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5AE9E2-F575-DEC7-EB62-76213D49D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108" y="4001294"/>
                <a:ext cx="6446012" cy="200425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72D8-3650-8C68-6BCA-AD446BEAB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01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How to define security for a cryptographic 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ea typeface="Source Sans Pro"/>
              </a:rPr>
              <a:t>protocol</a:t>
            </a:r>
            <a:r>
              <a:rPr lang="en-US" dirty="0">
                <a:ea typeface="Source Sans Pro"/>
              </a:rPr>
              <a:t>?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000000"/>
              </a:solidFill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3B7F23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8CD242-EBA7-D0B3-0D29-D6228ACD89D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</a:endParaRPr>
          </a:p>
        </p:txBody>
      </p:sp>
      <p:pic>
        <p:nvPicPr>
          <p:cNvPr id="8" name="Picture 7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EE8558CB-545E-4FE0-26CF-F1EE36A09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43" y="3556843"/>
            <a:ext cx="4336222" cy="262012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635869-6972-A227-9EDB-2E275553974F}"/>
              </a:ext>
            </a:extLst>
          </p:cNvPr>
          <p:cNvSpPr/>
          <p:nvPr/>
        </p:nvSpPr>
        <p:spPr>
          <a:xfrm>
            <a:off x="1377332" y="2527596"/>
            <a:ext cx="4328160" cy="74168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"/>
                <a:ea typeface="Source Sans Pro"/>
              </a:rPr>
              <a:t>(a) Define a protocol-level game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A82250-B316-7EB4-CE29-8D96AD8E7592}"/>
              </a:ext>
            </a:extLst>
          </p:cNvPr>
          <p:cNvSpPr/>
          <p:nvPr/>
        </p:nvSpPr>
        <p:spPr>
          <a:xfrm>
            <a:off x="6244623" y="2527596"/>
            <a:ext cx="4328160" cy="74168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"/>
                <a:ea typeface="Source Sans Pro"/>
              </a:rPr>
              <a:t>(b) Assume primitives are secure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F748A8-E7AC-A6B7-00B2-785618A61F6A}"/>
              </a:ext>
            </a:extLst>
          </p:cNvPr>
          <p:cNvSpPr/>
          <p:nvPr/>
        </p:nvSpPr>
        <p:spPr>
          <a:xfrm>
            <a:off x="0" y="1606229"/>
            <a:ext cx="12192000" cy="1227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venir Next" panose="020B0503020202020204" pitchFamily="34" charset="0"/>
              </a:rPr>
              <a:t>Secure primitives do not necessarily imply a secure protocol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863B75-1BF0-35A7-0824-B20D5A04A316}"/>
              </a:ext>
            </a:extLst>
          </p:cNvPr>
          <p:cNvSpPr/>
          <p:nvPr/>
        </p:nvSpPr>
        <p:spPr>
          <a:xfrm>
            <a:off x="0" y="3264954"/>
            <a:ext cx="12192000" cy="1227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venir Next" panose="020B0503020202020204" pitchFamily="34" charset="0"/>
              </a:rPr>
              <a:t>We assume primitives are secure and                                            focus on protocol verification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0BE610-B6C3-C46E-BC24-94CB64054DC5}"/>
              </a:ext>
            </a:extLst>
          </p:cNvPr>
          <p:cNvSpPr/>
          <p:nvPr/>
        </p:nvSpPr>
        <p:spPr>
          <a:xfrm>
            <a:off x="-207" y="4923679"/>
            <a:ext cx="12192000" cy="1227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venir Next" panose="020B0503020202020204" pitchFamily="34" charset="0"/>
              </a:rPr>
              <a:t>Primitives can always be analyzed separately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9B1537-5F72-0325-C32B-985E9F9A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Mathematical Cryptography: Primitives &amp; Protocols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4652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3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6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9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2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build="p"/>
      <p:bldP spid="4" grpId="0" animBg="1"/>
      <p:bldP spid="5" grpId="0" animBg="1"/>
      <p:bldP spid="6" grpId="0" animBg="1"/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Threat Models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78E5BC-73C4-50D6-41E2-D4F1C8CF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2077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We use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threat models </a:t>
            </a:r>
            <a:r>
              <a:rPr lang="en-US" dirty="0">
                <a:ea typeface="Source Sans Pro"/>
              </a:rPr>
              <a:t>to classify protocol analysis techniques          (i.e., sets of assumptions about adversarial capabilities)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976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Threat Models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02B98C7-9CF4-3217-442C-C55D76638FD3}"/>
              </a:ext>
            </a:extLst>
          </p:cNvPr>
          <p:cNvSpPr/>
          <p:nvPr/>
        </p:nvSpPr>
        <p:spPr>
          <a:xfrm>
            <a:off x="7625302" y="1825625"/>
            <a:ext cx="2934031" cy="3883176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2E921B-0AA1-30A8-E553-99657D44271F}"/>
              </a:ext>
            </a:extLst>
          </p:cNvPr>
          <p:cNvSpPr/>
          <p:nvPr/>
        </p:nvSpPr>
        <p:spPr>
          <a:xfrm>
            <a:off x="8187859" y="3236181"/>
            <a:ext cx="2530501" cy="3256694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830F4C-1659-B088-ED09-1112EA069C75}"/>
              </a:ext>
            </a:extLst>
          </p:cNvPr>
          <p:cNvSpPr txBox="1"/>
          <p:nvPr/>
        </p:nvSpPr>
        <p:spPr>
          <a:xfrm>
            <a:off x="6949440" y="1492674"/>
            <a:ext cx="395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"/>
                <a:ea typeface="Source Sans Pro"/>
              </a:rPr>
              <a:t>Computational adversary capabilities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8FB221-2806-2B7A-FD6B-4CCC46E52571}"/>
              </a:ext>
            </a:extLst>
          </p:cNvPr>
          <p:cNvSpPr txBox="1"/>
          <p:nvPr/>
        </p:nvSpPr>
        <p:spPr>
          <a:xfrm>
            <a:off x="8120222" y="6454467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"/>
                <a:ea typeface="Source Sans Pro"/>
              </a:rPr>
              <a:t>Symbolic adversary capabilities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83583-4237-62C6-A3FE-E95CD4C8D5F5}"/>
              </a:ext>
            </a:extLst>
          </p:cNvPr>
          <p:cNvSpPr txBox="1"/>
          <p:nvPr/>
        </p:nvSpPr>
        <p:spPr>
          <a:xfrm>
            <a:off x="7850920" y="2583819"/>
            <a:ext cx="2512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"/>
                <a:ea typeface="Source Sans Pro"/>
              </a:rPr>
              <a:t>Exploiting weaknesses of primitives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C07F0B-9DC7-A826-4A31-EDC532A8A345}"/>
              </a:ext>
            </a:extLst>
          </p:cNvPr>
          <p:cNvSpPr txBox="1"/>
          <p:nvPr/>
        </p:nvSpPr>
        <p:spPr>
          <a:xfrm>
            <a:off x="8122521" y="4305012"/>
            <a:ext cx="2371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"/>
                <a:ea typeface="Source Sans Pro"/>
              </a:rPr>
              <a:t>Exploiting protocol weaknesses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6FCDD-E243-2B9C-6A0C-A25ADBE402AB}"/>
              </a:ext>
            </a:extLst>
          </p:cNvPr>
          <p:cNvSpPr txBox="1"/>
          <p:nvPr/>
        </p:nvSpPr>
        <p:spPr>
          <a:xfrm>
            <a:off x="8281029" y="5660671"/>
            <a:ext cx="2371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"/>
                <a:ea typeface="Source Sans Pro"/>
              </a:rPr>
              <a:t>Non-polynomial computation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690C6D-8D6B-0EEC-556B-96880DF326A3}"/>
              </a:ext>
            </a:extLst>
          </p:cNvPr>
          <p:cNvSpPr/>
          <p:nvPr/>
        </p:nvSpPr>
        <p:spPr>
          <a:xfrm>
            <a:off x="838200" y="4305012"/>
            <a:ext cx="6243320" cy="198786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"/>
                <a:ea typeface="Source Sans Pro"/>
              </a:rPr>
              <a:t>Symbolic model (a.k.a. </a:t>
            </a:r>
            <a:r>
              <a:rPr lang="en-US" sz="2400" dirty="0" err="1">
                <a:solidFill>
                  <a:schemeClr val="tx1"/>
                </a:solidFill>
                <a:latin typeface=""/>
                <a:ea typeface="Source Sans Pro"/>
              </a:rPr>
              <a:t>Dolev</a:t>
            </a:r>
            <a:r>
              <a:rPr lang="en-US" sz="2400" dirty="0">
                <a:solidFill>
                  <a:schemeClr val="tx1"/>
                </a:solidFill>
                <a:latin typeface=""/>
                <a:ea typeface="Source Sans Pro"/>
              </a:rPr>
              <a:t>-Yao model)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Assumes primitives are perfectly secure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Considers non-probabilistic (often weaker) security properties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CEF433D-2D9D-2EE0-3A63-7D10D10A1B42}"/>
              </a:ext>
            </a:extLst>
          </p:cNvPr>
          <p:cNvSpPr/>
          <p:nvPr/>
        </p:nvSpPr>
        <p:spPr>
          <a:xfrm>
            <a:off x="828813" y="1991345"/>
            <a:ext cx="6243320" cy="198786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"/>
                <a:ea typeface="Source Sans Pro"/>
              </a:rPr>
              <a:t>Computational model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Closely follows mathematical cryptography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Adversaries are probabilistic polynomial time (PPT) Turing machines (limiting computational power)</a:t>
            </a:r>
          </a:p>
        </p:txBody>
      </p:sp>
    </p:spTree>
    <p:extLst>
      <p:ext uri="{BB962C8B-B14F-4D97-AF65-F5344CB8AC3E}">
        <p14:creationId xmlns:p14="http://schemas.microsoft.com/office/powerpoint/2010/main" val="184614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15" grpId="0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Threat Models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02B98C7-9CF4-3217-442C-C55D76638FD3}"/>
              </a:ext>
            </a:extLst>
          </p:cNvPr>
          <p:cNvSpPr/>
          <p:nvPr/>
        </p:nvSpPr>
        <p:spPr>
          <a:xfrm>
            <a:off x="7625302" y="1825625"/>
            <a:ext cx="2934031" cy="3883176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2E921B-0AA1-30A8-E553-99657D44271F}"/>
              </a:ext>
            </a:extLst>
          </p:cNvPr>
          <p:cNvSpPr/>
          <p:nvPr/>
        </p:nvSpPr>
        <p:spPr>
          <a:xfrm>
            <a:off x="8187859" y="3236181"/>
            <a:ext cx="2530501" cy="3256694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830F4C-1659-B088-ED09-1112EA069C75}"/>
              </a:ext>
            </a:extLst>
          </p:cNvPr>
          <p:cNvSpPr txBox="1"/>
          <p:nvPr/>
        </p:nvSpPr>
        <p:spPr>
          <a:xfrm>
            <a:off x="6949440" y="1492674"/>
            <a:ext cx="395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"/>
                <a:ea typeface="Source Sans Pro"/>
              </a:rPr>
              <a:t>Computational adversary capabilities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8FB221-2806-2B7A-FD6B-4CCC46E52571}"/>
              </a:ext>
            </a:extLst>
          </p:cNvPr>
          <p:cNvSpPr txBox="1"/>
          <p:nvPr/>
        </p:nvSpPr>
        <p:spPr>
          <a:xfrm>
            <a:off x="8120222" y="6454467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"/>
                <a:ea typeface="Source Sans Pro"/>
              </a:rPr>
              <a:t>Symbolic adversary capabilities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83583-4237-62C6-A3FE-E95CD4C8D5F5}"/>
              </a:ext>
            </a:extLst>
          </p:cNvPr>
          <p:cNvSpPr txBox="1"/>
          <p:nvPr/>
        </p:nvSpPr>
        <p:spPr>
          <a:xfrm>
            <a:off x="7850920" y="2583819"/>
            <a:ext cx="2512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"/>
                <a:ea typeface="Source Sans Pro"/>
              </a:rPr>
              <a:t>Exploiting weaknesses of primitives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6FCDD-E243-2B9C-6A0C-A25ADBE402AB}"/>
              </a:ext>
            </a:extLst>
          </p:cNvPr>
          <p:cNvSpPr txBox="1"/>
          <p:nvPr/>
        </p:nvSpPr>
        <p:spPr>
          <a:xfrm>
            <a:off x="8281029" y="5660671"/>
            <a:ext cx="2371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"/>
                <a:ea typeface="Source Sans Pro"/>
              </a:rPr>
              <a:t>Non-polynomial computation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690C6D-8D6B-0EEC-556B-96880DF326A3}"/>
              </a:ext>
            </a:extLst>
          </p:cNvPr>
          <p:cNvSpPr/>
          <p:nvPr/>
        </p:nvSpPr>
        <p:spPr>
          <a:xfrm>
            <a:off x="838200" y="4305012"/>
            <a:ext cx="6243320" cy="198786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"/>
                <a:ea typeface="Source Sans Pro"/>
              </a:rPr>
              <a:t>Symbolic model (a.k.a. </a:t>
            </a:r>
            <a:r>
              <a:rPr lang="en-US" sz="2400" dirty="0" err="1">
                <a:solidFill>
                  <a:schemeClr val="tx1"/>
                </a:solidFill>
                <a:latin typeface=""/>
                <a:ea typeface="Source Sans Pro"/>
              </a:rPr>
              <a:t>Dolev</a:t>
            </a:r>
            <a:r>
              <a:rPr lang="en-US" sz="2400" dirty="0">
                <a:solidFill>
                  <a:schemeClr val="tx1"/>
                </a:solidFill>
                <a:latin typeface=""/>
                <a:ea typeface="Source Sans Pro"/>
              </a:rPr>
              <a:t>-Yao model)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Assumes primitives are perfectly secure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Considers non-probabilistic (often weaker) security properties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CEF433D-2D9D-2EE0-3A63-7D10D10A1B42}"/>
              </a:ext>
            </a:extLst>
          </p:cNvPr>
          <p:cNvSpPr/>
          <p:nvPr/>
        </p:nvSpPr>
        <p:spPr>
          <a:xfrm>
            <a:off x="828813" y="1991345"/>
            <a:ext cx="6243320" cy="198786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"/>
                <a:ea typeface="Source Sans Pro"/>
              </a:rPr>
              <a:t>Computational model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Closely follows mathematical cryptography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"/>
                <a:ea typeface="Source Sans Pro"/>
              </a:rPr>
              <a:t>Adversaries are probabilistic polynomial time (PPT) Turing machines (limiting computational power)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DD850-A713-B649-217F-A2AC6F0583E7}"/>
              </a:ext>
            </a:extLst>
          </p:cNvPr>
          <p:cNvSpPr txBox="1"/>
          <p:nvPr/>
        </p:nvSpPr>
        <p:spPr>
          <a:xfrm>
            <a:off x="8122521" y="4305012"/>
            <a:ext cx="2371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"/>
                <a:ea typeface="Source Sans Pro"/>
              </a:rPr>
              <a:t>Exploiting protocol weaknesses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A98B96-294C-E39B-A289-9FAC242AD830}"/>
              </a:ext>
            </a:extLst>
          </p:cNvPr>
          <p:cNvSpPr/>
          <p:nvPr/>
        </p:nvSpPr>
        <p:spPr>
          <a:xfrm>
            <a:off x="0" y="2772482"/>
            <a:ext cx="12192000" cy="1868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latin typeface="Avenir Next" panose="020B0503020202020204" pitchFamily="34" charset="0"/>
              </a:rPr>
              <a:t>Computational model reasoning (with PPT TMs and cryptographic games) is not currently amenable to automation, so most automation efforts focus on the symbolic model</a:t>
            </a:r>
          </a:p>
          <a:p>
            <a:endParaRPr lang="en-US" sz="1000" dirty="0">
              <a:latin typeface="Avenir Next" panose="020B0503020202020204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latin typeface="Avenir Next" panose="020B0503020202020204" pitchFamily="34" charset="0"/>
              </a:rPr>
              <a:t>Due to this, we focus on the symbolic model in this talk</a:t>
            </a:r>
          </a:p>
        </p:txBody>
      </p:sp>
    </p:spTree>
    <p:extLst>
      <p:ext uri="{BB962C8B-B14F-4D97-AF65-F5344CB8AC3E}">
        <p14:creationId xmlns:p14="http://schemas.microsoft.com/office/powerpoint/2010/main" val="84610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3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6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9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2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5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8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1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4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7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1" animBg="1"/>
      <p:bldP spid="10" grpId="0"/>
      <p:bldP spid="12" grpId="1"/>
      <p:bldP spid="13" grpId="0"/>
      <p:bldP spid="15" grpId="1"/>
      <p:bldP spid="7" grpId="1" animBg="1"/>
      <p:bldP spid="9" grpId="0" animBg="1"/>
      <p:bldP spid="8" grpId="0"/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Symbolic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78F8D-41CB-3795-3829-9EC13AAB8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41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Principals communicate with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symbolic terms </a:t>
            </a:r>
            <a:r>
              <a:rPr lang="en-US" dirty="0">
                <a:ea typeface="Source Sans Pro"/>
              </a:rPr>
              <a:t>rather than bit strings (as in computational model)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D80D69-2222-CC93-D351-2C6EBC464701}"/>
                  </a:ext>
                </a:extLst>
              </p:cNvPr>
              <p:cNvSpPr txBox="1"/>
              <p:nvPr/>
            </p:nvSpPr>
            <p:spPr>
              <a:xfrm>
                <a:off x="1" y="3149819"/>
                <a:ext cx="1219199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200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</m:t>
                          </m:r>
                          <m:r>
                            <a:rPr lang="en-US" sz="3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𝑘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3200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dec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3200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enc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32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  <m:r>
                                <a:rPr lang="en-US" sz="32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3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𝑘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…</m:t>
                      </m:r>
                    </m:oMath>
                  </m:oMathPara>
                </a14:m>
                <a:endParaRPr lang="en-US" sz="3200" dirty="0">
                  <a:latin typeface="Source Sans Pro"/>
                  <a:ea typeface="Source Sans Pro"/>
                </a:endParaRPr>
              </a:p>
              <a:p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D80D69-2222-CC93-D351-2C6EBC464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3149819"/>
                <a:ext cx="12191999" cy="1077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CEDC1BA-45D9-7115-3E8C-5C4398502A38}"/>
              </a:ext>
            </a:extLst>
          </p:cNvPr>
          <p:cNvSpPr txBox="1"/>
          <p:nvPr/>
        </p:nvSpPr>
        <p:spPr>
          <a:xfrm>
            <a:off x="838200" y="4727303"/>
            <a:ext cx="7834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"/>
              </a:rPr>
              <a:t>Just a syntactic symbol; no computational interpretation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E9E15E-BFA5-0D8E-970A-A6C840F54379}"/>
              </a:ext>
            </a:extLst>
          </p:cNvPr>
          <p:cNvCxnSpPr>
            <a:cxnSpLocks/>
          </p:cNvCxnSpPr>
          <p:nvPr/>
        </p:nvCxnSpPr>
        <p:spPr>
          <a:xfrm flipV="1">
            <a:off x="3779520" y="3667760"/>
            <a:ext cx="0" cy="1051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8EB5A0B-7B6E-3DE5-47DF-5B0AA9BD7976}"/>
              </a:ext>
            </a:extLst>
          </p:cNvPr>
          <p:cNvSpPr/>
          <p:nvPr/>
        </p:nvSpPr>
        <p:spPr>
          <a:xfrm>
            <a:off x="3295584" y="3284756"/>
            <a:ext cx="690880" cy="3830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8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6" grpId="0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Symbolic Model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78F8D-41CB-3795-3829-9EC13AAB8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603374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dirty="0">
                    <a:ea typeface="Source Sans Pro"/>
                  </a:rPr>
                  <a:t>We can inductively define the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</a:t>
                </a:r>
                <a:r>
                  <a:rPr lang="en-US" sz="2400" dirty="0">
                    <a:ea typeface="Source Sans Pro"/>
                  </a:rPr>
                  <a:t>of terms in the adversary’s knowledge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  <a:p>
                <a:endParaRPr lang="en-US" sz="2400" dirty="0">
                  <a:ea typeface="Source Sans Pro"/>
                </a:endParaRP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78F8D-41CB-3795-3829-9EC13AAB8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603374"/>
              </a:xfrm>
              <a:blipFill>
                <a:blip r:embed="rId2"/>
                <a:stretch>
                  <a:fillRect t="-5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8BD60-3484-79FA-3B30-3B0ADB96A3BC}"/>
              </a:ext>
            </a:extLst>
          </p:cNvPr>
          <p:cNvSpPr txBox="1"/>
          <p:nvPr/>
        </p:nvSpPr>
        <p:spPr>
          <a:xfrm>
            <a:off x="2949934" y="48502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/>
              <p:nvPr/>
            </p:nvSpPr>
            <p:spPr>
              <a:xfrm>
                <a:off x="0" y="3377076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𝑡</m:t>
                    </m:r>
                  </m:oMath>
                </a14:m>
                <a:r>
                  <a:rPr lang="en-US" sz="2400" dirty="0">
                    <a:latin typeface=""/>
                    <a:ea typeface="Source Sans Pro"/>
                  </a:rPr>
                  <a:t> is marked public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77076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/>
              <p:nvPr/>
            </p:nvSpPr>
            <p:spPr>
              <a:xfrm>
                <a:off x="1" y="3887950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𝑡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3887950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1C2AE46-0C8E-5281-2529-03B793ECBC86}"/>
              </a:ext>
            </a:extLst>
          </p:cNvPr>
          <p:cNvSpPr/>
          <p:nvPr/>
        </p:nvSpPr>
        <p:spPr>
          <a:xfrm>
            <a:off x="4922199" y="3842999"/>
            <a:ext cx="2334009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7643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Symbolic Model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8BD60-3484-79FA-3B30-3B0ADB96A3BC}"/>
              </a:ext>
            </a:extLst>
          </p:cNvPr>
          <p:cNvSpPr txBox="1"/>
          <p:nvPr/>
        </p:nvSpPr>
        <p:spPr>
          <a:xfrm>
            <a:off x="2949934" y="48502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/>
              <p:nvPr/>
            </p:nvSpPr>
            <p:spPr>
              <a:xfrm>
                <a:off x="0" y="3377076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𝑡</m:t>
                    </m:r>
                  </m:oMath>
                </a14:m>
                <a:r>
                  <a:rPr lang="en-US" sz="2400" dirty="0">
                    <a:latin typeface=""/>
                    <a:ea typeface="Source Sans Pro"/>
                  </a:rPr>
                  <a:t> was sent on the network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77076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/>
              <p:nvPr/>
            </p:nvSpPr>
            <p:spPr>
              <a:xfrm>
                <a:off x="1" y="3887950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𝑡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3887950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1C2AE46-0C8E-5281-2529-03B793ECBC86}"/>
              </a:ext>
            </a:extLst>
          </p:cNvPr>
          <p:cNvSpPr/>
          <p:nvPr/>
        </p:nvSpPr>
        <p:spPr>
          <a:xfrm>
            <a:off x="4404852" y="3842998"/>
            <a:ext cx="3392129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24129-DDAC-A5B0-5335-F918F11BE4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603374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dirty="0">
                    <a:ea typeface="Source Sans Pro"/>
                  </a:rPr>
                  <a:t>We can inductively define the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</a:t>
                </a:r>
                <a:r>
                  <a:rPr lang="en-US" sz="2400" dirty="0">
                    <a:ea typeface="Source Sans Pro"/>
                  </a:rPr>
                  <a:t>of terms in the adversary’s knowledge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  <a:p>
                <a:endParaRPr lang="en-US" sz="2400" dirty="0">
                  <a:ea typeface="Source Sans Pro"/>
                </a:endParaRP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24129-DDAC-A5B0-5335-F918F11BE4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603374"/>
              </a:xfrm>
              <a:blipFill>
                <a:blip r:embed="rId5"/>
                <a:stretch>
                  <a:fillRect t="-5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76522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Symbolic Model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8BD60-3484-79FA-3B30-3B0ADB96A3BC}"/>
              </a:ext>
            </a:extLst>
          </p:cNvPr>
          <p:cNvSpPr txBox="1"/>
          <p:nvPr/>
        </p:nvSpPr>
        <p:spPr>
          <a:xfrm>
            <a:off x="2949934" y="48502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/>
              <p:nvPr/>
            </p:nvSpPr>
            <p:spPr>
              <a:xfrm>
                <a:off x="-3290523" y="3341595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𝑘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0523" y="3341595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/>
              <p:nvPr/>
            </p:nvSpPr>
            <p:spPr>
              <a:xfrm>
                <a:off x="-3334326" y="3852469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𝑚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𝑘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34326" y="3852469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1C2AE46-0C8E-5281-2529-03B793ECBC86}"/>
              </a:ext>
            </a:extLst>
          </p:cNvPr>
          <p:cNvSpPr/>
          <p:nvPr/>
        </p:nvSpPr>
        <p:spPr>
          <a:xfrm>
            <a:off x="1631676" y="3807518"/>
            <a:ext cx="2334009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2C5FD2-683D-B87E-3730-F2224B24B927}"/>
                  </a:ext>
                </a:extLst>
              </p:cNvPr>
              <p:cNvSpPr txBox="1"/>
              <p:nvPr/>
            </p:nvSpPr>
            <p:spPr>
              <a:xfrm>
                <a:off x="6422699" y="3377076"/>
                <a:ext cx="3392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enc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)∈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𝑘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2C5FD2-683D-B87E-3730-F2224B24B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699" y="3377076"/>
                <a:ext cx="3392129" cy="461665"/>
              </a:xfrm>
              <a:prstGeom prst="rect">
                <a:avLst/>
              </a:prstGeom>
              <a:blipFill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AEF414-092B-5E69-422E-EB8781B462AE}"/>
                  </a:ext>
                </a:extLst>
              </p:cNvPr>
              <p:cNvSpPr txBox="1"/>
              <p:nvPr/>
            </p:nvSpPr>
            <p:spPr>
              <a:xfrm>
                <a:off x="6422699" y="3861286"/>
                <a:ext cx="3392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𝑚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AEF414-092B-5E69-422E-EB8781B46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699" y="3861286"/>
                <a:ext cx="339212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FED48841-6151-01CF-D1A0-B680841AA209}"/>
              </a:ext>
            </a:extLst>
          </p:cNvPr>
          <p:cNvSpPr/>
          <p:nvPr/>
        </p:nvSpPr>
        <p:spPr>
          <a:xfrm>
            <a:off x="6422699" y="3852142"/>
            <a:ext cx="3392129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6C3F1-10B3-0134-1F52-0A3295B651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603374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dirty="0">
                    <a:ea typeface="Source Sans Pro"/>
                  </a:rPr>
                  <a:t>We can inductively define the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</a:t>
                </a:r>
                <a:r>
                  <a:rPr lang="en-US" sz="2400" dirty="0">
                    <a:ea typeface="Source Sans Pro"/>
                  </a:rPr>
                  <a:t>of terms in the adversary’s knowledge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  <a:p>
                <a:endParaRPr lang="en-US" sz="2400" dirty="0">
                  <a:ea typeface="Source Sans Pro"/>
                </a:endParaRP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6C3F1-10B3-0134-1F52-0A3295B651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603374"/>
              </a:xfrm>
              <a:blipFill>
                <a:blip r:embed="rId6"/>
                <a:stretch>
                  <a:fillRect t="-5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335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Symbolic Model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/>
              <p:nvPr/>
            </p:nvSpPr>
            <p:spPr>
              <a:xfrm>
                <a:off x="1631675" y="3341595"/>
                <a:ext cx="23340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675" y="3341595"/>
                <a:ext cx="2334008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/>
              <p:nvPr/>
            </p:nvSpPr>
            <p:spPr>
              <a:xfrm>
                <a:off x="1631676" y="3852469"/>
                <a:ext cx="23340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⟨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⟩∈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676" y="3852469"/>
                <a:ext cx="2334009" cy="461665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1C2AE46-0C8E-5281-2529-03B793ECBC86}"/>
              </a:ext>
            </a:extLst>
          </p:cNvPr>
          <p:cNvSpPr/>
          <p:nvPr/>
        </p:nvSpPr>
        <p:spPr>
          <a:xfrm>
            <a:off x="1631676" y="3807518"/>
            <a:ext cx="2334009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2C5FD2-683D-B87E-3730-F2224B24B927}"/>
                  </a:ext>
                </a:extLst>
              </p:cNvPr>
              <p:cNvSpPr txBox="1"/>
              <p:nvPr/>
            </p:nvSpPr>
            <p:spPr>
              <a:xfrm>
                <a:off x="4261915" y="3349001"/>
                <a:ext cx="3392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⟨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⟩∈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2C5FD2-683D-B87E-3730-F2224B24B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915" y="3349001"/>
                <a:ext cx="3392129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AEF414-092B-5E69-422E-EB8781B462AE}"/>
                  </a:ext>
                </a:extLst>
              </p:cNvPr>
              <p:cNvSpPr txBox="1"/>
              <p:nvPr/>
            </p:nvSpPr>
            <p:spPr>
              <a:xfrm>
                <a:off x="4261915" y="3833211"/>
                <a:ext cx="3392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AEF414-092B-5E69-422E-EB8781B46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915" y="3833211"/>
                <a:ext cx="339212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FED48841-6151-01CF-D1A0-B680841AA209}"/>
              </a:ext>
            </a:extLst>
          </p:cNvPr>
          <p:cNvSpPr/>
          <p:nvPr/>
        </p:nvSpPr>
        <p:spPr>
          <a:xfrm>
            <a:off x="5172889" y="3824066"/>
            <a:ext cx="1487056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CCB91D-F1A5-392F-115C-266E2196C98F}"/>
                  </a:ext>
                </a:extLst>
              </p:cNvPr>
              <p:cNvSpPr txBox="1"/>
              <p:nvPr/>
            </p:nvSpPr>
            <p:spPr>
              <a:xfrm>
                <a:off x="6937697" y="3323123"/>
                <a:ext cx="3392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⟨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⟩∈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CCB91D-F1A5-392F-115C-266E2196C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697" y="3323123"/>
                <a:ext cx="3392129" cy="461665"/>
              </a:xfrm>
              <a:prstGeom prst="rect">
                <a:avLst/>
              </a:prstGeom>
              <a:blipFill>
                <a:blip r:embed="rId7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2A8550-8B4F-5108-F14D-AB39FF45F4D7}"/>
                  </a:ext>
                </a:extLst>
              </p:cNvPr>
              <p:cNvSpPr txBox="1"/>
              <p:nvPr/>
            </p:nvSpPr>
            <p:spPr>
              <a:xfrm>
                <a:off x="6937697" y="3807333"/>
                <a:ext cx="3392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2A8550-8B4F-5108-F14D-AB39FF45F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697" y="3807333"/>
                <a:ext cx="3392129" cy="461665"/>
              </a:xfrm>
              <a:prstGeom prst="rect">
                <a:avLst/>
              </a:prstGeom>
              <a:blipFill>
                <a:blip r:embed="rId8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721D8EBB-616F-A69E-6C34-66B454F3FFD6}"/>
              </a:ext>
            </a:extLst>
          </p:cNvPr>
          <p:cNvSpPr/>
          <p:nvPr/>
        </p:nvSpPr>
        <p:spPr>
          <a:xfrm>
            <a:off x="7848671" y="3798188"/>
            <a:ext cx="1487056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E1AB4A-E62B-2708-4688-254F93349D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603374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dirty="0">
                    <a:ea typeface="Source Sans Pro"/>
                  </a:rPr>
                  <a:t>We can inductively define the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</a:t>
                </a:r>
                <a:r>
                  <a:rPr lang="en-US" sz="2400" dirty="0">
                    <a:ea typeface="Source Sans Pro"/>
                  </a:rPr>
                  <a:t>of terms in the adversary’s knowledge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  <a:p>
                <a:endParaRPr lang="en-US" sz="2400" dirty="0">
                  <a:ea typeface="Source Sans Pro"/>
                </a:endParaRP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E1AB4A-E62B-2708-4688-254F93349D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603374"/>
              </a:xfrm>
              <a:blipFill>
                <a:blip r:embed="rId9"/>
                <a:stretch>
                  <a:fillRect t="-5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210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4BBA-AEEF-F02E-2A0A-27B08706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4503-9F41-4A11-446B-56A49286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FE3CC-B3C1-2EB5-2B26-CEE053F6D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Source Sans Pro"/>
              </a:rPr>
              <a:t>Talk objectives</a:t>
            </a:r>
          </a:p>
          <a:p>
            <a:r>
              <a:rPr lang="en-US" sz="3200" dirty="0">
                <a:ea typeface="Source Sans Pro"/>
              </a:rPr>
              <a:t>Cryptographic protocol verification background</a:t>
            </a:r>
          </a:p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Automated reasoning for protocols </a:t>
            </a:r>
          </a:p>
          <a:p>
            <a:r>
              <a:rPr lang="en-US" sz="3200" dirty="0">
                <a:ea typeface="Source Sans Pro"/>
              </a:rPr>
              <a:t>Breaking, fixing, and breaking Needham-Schroeder</a:t>
            </a:r>
          </a:p>
          <a:p>
            <a:r>
              <a:rPr lang="en-US" sz="3200" dirty="0">
                <a:ea typeface="Source Sans Pro"/>
              </a:rPr>
              <a:t>Making reasoning tractable</a:t>
            </a:r>
          </a:p>
          <a:p>
            <a:r>
              <a:rPr lang="en-US" sz="3200" dirty="0">
                <a:ea typeface="Source Sans Pro"/>
              </a:rPr>
              <a:t>Discussion, Research Questions, &amp; Conclusion </a:t>
            </a:r>
          </a:p>
          <a:p>
            <a:r>
              <a:rPr lang="en-US" sz="3200" dirty="0">
                <a:ea typeface="Source Sans Pro"/>
              </a:rPr>
              <a:t>Appendix: Making reasoning expressive </a:t>
            </a:r>
          </a:p>
          <a:p>
            <a:endParaRPr lang="en-US" sz="3200" dirty="0"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CEFFD2-B460-F9F6-EA13-A58AA167383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486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Protocol Reasoning in the Symbolic Model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79CE97-AB04-843F-4790-DA5EF039DBCE}"/>
              </a:ext>
            </a:extLst>
          </p:cNvPr>
          <p:cNvSpPr/>
          <p:nvPr/>
        </p:nvSpPr>
        <p:spPr>
          <a:xfrm>
            <a:off x="1432560" y="2061047"/>
            <a:ext cx="3799840" cy="10271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Way to formalize protocols (language &amp; semantics)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58A199D-1FDD-5BB5-F596-B62ECB23B603}"/>
              </a:ext>
            </a:extLst>
          </p:cNvPr>
          <p:cNvSpPr/>
          <p:nvPr/>
        </p:nvSpPr>
        <p:spPr>
          <a:xfrm>
            <a:off x="6959600" y="2052180"/>
            <a:ext cx="3799840" cy="10271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Way to formalize properties (language &amp; semantics)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4FE350-7929-68D2-4D64-2D22730714CC}"/>
              </a:ext>
            </a:extLst>
          </p:cNvPr>
          <p:cNvSpPr/>
          <p:nvPr/>
        </p:nvSpPr>
        <p:spPr>
          <a:xfrm>
            <a:off x="1432560" y="4474869"/>
            <a:ext cx="3799840" cy="10271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Threat model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222FFF0-3375-09BA-7A58-317B5A42223F}"/>
              </a:ext>
            </a:extLst>
          </p:cNvPr>
          <p:cNvSpPr/>
          <p:nvPr/>
        </p:nvSpPr>
        <p:spPr>
          <a:xfrm>
            <a:off x="6959600" y="4474869"/>
            <a:ext cx="3799840" cy="10271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Algorithm to search for attacks against (or proofs of) properties in given threat model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298716C-977E-2CDF-D9E1-92218C7AB60E}"/>
              </a:ext>
            </a:extLst>
          </p:cNvPr>
          <p:cNvSpPr/>
          <p:nvPr/>
        </p:nvSpPr>
        <p:spPr>
          <a:xfrm>
            <a:off x="1855588" y="3088231"/>
            <a:ext cx="1300480" cy="6100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Multiset rewriting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422195F8-4A11-1C5C-843E-146B8174516A}"/>
                  </a:ext>
                </a:extLst>
              </p:cNvPr>
              <p:cNvSpPr/>
              <p:nvPr/>
            </p:nvSpPr>
            <p:spPr>
              <a:xfrm>
                <a:off x="3156068" y="3088231"/>
                <a:ext cx="1300480" cy="61001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</a:rPr>
                  <a:t>Applied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</a:rPr>
                  <a:t>-calculus</a:t>
                </a:r>
              </a:p>
            </p:txBody>
          </p:sp>
        </mc:Choice>
        <mc:Fallback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422195F8-4A11-1C5C-843E-146B817451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68" y="3088231"/>
                <a:ext cx="1300480" cy="610010"/>
              </a:xfrm>
              <a:prstGeom prst="roundRect">
                <a:avLst/>
              </a:prstGeom>
              <a:blipFill>
                <a:blip r:embed="rId2"/>
                <a:stretch>
                  <a:fillRect l="-962" t="-3922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DAF5F28-4949-B652-DC0E-613B33761EF0}"/>
              </a:ext>
            </a:extLst>
          </p:cNvPr>
          <p:cNvSpPr/>
          <p:nvPr/>
        </p:nvSpPr>
        <p:spPr>
          <a:xfrm>
            <a:off x="1806635" y="5502052"/>
            <a:ext cx="1219200" cy="6100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Symbolic model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0596CA2-4109-01A7-E677-525CFBADE6B0}"/>
              </a:ext>
            </a:extLst>
          </p:cNvPr>
          <p:cNvSpPr/>
          <p:nvPr/>
        </p:nvSpPr>
        <p:spPr>
          <a:xfrm>
            <a:off x="3025835" y="5502052"/>
            <a:ext cx="1818640" cy="6100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Computational model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7781E6B-0650-70D5-3BE0-101DBFD54D18}"/>
              </a:ext>
            </a:extLst>
          </p:cNvPr>
          <p:cNvSpPr/>
          <p:nvPr/>
        </p:nvSpPr>
        <p:spPr>
          <a:xfrm>
            <a:off x="2558475" y="6112062"/>
            <a:ext cx="1005840" cy="6100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CCSA model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E2F9FA0-2632-A8A7-2491-69E523EC4580}"/>
              </a:ext>
            </a:extLst>
          </p:cNvPr>
          <p:cNvSpPr/>
          <p:nvPr/>
        </p:nvSpPr>
        <p:spPr>
          <a:xfrm>
            <a:off x="7486076" y="3088231"/>
            <a:ext cx="1300480" cy="6100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Fixed set of props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63CB04F-4E28-3712-DEC1-4B83D80A7DC1}"/>
              </a:ext>
            </a:extLst>
          </p:cNvPr>
          <p:cNvSpPr/>
          <p:nvPr/>
        </p:nvSpPr>
        <p:spPr>
          <a:xfrm>
            <a:off x="8786556" y="3079363"/>
            <a:ext cx="1300480" cy="6100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Variant of FOL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6736617-8507-5017-0668-6BE9928C1F66}"/>
              </a:ext>
            </a:extLst>
          </p:cNvPr>
          <p:cNvSpPr/>
          <p:nvPr/>
        </p:nvSpPr>
        <p:spPr>
          <a:xfrm>
            <a:off x="7973756" y="3698241"/>
            <a:ext cx="1625600" cy="6100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Equivalences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E1F1B89-3923-9627-B23D-C587BE6C8C39}"/>
              </a:ext>
            </a:extLst>
          </p:cNvPr>
          <p:cNvSpPr/>
          <p:nvPr/>
        </p:nvSpPr>
        <p:spPr>
          <a:xfrm>
            <a:off x="7325360" y="5513505"/>
            <a:ext cx="1625600" cy="6100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Backwards search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40D513E-8E3D-2158-C4EC-C7DBE6A7D4C3}"/>
              </a:ext>
            </a:extLst>
          </p:cNvPr>
          <p:cNvSpPr/>
          <p:nvPr/>
        </p:nvSpPr>
        <p:spPr>
          <a:xfrm>
            <a:off x="8950960" y="5513505"/>
            <a:ext cx="1625600" cy="6100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Resolution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D9BB428-903C-20B9-1C71-416165BA17CC}"/>
              </a:ext>
            </a:extLst>
          </p:cNvPr>
          <p:cNvSpPr/>
          <p:nvPr/>
        </p:nvSpPr>
        <p:spPr>
          <a:xfrm>
            <a:off x="7650480" y="6123515"/>
            <a:ext cx="1625600" cy="6100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Type checking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22ADE09-FDBA-5206-08F8-D729FD718CE1}"/>
              </a:ext>
            </a:extLst>
          </p:cNvPr>
          <p:cNvSpPr/>
          <p:nvPr/>
        </p:nvSpPr>
        <p:spPr>
          <a:xfrm>
            <a:off x="9286240" y="6123515"/>
            <a:ext cx="1625600" cy="6100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Induction on traces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6DEE5EF-C8CA-8FB8-51BC-EE8EFCB3ED88}"/>
              </a:ext>
            </a:extLst>
          </p:cNvPr>
          <p:cNvSpPr/>
          <p:nvPr/>
        </p:nvSpPr>
        <p:spPr>
          <a:xfrm>
            <a:off x="2495668" y="3698241"/>
            <a:ext cx="1300480" cy="6100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Programs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B97873-2A72-B950-318A-1A4D8B38F26D}"/>
              </a:ext>
            </a:extLst>
          </p:cNvPr>
          <p:cNvSpPr/>
          <p:nvPr/>
        </p:nvSpPr>
        <p:spPr>
          <a:xfrm>
            <a:off x="0" y="2904455"/>
            <a:ext cx="12192000" cy="1645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" panose="020B0503020202020204" pitchFamily="34" charset="0"/>
              </a:rPr>
              <a:t>We focus on Tamarin’s formal foundations for ease of presentation, but will still seek to learn general lessons about symbolic model verification</a:t>
            </a:r>
          </a:p>
        </p:txBody>
      </p:sp>
    </p:spTree>
    <p:extLst>
      <p:ext uri="{BB962C8B-B14F-4D97-AF65-F5344CB8AC3E}">
        <p14:creationId xmlns:p14="http://schemas.microsoft.com/office/powerpoint/2010/main" val="798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9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42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45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48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51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54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57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60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63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0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3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6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9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82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85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88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91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94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97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0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3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6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9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12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15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18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21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2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6" grpId="1" animBg="1"/>
      <p:bldP spid="7" grpId="0" animBg="1"/>
      <p:bldP spid="7" grpId="1" animBg="1"/>
      <p:bldP spid="8" grpId="0" animBg="1"/>
      <p:bldP spid="8" grpId="1" animBg="1"/>
      <p:bldP spid="11" grpId="0" animBg="1"/>
      <p:bldP spid="11" grpId="1" animBg="1"/>
      <p:bldP spid="12" grpId="1" animBg="1"/>
      <p:bldP spid="13" grpId="0" animBg="1"/>
      <p:bldP spid="13" grpId="2" animBg="1"/>
      <p:bldP spid="14" grpId="0" animBg="1"/>
      <p:bldP spid="14" grpId="1" animBg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9" grpId="0" animBg="1"/>
      <p:bldP spid="19" grpId="1" animBg="1"/>
      <p:bldP spid="19" grpId="2" animBg="1"/>
      <p:bldP spid="20" grpId="0" animBg="1"/>
      <p:bldP spid="20" grpId="1" animBg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2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Protocols in the Symbolic Model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ADC5FC-79AF-C211-EC0A-F4CFCE5622B8}"/>
              </a:ext>
            </a:extLst>
          </p:cNvPr>
          <p:cNvSpPr/>
          <p:nvPr/>
        </p:nvSpPr>
        <p:spPr>
          <a:xfrm>
            <a:off x="1178560" y="2275840"/>
            <a:ext cx="2143760" cy="12236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Initial state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7B8427-65C1-21E3-6336-43264169579A}"/>
              </a:ext>
            </a:extLst>
          </p:cNvPr>
          <p:cNvSpPr/>
          <p:nvPr/>
        </p:nvSpPr>
        <p:spPr>
          <a:xfrm>
            <a:off x="4612640" y="2271285"/>
            <a:ext cx="2143760" cy="12236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State 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816AEAD-BE7A-BAE3-EA06-7E7870C8BDB0}"/>
              </a:ext>
            </a:extLst>
          </p:cNvPr>
          <p:cNvSpPr/>
          <p:nvPr/>
        </p:nvSpPr>
        <p:spPr>
          <a:xfrm>
            <a:off x="8046720" y="2271285"/>
            <a:ext cx="2143760" cy="12236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State 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C39E2B-7AAB-1016-37AC-D37B41B2D89C}"/>
              </a:ext>
            </a:extLst>
          </p:cNvPr>
          <p:cNvSpPr/>
          <p:nvPr/>
        </p:nvSpPr>
        <p:spPr>
          <a:xfrm>
            <a:off x="8046720" y="4166650"/>
            <a:ext cx="2143760" cy="12236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State 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9474FB-243A-9A9F-22D9-5F4C2D3A84DC}"/>
              </a:ext>
            </a:extLst>
          </p:cNvPr>
          <p:cNvSpPr/>
          <p:nvPr/>
        </p:nvSpPr>
        <p:spPr>
          <a:xfrm>
            <a:off x="1178560" y="4166650"/>
            <a:ext cx="2143760" cy="12236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State n (attack!)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BE38A2-04C0-E1E8-4C30-39BE78A23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818" y="4140959"/>
            <a:ext cx="1274990" cy="127499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A29A44-2B2E-515F-B653-75C461A496C5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3322320" y="2883089"/>
            <a:ext cx="1290320" cy="4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54D86D2-DCA3-38D3-4BFE-2FDA02BBF8B8}"/>
              </a:ext>
            </a:extLst>
          </p:cNvPr>
          <p:cNvCxnSpPr>
            <a:cxnSpLocks/>
            <a:stCxn id="9" idx="6"/>
          </p:cNvCxnSpPr>
          <p:nvPr/>
        </p:nvCxnSpPr>
        <p:spPr>
          <a:xfrm flipV="1">
            <a:off x="6756400" y="2878534"/>
            <a:ext cx="1297285" cy="4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C6C51D-61CB-0540-4258-50D3A67D7CD9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>
            <a:off x="9118600" y="3494893"/>
            <a:ext cx="0" cy="671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E437AB-756E-7261-27F8-F9EC0C5FCC46}"/>
              </a:ext>
            </a:extLst>
          </p:cNvPr>
          <p:cNvCxnSpPr>
            <a:cxnSpLocks/>
            <a:stCxn id="11" idx="2"/>
            <a:endCxn id="13" idx="3"/>
          </p:cNvCxnSpPr>
          <p:nvPr/>
        </p:nvCxnSpPr>
        <p:spPr>
          <a:xfrm flipH="1">
            <a:off x="6448808" y="4778454"/>
            <a:ext cx="15979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D0D8E2C-F54B-3291-5F85-FB7D3A9ECCD7}"/>
              </a:ext>
            </a:extLst>
          </p:cNvPr>
          <p:cNvCxnSpPr>
            <a:cxnSpLocks/>
            <a:stCxn id="13" idx="1"/>
            <a:endCxn id="12" idx="6"/>
          </p:cNvCxnSpPr>
          <p:nvPr/>
        </p:nvCxnSpPr>
        <p:spPr>
          <a:xfrm flipH="1">
            <a:off x="3322320" y="4778454"/>
            <a:ext cx="18514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3E9B88-7E18-891A-CC44-638FB1158F23}"/>
              </a:ext>
            </a:extLst>
          </p:cNvPr>
          <p:cNvSpPr txBox="1"/>
          <p:nvPr/>
        </p:nvSpPr>
        <p:spPr>
          <a:xfrm>
            <a:off x="3271734" y="2927539"/>
            <a:ext cx="141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Rewrite rule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F19D7E-AAD8-2DFC-C06A-467440748A9F}"/>
              </a:ext>
            </a:extLst>
          </p:cNvPr>
          <p:cNvSpPr txBox="1"/>
          <p:nvPr/>
        </p:nvSpPr>
        <p:spPr>
          <a:xfrm>
            <a:off x="6691975" y="2922419"/>
            <a:ext cx="141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Rewrite rule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4E0F6A-2B26-454C-818E-BD0FECE93BDD}"/>
              </a:ext>
            </a:extLst>
          </p:cNvPr>
          <p:cNvSpPr txBox="1"/>
          <p:nvPr/>
        </p:nvSpPr>
        <p:spPr>
          <a:xfrm>
            <a:off x="9118600" y="3643069"/>
            <a:ext cx="141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Rewrite rule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1FA43C-2139-F921-A177-482FFCD1DB62}"/>
              </a:ext>
            </a:extLst>
          </p:cNvPr>
          <p:cNvSpPr txBox="1"/>
          <p:nvPr/>
        </p:nvSpPr>
        <p:spPr>
          <a:xfrm>
            <a:off x="6606529" y="4841380"/>
            <a:ext cx="141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Rewrite rule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F22EE-853B-5A5E-99E9-FEF95FDEFBE5}"/>
              </a:ext>
            </a:extLst>
          </p:cNvPr>
          <p:cNvSpPr txBox="1"/>
          <p:nvPr/>
        </p:nvSpPr>
        <p:spPr>
          <a:xfrm>
            <a:off x="3538483" y="4836260"/>
            <a:ext cx="141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Rewrite rule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43AAB2F-DB08-AAD6-7933-961EA6B773EA}"/>
              </a:ext>
            </a:extLst>
          </p:cNvPr>
          <p:cNvSpPr/>
          <p:nvPr/>
        </p:nvSpPr>
        <p:spPr>
          <a:xfrm>
            <a:off x="951263" y="1595460"/>
            <a:ext cx="10289062" cy="55234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Use a multiset of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"/>
              </a:rPr>
              <a:t>facts</a:t>
            </a:r>
            <a:r>
              <a:rPr lang="en-US" dirty="0">
                <a:solidFill>
                  <a:schemeClr val="tx1"/>
                </a:solidFill>
                <a:latin typeface=""/>
              </a:rPr>
              <a:t> to model protocol state that evolves at each rewrite rule application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629BF55-EB7D-5911-6115-49E56D72FEAE}"/>
              </a:ext>
            </a:extLst>
          </p:cNvPr>
          <p:cNvSpPr/>
          <p:nvPr/>
        </p:nvSpPr>
        <p:spPr>
          <a:xfrm>
            <a:off x="3153971" y="3615066"/>
            <a:ext cx="2788604" cy="58721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Each rewrite rule is a protocol step</a:t>
            </a:r>
            <a:endParaRPr lang="en-US" dirty="0">
              <a:latin typeface="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4470CC6-EE5E-AEA2-07F7-852552F3293A}"/>
              </a:ext>
            </a:extLst>
          </p:cNvPr>
          <p:cNvCxnSpPr>
            <a:stCxn id="33" idx="0"/>
            <a:endCxn id="3" idx="2"/>
          </p:cNvCxnSpPr>
          <p:nvPr/>
        </p:nvCxnSpPr>
        <p:spPr>
          <a:xfrm flipH="1" flipV="1">
            <a:off x="3981320" y="3296871"/>
            <a:ext cx="566953" cy="318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75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3" grpId="0"/>
      <p:bldP spid="19" grpId="0"/>
      <p:bldP spid="24" grpId="0"/>
      <p:bldP spid="25" grpId="0"/>
      <p:bldP spid="26" grpId="0"/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224D15FC-8754-98E3-2929-6D4D5E6C4532}"/>
              </a:ext>
            </a:extLst>
          </p:cNvPr>
          <p:cNvSpPr/>
          <p:nvPr/>
        </p:nvSpPr>
        <p:spPr>
          <a:xfrm>
            <a:off x="951264" y="1595460"/>
            <a:ext cx="10289060" cy="55234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Use a multiset of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"/>
              </a:rPr>
              <a:t>facts</a:t>
            </a:r>
            <a:r>
              <a:rPr lang="en-US" dirty="0">
                <a:solidFill>
                  <a:schemeClr val="tx1"/>
                </a:solidFill>
                <a:latin typeface=""/>
              </a:rPr>
              <a:t> to model protocol state that evolves at each rewrite rule application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Protocols in the Symbolic Model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5ADC5FC-79AF-C211-EC0A-F4CFCE5622B8}"/>
                  </a:ext>
                </a:extLst>
              </p:cNvPr>
              <p:cNvSpPr/>
              <p:nvPr/>
            </p:nvSpPr>
            <p:spPr>
              <a:xfrm>
                <a:off x="1178560" y="2275840"/>
                <a:ext cx="2143760" cy="12236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"/>
                        </a:rPr>
                        <m:t>∅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5ADC5FC-79AF-C211-EC0A-F4CFCE562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560" y="2275840"/>
                <a:ext cx="2143760" cy="122360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77B8427-65C1-21E3-6336-43264169579A}"/>
                  </a:ext>
                </a:extLst>
              </p:cNvPr>
              <p:cNvSpPr/>
              <p:nvPr/>
            </p:nvSpPr>
            <p:spPr>
              <a:xfrm>
                <a:off x="4612640" y="2271285"/>
                <a:ext cx="2143760" cy="12236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StateFac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StateFac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77B8427-65C1-21E3-6336-4326416957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640" y="2271285"/>
                <a:ext cx="2143760" cy="122360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816AEAD-BE7A-BAE3-EA06-7E7870C8BDB0}"/>
                  </a:ext>
                </a:extLst>
              </p:cNvPr>
              <p:cNvSpPr/>
              <p:nvPr/>
            </p:nvSpPr>
            <p:spPr>
              <a:xfrm>
                <a:off x="8046720" y="2271285"/>
                <a:ext cx="2143760" cy="12236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StateFac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"/>
                        </a:rPr>
                        <m:t>,</m:t>
                      </m:r>
                    </m:oMath>
                  </m:oMathPara>
                </a14:m>
                <a:endParaRPr lang="en-US" b="0" i="1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StateFac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816AEAD-BE7A-BAE3-EA06-7E7870C8BD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720" y="2271285"/>
                <a:ext cx="2143760" cy="122360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BC39E2B-7AAB-1016-37AC-D37B41B2D89C}"/>
                  </a:ext>
                </a:extLst>
              </p:cNvPr>
              <p:cNvSpPr/>
              <p:nvPr/>
            </p:nvSpPr>
            <p:spPr>
              <a:xfrm>
                <a:off x="8046720" y="4166650"/>
                <a:ext cx="2143760" cy="12236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10000"/>
                              <a:lumOff val="9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StateFac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10000"/>
                                  <a:lumOff val="90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BC39E2B-7AAB-1016-37AC-D37B41B2D8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720" y="4166650"/>
                <a:ext cx="2143760" cy="122360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639474FB-243A-9A9F-22D9-5F4C2D3A84DC}"/>
              </a:ext>
            </a:extLst>
          </p:cNvPr>
          <p:cNvSpPr/>
          <p:nvPr/>
        </p:nvSpPr>
        <p:spPr>
          <a:xfrm>
            <a:off x="1178560" y="4166650"/>
            <a:ext cx="2143760" cy="12236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State n (attack!)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BE38A2-04C0-E1E8-4C30-39BE78A238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3818" y="4140959"/>
            <a:ext cx="1274990" cy="127499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A29A44-2B2E-515F-B653-75C461A496C5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3322320" y="2883089"/>
            <a:ext cx="1290320" cy="4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54D86D2-DCA3-38D3-4BFE-2FDA02BBF8B8}"/>
              </a:ext>
            </a:extLst>
          </p:cNvPr>
          <p:cNvCxnSpPr>
            <a:cxnSpLocks/>
            <a:stCxn id="9" idx="6"/>
          </p:cNvCxnSpPr>
          <p:nvPr/>
        </p:nvCxnSpPr>
        <p:spPr>
          <a:xfrm flipV="1">
            <a:off x="6756400" y="2878534"/>
            <a:ext cx="1297285" cy="4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C6C51D-61CB-0540-4258-50D3A67D7CD9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>
            <a:off x="9118600" y="3494893"/>
            <a:ext cx="0" cy="671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E437AB-756E-7261-27F8-F9EC0C5FCC46}"/>
              </a:ext>
            </a:extLst>
          </p:cNvPr>
          <p:cNvCxnSpPr>
            <a:cxnSpLocks/>
            <a:stCxn id="11" idx="2"/>
            <a:endCxn id="13" idx="3"/>
          </p:cNvCxnSpPr>
          <p:nvPr/>
        </p:nvCxnSpPr>
        <p:spPr>
          <a:xfrm flipH="1">
            <a:off x="6448808" y="4778454"/>
            <a:ext cx="15979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D0D8E2C-F54B-3291-5F85-FB7D3A9ECCD7}"/>
              </a:ext>
            </a:extLst>
          </p:cNvPr>
          <p:cNvCxnSpPr>
            <a:cxnSpLocks/>
            <a:stCxn id="13" idx="1"/>
            <a:endCxn id="12" idx="6"/>
          </p:cNvCxnSpPr>
          <p:nvPr/>
        </p:nvCxnSpPr>
        <p:spPr>
          <a:xfrm flipH="1">
            <a:off x="3322320" y="4778454"/>
            <a:ext cx="18514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C1FA43C-2139-F921-A177-482FFCD1DB62}"/>
              </a:ext>
            </a:extLst>
          </p:cNvPr>
          <p:cNvSpPr txBox="1"/>
          <p:nvPr/>
        </p:nvSpPr>
        <p:spPr>
          <a:xfrm>
            <a:off x="6627549" y="4841380"/>
            <a:ext cx="141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Rewrite rule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F22EE-853B-5A5E-99E9-FEF95FDEFBE5}"/>
              </a:ext>
            </a:extLst>
          </p:cNvPr>
          <p:cNvSpPr txBox="1"/>
          <p:nvPr/>
        </p:nvSpPr>
        <p:spPr>
          <a:xfrm>
            <a:off x="3538483" y="4836260"/>
            <a:ext cx="141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Rewrite rule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83189D-E886-7AF2-0143-2656AF03997C}"/>
              </a:ext>
            </a:extLst>
          </p:cNvPr>
          <p:cNvCxnSpPr>
            <a:cxnSpLocks/>
            <a:stCxn id="35" idx="0"/>
          </p:cNvCxnSpPr>
          <p:nvPr/>
        </p:nvCxnSpPr>
        <p:spPr>
          <a:xfrm flipH="1" flipV="1">
            <a:off x="5576174" y="3262836"/>
            <a:ext cx="199878" cy="605233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00DAD6-5E6F-2D1E-6A5D-A743B3616FFF}"/>
                  </a:ext>
                </a:extLst>
              </p:cNvPr>
              <p:cNvSpPr txBox="1"/>
              <p:nvPr/>
            </p:nvSpPr>
            <p:spPr>
              <a:xfrm>
                <a:off x="2584309" y="3097104"/>
                <a:ext cx="263553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∅→ </m:t>
                      </m:r>
                    </m:oMath>
                  </m:oMathPara>
                </a14:m>
                <a:endParaRPr lang="en-US" b="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{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StateFac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,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StateFac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00DAD6-5E6F-2D1E-6A5D-A743B3616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309" y="3097104"/>
                <a:ext cx="2635530" cy="646331"/>
              </a:xfrm>
              <a:prstGeom prst="rect">
                <a:avLst/>
              </a:prstGeom>
              <a:blipFill>
                <a:blip r:embed="rId8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940A9D-B962-C533-BDDA-46B3C8F5C7B6}"/>
                  </a:ext>
                </a:extLst>
              </p:cNvPr>
              <p:cNvSpPr txBox="1"/>
              <p:nvPr/>
            </p:nvSpPr>
            <p:spPr>
              <a:xfrm>
                <a:off x="6473949" y="3231680"/>
                <a:ext cx="18036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{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StateFac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→ </m:t>
                      </m:r>
                    </m:oMath>
                  </m:oMathPara>
                </a14:m>
                <a:endParaRPr lang="en-US" b="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{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StateFac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940A9D-B962-C533-BDDA-46B3C8F5C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949" y="3231680"/>
                <a:ext cx="1803635" cy="646331"/>
              </a:xfrm>
              <a:prstGeom prst="rect">
                <a:avLst/>
              </a:prstGeom>
              <a:blipFill>
                <a:blip r:embed="rId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8A56F04-EDEC-7D7A-8373-52F882DFF9C9}"/>
                  </a:ext>
                </a:extLst>
              </p:cNvPr>
              <p:cNvSpPr txBox="1"/>
              <p:nvPr/>
            </p:nvSpPr>
            <p:spPr>
              <a:xfrm>
                <a:off x="9185517" y="3469597"/>
                <a:ext cx="1689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{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StateFac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→</m:t>
                      </m:r>
                    </m:oMath>
                  </m:oMathPara>
                </a14:m>
                <a:endParaRPr lang="en-US" b="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</a:rPr>
                        <m:t>∅</m:t>
                      </m:r>
                    </m:oMath>
                  </m:oMathPara>
                </a14:m>
                <a:endParaRPr lang="en-US" b="0" i="1" dirty="0">
                  <a:latin typeface="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8A56F04-EDEC-7D7A-8373-52F882DFF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5517" y="3469597"/>
                <a:ext cx="1689309" cy="646331"/>
              </a:xfrm>
              <a:prstGeom prst="rect">
                <a:avLst/>
              </a:prstGeom>
              <a:blipFill>
                <a:blip r:embed="rId10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A1941CF-7564-BBA1-1938-9EE1FE429E42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5684520" y="1854254"/>
            <a:ext cx="673876" cy="417031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DC8DA377-52A5-AE21-46C8-4CE69CA8A716}"/>
                  </a:ext>
                </a:extLst>
              </p:cNvPr>
              <p:cNvSpPr/>
              <p:nvPr/>
            </p:nvSpPr>
            <p:spPr>
              <a:xfrm>
                <a:off x="3230184" y="3868069"/>
                <a:ext cx="5091736" cy="587218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</a:rPr>
                  <a:t>State facts are symbolic terms with top-level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"/>
                  </a:rPr>
                  <a:t>fact symbol</a:t>
                </a:r>
                <a:r>
                  <a:rPr lang="en-US" dirty="0">
                    <a:solidFill>
                      <a:schemeClr val="tx1"/>
                    </a:solidFill>
                    <a:latin typeface=""/>
                  </a:rPr>
                  <a:t>,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S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1</m:t>
                        </m:r>
                      </m:sub>
                    </m:sSub>
                    <m:r>
                      <a:rPr lang="en-US" b="0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(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enc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𝑚</m:t>
                        </m:r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, </m:t>
                        </m:r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𝑘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)</m:t>
                    </m:r>
                  </m:oMath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DC8DA377-52A5-AE21-46C8-4CE69CA8A7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184" y="3868069"/>
                <a:ext cx="5091736" cy="587218"/>
              </a:xfrm>
              <a:prstGeom prst="roundRect">
                <a:avLst/>
              </a:prstGeom>
              <a:blipFill>
                <a:blip r:embed="rId11"/>
                <a:stretch>
                  <a:fillRect t="-8333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DB32A44-44F5-D86D-BA8B-DD81C19558A8}"/>
              </a:ext>
            </a:extLst>
          </p:cNvPr>
          <p:cNvSpPr/>
          <p:nvPr/>
        </p:nvSpPr>
        <p:spPr>
          <a:xfrm>
            <a:off x="6358396" y="1537886"/>
            <a:ext cx="4868073" cy="68929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Every principal’s state is recorded in the global protocol state at each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29BA3BD-49B8-3268-0435-4D5521DE3A5C}"/>
                  </a:ext>
                </a:extLst>
              </p:cNvPr>
              <p:cNvSpPr txBox="1"/>
              <p:nvPr/>
            </p:nvSpPr>
            <p:spPr>
              <a:xfrm>
                <a:off x="3903922" y="2985837"/>
                <a:ext cx="1843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29BA3BD-49B8-3268-0435-4D5521DE3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922" y="2985837"/>
                <a:ext cx="184345" cy="276999"/>
              </a:xfrm>
              <a:prstGeom prst="rect">
                <a:avLst/>
              </a:prstGeom>
              <a:blipFill>
                <a:blip r:embed="rId12"/>
                <a:stretch>
                  <a:fillRect l="-25000" r="-18750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342E8AC-6F57-5EEA-705D-8619186B2755}"/>
                  </a:ext>
                </a:extLst>
              </p:cNvPr>
              <p:cNvSpPr txBox="1"/>
              <p:nvPr/>
            </p:nvSpPr>
            <p:spPr>
              <a:xfrm>
                <a:off x="10537771" y="3346114"/>
                <a:ext cx="1843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342E8AC-6F57-5EEA-705D-8619186B2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7771" y="3346114"/>
                <a:ext cx="184345" cy="276999"/>
              </a:xfrm>
              <a:prstGeom prst="rect">
                <a:avLst/>
              </a:prstGeom>
              <a:blipFill>
                <a:blip r:embed="rId13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366B6B-4070-1BA0-BD18-6F9864950EA1}"/>
                  </a:ext>
                </a:extLst>
              </p:cNvPr>
              <p:cNvSpPr txBox="1"/>
              <p:nvPr/>
            </p:nvSpPr>
            <p:spPr>
              <a:xfrm>
                <a:off x="7869340" y="3124336"/>
                <a:ext cx="1843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366B6B-4070-1BA0-BD18-6F9864950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340" y="3124336"/>
                <a:ext cx="184345" cy="276999"/>
              </a:xfrm>
              <a:prstGeom prst="rect">
                <a:avLst/>
              </a:prstGeom>
              <a:blipFill>
                <a:blip r:embed="rId14"/>
                <a:stretch>
                  <a:fillRect l="-25000" r="-25000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EE4AFC8-6B0E-2046-B53F-382C434653B9}"/>
              </a:ext>
            </a:extLst>
          </p:cNvPr>
          <p:cNvSpPr/>
          <p:nvPr/>
        </p:nvSpPr>
        <p:spPr>
          <a:xfrm>
            <a:off x="305745" y="1537886"/>
            <a:ext cx="4868073" cy="68929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Each rule also has a multiset of labels referenced later when specifying properties 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D3F756C-76D4-435E-45E3-2ACDB6609233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3996095" y="2227185"/>
            <a:ext cx="225258" cy="758652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EBCBCEB-4869-B00D-A57E-46B76ABBCCE7}"/>
              </a:ext>
            </a:extLst>
          </p:cNvPr>
          <p:cNvSpPr/>
          <p:nvPr/>
        </p:nvSpPr>
        <p:spPr>
          <a:xfrm>
            <a:off x="0" y="3428151"/>
            <a:ext cx="12192000" cy="7924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venir Next" panose="020B0503020202020204" pitchFamily="34" charset="0"/>
              </a:rPr>
              <a:t>This captures the notion of a protocol trace in the multiset rewriting formalism</a:t>
            </a:r>
          </a:p>
        </p:txBody>
      </p:sp>
    </p:spTree>
    <p:extLst>
      <p:ext uri="{BB962C8B-B14F-4D97-AF65-F5344CB8AC3E}">
        <p14:creationId xmlns:p14="http://schemas.microsoft.com/office/powerpoint/2010/main" val="106381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55" dur="indefinite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64" dur="indefinite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67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4" dur="indefinite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7" dur="indefinite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indefinit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86" dur="indefinite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89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92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95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98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1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4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07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10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13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16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19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22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25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28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31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34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37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40" dur="indefinite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43" dur="indefinite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46" dur="indefinite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49" dur="indefinite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52" dur="indefinite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55" dur="indefinite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58" dur="indefinite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61" dur="indefinite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1" grpId="1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25" grpId="0"/>
      <p:bldP spid="25" grpId="1"/>
      <p:bldP spid="26" grpId="0"/>
      <p:bldP spid="26" grpId="1"/>
      <p:bldP spid="18" grpId="0"/>
      <p:bldP spid="18" grpId="1"/>
      <p:bldP spid="20" grpId="0"/>
      <p:bldP spid="20" grpId="1"/>
      <p:bldP spid="21" grpId="0"/>
      <p:bldP spid="21" grpId="1"/>
      <p:bldP spid="35" grpId="0" animBg="1"/>
      <p:bldP spid="35" grpId="1" animBg="1"/>
      <p:bldP spid="35" grpId="2" animBg="1"/>
      <p:bldP spid="38" grpId="0" animBg="1"/>
      <p:bldP spid="38" grpId="1" animBg="1"/>
      <p:bldP spid="38" grpId="2" animBg="1"/>
      <p:bldP spid="40" grpId="0"/>
      <p:bldP spid="40" grpId="1"/>
      <p:bldP spid="41" grpId="0"/>
      <p:bldP spid="41" grpId="1"/>
      <p:bldP spid="42" grpId="0"/>
      <p:bldP spid="42" grpId="1"/>
      <p:bldP spid="43" grpId="0" animBg="1"/>
      <p:bldP spid="43" grpId="1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dirty="0">
                    <a:latin typeface="Source Sans Pro"/>
                    <a:ea typeface="Source Sans Pro"/>
                  </a:rPr>
                  <a:t>In general, the two main approaches are based on </a:t>
                </a:r>
                <a:r>
                  <a:rPr lang="en-US" dirty="0">
                    <a:latin typeface="Source Sans Pro"/>
                    <a:ea typeface="Source Sans Pro"/>
                    <a:cs typeface="+mn-lt"/>
                  </a:rPr>
                  <a:t>the </a:t>
                </a:r>
                <a:r>
                  <a:rPr lang="en-US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  <a:cs typeface="+mn-lt"/>
                  </a:rPr>
                  <a:t>applied </a:t>
                </a:r>
                <a:r>
                  <a:rPr lang="en-US" dirty="0">
                    <a:solidFill>
                      <a:schemeClr val="accent6">
                        <a:lumMod val="76000"/>
                      </a:schemeClr>
                    </a:solidFill>
                    <a:latin typeface="Aptos"/>
                    <a:ea typeface="Source Sans Pro"/>
                  </a:rPr>
                  <a:t>π</a:t>
                </a:r>
                <a:r>
                  <a:rPr lang="en-US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-calculus </a:t>
                </a:r>
                <a:r>
                  <a:rPr lang="en-US" dirty="0">
                    <a:latin typeface="Source Sans Pro"/>
                    <a:ea typeface="Source Sans Pro"/>
                  </a:rPr>
                  <a:t>and </a:t>
                </a:r>
                <a:r>
                  <a:rPr lang="en-US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multiset rewriting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We can view a protocol as a set of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multiset rewriting rules</a:t>
                </a:r>
              </a:p>
              <a:p>
                <a:r>
                  <a:rPr lang="en-US" dirty="0">
                    <a:latin typeface="Source Sans Pro"/>
                    <a:ea typeface="Source Sans Pro"/>
                  </a:rPr>
                  <a:t>Each rule intuitively denotes a protocol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state or mode transition</a:t>
                </a:r>
              </a:p>
              <a:p>
                <a:r>
                  <a:rPr lang="en-US" dirty="0">
                    <a:latin typeface="Source Sans Pro"/>
                    <a:ea typeface="Source Sans Pro"/>
                  </a:rPr>
                  <a:t>We rewrite multisets of facts, each fact a term of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b="0" dirty="0">
                    <a:latin typeface="Source Sans Pro"/>
                    <a:ea typeface="Source Sans Pro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𝐹</m:t>
                    </m:r>
                  </m:oMath>
                </a14:m>
                <a:r>
                  <a:rPr lang="en-US" b="0" dirty="0">
                    <a:latin typeface="Source Sans Pro"/>
                    <a:ea typeface="Source Sans Pro"/>
                  </a:rPr>
                  <a:t> is a </a:t>
                </a:r>
                <a:r>
                  <a:rPr lang="en-US" b="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fact symbol</a:t>
                </a:r>
              </a:p>
              <a:p>
                <a:r>
                  <a:rPr lang="en-US" dirty="0">
                    <a:latin typeface="Source Sans Pro"/>
                    <a:ea typeface="Source Sans Pro"/>
                  </a:rPr>
                  <a:t>Terms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through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sSub>
                      <m:sSubPr>
                        <m:ctrlPr>
                          <a:rPr lang="en-US" i="1" dirty="0" err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cannot contain fact symbols</a:t>
                </a:r>
              </a:p>
              <a:p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7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Protocols in the Symbolic Model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62D15-35BC-BCF6-BE0F-8854AFE97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endParaRPr lang="en-US" sz="24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sz="2400" dirty="0">
              <a:latin typeface="Source Sans Pro"/>
              <a:ea typeface="Source Sans Pro"/>
            </a:endParaRPr>
          </a:p>
          <a:p>
            <a:endParaRPr lang="en-US" sz="24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E4DE7EC5-A10B-0BC8-60F1-FC1EED7FFEAD}"/>
                  </a:ext>
                </a:extLst>
              </p:cNvPr>
              <p:cNvSpPr/>
              <p:nvPr/>
            </p:nvSpPr>
            <p:spPr>
              <a:xfrm>
                <a:off x="833911" y="2954574"/>
                <a:ext cx="10519888" cy="997094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"/>
                    <a:ea typeface="Source Sans Pro"/>
                  </a:rPr>
                  <a:t>Adversary rules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Out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→{</m:t>
                    </m:r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!</m:t>
                    </m:r>
                    <m:r>
                      <m:rPr>
                        <m:nor/>
                      </m:rPr>
                      <a:rPr lang="en-US" sz="1800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</m:t>
                    </m:r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𝑥</m:t>
                    </m:r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)}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,</a:t>
                </a:r>
                <a:r>
                  <a:rPr lang="en-US" sz="1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!</m:t>
                        </m:r>
                        <m:r>
                          <m:rPr>
                            <m:nor/>
                          </m:rPr>
                          <a:rPr lang="en-US" sz="1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K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18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→{</m:t>
                    </m:r>
                    <m:r>
                      <m:rPr>
                        <m:nor/>
                      </m:rPr>
                      <a:rPr lang="en-US" sz="1800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In</m:t>
                    </m:r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𝑥</m:t>
                    </m:r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)}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,</a:t>
                </a:r>
                <a:r>
                  <a:rPr lang="en-US" sz="1800" dirty="0">
                    <a:latin typeface=""/>
                    <a:ea typeface="Source Sans Pro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!</m:t>
                        </m:r>
                        <m:r>
                          <m:rPr>
                            <m:nor/>
                          </m:rPr>
                          <a:rPr lang="en-US" sz="1800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K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!</m:t>
                        </m:r>
                        <m:r>
                          <m:rPr>
                            <m:nor/>
                          </m:rPr>
                          <a:rPr lang="en-US" sz="1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K</m:t>
                        </m:r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sz="18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→{</m:t>
                    </m:r>
                    <m:r>
                      <m:rPr>
                        <m:nor/>
                      </m:rPr>
                      <a:rPr lang="en-US" sz="1800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! </m:t>
                    </m:r>
                    <m:r>
                      <m:rPr>
                        <m:nor/>
                      </m:rPr>
                      <a:rPr lang="en-US" sz="1800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8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enc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8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, … </a:t>
                </a:r>
                <a:endParaRPr lang="en-US" sz="1800" dirty="0"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E4DE7EC5-A10B-0BC8-60F1-FC1EED7FFE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11" y="2954574"/>
                <a:ext cx="10519888" cy="997094"/>
              </a:xfrm>
              <a:prstGeom prst="roundRect">
                <a:avLst/>
              </a:prstGeom>
              <a:blipFill>
                <a:blip r:embed="rId2"/>
                <a:stretch>
                  <a:fillRect l="-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30212C8B-8AC5-B060-DD02-0FA301F48344}"/>
                  </a:ext>
                </a:extLst>
              </p:cNvPr>
              <p:cNvSpPr/>
              <p:nvPr/>
            </p:nvSpPr>
            <p:spPr>
              <a:xfrm>
                <a:off x="833911" y="4109094"/>
                <a:ext cx="10519888" cy="997094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dirty="0">
                    <a:solidFill>
                      <a:schemeClr val="tx1"/>
                    </a:solidFill>
                    <a:latin typeface=""/>
                    <a:ea typeface="Source Sans Pro"/>
                  </a:rPr>
                  <a:t>Honest rules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In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!</m:t>
                        </m:r>
                        <m:r>
                          <m:rPr>
                            <m:nor/>
                          </m:rPr>
                          <a:rPr lang="en-US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KeyB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𝑘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→</m:t>
                        </m:r>
                      </m:e>
                      <m:sup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{</m:t>
                        </m:r>
                        <m:r>
                          <m:rPr>
                            <m:nor/>
                          </m:rPr>
                          <a:rPr lang="en-US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MyEnc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}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Out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i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Source Sans Pro" panose="020B0503030403020204" pitchFamily="34" charset="0"/>
                                <a:ea typeface="Source Sans Pro" panose="020B0503030403020204" pitchFamily="34" charset="0"/>
                              </a:rPr>
                              <m:t>enc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2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"/>
                                        <a:ea typeface="Source Sans Pro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2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"/>
                                        <a:ea typeface="Source Sans Pro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2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"/>
                                        <a:ea typeface="Source Sans Pro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, </m:t>
                                </m:r>
                                <m:r>
                                  <a:rPr lang="en-US" i="1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𝑘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"/>
                    <a:ea typeface="Source Sans Pro"/>
                  </a:rPr>
                  <a:t>, …</a:t>
                </a:r>
              </a:p>
            </p:txBody>
          </p:sp>
        </mc:Choice>
        <mc:Fallback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30212C8B-8AC5-B060-DD02-0FA301F483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11" y="4109094"/>
                <a:ext cx="10519888" cy="997094"/>
              </a:xfrm>
              <a:prstGeom prst="roundRect">
                <a:avLst/>
              </a:prstGeom>
              <a:blipFill>
                <a:blip r:embed="rId3"/>
                <a:stretch>
                  <a:fillRect l="-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EFBFD0D9-1FDB-218B-4C73-AAC3C2967289}"/>
                  </a:ext>
                </a:extLst>
              </p:cNvPr>
              <p:cNvSpPr/>
              <p:nvPr/>
            </p:nvSpPr>
            <p:spPr>
              <a:xfrm>
                <a:off x="833911" y="1800054"/>
                <a:ext cx="10519888" cy="997094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"/>
                    <a:ea typeface="Source Sans Pro"/>
                  </a:rPr>
                  <a:t>Distinguished (built-in) fact symbols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In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"/>
                    <a:ea typeface="Source Sans Pro"/>
                  </a:rPr>
                  <a:t>,</a:t>
                </a:r>
                <a:r>
                  <a:rPr lang="en-US" sz="2000" dirty="0">
                    <a:latin typeface="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Out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"/>
                    <a:ea typeface="Source Sans Pro"/>
                  </a:rPr>
                  <a:t>,</a:t>
                </a:r>
                <a:r>
                  <a:rPr lang="en-US" sz="2000" dirty="0">
                    <a:latin typeface="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Fr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"/>
                    <a:ea typeface="Source Sans Pro"/>
                  </a:rPr>
                  <a:t>,</a:t>
                </a:r>
                <a:r>
                  <a:rPr lang="en-US" sz="2000" dirty="0">
                    <a:latin typeface=""/>
                    <a:ea typeface="Source Sans Pro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"/>
                    <a:ea typeface="Source Sans Pro"/>
                  </a:rPr>
                  <a:t>and</a:t>
                </a:r>
                <a:r>
                  <a:rPr lang="en-US" sz="2000" dirty="0">
                    <a:latin typeface="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"/>
                    <a:ea typeface="Source Sans Pro"/>
                  </a:rPr>
                  <a:t> (built-in adversary modeling)</a:t>
                </a: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EFBFD0D9-1FDB-218B-4C73-AAC3C29672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11" y="1800054"/>
                <a:ext cx="10519888" cy="997094"/>
              </a:xfrm>
              <a:prstGeom prst="roundRect">
                <a:avLst/>
              </a:prstGeom>
              <a:blipFill>
                <a:blip r:embed="rId4"/>
                <a:stretch>
                  <a:fillRect l="-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C86970A3-DF9D-BB57-191F-615258FFC368}"/>
                  </a:ext>
                </a:extLst>
              </p:cNvPr>
              <p:cNvSpPr/>
              <p:nvPr/>
            </p:nvSpPr>
            <p:spPr>
              <a:xfrm>
                <a:off x="833911" y="5263536"/>
                <a:ext cx="10519888" cy="997094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"/>
                    <a:ea typeface="Source Sans Pro"/>
                  </a:rPr>
                  <a:t>Protocol-specific (user) fact symbols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!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KeyB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(.)</m:t>
                    </m:r>
                  </m:oMath>
                </a14:m>
                <a:endPara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C86970A3-DF9D-BB57-191F-615258FFC3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11" y="5263536"/>
                <a:ext cx="10519888" cy="997094"/>
              </a:xfrm>
              <a:prstGeom prst="roundRect">
                <a:avLst/>
              </a:prstGeom>
              <a:blipFill>
                <a:blip r:embed="rId5"/>
                <a:stretch>
                  <a:fillRect l="-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46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Given a set of rewrite rules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we can define a labeled transition relation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bSup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  <a:blipFill>
                <a:blip r:embed="rId2"/>
                <a:stretch>
                  <a:fillRect l="-965" t="-2000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EF8A5-4E6D-A5B6-ADC5-D4EEE0F855E9}"/>
              </a:ext>
            </a:extLst>
          </p:cNvPr>
          <p:cNvSpPr/>
          <p:nvPr/>
        </p:nvSpPr>
        <p:spPr>
          <a:xfrm>
            <a:off x="4257107" y="3058899"/>
            <a:ext cx="3693934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/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𝑅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𝑆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 \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#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𝑙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∪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/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𝑔𝑖𝑛𝑠𝑡𝑠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𝑅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/>
                          <a:ea typeface="Source Sans Pro"/>
                        </a:rPr>
                        <m:t>     </m:t>
                      </m:r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⊆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blipFill>
                <a:blip r:embed="rId4"/>
                <a:stretch>
                  <a:fillRect t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4294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Given a set of rewrite rules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we can define a labeled transition relation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bSup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  <a:blipFill>
                <a:blip r:embed="rId2"/>
                <a:stretch>
                  <a:fillRect l="-965" t="-2000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EF8A5-4E6D-A5B6-ADC5-D4EEE0F855E9}"/>
              </a:ext>
            </a:extLst>
          </p:cNvPr>
          <p:cNvSpPr/>
          <p:nvPr/>
        </p:nvSpPr>
        <p:spPr>
          <a:xfrm>
            <a:off x="4257107" y="3058899"/>
            <a:ext cx="3693934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/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𝑅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𝑆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 \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#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𝑙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∪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/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𝑔𝑖𝑛𝑠𝑡𝑠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𝑅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/>
                          <a:ea typeface="Source Sans Pro"/>
                        </a:rPr>
                        <m:t>     </m:t>
                      </m:r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⊆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blipFill>
                <a:blip r:embed="rId4"/>
                <a:stretch>
                  <a:fillRect t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/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𝑟</m:t>
                    </m:r>
                  </m:oMath>
                </a14:m>
                <a:r>
                  <a:rPr lang="en-US" sz="1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sz="1800" dirty="0">
                    <a:latin typeface="Source Sans Pro"/>
                    <a:ea typeface="Source Sans Pro"/>
                  </a:rPr>
                  <a:t>is a ground instance of one of the rewrite rules 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blipFill>
                <a:blip r:embed="rId5"/>
                <a:stretch>
                  <a:fillRect l="-2146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B11E1C1A-D555-2170-A6F4-458A7CFC749C}"/>
              </a:ext>
            </a:extLst>
          </p:cNvPr>
          <p:cNvSpPr/>
          <p:nvPr/>
        </p:nvSpPr>
        <p:spPr>
          <a:xfrm>
            <a:off x="4110640" y="2463069"/>
            <a:ext cx="2817024" cy="70814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66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Given a set of rewrite rules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we can define a labeled transition relation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bSup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  <a:blipFill>
                <a:blip r:embed="rId2"/>
                <a:stretch>
                  <a:fillRect l="-965" t="-2000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EF8A5-4E6D-A5B6-ADC5-D4EEE0F855E9}"/>
              </a:ext>
            </a:extLst>
          </p:cNvPr>
          <p:cNvSpPr/>
          <p:nvPr/>
        </p:nvSpPr>
        <p:spPr>
          <a:xfrm>
            <a:off x="4257107" y="3058899"/>
            <a:ext cx="3693934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/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𝑅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𝑆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 \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#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𝑙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∪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/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𝑔𝑖𝑛𝑠𝑡𝑠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𝑅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/>
                          <a:ea typeface="Source Sans Pro"/>
                        </a:rPr>
                        <m:t>     </m:t>
                      </m:r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⊆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blipFill>
                <a:blip r:embed="rId4"/>
                <a:stretch>
                  <a:fillRect t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/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𝑟</m:t>
                    </m:r>
                  </m:oMath>
                </a14:m>
                <a:r>
                  <a:rPr lang="en-US" sz="1800" dirty="0">
                    <a:solidFill>
                      <a:schemeClr val="bg2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 is a ground instance of one of the rewrite rules </a:t>
                </a:r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blipFill>
                <a:blip r:embed="rId5"/>
                <a:stretch>
                  <a:fillRect l="-2146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4A4F1A-08B2-D710-566E-A6FC1894540C}"/>
                  </a:ext>
                </a:extLst>
              </p:cNvPr>
              <p:cNvSpPr txBox="1"/>
              <p:nvPr/>
            </p:nvSpPr>
            <p:spPr>
              <a:xfrm>
                <a:off x="7891549" y="2381107"/>
                <a:ext cx="29593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The current state contains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4A4F1A-08B2-D710-566E-A6FC18945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549" y="2381107"/>
                <a:ext cx="2959331" cy="369332"/>
              </a:xfrm>
              <a:prstGeom prst="rect">
                <a:avLst/>
              </a:prstGeom>
              <a:blipFill>
                <a:blip r:embed="rId6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B11E1C1A-D555-2170-A6F4-458A7CFC749C}"/>
              </a:ext>
            </a:extLst>
          </p:cNvPr>
          <p:cNvSpPr/>
          <p:nvPr/>
        </p:nvSpPr>
        <p:spPr>
          <a:xfrm>
            <a:off x="6882937" y="2536673"/>
            <a:ext cx="1263535" cy="6048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197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Given a set of rewrite rules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we can define a labeled transition relation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bSup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  <a:blipFill>
                <a:blip r:embed="rId2"/>
                <a:stretch>
                  <a:fillRect l="-965" t="-2000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EF8A5-4E6D-A5B6-ADC5-D4EEE0F855E9}"/>
              </a:ext>
            </a:extLst>
          </p:cNvPr>
          <p:cNvSpPr/>
          <p:nvPr/>
        </p:nvSpPr>
        <p:spPr>
          <a:xfrm>
            <a:off x="4257107" y="3058899"/>
            <a:ext cx="3693934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/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𝑅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𝑆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 \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#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𝑙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∪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/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𝑔𝑖𝑛𝑠𝑡𝑠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𝑅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/>
                          <a:ea typeface="Source Sans Pro"/>
                        </a:rPr>
                        <m:t>     </m:t>
                      </m:r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⊆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blipFill>
                <a:blip r:embed="rId4"/>
                <a:stretch>
                  <a:fillRect t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/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𝑟</m:t>
                    </m:r>
                  </m:oMath>
                </a14:m>
                <a:r>
                  <a:rPr lang="en-US" sz="1800" dirty="0">
                    <a:solidFill>
                      <a:schemeClr val="bg2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 is a ground instance of one of the rewrite rules </a:t>
                </a:r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blipFill>
                <a:blip r:embed="rId5"/>
                <a:stretch>
                  <a:fillRect l="-2146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4A4F1A-08B2-D710-566E-A6FC1894540C}"/>
                  </a:ext>
                </a:extLst>
              </p:cNvPr>
              <p:cNvSpPr txBox="1"/>
              <p:nvPr/>
            </p:nvSpPr>
            <p:spPr>
              <a:xfrm>
                <a:off x="7891549" y="2381107"/>
                <a:ext cx="29593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The current state contains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</m:oMath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4A4F1A-08B2-D710-566E-A6FC18945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549" y="2381107"/>
                <a:ext cx="2959331" cy="369332"/>
              </a:xfrm>
              <a:prstGeom prst="rect">
                <a:avLst/>
              </a:prstGeom>
              <a:blipFill>
                <a:blip r:embed="rId6"/>
                <a:stretch>
                  <a:fillRect l="-1709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EC5728C-5725-B938-438A-BCD65E614992}"/>
              </a:ext>
            </a:extLst>
          </p:cNvPr>
          <p:cNvSpPr txBox="1"/>
          <p:nvPr/>
        </p:nvSpPr>
        <p:spPr>
          <a:xfrm>
            <a:off x="4419393" y="3702960"/>
            <a:ext cx="3785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/>
                <a:ea typeface="Source Sans Pro"/>
              </a:rPr>
              <a:t>Update global state by removing l and introducing r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515F5B-8A9F-11E8-2FC6-22B93BB403E9}"/>
              </a:ext>
            </a:extLst>
          </p:cNvPr>
          <p:cNvSpPr/>
          <p:nvPr/>
        </p:nvSpPr>
        <p:spPr>
          <a:xfrm>
            <a:off x="4419393" y="2950225"/>
            <a:ext cx="3186752" cy="7250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751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Given a set of rewrite rules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we can define a labeled transition relation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bSup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  <a:blipFill>
                <a:blip r:embed="rId2"/>
                <a:stretch>
                  <a:fillRect l="-965" t="-2000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EF8A5-4E6D-A5B6-ADC5-D4EEE0F855E9}"/>
              </a:ext>
            </a:extLst>
          </p:cNvPr>
          <p:cNvSpPr/>
          <p:nvPr/>
        </p:nvSpPr>
        <p:spPr>
          <a:xfrm>
            <a:off x="4257107" y="3058899"/>
            <a:ext cx="3693934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/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𝑅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𝑆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 \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#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𝑙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∪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/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𝑔𝑖𝑛𝑠𝑡𝑠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𝑅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/>
                          <a:ea typeface="Source Sans Pro"/>
                        </a:rPr>
                        <m:t>     </m:t>
                      </m:r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⊆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blipFill>
                <a:blip r:embed="rId4"/>
                <a:stretch>
                  <a:fillRect t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/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𝑟</m:t>
                    </m:r>
                  </m:oMath>
                </a14:m>
                <a:r>
                  <a:rPr lang="en-US" sz="1800" dirty="0">
                    <a:solidFill>
                      <a:schemeClr val="bg2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 is a ground instance of one of the rewrite rules </a:t>
                </a:r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blipFill>
                <a:blip r:embed="rId5"/>
                <a:stretch>
                  <a:fillRect l="-2146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EC5728C-5725-B938-438A-BCD65E614992}"/>
              </a:ext>
            </a:extLst>
          </p:cNvPr>
          <p:cNvSpPr txBox="1"/>
          <p:nvPr/>
        </p:nvSpPr>
        <p:spPr>
          <a:xfrm>
            <a:off x="4419393" y="3702960"/>
            <a:ext cx="3785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/>
                <a:ea typeface="Source Sans Pro"/>
              </a:rPr>
              <a:t>Update global state by removing l and introducing r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ABB4E92A-B347-FD3D-540E-9FD07FAD58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263" y="4538346"/>
                <a:ext cx="10515600" cy="185414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A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trace</a:t>
                </a:r>
                <a:r>
                  <a:rPr lang="en-US" sz="2400" dirty="0">
                    <a:latin typeface="Source Sans Pro"/>
                    <a:ea typeface="Source Sans Pro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is a sequence of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0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…, </m:t>
                    </m:r>
                    <m:sSub>
                      <m:sSubPr>
                        <m:ctrlPr>
                          <a:rPr lang="en-US" sz="2400" i="1" dirty="0" err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err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</m:t>
                        </m:r>
                      </m:e>
                      <m:sub>
                        <m:r>
                          <a:rPr lang="en-US" sz="2400" i="1" dirty="0" err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𝑛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such that:</a:t>
                </a:r>
              </a:p>
              <a:p>
                <a:pP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0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=∅ 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sub>
                      <m:sup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bSup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+1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for all</a:t>
                </a:r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>
                  <a:buFont typeface="Wingdings" pitchFamily="2" charset="2"/>
                  <a:buChar char="§"/>
                </a:pPr>
                <a:r>
                  <a:rPr lang="en-US" sz="2400" dirty="0">
                    <a:latin typeface="Source Sans Pro"/>
                    <a:ea typeface="Source Sans Pro"/>
                  </a:rPr>
                  <a:t>Fresh rule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{}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</m:t>
                    </m:r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{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𝐹𝑟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)}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sz="2400" dirty="0">
                    <a:latin typeface="Source Sans Pro"/>
                    <a:ea typeface="Source Sans Pro"/>
                  </a:rPr>
                  <a:t>used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at most once </a:t>
                </a:r>
                <a:r>
                  <a:rPr lang="en-US" sz="2400" dirty="0">
                    <a:latin typeface="Source Sans Pro"/>
                    <a:ea typeface="Source Sans Pro"/>
                  </a:rPr>
                  <a:t>for each instantiation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ABB4E92A-B347-FD3D-540E-9FD07FAD5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3" y="4538346"/>
                <a:ext cx="10515600" cy="1854141"/>
              </a:xfrm>
              <a:prstGeom prst="rect">
                <a:avLst/>
              </a:prstGeom>
              <a:blipFill>
                <a:blip r:embed="rId6"/>
                <a:stretch>
                  <a:fillRect l="-844" t="-4762" b="-3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77C3B0-2BC1-6672-751F-F50F5D9870F4}"/>
                  </a:ext>
                </a:extLst>
              </p:cNvPr>
              <p:cNvSpPr txBox="1"/>
              <p:nvPr/>
            </p:nvSpPr>
            <p:spPr>
              <a:xfrm>
                <a:off x="7891549" y="2381107"/>
                <a:ext cx="29593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The current state contains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</m:oMath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77C3B0-2BC1-6672-751F-F50F5D987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549" y="2381107"/>
                <a:ext cx="2959331" cy="369332"/>
              </a:xfrm>
              <a:prstGeom prst="rect">
                <a:avLst/>
              </a:prstGeom>
              <a:blipFill>
                <a:blip r:embed="rId7"/>
                <a:stretch>
                  <a:fillRect l="-1709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31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A0C7B-D397-72BC-601A-52680DE79D39}"/>
              </a:ext>
            </a:extLst>
          </p:cNvPr>
          <p:cNvSpPr txBox="1"/>
          <p:nvPr/>
        </p:nvSpPr>
        <p:spPr>
          <a:xfrm>
            <a:off x="951262" y="1690688"/>
            <a:ext cx="10289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"/>
              </a:rPr>
              <a:t>How to formalize a protocol in a set of multiset rewriting rules?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6F0D58-ED3F-D04E-FBBB-7085A83637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4" t="2377" r="56712" b="125"/>
          <a:stretch/>
        </p:blipFill>
        <p:spPr>
          <a:xfrm>
            <a:off x="2067175" y="2298680"/>
            <a:ext cx="2363437" cy="219135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7312510-94E4-0C3A-4CC2-5EA1E5D5EC9E}"/>
              </a:ext>
            </a:extLst>
          </p:cNvPr>
          <p:cNvSpPr/>
          <p:nvPr/>
        </p:nvSpPr>
        <p:spPr>
          <a:xfrm>
            <a:off x="4212771" y="3135086"/>
            <a:ext cx="489858" cy="135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81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D805D-D6D3-88BF-7AA6-7B00E9E553B4}"/>
              </a:ext>
            </a:extLst>
          </p:cNvPr>
          <p:cNvSpPr txBox="1"/>
          <p:nvPr/>
        </p:nvSpPr>
        <p:spPr>
          <a:xfrm>
            <a:off x="951262" y="1690688"/>
            <a:ext cx="10289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"/>
              </a:rPr>
              <a:t>How to formalize a protocol in a set of multiset rewriting rules?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AF983DC-4E67-ED63-3328-05C2C47C1577}"/>
                  </a:ext>
                </a:extLst>
              </p:cNvPr>
              <p:cNvSpPr/>
              <p:nvPr/>
            </p:nvSpPr>
            <p:spPr>
              <a:xfrm>
                <a:off x="951261" y="4585421"/>
                <a:ext cx="10289061" cy="85949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First, a means of key generation (implicit in Alice-Bob notation)</a:t>
                </a:r>
                <a:r>
                  <a:rPr lang="en-US" dirty="0">
                    <a:latin typeface=""/>
                    <a:ea typeface="Source Sans Pro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Fr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𝑠𝑘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→{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!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Sk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𝑠𝑘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!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Pk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 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pk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𝑠𝑘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Out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𝑑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pk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𝑠𝑘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)⟩)}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 </a:t>
                </a:r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AF983DC-4E67-ED63-3328-05C2C47C1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1" y="4585421"/>
                <a:ext cx="10289061" cy="85949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8AD482B-3090-F631-2E95-89176D5E7D73}"/>
              </a:ext>
            </a:extLst>
          </p:cNvPr>
          <p:cNvSpPr/>
          <p:nvPr/>
        </p:nvSpPr>
        <p:spPr>
          <a:xfrm>
            <a:off x="3069771" y="3151414"/>
            <a:ext cx="473529" cy="1208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5839A9-9EBC-A4E9-33E2-7EA10DDA52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4" t="2377" r="56712" b="125"/>
          <a:stretch/>
        </p:blipFill>
        <p:spPr>
          <a:xfrm>
            <a:off x="2067175" y="2298680"/>
            <a:ext cx="2363437" cy="219135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F91D5EF-A761-1ECA-3B24-8DEEB769D558}"/>
              </a:ext>
            </a:extLst>
          </p:cNvPr>
          <p:cNvSpPr/>
          <p:nvPr/>
        </p:nvSpPr>
        <p:spPr>
          <a:xfrm>
            <a:off x="4212771" y="3135086"/>
            <a:ext cx="489858" cy="135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373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7A713B26-A9F0-C8E2-F549-3F80E5FA4658}"/>
                  </a:ext>
                </a:extLst>
              </p:cNvPr>
              <p:cNvSpPr/>
              <p:nvPr/>
            </p:nvSpPr>
            <p:spPr>
              <a:xfrm>
                <a:off x="951261" y="4585421"/>
                <a:ext cx="10289061" cy="85949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First, a means of key generation (implicit in Alice-Bob notation)</a:t>
                </a:r>
                <a:r>
                  <a:rPr lang="en-US" dirty="0">
                    <a:latin typeface=""/>
                    <a:ea typeface="Source Sans Pro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Fr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𝑠𝑘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→{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!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Sk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𝑠𝑘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!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Pk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 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pk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𝑠𝑘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Out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𝑑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pk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𝑠𝑘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)⟩)}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 </a:t>
                </a:r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7A713B26-A9F0-C8E2-F549-3F80E5FA46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1" y="4585421"/>
                <a:ext cx="10289061" cy="85949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49A07255-D606-7239-F692-60C93E004D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4" t="2377" r="56712" b="125"/>
          <a:stretch/>
        </p:blipFill>
        <p:spPr>
          <a:xfrm>
            <a:off x="2067175" y="2298680"/>
            <a:ext cx="2363437" cy="2191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A15A2C-FB87-F720-7F75-D41659803363}"/>
              </a:ext>
            </a:extLst>
          </p:cNvPr>
          <p:cNvSpPr txBox="1"/>
          <p:nvPr/>
        </p:nvSpPr>
        <p:spPr>
          <a:xfrm>
            <a:off x="809106" y="5439881"/>
            <a:ext cx="11928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Source Sans Pro"/>
                <a:ea typeface="Source Sans Pro"/>
              </a:rPr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A0104-CA52-1A7F-FF5D-3FD9F795B22A}"/>
              </a:ext>
            </a:extLst>
          </p:cNvPr>
          <p:cNvSpPr txBox="1"/>
          <p:nvPr/>
        </p:nvSpPr>
        <p:spPr>
          <a:xfrm>
            <a:off x="951262" y="1690688"/>
            <a:ext cx="10289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"/>
              </a:rPr>
              <a:t>How to formalize a protocol in a set of multiset rewriting rules?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87ED143A-4C96-2B5F-062D-183338ED0A02}"/>
                  </a:ext>
                </a:extLst>
              </p:cNvPr>
              <p:cNvSpPr/>
              <p:nvPr/>
            </p:nvSpPr>
            <p:spPr>
              <a:xfrm>
                <a:off x="951262" y="5556457"/>
                <a:ext cx="10289060" cy="85949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A rule for each honest step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Fr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!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Pk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𝑝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,!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Pk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→{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1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Out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(⟨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⟩,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))}</m:t>
                      </m:r>
                    </m:oMath>
                  </m:oMathPara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87ED143A-4C96-2B5F-062D-183338ED0A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2" y="5556457"/>
                <a:ext cx="10289060" cy="85949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6FB430-7212-41DB-9F81-825F26D70E1E}"/>
                  </a:ext>
                </a:extLst>
              </p:cNvPr>
              <p:cNvSpPr txBox="1"/>
              <p:nvPr/>
            </p:nvSpPr>
            <p:spPr>
              <a:xfrm>
                <a:off x="6096000" y="2950420"/>
                <a:ext cx="46511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"/>
                  </a:rPr>
                  <a:t>Next step takes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StA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𝐴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,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𝐵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)</m:t>
                    </m:r>
                  </m:oMath>
                </a14:m>
                <a:r>
                  <a:rPr lang="en-US" dirty="0">
                    <a:latin typeface=""/>
                  </a:rPr>
                  <a:t> as a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"/>
                  </a:rPr>
                  <a:t>premise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6FB430-7212-41DB-9F81-825F26D70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950420"/>
                <a:ext cx="4651145" cy="369332"/>
              </a:xfrm>
              <a:prstGeom prst="rect">
                <a:avLst/>
              </a:prstGeom>
              <a:blipFill>
                <a:blip r:embed="rId5"/>
                <a:stretch>
                  <a:fillRect l="-1090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124D15C-2680-075A-8441-18F27F407CF5}"/>
              </a:ext>
            </a:extLst>
          </p:cNvPr>
          <p:cNvSpPr txBox="1"/>
          <p:nvPr/>
        </p:nvSpPr>
        <p:spPr>
          <a:xfrm>
            <a:off x="6096000" y="3253790"/>
            <a:ext cx="339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Enforces an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"/>
              </a:rPr>
              <a:t>ordering constraint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A73E-3B45-28E8-ED9B-15142615C5EF}"/>
              </a:ext>
            </a:extLst>
          </p:cNvPr>
          <p:cNvSpPr/>
          <p:nvPr/>
        </p:nvSpPr>
        <p:spPr>
          <a:xfrm>
            <a:off x="2396838" y="3103521"/>
            <a:ext cx="1704110" cy="3693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E65C77E-8D4D-8066-501A-096C0CA2F5DC}"/>
              </a:ext>
            </a:extLst>
          </p:cNvPr>
          <p:cNvSpPr/>
          <p:nvPr/>
        </p:nvSpPr>
        <p:spPr>
          <a:xfrm>
            <a:off x="5824980" y="5944707"/>
            <a:ext cx="1593272" cy="3693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ECF693-0B40-5ED8-7E8C-F61094845F2D}"/>
              </a:ext>
            </a:extLst>
          </p:cNvPr>
          <p:cNvSpPr/>
          <p:nvPr/>
        </p:nvSpPr>
        <p:spPr>
          <a:xfrm>
            <a:off x="4193606" y="3191960"/>
            <a:ext cx="473529" cy="1208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64AE8A-EC85-7B92-5848-55FA33220943}"/>
              </a:ext>
            </a:extLst>
          </p:cNvPr>
          <p:cNvSpPr/>
          <p:nvPr/>
        </p:nvSpPr>
        <p:spPr>
          <a:xfrm>
            <a:off x="4212771" y="3135086"/>
            <a:ext cx="489858" cy="135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39419C-8048-AB19-EE80-110581EC3607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6621616" y="3611451"/>
            <a:ext cx="1087580" cy="2333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06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2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24F66A47-95C2-E5D2-5591-983EA2EF10E8}"/>
                  </a:ext>
                </a:extLst>
              </p:cNvPr>
              <p:cNvSpPr/>
              <p:nvPr/>
            </p:nvSpPr>
            <p:spPr>
              <a:xfrm>
                <a:off x="951261" y="4585421"/>
                <a:ext cx="10289061" cy="85949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First, a means of key generation (implicit in Alice-Bob notation)</a:t>
                </a:r>
                <a:r>
                  <a:rPr lang="en-US" dirty="0">
                    <a:latin typeface=""/>
                    <a:ea typeface="Source Sans Pro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Fr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𝑠𝑘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→{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!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Sk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𝑠𝑘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!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Pk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 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pk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𝑠𝑘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Out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𝑑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pk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𝑠𝑘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)⟩)}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 </a:t>
                </a:r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24F66A47-95C2-E5D2-5591-983EA2EF10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1" y="4585421"/>
                <a:ext cx="10289061" cy="85949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A15A2C-FB87-F720-7F75-D41659803363}"/>
              </a:ext>
            </a:extLst>
          </p:cNvPr>
          <p:cNvSpPr txBox="1"/>
          <p:nvPr/>
        </p:nvSpPr>
        <p:spPr>
          <a:xfrm>
            <a:off x="809106" y="5439881"/>
            <a:ext cx="11928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Source Sans Pro"/>
                <a:ea typeface="Source Sans Pro"/>
              </a:rPr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A0104-CA52-1A7F-FF5D-3FD9F795B22A}"/>
              </a:ext>
            </a:extLst>
          </p:cNvPr>
          <p:cNvSpPr txBox="1"/>
          <p:nvPr/>
        </p:nvSpPr>
        <p:spPr>
          <a:xfrm>
            <a:off x="951262" y="1690688"/>
            <a:ext cx="10289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"/>
              </a:rPr>
              <a:t>How to formalize a protocol in a set of multiset rewriting rules?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11E4A6-5EE3-697E-1851-1C0E4A547384}"/>
              </a:ext>
            </a:extLst>
          </p:cNvPr>
          <p:cNvSpPr/>
          <p:nvPr/>
        </p:nvSpPr>
        <p:spPr>
          <a:xfrm>
            <a:off x="5140039" y="5944707"/>
            <a:ext cx="1593272" cy="3693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16B1CA-86A8-7E30-961E-619DE19715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4" t="2377" r="56712" b="125"/>
          <a:stretch/>
        </p:blipFill>
        <p:spPr>
          <a:xfrm>
            <a:off x="2067175" y="2298680"/>
            <a:ext cx="2363437" cy="219135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9705268-951F-6AE5-56EA-E669DA5067F2}"/>
              </a:ext>
            </a:extLst>
          </p:cNvPr>
          <p:cNvSpPr/>
          <p:nvPr/>
        </p:nvSpPr>
        <p:spPr>
          <a:xfrm>
            <a:off x="2410694" y="3519063"/>
            <a:ext cx="1704110" cy="3693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302869-62F2-F192-5B78-B9A02645A3C3}"/>
              </a:ext>
            </a:extLst>
          </p:cNvPr>
          <p:cNvSpPr/>
          <p:nvPr/>
        </p:nvSpPr>
        <p:spPr>
          <a:xfrm>
            <a:off x="2396839" y="3921696"/>
            <a:ext cx="1704110" cy="3693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DFA841-63B1-DF16-3D1C-D0250782332C}"/>
              </a:ext>
            </a:extLst>
          </p:cNvPr>
          <p:cNvSpPr/>
          <p:nvPr/>
        </p:nvSpPr>
        <p:spPr>
          <a:xfrm>
            <a:off x="4212771" y="3135086"/>
            <a:ext cx="489858" cy="135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C79C4EE-7C2A-642F-DB42-7B7FCC8DB268}"/>
                  </a:ext>
                </a:extLst>
              </p:cNvPr>
              <p:cNvSpPr/>
              <p:nvPr/>
            </p:nvSpPr>
            <p:spPr>
              <a:xfrm>
                <a:off x="951262" y="5556457"/>
                <a:ext cx="10289060" cy="85949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A rule for each honest step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Fr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!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Pk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𝑝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,!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Pk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→{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1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Out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(⟨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⟩,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))}</m:t>
                      </m:r>
                    </m:oMath>
                  </m:oMathPara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C79C4EE-7C2A-642F-DB42-7B7FCC8DB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2" y="5556457"/>
                <a:ext cx="10289060" cy="85949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74990FC-89DE-CB4A-E5E9-ABE487EBB50C}"/>
                  </a:ext>
                </a:extLst>
              </p:cNvPr>
              <p:cNvSpPr txBox="1"/>
              <p:nvPr/>
            </p:nvSpPr>
            <p:spPr>
              <a:xfrm>
                <a:off x="6096000" y="2950420"/>
                <a:ext cx="46511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"/>
                  </a:rPr>
                  <a:t>Next step takes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StA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𝐴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,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𝐵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)</m:t>
                    </m:r>
                  </m:oMath>
                </a14:m>
                <a:r>
                  <a:rPr lang="en-US" dirty="0">
                    <a:latin typeface=""/>
                  </a:rPr>
                  <a:t> as a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"/>
                  </a:rPr>
                  <a:t>premise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74990FC-89DE-CB4A-E5E9-ABE487EBB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950420"/>
                <a:ext cx="4651145" cy="369332"/>
              </a:xfrm>
              <a:prstGeom prst="rect">
                <a:avLst/>
              </a:prstGeom>
              <a:blipFill>
                <a:blip r:embed="rId5"/>
                <a:stretch>
                  <a:fillRect l="-1090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0C81C37B-51F1-5580-614E-8082D3FB2710}"/>
              </a:ext>
            </a:extLst>
          </p:cNvPr>
          <p:cNvSpPr txBox="1"/>
          <p:nvPr/>
        </p:nvSpPr>
        <p:spPr>
          <a:xfrm>
            <a:off x="6096000" y="3253790"/>
            <a:ext cx="339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Enforces an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"/>
              </a:rPr>
              <a:t>ordering constraint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55D120-E616-3E16-D214-463F2F266685}"/>
              </a:ext>
            </a:extLst>
          </p:cNvPr>
          <p:cNvSpPr/>
          <p:nvPr/>
        </p:nvSpPr>
        <p:spPr>
          <a:xfrm>
            <a:off x="5824980" y="5944707"/>
            <a:ext cx="1593272" cy="3693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2067B7-138F-A9AC-B577-D190A04895E5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6621616" y="3611451"/>
            <a:ext cx="1087580" cy="2333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D69D97F8-EAED-E27D-AB59-B0ED3F080B8A}"/>
              </a:ext>
            </a:extLst>
          </p:cNvPr>
          <p:cNvSpPr/>
          <p:nvPr/>
        </p:nvSpPr>
        <p:spPr>
          <a:xfrm>
            <a:off x="2396838" y="3103521"/>
            <a:ext cx="1704110" cy="3693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5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A15A2C-FB87-F720-7F75-D41659803363}"/>
              </a:ext>
            </a:extLst>
          </p:cNvPr>
          <p:cNvSpPr txBox="1"/>
          <p:nvPr/>
        </p:nvSpPr>
        <p:spPr>
          <a:xfrm>
            <a:off x="809106" y="5439881"/>
            <a:ext cx="11928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Source Sans Pro"/>
                <a:ea typeface="Source Sans Pro"/>
              </a:rPr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A0104-CA52-1A7F-FF5D-3FD9F795B22A}"/>
              </a:ext>
            </a:extLst>
          </p:cNvPr>
          <p:cNvSpPr txBox="1"/>
          <p:nvPr/>
        </p:nvSpPr>
        <p:spPr>
          <a:xfrm>
            <a:off x="951262" y="1690688"/>
            <a:ext cx="10289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"/>
              </a:rPr>
              <a:t>How to formalize a protocol in a set of multiset rewriting rules?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6FB430-7212-41DB-9F81-825F26D70E1E}"/>
              </a:ext>
            </a:extLst>
          </p:cNvPr>
          <p:cNvSpPr txBox="1"/>
          <p:nvPr/>
        </p:nvSpPr>
        <p:spPr>
          <a:xfrm>
            <a:off x="7024255" y="3242119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Adversary rules built in!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80240D-4905-7F48-4EFD-10FAFD0C2B86}"/>
              </a:ext>
            </a:extLst>
          </p:cNvPr>
          <p:cNvSpPr/>
          <p:nvPr/>
        </p:nvSpPr>
        <p:spPr>
          <a:xfrm>
            <a:off x="3069771" y="3151414"/>
            <a:ext cx="473529" cy="1208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CF94F1-0FCE-5338-22B8-2EBCB4D688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4" t="2377" r="56712" b="125"/>
          <a:stretch/>
        </p:blipFill>
        <p:spPr>
          <a:xfrm>
            <a:off x="2067175" y="2298680"/>
            <a:ext cx="2363437" cy="219135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51CAA5-F16A-99A5-2A1E-0B5975685BC1}"/>
              </a:ext>
            </a:extLst>
          </p:cNvPr>
          <p:cNvSpPr/>
          <p:nvPr/>
        </p:nvSpPr>
        <p:spPr>
          <a:xfrm>
            <a:off x="4212771" y="3135086"/>
            <a:ext cx="489858" cy="135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225DEC71-9CD6-1E47-C942-E58A6D71121C}"/>
                  </a:ext>
                </a:extLst>
              </p:cNvPr>
              <p:cNvSpPr/>
              <p:nvPr/>
            </p:nvSpPr>
            <p:spPr>
              <a:xfrm>
                <a:off x="951262" y="5556457"/>
                <a:ext cx="10289060" cy="85949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A rule for each honest step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Fr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!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Pk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𝑝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,!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Pk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→{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StA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1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Out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(⟨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⟩,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))}</m:t>
                      </m:r>
                    </m:oMath>
                  </m:oMathPara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225DEC71-9CD6-1E47-C942-E58A6D7112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2" y="5556457"/>
                <a:ext cx="10289060" cy="85949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AEC27BFC-09C0-A383-05D4-083E8A7C81FB}"/>
                  </a:ext>
                </a:extLst>
              </p:cNvPr>
              <p:cNvSpPr/>
              <p:nvPr/>
            </p:nvSpPr>
            <p:spPr>
              <a:xfrm>
                <a:off x="951262" y="4585421"/>
                <a:ext cx="10289060" cy="85949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First, a means of key generation (implicit in Alice-Bob notation)</a:t>
                </a:r>
                <a:r>
                  <a:rPr lang="en-US" dirty="0">
                    <a:latin typeface=""/>
                    <a:ea typeface="Source Sans Pro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Fr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𝑠𝑘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→{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!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Sk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𝑠𝑘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!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Pk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  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pk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𝑠𝑘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Out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𝑑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pk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𝑠𝑘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)⟩)}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 </a:t>
                </a:r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AEC27BFC-09C0-A383-05D4-083E8A7C81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2" y="4585421"/>
                <a:ext cx="10289060" cy="85949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27125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DA54B0-3EF1-2DEF-5B65-08E237603372}"/>
              </a:ext>
            </a:extLst>
          </p:cNvPr>
          <p:cNvSpPr txBox="1"/>
          <p:nvPr/>
        </p:nvSpPr>
        <p:spPr>
          <a:xfrm>
            <a:off x="951263" y="1549599"/>
            <a:ext cx="10824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"/>
                <a:ea typeface="Source Sans Pro"/>
              </a:rPr>
              <a:t>How to generate a trace?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50A41A1-7E32-09E0-694D-A26191A317D8}"/>
                  </a:ext>
                </a:extLst>
              </p:cNvPr>
              <p:cNvSpPr/>
              <p:nvPr/>
            </p:nvSpPr>
            <p:spPr>
              <a:xfrm>
                <a:off x="618753" y="4768315"/>
                <a:ext cx="919101" cy="7078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50A41A1-7E32-09E0-694D-A26191A31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53" y="4768315"/>
                <a:ext cx="919101" cy="707886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A659475-4D21-AEDE-DD7D-34A6FCF71840}"/>
                  </a:ext>
                </a:extLst>
              </p:cNvPr>
              <p:cNvSpPr/>
              <p:nvPr/>
            </p:nvSpPr>
            <p:spPr>
              <a:xfrm>
                <a:off x="2834326" y="4768314"/>
                <a:ext cx="1370676" cy="7078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A659475-4D21-AEDE-DD7D-34A6FCF718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326" y="4768314"/>
                <a:ext cx="1370676" cy="70788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6709557-B838-D6F6-50AE-C13748D262CB}"/>
                  </a:ext>
                </a:extLst>
              </p:cNvPr>
              <p:cNvSpPr/>
              <p:nvPr/>
            </p:nvSpPr>
            <p:spPr>
              <a:xfrm>
                <a:off x="3870067" y="5709207"/>
                <a:ext cx="4202629" cy="10232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Sk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Pk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pk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Out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pk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i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Fr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)}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6709557-B838-D6F6-50AE-C13748D262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067" y="5709207"/>
                <a:ext cx="4202629" cy="10232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6774E60-C8CC-1490-F2EE-831F2B912471}"/>
                  </a:ext>
                </a:extLst>
              </p:cNvPr>
              <p:cNvSpPr/>
              <p:nvPr/>
            </p:nvSpPr>
            <p:spPr>
              <a:xfrm>
                <a:off x="7737763" y="4637635"/>
                <a:ext cx="4202629" cy="10232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Sk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Pk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pk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Out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pk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6774E60-C8CC-1490-F2EE-831F2B9124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763" y="4637635"/>
                <a:ext cx="4202629" cy="102323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EBC9A867-E143-60D8-4096-30C6791A0111}"/>
                  </a:ext>
                </a:extLst>
              </p:cNvPr>
              <p:cNvSpPr/>
              <p:nvPr/>
            </p:nvSpPr>
            <p:spPr>
              <a:xfrm>
                <a:off x="1663556" y="2029432"/>
                <a:ext cx="8760774" cy="102204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Honest rules </a:t>
                </a:r>
                <a:endParaRPr lang="en-US" i="1" dirty="0">
                  <a:solidFill>
                    <a:schemeClr val="tx1"/>
                  </a:solidFill>
                  <a:latin typeface=""/>
                  <a:ea typeface="Source Sans Pro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Fr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𝑠𝑘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Cambria Math" panose="02040503050406030204" pitchFamily="18" charset="0"/>
                        </a:rPr>
                        <m:t>⟶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Sk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𝑑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, 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𝑠𝑘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Pk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𝑑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pk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𝑠𝑘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Out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"/>
                                      <a:ea typeface="Source Sans Pro"/>
                                    </a:rPr>
                                    <m:t>,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Source Sans Pro" panose="020B0503030403020204" pitchFamily="34" charset="0"/>
                                      <a:ea typeface="Source Sans Pro" panose="020B0503030403020204" pitchFamily="34" charset="0"/>
                                    </a:rPr>
                                    <m:t>pk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"/>
                                          <a:ea typeface="Source Sans Pro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"/>
                                          <a:ea typeface="Source Sans Pro"/>
                                        </a:rPr>
                                        <m:t>𝑠𝑘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  <a:p>
                <a:pPr algn="ctr"/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…</a:t>
                </a:r>
              </a:p>
            </p:txBody>
          </p:sp>
        </mc:Choice>
        <mc:Fallback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EBC9A867-E143-60D8-4096-30C6791A01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556" y="2029432"/>
                <a:ext cx="8760774" cy="1022040"/>
              </a:xfrm>
              <a:prstGeom prst="roundRect">
                <a:avLst/>
              </a:prstGeom>
              <a:blipFill>
                <a:blip r:embed="rId6"/>
                <a:stretch>
                  <a:fillRect b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19FF9733-1B8A-41AE-708B-3EAF1FED29B0}"/>
                  </a:ext>
                </a:extLst>
              </p:cNvPr>
              <p:cNvSpPr/>
              <p:nvPr/>
            </p:nvSpPr>
            <p:spPr>
              <a:xfrm>
                <a:off x="1663556" y="3146706"/>
                <a:ext cx="8760774" cy="102204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Built-in rules </a:t>
                </a:r>
                <a:endParaRPr lang="en-US" i="1" dirty="0">
                  <a:solidFill>
                    <a:schemeClr val="tx1"/>
                  </a:solidFill>
                  <a:latin typeface=""/>
                  <a:ea typeface="Source Sans Pro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∅→{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Fr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  <a:p>
                <a:pPr algn="ctr"/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…</a:t>
                </a:r>
              </a:p>
            </p:txBody>
          </p:sp>
        </mc:Choice>
        <mc:Fallback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19FF9733-1B8A-41AE-708B-3EAF1FED29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556" y="3146706"/>
                <a:ext cx="8760774" cy="1022040"/>
              </a:xfrm>
              <a:prstGeom prst="roundRect">
                <a:avLst/>
              </a:prstGeom>
              <a:blipFill>
                <a:blip r:embed="rId7"/>
                <a:stretch>
                  <a:fillRect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6E3FF0-C888-08BF-839A-B80C814E3858}"/>
              </a:ext>
            </a:extLst>
          </p:cNvPr>
          <p:cNvCxnSpPr>
            <a:stCxn id="9" idx="6"/>
            <a:endCxn id="12" idx="2"/>
          </p:cNvCxnSpPr>
          <p:nvPr/>
        </p:nvCxnSpPr>
        <p:spPr>
          <a:xfrm flipV="1">
            <a:off x="1537854" y="5122257"/>
            <a:ext cx="12964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4E32DD8-8369-F724-B8B8-2CD0F59F2506}"/>
                  </a:ext>
                </a:extLst>
              </p:cNvPr>
              <p:cNvSpPr txBox="1"/>
              <p:nvPr/>
            </p:nvSpPr>
            <p:spPr>
              <a:xfrm>
                <a:off x="1365741" y="5291534"/>
                <a:ext cx="1725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∅→</m:t>
                      </m:r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Fr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4E32DD8-8369-F724-B8B8-2CD0F59F2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741" y="5291534"/>
                <a:ext cx="1725922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84A0B0-F9D4-DFEC-DE68-C981A5905864}"/>
                  </a:ext>
                </a:extLst>
              </p:cNvPr>
              <p:cNvSpPr txBox="1"/>
              <p:nvPr/>
            </p:nvSpPr>
            <p:spPr>
              <a:xfrm>
                <a:off x="2812542" y="4268774"/>
                <a:ext cx="6580835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Fr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!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Sk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!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Pk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pk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𝐴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Out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𝐴</m:t>
                                  </m:r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,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Source Sans Pro" panose="020B0503030403020204" pitchFamily="34" charset="0"/>
                                      <a:ea typeface="Source Sans Pro" panose="020B0503030403020204" pitchFamily="34" charset="0"/>
                                    </a:rPr>
                                    <m:t>pk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𝑠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Source Sans Pro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Source Sans Pro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Source Sans Pro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84A0B0-F9D4-DFEC-DE68-C981A5905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542" y="4268774"/>
                <a:ext cx="6580835" cy="404983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D046B7-58A5-0837-3999-81B965405199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>
            <a:off x="4205002" y="5122257"/>
            <a:ext cx="3532761" cy="26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BA2086-6015-59D4-6266-C5C70A4DFDBC}"/>
                  </a:ext>
                </a:extLst>
              </p:cNvPr>
              <p:cNvSpPr txBox="1"/>
              <p:nvPr/>
            </p:nvSpPr>
            <p:spPr>
              <a:xfrm>
                <a:off x="8694795" y="5940844"/>
                <a:ext cx="15703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∅→</m:t>
                      </m:r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Fr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BA2086-6015-59D4-6266-C5C70A4DF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4795" y="5940844"/>
                <a:ext cx="1570302" cy="369332"/>
              </a:xfrm>
              <a:prstGeom prst="rect">
                <a:avLst/>
              </a:prstGeom>
              <a:blipFill>
                <a:blip r:embed="rId10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A0CC77-C6EE-8C73-7535-C3D154760496}"/>
              </a:ext>
            </a:extLst>
          </p:cNvPr>
          <p:cNvCxnSpPr>
            <a:cxnSpLocks/>
            <a:stCxn id="16" idx="4"/>
            <a:endCxn id="15" idx="6"/>
          </p:cNvCxnSpPr>
          <p:nvPr/>
        </p:nvCxnSpPr>
        <p:spPr>
          <a:xfrm flipH="1">
            <a:off x="8072696" y="5660866"/>
            <a:ext cx="1766382" cy="559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310EA40-8021-1B58-1B3A-346337892847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2812542" y="6220823"/>
            <a:ext cx="10575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6C4B60D0-FAEA-BC92-218A-36ACB32FB8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3556" y="5780693"/>
            <a:ext cx="880257" cy="88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1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4" grpId="0"/>
      <p:bldP spid="27" grpId="0"/>
      <p:bldP spid="3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Properties in the Symbolic Model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F22A8-9E30-F8AE-5C33-7B0640938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Security properties can be partitioned into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trace properties</a:t>
            </a:r>
            <a:r>
              <a:rPr lang="en-US" dirty="0">
                <a:latin typeface="Source Sans Pro"/>
                <a:ea typeface="Source Sans Pro"/>
              </a:rPr>
              <a:t>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hyper properties</a:t>
            </a:r>
          </a:p>
          <a:p>
            <a:r>
              <a:rPr lang="en-US" dirty="0">
                <a:latin typeface="Source Sans Pro"/>
                <a:ea typeface="Source Sans Pro"/>
              </a:rPr>
              <a:t>Typical security properties are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safety </a:t>
            </a:r>
            <a:r>
              <a:rPr lang="en-US" dirty="0">
                <a:latin typeface="Source Sans Pro"/>
                <a:ea typeface="Source Sans Pro"/>
              </a:rPr>
              <a:t>(“something bad never happens”), not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liveness </a:t>
            </a:r>
            <a:r>
              <a:rPr lang="en-US" dirty="0">
                <a:latin typeface="Source Sans Pro"/>
                <a:ea typeface="Source Sans Pro"/>
              </a:rPr>
              <a:t>(“something good eventually happens”)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324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F22A8-9E30-F8AE-5C33-7B0640938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2669"/>
            <a:ext cx="10515600" cy="7401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600" dirty="0">
                <a:ea typeface="Source Sans Pro"/>
              </a:rPr>
              <a:t>We encode properties in a variant of first-order logic</a:t>
            </a:r>
            <a:endParaRPr lang="en-US" sz="2600" b="0" dirty="0">
              <a:solidFill>
                <a:schemeClr val="tx2">
                  <a:lumMod val="75000"/>
                  <a:lumOff val="25000"/>
                </a:schemeClr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83A8D-E4E4-4A7A-D7CD-A7A51D3B7388}"/>
              </a:ext>
            </a:extLst>
          </p:cNvPr>
          <p:cNvSpPr txBox="1"/>
          <p:nvPr/>
        </p:nvSpPr>
        <p:spPr>
          <a:xfrm>
            <a:off x="951263" y="39188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9A3EFF-6145-FE07-AB34-209111743F38}"/>
              </a:ext>
            </a:extLst>
          </p:cNvPr>
          <p:cNvSpPr txBox="1"/>
          <p:nvPr/>
        </p:nvSpPr>
        <p:spPr>
          <a:xfrm>
            <a:off x="3689131" y="42882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712896-7413-3ECA-709C-B69DE4C5E439}"/>
              </a:ext>
            </a:extLst>
          </p:cNvPr>
          <p:cNvSpPr txBox="1">
            <a:spLocks/>
          </p:cNvSpPr>
          <p:nvPr/>
        </p:nvSpPr>
        <p:spPr>
          <a:xfrm>
            <a:off x="951263" y="1750224"/>
            <a:ext cx="10289061" cy="7401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We can encode protocols, but how do we find security problems?</a:t>
            </a:r>
          </a:p>
        </p:txBody>
      </p:sp>
    </p:spTree>
    <p:extLst>
      <p:ext uri="{BB962C8B-B14F-4D97-AF65-F5344CB8AC3E}">
        <p14:creationId xmlns:p14="http://schemas.microsoft.com/office/powerpoint/2010/main" val="13641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818131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ea typeface="Source Sans Pro"/>
                  </a:rPr>
                  <a:t>Weak secrecy</a:t>
                </a:r>
                <a:r>
                  <a:rPr lang="en-US" dirty="0">
                    <a:ea typeface="Source Sans Pro"/>
                  </a:rPr>
                  <a:t>: The adversary never learns secret terms</a:t>
                </a: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∀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⇒¬(∃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818131"/>
              </a:xfrm>
              <a:blipFill>
                <a:blip r:embed="rId2"/>
                <a:stretch>
                  <a:fillRect t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454993-A266-5D66-99F7-BB6BF4580CE9}"/>
              </a:ext>
            </a:extLst>
          </p:cNvPr>
          <p:cNvSpPr txBox="1"/>
          <p:nvPr/>
        </p:nvSpPr>
        <p:spPr>
          <a:xfrm>
            <a:off x="3158836" y="3547032"/>
            <a:ext cx="6519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Predicate symbols refer to fact symbols in protocol description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BFB9A1B-3E0C-A6F7-35C1-0D2699104AB9}"/>
              </a:ext>
            </a:extLst>
          </p:cNvPr>
          <p:cNvCxnSpPr>
            <a:cxnSpLocks/>
          </p:cNvCxnSpPr>
          <p:nvPr/>
        </p:nvCxnSpPr>
        <p:spPr>
          <a:xfrm flipV="1">
            <a:off x="4696691" y="3144624"/>
            <a:ext cx="0" cy="402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1C0A4EA4-5CAB-33EE-9AED-F2BBFE46E38A}"/>
              </a:ext>
            </a:extLst>
          </p:cNvPr>
          <p:cNvSpPr/>
          <p:nvPr/>
        </p:nvSpPr>
        <p:spPr>
          <a:xfrm>
            <a:off x="4038600" y="2750547"/>
            <a:ext cx="1316181" cy="4099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0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454993-A266-5D66-99F7-BB6BF4580CE9}"/>
              </a:ext>
            </a:extLst>
          </p:cNvPr>
          <p:cNvSpPr txBox="1"/>
          <p:nvPr/>
        </p:nvSpPr>
        <p:spPr>
          <a:xfrm>
            <a:off x="3057502" y="3484420"/>
            <a:ext cx="8105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We include an additional argument to each predicate representing a timepoint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5BB62A-13C4-F78B-9555-01CC70B321FD}"/>
              </a:ext>
            </a:extLst>
          </p:cNvPr>
          <p:cNvCxnSpPr>
            <a:cxnSpLocks/>
          </p:cNvCxnSpPr>
          <p:nvPr/>
        </p:nvCxnSpPr>
        <p:spPr>
          <a:xfrm flipV="1">
            <a:off x="6026725" y="3151551"/>
            <a:ext cx="0" cy="402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EAE4324-2671-9960-5780-6E1C35B8D6A1}"/>
              </a:ext>
            </a:extLst>
          </p:cNvPr>
          <p:cNvSpPr/>
          <p:nvPr/>
        </p:nvSpPr>
        <p:spPr>
          <a:xfrm>
            <a:off x="5805054" y="2756598"/>
            <a:ext cx="429491" cy="4099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A50001B-6CF8-92E4-77F6-3BC76BF63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3373647F-0D59-8572-F899-B39BF211CD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181813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ea typeface="Source Sans Pro"/>
                  </a:rPr>
                  <a:t>Weak secrecy</a:t>
                </a:r>
                <a:r>
                  <a:rPr lang="en-US" dirty="0">
                    <a:ea typeface="Source Sans Pro"/>
                  </a:rPr>
                  <a:t>: The adversary never learns secret terms</a:t>
                </a: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∀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𝑥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 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 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⇒¬(∃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3373647F-0D59-8572-F899-B39BF211C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1818131"/>
              </a:xfrm>
              <a:prstGeom prst="rect">
                <a:avLst/>
              </a:prstGeom>
              <a:blipFill>
                <a:blip r:embed="rId2"/>
                <a:stretch>
                  <a:fillRect t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53349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454993-A266-5D66-99F7-BB6BF4580CE9}"/>
                  </a:ext>
                </a:extLst>
              </p:cNvPr>
              <p:cNvSpPr txBox="1"/>
              <p:nvPr/>
            </p:nvSpPr>
            <p:spPr>
              <a:xfrm>
                <a:off x="4166864" y="3622194"/>
                <a:ext cx="21402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𝑥</m:t>
                    </m:r>
                  </m:oMath>
                </a14:m>
                <a:r>
                  <a:rPr lang="en-US" dirty="0">
                    <a:latin typeface=""/>
                  </a:rPr>
                  <a:t> is secret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𝑖</m:t>
                    </m:r>
                  </m:oMath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454993-A266-5D66-99F7-BB6BF4580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864" y="3622194"/>
                <a:ext cx="2140201" cy="369332"/>
              </a:xfrm>
              <a:prstGeom prst="rect">
                <a:avLst/>
              </a:prstGeom>
              <a:blipFill>
                <a:blip r:embed="rId2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5BB62A-13C4-F78B-9555-01CC70B321FD}"/>
              </a:ext>
            </a:extLst>
          </p:cNvPr>
          <p:cNvCxnSpPr>
            <a:cxnSpLocks/>
          </p:cNvCxnSpPr>
          <p:nvPr/>
        </p:nvCxnSpPr>
        <p:spPr>
          <a:xfrm flipV="1">
            <a:off x="5119253" y="3235807"/>
            <a:ext cx="0" cy="402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EAE4324-2671-9960-5780-6E1C35B8D6A1}"/>
              </a:ext>
            </a:extLst>
          </p:cNvPr>
          <p:cNvSpPr/>
          <p:nvPr/>
        </p:nvSpPr>
        <p:spPr>
          <a:xfrm>
            <a:off x="4031674" y="2635048"/>
            <a:ext cx="2202872" cy="6007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6D07ED4-51B1-EECD-F8E1-97395AD1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239A92-9E8C-2613-6693-8DF8141A1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1EB697D3-4DD5-DD93-B143-E6ED8B7F81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181813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ea typeface="Source Sans Pro"/>
                  </a:rPr>
                  <a:t>Weak secrecy</a:t>
                </a:r>
                <a:r>
                  <a:rPr lang="en-US" dirty="0">
                    <a:ea typeface="Source Sans Pro"/>
                  </a:rPr>
                  <a:t>: The adversary never learns secret terms</a:t>
                </a: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∀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𝑥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 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 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⇒¬(∃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1EB697D3-4DD5-DD93-B143-E6ED8B7F8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1818131"/>
              </a:xfrm>
              <a:prstGeom prst="rect">
                <a:avLst/>
              </a:prstGeom>
              <a:blipFill>
                <a:blip r:embed="rId3"/>
                <a:stretch>
                  <a:fillRect t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83825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454993-A266-5D66-99F7-BB6BF4580CE9}"/>
              </a:ext>
            </a:extLst>
          </p:cNvPr>
          <p:cNvSpPr txBox="1"/>
          <p:nvPr/>
        </p:nvSpPr>
        <p:spPr>
          <a:xfrm>
            <a:off x="5948565" y="3594027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Built-in capturing adversary knowledge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5BB62A-13C4-F78B-9555-01CC70B321FD}"/>
              </a:ext>
            </a:extLst>
          </p:cNvPr>
          <p:cNvCxnSpPr>
            <a:cxnSpLocks/>
          </p:cNvCxnSpPr>
          <p:nvPr/>
        </p:nvCxnSpPr>
        <p:spPr>
          <a:xfrm flipV="1">
            <a:off x="7619997" y="3123577"/>
            <a:ext cx="0" cy="402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EAE4324-2671-9960-5780-6E1C35B8D6A1}"/>
              </a:ext>
            </a:extLst>
          </p:cNvPr>
          <p:cNvSpPr/>
          <p:nvPr/>
        </p:nvSpPr>
        <p:spPr>
          <a:xfrm>
            <a:off x="7405251" y="2735193"/>
            <a:ext cx="429491" cy="4099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F76DEE6-1F11-B169-8CD8-32F107AC2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5235C2F-C6FB-FA82-1764-4458D680B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450461D0-59F0-5BF8-CDB4-E9CD2CF566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181813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ea typeface="Source Sans Pro"/>
                  </a:rPr>
                  <a:t>Weak secrecy</a:t>
                </a:r>
                <a:r>
                  <a:rPr lang="en-US" dirty="0">
                    <a:ea typeface="Source Sans Pro"/>
                  </a:rPr>
                  <a:t>: The adversary never learns secret terms</a:t>
                </a: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∀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𝑥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 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 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⇒¬(∃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450461D0-59F0-5BF8-CDB4-E9CD2CF56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1818131"/>
              </a:xfrm>
              <a:prstGeom prst="rect">
                <a:avLst/>
              </a:prstGeom>
              <a:blipFill>
                <a:blip r:embed="rId2"/>
                <a:stretch>
                  <a:fillRect t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6625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454993-A266-5D66-99F7-BB6BF4580CE9}"/>
                  </a:ext>
                </a:extLst>
              </p:cNvPr>
              <p:cNvSpPr txBox="1"/>
              <p:nvPr/>
            </p:nvSpPr>
            <p:spPr>
              <a:xfrm>
                <a:off x="2210379" y="3778693"/>
                <a:ext cx="85522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"/>
                  </a:rPr>
                  <a:t>If a term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</a:rPr>
                  <a:t> </a:t>
                </a:r>
                <a:r>
                  <a:rPr lang="en-US" dirty="0">
                    <a:latin typeface=""/>
                  </a:rPr>
                  <a:t>is secret at any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𝑖</m:t>
                    </m:r>
                  </m:oMath>
                </a14:m>
                <a:r>
                  <a:rPr lang="en-US" dirty="0">
                    <a:latin typeface=""/>
                  </a:rPr>
                  <a:t>, then it is never in the adversary knowledge base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454993-A266-5D66-99F7-BB6BF4580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379" y="3778693"/>
                <a:ext cx="8552213" cy="369332"/>
              </a:xfrm>
              <a:prstGeom prst="rect">
                <a:avLst/>
              </a:prstGeom>
              <a:blipFill>
                <a:blip r:embed="rId2"/>
                <a:stretch>
                  <a:fillRect l="-742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30443D4F-B4F1-1CB7-ADB1-FA7F968D2FAF}"/>
              </a:ext>
            </a:extLst>
          </p:cNvPr>
          <p:cNvSpPr/>
          <p:nvPr/>
        </p:nvSpPr>
        <p:spPr>
          <a:xfrm>
            <a:off x="3034145" y="2510353"/>
            <a:ext cx="6456219" cy="9671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EA0BA1-4698-2472-8AFD-611C242D8C3C}"/>
              </a:ext>
            </a:extLst>
          </p:cNvPr>
          <p:cNvCxnSpPr>
            <a:cxnSpLocks/>
            <a:stCxn id="26" idx="0"/>
            <a:endCxn id="5" idx="4"/>
          </p:cNvCxnSpPr>
          <p:nvPr/>
        </p:nvCxnSpPr>
        <p:spPr>
          <a:xfrm flipH="1" flipV="1">
            <a:off x="6262255" y="3477489"/>
            <a:ext cx="224231" cy="3012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89AA1FB5-CDD5-E553-B880-9C070A68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4A030D0-962E-D0BC-FB82-6DCC2B8F1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34BD141D-C8E7-CF37-B75B-CE84F8D045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181813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ea typeface="Source Sans Pro"/>
                  </a:rPr>
                  <a:t>Weak secrecy</a:t>
                </a:r>
                <a:r>
                  <a:rPr lang="en-US" dirty="0">
                    <a:ea typeface="Source Sans Pro"/>
                  </a:rPr>
                  <a:t>: The adversary never learns secret terms</a:t>
                </a: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∀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𝑥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 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 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⇒¬(∃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34BD141D-C8E7-CF37-B75B-CE84F8D04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1818131"/>
              </a:xfrm>
              <a:prstGeom prst="rect">
                <a:avLst/>
              </a:prstGeom>
              <a:blipFill>
                <a:blip r:embed="rId3"/>
                <a:stretch>
                  <a:fillRect t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811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0FEB469-5570-0B1E-CEDC-9E19215660F7}"/>
                  </a:ext>
                </a:extLst>
              </p:cNvPr>
              <p:cNvSpPr/>
              <p:nvPr/>
            </p:nvSpPr>
            <p:spPr>
              <a:xfrm>
                <a:off x="729587" y="4592629"/>
                <a:ext cx="919101" cy="7078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0FEB469-5570-0B1E-CEDC-9E19215660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87" y="4592629"/>
                <a:ext cx="919101" cy="70788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24C58C8-2959-807B-1262-D88880445E10}"/>
                  </a:ext>
                </a:extLst>
              </p:cNvPr>
              <p:cNvSpPr/>
              <p:nvPr/>
            </p:nvSpPr>
            <p:spPr>
              <a:xfrm>
                <a:off x="4660295" y="4592629"/>
                <a:ext cx="1454604" cy="7078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24C58C8-2959-807B-1262-D88880445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295" y="4592629"/>
                <a:ext cx="1454604" cy="707886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E87A498-6A0E-AA10-DAE2-7FA9E522D7F0}"/>
                  </a:ext>
                </a:extLst>
              </p:cNvPr>
              <p:cNvSpPr/>
              <p:nvPr/>
            </p:nvSpPr>
            <p:spPr>
              <a:xfrm>
                <a:off x="7670583" y="4592629"/>
                <a:ext cx="1454604" cy="7078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Out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E87A498-6A0E-AA10-DAE2-7FA9E522D7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583" y="4592629"/>
                <a:ext cx="1454604" cy="707886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195A13-0746-F299-2684-D909699D08E2}"/>
              </a:ext>
            </a:extLst>
          </p:cNvPr>
          <p:cNvCxnSpPr>
            <a:cxnSpLocks/>
            <a:stCxn id="7" idx="6"/>
            <a:endCxn id="13" idx="2"/>
          </p:cNvCxnSpPr>
          <p:nvPr/>
        </p:nvCxnSpPr>
        <p:spPr>
          <a:xfrm>
            <a:off x="1648688" y="4946572"/>
            <a:ext cx="910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1A51D03-3E76-6651-11A1-FC50CDE4AFEA}"/>
                  </a:ext>
                </a:extLst>
              </p:cNvPr>
              <p:cNvSpPr/>
              <p:nvPr/>
            </p:nvSpPr>
            <p:spPr>
              <a:xfrm>
                <a:off x="2558736" y="4592629"/>
                <a:ext cx="1454604" cy="7078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1A51D03-3E76-6651-11A1-FC50CDE4AF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736" y="4592629"/>
                <a:ext cx="1454604" cy="70788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E09624-7510-DE1B-AFE0-51EB1F819AB1}"/>
              </a:ext>
            </a:extLst>
          </p:cNvPr>
          <p:cNvCxnSpPr>
            <a:cxnSpLocks/>
            <a:stCxn id="13" idx="6"/>
            <a:endCxn id="8" idx="2"/>
          </p:cNvCxnSpPr>
          <p:nvPr/>
        </p:nvCxnSpPr>
        <p:spPr>
          <a:xfrm>
            <a:off x="4013340" y="4946572"/>
            <a:ext cx="646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9BFE3D-C06C-E3BB-174E-294946999645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6114899" y="4946572"/>
            <a:ext cx="15556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B7D36FD-047B-44E4-451C-C8310C2CAB05}"/>
              </a:ext>
            </a:extLst>
          </p:cNvPr>
          <p:cNvSpPr txBox="1"/>
          <p:nvPr/>
        </p:nvSpPr>
        <p:spPr>
          <a:xfrm>
            <a:off x="3900145" y="5000855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Step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361374-A71A-9719-9230-710B0FDAEF29}"/>
              </a:ext>
            </a:extLst>
          </p:cNvPr>
          <p:cNvSpPr txBox="1"/>
          <p:nvPr/>
        </p:nvSpPr>
        <p:spPr>
          <a:xfrm>
            <a:off x="1698569" y="498080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Step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DE0EFF-89BE-0291-09C0-12003109B886}"/>
              </a:ext>
            </a:extLst>
          </p:cNvPr>
          <p:cNvSpPr txBox="1"/>
          <p:nvPr/>
        </p:nvSpPr>
        <p:spPr>
          <a:xfrm>
            <a:off x="6472179" y="5000855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Step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4B53ED-59B2-B1FD-97AC-1A64A2980162}"/>
                  </a:ext>
                </a:extLst>
              </p:cNvPr>
              <p:cNvSpPr txBox="1"/>
              <p:nvPr/>
            </p:nvSpPr>
            <p:spPr>
              <a:xfrm>
                <a:off x="1350909" y="4199543"/>
                <a:ext cx="14430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∅→</m:t>
                      </m:r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Fr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4B53ED-59B2-B1FD-97AC-1A64A2980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909" y="4199543"/>
                <a:ext cx="1443087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317B9C-2CE4-1848-C2B4-4C32AC7E570E}"/>
                  </a:ext>
                </a:extLst>
              </p:cNvPr>
              <p:cNvSpPr txBox="1"/>
              <p:nvPr/>
            </p:nvSpPr>
            <p:spPr>
              <a:xfrm>
                <a:off x="2994479" y="4201833"/>
                <a:ext cx="24129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Fr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→</m:t>
                      </m:r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Secret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317B9C-2CE4-1848-C2B4-4C32AC7E5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479" y="4201833"/>
                <a:ext cx="2412968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C5C86F-E022-BB57-FA0A-9E1A44839F4E}"/>
                  </a:ext>
                </a:extLst>
              </p:cNvPr>
              <p:cNvSpPr txBox="1"/>
              <p:nvPr/>
            </p:nvSpPr>
            <p:spPr>
              <a:xfrm>
                <a:off x="5624541" y="4201369"/>
                <a:ext cx="2661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→</m:t>
                      </m:r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Out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C5C86F-E022-BB57-FA0A-9E1A44839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541" y="4201369"/>
                <a:ext cx="2661498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79C01B6-F6C7-60BA-FF61-A39DA9587EAB}"/>
                  </a:ext>
                </a:extLst>
              </p:cNvPr>
              <p:cNvSpPr/>
              <p:nvPr/>
            </p:nvSpPr>
            <p:spPr>
              <a:xfrm>
                <a:off x="9867568" y="4609345"/>
                <a:ext cx="1454604" cy="7078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79C01B6-F6C7-60BA-FF61-A39DA9587E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568" y="4609345"/>
                <a:ext cx="1454604" cy="707886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C3ED001-8725-231D-444B-CB93716A3C50}"/>
                  </a:ext>
                </a:extLst>
              </p:cNvPr>
              <p:cNvSpPr txBox="1"/>
              <p:nvPr/>
            </p:nvSpPr>
            <p:spPr>
              <a:xfrm>
                <a:off x="8432676" y="4196474"/>
                <a:ext cx="21691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Out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→</m:t>
                      </m:r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K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C3ED001-8725-231D-444B-CB93716A3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676" y="4196474"/>
                <a:ext cx="2169120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589997B-0C1E-A035-F666-91E38ED6D989}"/>
              </a:ext>
            </a:extLst>
          </p:cNvPr>
          <p:cNvCxnSpPr>
            <a:cxnSpLocks/>
            <a:stCxn id="9" idx="6"/>
            <a:endCxn id="23" idx="2"/>
          </p:cNvCxnSpPr>
          <p:nvPr/>
        </p:nvCxnSpPr>
        <p:spPr>
          <a:xfrm>
            <a:off x="9125187" y="4946572"/>
            <a:ext cx="742381" cy="16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2BBDDF-AFFA-60A6-4A60-8482A2D37BB9}"/>
                  </a:ext>
                </a:extLst>
              </p:cNvPr>
              <p:cNvSpPr txBox="1"/>
              <p:nvPr/>
            </p:nvSpPr>
            <p:spPr>
              <a:xfrm>
                <a:off x="3347990" y="3850928"/>
                <a:ext cx="13974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2BBDDF-AFFA-60A6-4A60-8482A2D37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990" y="3850928"/>
                <a:ext cx="1397434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A403E7B-FBB3-E97A-7883-6EBA39EDE0B1}"/>
                  </a:ext>
                </a:extLst>
              </p:cNvPr>
              <p:cNvSpPr txBox="1"/>
              <p:nvPr/>
            </p:nvSpPr>
            <p:spPr>
              <a:xfrm>
                <a:off x="9125187" y="3842531"/>
                <a:ext cx="8692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A403E7B-FBB3-E97A-7883-6EBA39EDE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187" y="3842531"/>
                <a:ext cx="869212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4242EDD1-31E6-338B-6D99-B0C93FB80BD7}"/>
              </a:ext>
            </a:extLst>
          </p:cNvPr>
          <p:cNvSpPr txBox="1"/>
          <p:nvPr/>
        </p:nvSpPr>
        <p:spPr>
          <a:xfrm>
            <a:off x="9036262" y="5027361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Step 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1BD50F-3A4F-1FF2-F3D3-426748F116FC}"/>
              </a:ext>
            </a:extLst>
          </p:cNvPr>
          <p:cNvSpPr/>
          <p:nvPr/>
        </p:nvSpPr>
        <p:spPr>
          <a:xfrm>
            <a:off x="3230618" y="3799200"/>
            <a:ext cx="1614211" cy="47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9F480A-D028-2E72-4004-1BFA159D3DFB}"/>
              </a:ext>
            </a:extLst>
          </p:cNvPr>
          <p:cNvSpPr/>
          <p:nvPr/>
        </p:nvSpPr>
        <p:spPr>
          <a:xfrm>
            <a:off x="9057282" y="3799200"/>
            <a:ext cx="1111952" cy="47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B7884B-F461-9C7A-F6FF-909209394C11}"/>
              </a:ext>
            </a:extLst>
          </p:cNvPr>
          <p:cNvSpPr/>
          <p:nvPr/>
        </p:nvSpPr>
        <p:spPr>
          <a:xfrm>
            <a:off x="4429169" y="5008518"/>
            <a:ext cx="295904" cy="3364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DC35DCA-C1F5-8EFA-FE0E-42C5D1D82A4A}"/>
              </a:ext>
            </a:extLst>
          </p:cNvPr>
          <p:cNvSpPr/>
          <p:nvPr/>
        </p:nvSpPr>
        <p:spPr>
          <a:xfrm>
            <a:off x="9575983" y="5036309"/>
            <a:ext cx="295904" cy="3364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35380111-C773-7FDC-DC6A-FC310CE71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32375149-5442-4904-6CCF-A62B94F59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92809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58580732-B0C2-BD70-8D4C-0758DC73DE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181813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ea typeface="Source Sans Pro"/>
                  </a:rPr>
                  <a:t>Weak secrecy</a:t>
                </a:r>
                <a:r>
                  <a:rPr lang="en-US" dirty="0">
                    <a:ea typeface="Source Sans Pro"/>
                  </a:rPr>
                  <a:t>: The adversary never learns secret terms</a:t>
                </a: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∀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𝑥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 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 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⇒¬(∃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58580732-B0C2-BD70-8D4C-0758DC73D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1818131"/>
              </a:xfrm>
              <a:prstGeom prst="rect">
                <a:avLst/>
              </a:prstGeom>
              <a:blipFill>
                <a:blip r:embed="rId14"/>
                <a:stretch>
                  <a:fillRect t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15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0" grpId="0"/>
      <p:bldP spid="12" grpId="0"/>
      <p:bldP spid="14" grpId="0"/>
      <p:bldP spid="17" grpId="0"/>
      <p:bldP spid="19" grpId="0"/>
      <p:bldP spid="20" grpId="0"/>
      <p:bldP spid="23" grpId="0" animBg="1"/>
      <p:bldP spid="24" grpId="0"/>
      <p:bldP spid="32" grpId="0"/>
      <p:bldP spid="33" grpId="0"/>
      <p:bldP spid="34" grpId="0"/>
      <p:bldP spid="5" grpId="0" animBg="1"/>
      <p:bldP spid="6" grpId="0" animBg="1"/>
      <p:bldP spid="22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2023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ea typeface="Source Sans Pro"/>
                  </a:rPr>
                  <a:t>Non-injective agreement</a:t>
                </a:r>
                <a:r>
                  <a:rPr lang="en-US" dirty="0">
                    <a:solidFill>
                      <a:srgbClr val="000000"/>
                    </a:solidFill>
                    <a:ea typeface="Source Sans Pro"/>
                  </a:rPr>
                  <a:t>: If principal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a typeface="Source Sans Pro"/>
                  </a:rPr>
                  <a:t> accepted data item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a typeface="Source Sans Pro"/>
                  </a:rPr>
                  <a:t> apparently from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a typeface="Source Sans Pro"/>
                  </a:rPr>
                  <a:t>, then previously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a typeface="Source Sans Pro"/>
                  </a:rPr>
                  <a:t> sent data item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a typeface="Source Sans Pro"/>
                  </a:rPr>
                  <a:t> apparently to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  <a:p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∀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Accept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⇒(∃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Sent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 &amp;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&lt;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20232"/>
              </a:xfrm>
              <a:blipFill>
                <a:blip r:embed="rId2"/>
                <a:stretch>
                  <a:fillRect l="-1206" t="-2057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7CAF92-1AF4-D245-A61E-D6C83AD2F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53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2023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ea typeface="Source Sans Pro"/>
                  </a:rPr>
                  <a:t>Injective agreement</a:t>
                </a:r>
                <a:r>
                  <a:rPr lang="en-US" dirty="0">
                    <a:ea typeface="Source Sans Pro"/>
                  </a:rPr>
                  <a:t>: There is an injective mapping from data items accepted by principal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</m:oMath>
                </a14:m>
                <a:r>
                  <a:rPr lang="en-US" dirty="0">
                    <a:ea typeface="Source Sans Pro"/>
                  </a:rPr>
                  <a:t> apparently from principal</a:t>
                </a: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ea typeface="Source Sans Pro"/>
                  </a:rPr>
                  <a:t>, to data items sent from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ea typeface="Source Sans Pro"/>
                  </a:rPr>
                  <a:t> apparently to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</m:oMath>
                </a14:m>
                <a:endParaRPr lang="en-US" dirty="0">
                  <a:ea typeface="Source Sans Pro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∀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𝑡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.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Accept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@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⇒(∃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𝑗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.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Sent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@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𝑗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 &amp;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𝑗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&lt;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&amp;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¬(∃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Accept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&amp;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20232"/>
              </a:xfrm>
              <a:blipFill>
                <a:blip r:embed="rId2"/>
                <a:stretch>
                  <a:fillRect l="-1206" t="-2057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A7454-35E9-C90B-7F6B-20F832B3C3E6}"/>
              </a:ext>
            </a:extLst>
          </p:cNvPr>
          <p:cNvSpPr txBox="1"/>
          <p:nvPr/>
        </p:nvSpPr>
        <p:spPr>
          <a:xfrm>
            <a:off x="3348906" y="3644938"/>
            <a:ext cx="70342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"/>
              <a:ea typeface="Source Sans Pro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"/>
                <a:ea typeface="Source Sans Pro"/>
              </a:rPr>
              <a:t>   No replay attacks!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41B44E-DC59-1A98-41D0-8C1AF7F493A7}"/>
              </a:ext>
            </a:extLst>
          </p:cNvPr>
          <p:cNvSpPr/>
          <p:nvPr/>
        </p:nvSpPr>
        <p:spPr>
          <a:xfrm>
            <a:off x="2695018" y="3521228"/>
            <a:ext cx="6849374" cy="46582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4239F7-2C60-C53D-97A6-F36B0597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04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Automated Property Satisfaction/Violation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402124" cy="4667250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Given a rewrite system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 and a property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𝜑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, how to tell if some trace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 violates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𝜑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?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Automated reasoning </a:t>
                </a:r>
                <a:r>
                  <a:rPr lang="en-US" sz="2400" dirty="0">
                    <a:latin typeface="Source Sans Pro"/>
                    <a:ea typeface="Source Sans Pro"/>
                  </a:rPr>
                  <a:t>tool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Tamarin</a:t>
                </a:r>
                <a:r>
                  <a:rPr lang="en-US" sz="2400" dirty="0">
                    <a:latin typeface="Source Sans Pro"/>
                    <a:ea typeface="Source Sans Pro"/>
                  </a:rPr>
                  <a:t> implements a constraint solving algorithm for security protocols in the MSR formalism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From protocol and property, Tamarin creates a set of constraints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⊆℧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Define a core calculus of constraint solving rules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⊆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tx1"/>
                  </a:solidFill>
                  <a:latin typeface="Source Sans Pro"/>
                  <a:ea typeface="Source Sans Pro"/>
                </a:endParaRP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Iteratively apply rules from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until the constraint set is trivially satisfiable or unsatisfiable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Constraint solving algo is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attack sound </a:t>
                </a:r>
                <a:r>
                  <a:rPr lang="en-US" sz="24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and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proof sound</a:t>
                </a:r>
                <a:r>
                  <a:rPr lang="en-US" sz="24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, but not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attack complete </a:t>
                </a:r>
                <a:r>
                  <a:rPr lang="en-US" sz="24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or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proof complete</a:t>
                </a:r>
              </a:p>
              <a:p>
                <a:endParaRPr lang="en-US" sz="2400" dirty="0">
                  <a:solidFill>
                    <a:schemeClr val="tx1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402124" cy="4667250"/>
              </a:xfrm>
              <a:blipFill>
                <a:blip r:embed="rId2"/>
                <a:stretch>
                  <a:fillRect l="-976" t="-1897" r="-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149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Automated Property Satisfaction/Violation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7833" y="1575937"/>
                <a:ext cx="8293880" cy="1033115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C00000"/>
                    </a:solidFill>
                    <a:ea typeface="Source Sans Pro"/>
                  </a:rPr>
                  <a:t>Given a set of rewrite rules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  <a:ea typeface="Source Sans Pro"/>
                  </a:rPr>
                  <a:t> (a protocol) and a property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𝜑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  <a:ea typeface="Source Sans Pro"/>
                  </a:rPr>
                  <a:t>, how to tell if some trace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  <a:ea typeface="Source Sans Pro"/>
                  </a:rPr>
                  <a:t> violates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𝜑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  <a:ea typeface="Source Sans Pro"/>
                  </a:rPr>
                  <a:t>?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chemeClr val="tx1"/>
                    </a:solidFill>
                    <a:ea typeface="Source Sans Pro"/>
                  </a:rPr>
                  <a:t>Search backward </a:t>
                </a:r>
                <a:r>
                  <a:rPr lang="en-US" sz="2000" dirty="0">
                    <a:ea typeface="Source Sans Pro"/>
                  </a:rPr>
                  <a:t>for an attack trace, </a:t>
                </a:r>
                <a:r>
                  <a:rPr lang="en-US" sz="2000" dirty="0">
                    <a:solidFill>
                      <a:schemeClr val="tx1"/>
                    </a:solidFill>
                    <a:ea typeface="Source Sans Pro"/>
                  </a:rPr>
                  <a:t>starting from a state that violates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𝜑</m:t>
                    </m:r>
                  </m:oMath>
                </a14:m>
                <a:endPara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tx1"/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7833" y="1575937"/>
                <a:ext cx="8293880" cy="1033115"/>
              </a:xfrm>
              <a:blipFill>
                <a:blip r:embed="rId3"/>
                <a:stretch>
                  <a:fillRect l="-765" t="-6098" r="-1070"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107A3A4-22FA-2AC4-7840-CFEEF4B691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883359" y="5972490"/>
                <a:ext cx="10515600" cy="70400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dirty="0"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107A3A4-22FA-2AC4-7840-CFEEF4B69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3359" y="5972490"/>
                <a:ext cx="10515600" cy="704000"/>
              </a:xfrm>
              <a:prstGeom prst="rect">
                <a:avLst/>
              </a:prstGeom>
              <a:blipFill>
                <a:blip r:embed="rId4"/>
                <a:stretch>
                  <a:fillRect t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B150F1-0B16-EB49-8B10-16A232A65EF5}"/>
              </a:ext>
            </a:extLst>
          </p:cNvPr>
          <p:cNvCxnSpPr>
            <a:cxnSpLocks/>
          </p:cNvCxnSpPr>
          <p:nvPr/>
        </p:nvCxnSpPr>
        <p:spPr>
          <a:xfrm>
            <a:off x="2858814" y="4950633"/>
            <a:ext cx="578069" cy="1021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310CBD-FF22-CC09-4FB9-142A21332E4E}"/>
              </a:ext>
            </a:extLst>
          </p:cNvPr>
          <p:cNvCxnSpPr>
            <a:cxnSpLocks/>
          </p:cNvCxnSpPr>
          <p:nvPr/>
        </p:nvCxnSpPr>
        <p:spPr>
          <a:xfrm flipH="1">
            <a:off x="4645573" y="4864197"/>
            <a:ext cx="446689" cy="1108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91EDAA-B220-69DE-E6D2-086C5464519F}"/>
                  </a:ext>
                </a:extLst>
              </p:cNvPr>
              <p:cNvSpPr/>
              <p:nvPr/>
            </p:nvSpPr>
            <p:spPr>
              <a:xfrm>
                <a:off x="4645573" y="4046908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Honest rule with label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Secret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𝑡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91EDAA-B220-69DE-E6D2-086C546451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573" y="4046908"/>
                <a:ext cx="3184634" cy="8172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8B0FBA0-4B8D-CD77-BC5B-55DAC2A2D6FD}"/>
                  </a:ext>
                </a:extLst>
              </p:cNvPr>
              <p:cNvSpPr/>
              <p:nvPr/>
            </p:nvSpPr>
            <p:spPr>
              <a:xfrm>
                <a:off x="835574" y="4124366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Adversary rule with label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𝑡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8B0FBA0-4B8D-CD77-BC5B-55DAC2A2D6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74" y="4124366"/>
                <a:ext cx="3184634" cy="817290"/>
              </a:xfrm>
              <a:prstGeom prst="rect">
                <a:avLst/>
              </a:prstGeom>
              <a:blipFill>
                <a:blip r:embed="rId6"/>
                <a:stretch>
                  <a:fillRect l="-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9FF3D42-9419-77D5-787E-85464F06664C}"/>
              </a:ext>
            </a:extLst>
          </p:cNvPr>
          <p:cNvCxnSpPr>
            <a:cxnSpLocks/>
          </p:cNvCxnSpPr>
          <p:nvPr/>
        </p:nvCxnSpPr>
        <p:spPr>
          <a:xfrm>
            <a:off x="2243959" y="3311186"/>
            <a:ext cx="0" cy="804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8029AE-A362-D9BA-5693-36FC2A020D90}"/>
              </a:ext>
            </a:extLst>
          </p:cNvPr>
          <p:cNvCxnSpPr>
            <a:cxnSpLocks/>
          </p:cNvCxnSpPr>
          <p:nvPr/>
        </p:nvCxnSpPr>
        <p:spPr>
          <a:xfrm>
            <a:off x="5864773" y="3234986"/>
            <a:ext cx="0" cy="799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AADD5AE-5537-EBA8-BDB9-9724D8FDDE5A}"/>
              </a:ext>
            </a:extLst>
          </p:cNvPr>
          <p:cNvSpPr txBox="1">
            <a:spLocks/>
          </p:cNvSpPr>
          <p:nvPr/>
        </p:nvSpPr>
        <p:spPr>
          <a:xfrm>
            <a:off x="2082365" y="2792374"/>
            <a:ext cx="691052" cy="4838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Source Sans Pro"/>
                <a:ea typeface="Source Sans Pro"/>
              </a:rPr>
              <a:t>?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EEACFD5-C32E-0C0B-CD8A-B5F5265D07C8}"/>
              </a:ext>
            </a:extLst>
          </p:cNvPr>
          <p:cNvSpPr txBox="1">
            <a:spLocks/>
          </p:cNvSpPr>
          <p:nvPr/>
        </p:nvSpPr>
        <p:spPr>
          <a:xfrm>
            <a:off x="5703179" y="2738645"/>
            <a:ext cx="691052" cy="4838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Source Sans Pro"/>
                <a:ea typeface="Source Sans Pro"/>
              </a:rPr>
              <a:t>?</a:t>
            </a: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4F12B45-7602-A7A8-CF87-0203BC1C1549}"/>
              </a:ext>
            </a:extLst>
          </p:cNvPr>
          <p:cNvSpPr txBox="1">
            <a:spLocks/>
          </p:cNvSpPr>
          <p:nvPr/>
        </p:nvSpPr>
        <p:spPr>
          <a:xfrm>
            <a:off x="6394231" y="5182055"/>
            <a:ext cx="4446700" cy="704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Source Sans Pro"/>
              <a:ea typeface="Source Sans 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rgbClr val="000000"/>
              </a:solidFill>
              <a:latin typeface="Source Sans Pro"/>
              <a:ea typeface="Source Sans Pro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ECFBD86-1CC5-A7D4-ABDB-3A2874CB6BBB}"/>
              </a:ext>
            </a:extLst>
          </p:cNvPr>
          <p:cNvSpPr/>
          <p:nvPr/>
        </p:nvSpPr>
        <p:spPr>
          <a:xfrm>
            <a:off x="5642086" y="4415317"/>
            <a:ext cx="1191607" cy="4183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6005FD5-8FD6-8257-53C4-D55F808B3EF1}"/>
              </a:ext>
            </a:extLst>
          </p:cNvPr>
          <p:cNvSpPr/>
          <p:nvPr/>
        </p:nvSpPr>
        <p:spPr>
          <a:xfrm>
            <a:off x="3875692" y="5861408"/>
            <a:ext cx="2079731" cy="70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E5CE0407-9CD9-21C7-45F8-37BDE5C33211}"/>
                  </a:ext>
                </a:extLst>
              </p:cNvPr>
              <p:cNvSpPr/>
              <p:nvPr/>
            </p:nvSpPr>
            <p:spPr>
              <a:xfrm>
                <a:off x="6184369" y="5032581"/>
                <a:ext cx="4073237" cy="1602102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Algo relies on Tamarin being able to perform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  <a:latin typeface=""/>
                    <a:ea typeface="Source Sans Pro"/>
                  </a:rPr>
                  <a:t>unification</a:t>
                </a:r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 on facts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 dirty="0">
                  <a:latin typeface="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i.e., find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𝜎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such that </a:t>
                </a:r>
                <a:endParaRPr lang="en-US" sz="18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i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</m:t>
                      </m:r>
                      <m:d>
                        <m:dPr>
                          <m:ctrlP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…</m:t>
                          </m:r>
                          <m:r>
                            <a:rPr lang="en-US" sz="18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</m:t>
                          </m:r>
                          <m: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𝜎</m:t>
                      </m:r>
                      <m:r>
                        <a:rPr lang="en-US" sz="18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= </m:t>
                      </m:r>
                      <m:r>
                        <m:rPr>
                          <m:nor/>
                        </m:rPr>
                        <a:rPr lang="en-US" sz="1800" i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</m:t>
                      </m:r>
                      <m:d>
                        <m:dPr>
                          <m:ctrlP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800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SupPr>
                            <m:e>
                              <m: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18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</m:t>
                          </m:r>
                          <m: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 …, </m:t>
                          </m:r>
                          <m:sSub>
                            <m:sSubPr>
                              <m:ctrlP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8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′</m:t>
                          </m:r>
                        </m:e>
                      </m:d>
                      <m:r>
                        <a:rPr lang="en-US" sz="18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𝜎</m:t>
                      </m:r>
                    </m:oMath>
                  </m:oMathPara>
                </a14:m>
                <a:endParaRPr lang="en-US" sz="18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E5CE0407-9CD9-21C7-45F8-37BDE5C332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369" y="5032581"/>
                <a:ext cx="4073237" cy="160210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1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  <p:bldP spid="13" grpId="0" animBg="1"/>
      <p:bldP spid="20" grpId="0"/>
      <p:bldP spid="21" grpId="0"/>
      <p:bldP spid="25" grpId="0"/>
      <p:bldP spid="27" grpId="0" animBg="1"/>
      <p:bldP spid="28" grpId="0" animBg="1"/>
      <p:bldP spid="1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35E0-BEEA-EB4D-28A6-402771B8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0EAD-0D27-1C7F-A0A8-F961B406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88B1-2267-9A92-9381-94A9E59DC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Source Sans Pro"/>
              </a:rPr>
              <a:t>Talk objectives</a:t>
            </a:r>
          </a:p>
          <a:p>
            <a:r>
              <a:rPr lang="en-US" sz="3200" dirty="0">
                <a:ea typeface="Source Sans Pro"/>
              </a:rPr>
              <a:t>Cryptographic protocol verification background</a:t>
            </a:r>
          </a:p>
          <a:p>
            <a:r>
              <a:rPr lang="en-US" sz="3200" dirty="0">
                <a:ea typeface="Source Sans Pro"/>
              </a:rPr>
              <a:t>Automated reasoning for protocols </a:t>
            </a:r>
          </a:p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Breaking, fixing, and breaking Needham-Schroeder</a:t>
            </a:r>
          </a:p>
          <a:p>
            <a:r>
              <a:rPr lang="en-US" sz="3200" dirty="0">
                <a:ea typeface="Source Sans Pro"/>
              </a:rPr>
              <a:t>Making reasoning tractable</a:t>
            </a:r>
          </a:p>
          <a:p>
            <a:r>
              <a:rPr lang="en-US" sz="3200" dirty="0">
                <a:ea typeface="Source Sans Pro"/>
              </a:rPr>
              <a:t>Discussion, Research Questions, &amp; Conclusion </a:t>
            </a:r>
          </a:p>
          <a:p>
            <a:r>
              <a:rPr lang="en-US" sz="3200" dirty="0">
                <a:ea typeface="Source Sans Pro"/>
              </a:rPr>
              <a:t>Appendix: Making reasoning expressive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013BD-B792-7885-524D-3E34C6C84D3E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285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C5273-9AFC-BCAC-886F-652F4C391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" t="451" r="1260" b="301"/>
          <a:stretch>
            <a:fillRect/>
          </a:stretch>
        </p:blipFill>
        <p:spPr>
          <a:xfrm>
            <a:off x="951263" y="1921147"/>
            <a:ext cx="7905563" cy="32032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9A1240F-85BA-DE99-2BB6-4339BCB1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Needham-Schroeder Public Key Protocol</a:t>
            </a:r>
            <a:endParaRPr lang="en-US" sz="40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139590-2B16-B2AB-1487-E85BF8B3F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B1667C7-2B93-BDAE-BD09-DB469D4B932D}"/>
              </a:ext>
            </a:extLst>
          </p:cNvPr>
          <p:cNvSpPr txBox="1">
            <a:spLocks/>
          </p:cNvSpPr>
          <p:nvPr/>
        </p:nvSpPr>
        <p:spPr>
          <a:xfrm>
            <a:off x="1717833" y="1575937"/>
            <a:ext cx="8293880" cy="10331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>
                <a:solidFill>
                  <a:srgbClr val="C00000"/>
                </a:solidFill>
                <a:ea typeface="Source Sans Pro"/>
              </a:rPr>
              <a:t>What kinds of bugs can Tamarin find?</a:t>
            </a:r>
            <a:endParaRPr lang="en-US" sz="2000">
              <a:solidFill>
                <a:schemeClr val="tx2">
                  <a:lumMod val="75000"/>
                  <a:lumOff val="25000"/>
                </a:schemeClr>
              </a:solidFill>
              <a:ea typeface="Source Sans 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0370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C5273-9AFC-BCAC-886F-652F4C391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" t="451" r="1260" b="301"/>
          <a:stretch>
            <a:fillRect/>
          </a:stretch>
        </p:blipFill>
        <p:spPr>
          <a:xfrm>
            <a:off x="951263" y="1921147"/>
            <a:ext cx="7905563" cy="32032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A37253-F224-73AA-F3B4-3C32957D214F}"/>
              </a:ext>
            </a:extLst>
          </p:cNvPr>
          <p:cNvSpPr/>
          <p:nvPr/>
        </p:nvSpPr>
        <p:spPr>
          <a:xfrm>
            <a:off x="1313411" y="3158836"/>
            <a:ext cx="6616931" cy="465513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F64D54A-E01E-683A-EAAF-775E8BE66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Needham-Schroeder Public Key Protocol</a:t>
            </a:r>
            <a:endParaRPr lang="en-US" sz="4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D985DC5-D976-F855-3A4E-FCCD2DB2D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7833" y="1575937"/>
            <a:ext cx="8293880" cy="103311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C00000"/>
                </a:solidFill>
                <a:ea typeface="Source Sans Pro"/>
              </a:rPr>
              <a:t>What kinds of bugs can Tamarin find?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ea typeface="Source Sans Pro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437065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C5273-9AFC-BCAC-886F-652F4C391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" t="451" r="1260" b="301"/>
          <a:stretch>
            <a:fillRect/>
          </a:stretch>
        </p:blipFill>
        <p:spPr>
          <a:xfrm>
            <a:off x="951263" y="1921147"/>
            <a:ext cx="7905563" cy="32032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BE8B3E3-12A8-E950-F70E-303225F743E0}"/>
              </a:ext>
            </a:extLst>
          </p:cNvPr>
          <p:cNvSpPr/>
          <p:nvPr/>
        </p:nvSpPr>
        <p:spPr>
          <a:xfrm>
            <a:off x="1313411" y="3715788"/>
            <a:ext cx="7697585" cy="465513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CF6864-E960-85B9-7DBC-94DF0A36E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Needham-Schroeder Public Key Protocol</a:t>
            </a:r>
            <a:endParaRPr lang="en-US" sz="40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C7B9B5-6302-6347-947D-D425F5DDE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7833" y="1575937"/>
            <a:ext cx="8293880" cy="103311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C00000"/>
                </a:solidFill>
                <a:ea typeface="Source Sans Pro"/>
              </a:rPr>
              <a:t>What kinds of bugs can Tamarin find?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ea typeface="Source Sans Pro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5038973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C5273-9AFC-BCAC-886F-652F4C391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" t="451" r="1260" b="301"/>
          <a:stretch>
            <a:fillRect/>
          </a:stretch>
        </p:blipFill>
        <p:spPr>
          <a:xfrm>
            <a:off x="951263" y="1921147"/>
            <a:ext cx="7905563" cy="32032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BB74D3-D865-0CBA-495A-B88EB1554617}"/>
              </a:ext>
            </a:extLst>
          </p:cNvPr>
          <p:cNvSpPr/>
          <p:nvPr/>
        </p:nvSpPr>
        <p:spPr>
          <a:xfrm>
            <a:off x="1288473" y="4322617"/>
            <a:ext cx="6276109" cy="465513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D388BC4-257F-1823-A8E7-84F65AB2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Needham-Schroeder Public Key Protocol</a:t>
            </a:r>
            <a:endParaRPr lang="en-US" sz="40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CC42F52-EB29-076D-F285-E3031C523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7833" y="1575937"/>
            <a:ext cx="8293880" cy="103311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C00000"/>
                </a:solidFill>
                <a:ea typeface="Source Sans Pro"/>
              </a:rPr>
              <a:t>What kinds of bugs can Tamarin find?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ea typeface="Source Sans Pro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834510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B134-327B-0941-EFA2-626FD1C1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Needham-Schroeder Public Key Protocol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C5273-9AFC-BCAC-886F-652F4C391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" t="451" r="1260" b="301"/>
          <a:stretch>
            <a:fillRect/>
          </a:stretch>
        </p:blipFill>
        <p:spPr>
          <a:xfrm>
            <a:off x="951263" y="1921147"/>
            <a:ext cx="7905563" cy="32032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BB74D3-D865-0CBA-495A-B88EB1554617}"/>
              </a:ext>
            </a:extLst>
          </p:cNvPr>
          <p:cNvSpPr/>
          <p:nvPr/>
        </p:nvSpPr>
        <p:spPr>
          <a:xfrm>
            <a:off x="1288473" y="4322617"/>
            <a:ext cx="6276109" cy="465513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33622C7C-F4EA-AEA2-5438-82C39E39CBE6}"/>
                  </a:ext>
                </a:extLst>
              </p:cNvPr>
              <p:cNvSpPr/>
              <p:nvPr/>
            </p:nvSpPr>
            <p:spPr>
              <a:xfrm>
                <a:off x="2204720" y="5608205"/>
                <a:ext cx="8503920" cy="88467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</a:rPr>
                  <a:t>Reminder: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</a:rPr>
                  <a:t> accepts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𝑁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𝐴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𝑁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𝐵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</a:rPr>
                  <a:t>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</a:rPr>
                  <a:t> (in step 3), then</a:t>
                </a: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"/>
                  </a:rPr>
                  <a:t>sent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𝑁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𝑁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</a:rPr>
                  <a:t> (in step 2)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</a:rPr>
                  <a:t>(and vice versa) (non-injective agreement)</a:t>
                </a: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33622C7C-F4EA-AEA2-5438-82C39E39C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720" y="5608205"/>
                <a:ext cx="8503920" cy="88467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9D95884-547B-4A0E-7683-C67B3472E6A5}"/>
              </a:ext>
            </a:extLst>
          </p:cNvPr>
          <p:cNvSpPr txBox="1"/>
          <p:nvPr/>
        </p:nvSpPr>
        <p:spPr>
          <a:xfrm>
            <a:off x="3754927" y="5112167"/>
            <a:ext cx="4681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"/>
                <a:ea typeface="Source Sans Pro"/>
              </a:rPr>
              <a:t>We have achieved mutual authentication!(?)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229F5DA-A289-D6FB-0485-0891445DC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7833" y="1575937"/>
            <a:ext cx="8293880" cy="103311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C00000"/>
                </a:solidFill>
                <a:ea typeface="Source Sans Pro"/>
              </a:rPr>
              <a:t>What kinds of bugs can Tamarin find?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ea typeface="Source Sans Pro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60126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First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3CA980-B60C-BF94-9DD3-7F4A315C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1" b="133"/>
          <a:stretch>
            <a:fillRect/>
          </a:stretch>
        </p:blipFill>
        <p:spPr>
          <a:xfrm>
            <a:off x="3916982" y="2374490"/>
            <a:ext cx="7497507" cy="34098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0CA6EA-F05D-52D5-D6F8-D280300E7F90}"/>
                  </a:ext>
                </a:extLst>
              </p:cNvPr>
              <p:cNvSpPr txBox="1"/>
              <p:nvPr/>
            </p:nvSpPr>
            <p:spPr>
              <a:xfrm>
                <a:off x="1372187" y="3275975"/>
                <a:ext cx="310033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𝐴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 initiates with me, </a:t>
                </a:r>
              </a:p>
              <a:p>
                <a:r>
                  <a:rPr lang="en-US" dirty="0">
                    <a:latin typeface=""/>
                    <a:ea typeface="Source Sans Pro"/>
                  </a:rPr>
                  <a:t>And I impersonate them to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 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𝐵</m:t>
                    </m:r>
                  </m:oMath>
                </a14:m>
                <a:endParaRPr lang="en-US" sz="18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0CA6EA-F05D-52D5-D6F8-D280300E7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187" y="3275975"/>
                <a:ext cx="3100336" cy="646331"/>
              </a:xfrm>
              <a:prstGeom prst="rect">
                <a:avLst/>
              </a:prstGeom>
              <a:blipFill>
                <a:blip r:embed="rId4"/>
                <a:stretch>
                  <a:fillRect l="-1633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B6711BC-147F-023A-0FD5-55E41291FDF3}"/>
                  </a:ext>
                </a:extLst>
              </p:cNvPr>
              <p:cNvSpPr/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B6711BC-147F-023A-0FD5-55E41291FD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D67F7AF2-0B3B-4FB2-5103-70E7B7A4D7E3}"/>
                  </a:ext>
                </a:extLst>
              </p:cNvPr>
              <p:cNvSpPr/>
              <p:nvPr/>
            </p:nvSpPr>
            <p:spPr>
              <a:xfrm>
                <a:off x="4262851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D67F7AF2-0B3B-4FB2-5103-70E7B7A4D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851" y="1652753"/>
                <a:ext cx="3794760" cy="56896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E3BBFF1-CC1F-9DE4-A224-38729BBCFC97}"/>
                  </a:ext>
                </a:extLst>
              </p:cNvPr>
              <p:cNvSpPr/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E3BBFF1-CC1F-9DE4-A224-38729BBCFC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799124D-CD90-8700-8D7A-C5CD668B7EBE}"/>
              </a:ext>
            </a:extLst>
          </p:cNvPr>
          <p:cNvSpPr/>
          <p:nvPr/>
        </p:nvSpPr>
        <p:spPr>
          <a:xfrm>
            <a:off x="8057611" y="3275975"/>
            <a:ext cx="3776909" cy="2390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2E5C6E-BCA9-2F33-5E43-B52735B19EFF}"/>
              </a:ext>
            </a:extLst>
          </p:cNvPr>
          <p:cNvSpPr/>
          <p:nvPr/>
        </p:nvSpPr>
        <p:spPr>
          <a:xfrm>
            <a:off x="4397591" y="3260748"/>
            <a:ext cx="3683479" cy="905773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2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2402AA4-B698-AB8E-0F34-B0191705BA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1" b="133"/>
          <a:stretch>
            <a:fillRect/>
          </a:stretch>
        </p:blipFill>
        <p:spPr>
          <a:xfrm>
            <a:off x="3916982" y="2374490"/>
            <a:ext cx="7497507" cy="340981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041152D-EE08-C006-756B-8D1F33D5824C}"/>
              </a:ext>
            </a:extLst>
          </p:cNvPr>
          <p:cNvSpPr/>
          <p:nvPr/>
        </p:nvSpPr>
        <p:spPr>
          <a:xfrm>
            <a:off x="8057611" y="3275975"/>
            <a:ext cx="3776909" cy="2390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First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2E5C6E-BCA9-2F33-5E43-B52735B19EFF}"/>
              </a:ext>
            </a:extLst>
          </p:cNvPr>
          <p:cNvSpPr/>
          <p:nvPr/>
        </p:nvSpPr>
        <p:spPr>
          <a:xfrm>
            <a:off x="4302529" y="4127540"/>
            <a:ext cx="3683479" cy="905773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0CA6EA-F05D-52D5-D6F8-D280300E7F90}"/>
                  </a:ext>
                </a:extLst>
              </p:cNvPr>
              <p:cNvSpPr txBox="1"/>
              <p:nvPr/>
            </p:nvSpPr>
            <p:spPr>
              <a:xfrm>
                <a:off x="1245762" y="4257260"/>
                <a:ext cx="292323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𝐵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 sends me a challenge, </a:t>
                </a:r>
              </a:p>
              <a:p>
                <a:r>
                  <a:rPr lang="en-US" dirty="0">
                    <a:latin typeface=""/>
                    <a:ea typeface="Source Sans Pro"/>
                  </a:rPr>
                  <a:t>But I just send it along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𝐴</m:t>
                    </m:r>
                  </m:oMath>
                </a14:m>
                <a:endParaRPr lang="en-US" sz="18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0CA6EA-F05D-52D5-D6F8-D280300E7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762" y="4257260"/>
                <a:ext cx="2923236" cy="646331"/>
              </a:xfrm>
              <a:prstGeom prst="rect">
                <a:avLst/>
              </a:prstGeom>
              <a:blipFill>
                <a:blip r:embed="rId4"/>
                <a:stretch>
                  <a:fillRect l="-1293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C9D37ECC-8D94-9D30-B058-7296E107CD7E}"/>
              </a:ext>
            </a:extLst>
          </p:cNvPr>
          <p:cNvSpPr/>
          <p:nvPr/>
        </p:nvSpPr>
        <p:spPr>
          <a:xfrm>
            <a:off x="8057611" y="3335119"/>
            <a:ext cx="3776909" cy="2390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E184515-6008-1B28-6316-6DE05E96470A}"/>
                  </a:ext>
                </a:extLst>
              </p:cNvPr>
              <p:cNvSpPr/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E184515-6008-1B28-6316-6DE05E9647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573FBDE9-107C-2FD8-E841-10880797DA00}"/>
                  </a:ext>
                </a:extLst>
              </p:cNvPr>
              <p:cNvSpPr/>
              <p:nvPr/>
            </p:nvSpPr>
            <p:spPr>
              <a:xfrm>
                <a:off x="4262851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573FBDE9-107C-2FD8-E841-10880797DA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851" y="1652753"/>
                <a:ext cx="3794760" cy="56896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642C9BAF-9D22-EEBA-F8FE-3802CAA1E295}"/>
                  </a:ext>
                </a:extLst>
              </p:cNvPr>
              <p:cNvSpPr/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642C9BAF-9D22-EEBA-F8FE-3802CAA1E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1253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2402AA4-B698-AB8E-0F34-B0191705BA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1" b="133"/>
          <a:stretch>
            <a:fillRect/>
          </a:stretch>
        </p:blipFill>
        <p:spPr>
          <a:xfrm>
            <a:off x="3916982" y="2374490"/>
            <a:ext cx="7497507" cy="340981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041152D-EE08-C006-756B-8D1F33D5824C}"/>
              </a:ext>
            </a:extLst>
          </p:cNvPr>
          <p:cNvSpPr/>
          <p:nvPr/>
        </p:nvSpPr>
        <p:spPr>
          <a:xfrm>
            <a:off x="8057611" y="3275975"/>
            <a:ext cx="3776909" cy="2390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First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2E5C6E-BCA9-2F33-5E43-B52735B19EFF}"/>
              </a:ext>
            </a:extLst>
          </p:cNvPr>
          <p:cNvSpPr/>
          <p:nvPr/>
        </p:nvSpPr>
        <p:spPr>
          <a:xfrm>
            <a:off x="4302529" y="4555804"/>
            <a:ext cx="3683479" cy="111021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0CA6EA-F05D-52D5-D6F8-D280300E7F90}"/>
                  </a:ext>
                </a:extLst>
              </p:cNvPr>
              <p:cNvSpPr txBox="1"/>
              <p:nvPr/>
            </p:nvSpPr>
            <p:spPr>
              <a:xfrm>
                <a:off x="1333445" y="4787743"/>
                <a:ext cx="292940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 responds to the challenge without protest</a:t>
                </a:r>
                <a:endParaRPr lang="en-US" sz="18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0CA6EA-F05D-52D5-D6F8-D280300E7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445" y="4787743"/>
                <a:ext cx="2929406" cy="646331"/>
              </a:xfrm>
              <a:prstGeom prst="rect">
                <a:avLst/>
              </a:prstGeom>
              <a:blipFill>
                <a:blip r:embed="rId4"/>
                <a:stretch>
                  <a:fillRect l="-2165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C9D37ECC-8D94-9D30-B058-7296E107CD7E}"/>
              </a:ext>
            </a:extLst>
          </p:cNvPr>
          <p:cNvSpPr/>
          <p:nvPr/>
        </p:nvSpPr>
        <p:spPr>
          <a:xfrm>
            <a:off x="8057611" y="3335119"/>
            <a:ext cx="3776909" cy="2390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E184515-6008-1B28-6316-6DE05E96470A}"/>
                  </a:ext>
                </a:extLst>
              </p:cNvPr>
              <p:cNvSpPr/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E184515-6008-1B28-6316-6DE05E9647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573FBDE9-107C-2FD8-E841-10880797DA00}"/>
                  </a:ext>
                </a:extLst>
              </p:cNvPr>
              <p:cNvSpPr/>
              <p:nvPr/>
            </p:nvSpPr>
            <p:spPr>
              <a:xfrm>
                <a:off x="4262851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573FBDE9-107C-2FD8-E841-10880797DA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851" y="1652753"/>
                <a:ext cx="3794760" cy="56896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642C9BAF-9D22-EEBA-F8FE-3802CAA1E295}"/>
                  </a:ext>
                </a:extLst>
              </p:cNvPr>
              <p:cNvSpPr/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642C9BAF-9D22-EEBA-F8FE-3802CAA1E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9404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2402AA4-B698-AB8E-0F34-B0191705BA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1" b="133"/>
          <a:stretch>
            <a:fillRect/>
          </a:stretch>
        </p:blipFill>
        <p:spPr>
          <a:xfrm>
            <a:off x="3916982" y="2374490"/>
            <a:ext cx="7497507" cy="340981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041152D-EE08-C006-756B-8D1F33D5824C}"/>
              </a:ext>
            </a:extLst>
          </p:cNvPr>
          <p:cNvSpPr/>
          <p:nvPr/>
        </p:nvSpPr>
        <p:spPr>
          <a:xfrm>
            <a:off x="8057611" y="3275975"/>
            <a:ext cx="3776909" cy="2390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First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0CA6EA-F05D-52D5-D6F8-D280300E7F90}"/>
                  </a:ext>
                </a:extLst>
              </p:cNvPr>
              <p:cNvSpPr txBox="1"/>
              <p:nvPr/>
            </p:nvSpPr>
            <p:spPr>
              <a:xfrm>
                <a:off x="3916982" y="5822458"/>
                <a:ext cx="47703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knows they are communicating with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𝐼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, but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 believes they are communicating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</m:oMath>
                </a14:m>
                <a:endParaRPr lang="en-US" sz="1800" dirty="0"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0CA6EA-F05D-52D5-D6F8-D280300E7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982" y="5822458"/>
                <a:ext cx="4770324" cy="646331"/>
              </a:xfrm>
              <a:prstGeom prst="rect">
                <a:avLst/>
              </a:prstGeom>
              <a:blipFill>
                <a:blip r:embed="rId4"/>
                <a:stretch>
                  <a:fillRect t="-3846" r="-532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C9D37ECC-8D94-9D30-B058-7296E107CD7E}"/>
              </a:ext>
            </a:extLst>
          </p:cNvPr>
          <p:cNvSpPr/>
          <p:nvPr/>
        </p:nvSpPr>
        <p:spPr>
          <a:xfrm>
            <a:off x="8057611" y="3335119"/>
            <a:ext cx="3776909" cy="2390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E184515-6008-1B28-6316-6DE05E96470A}"/>
                  </a:ext>
                </a:extLst>
              </p:cNvPr>
              <p:cNvSpPr/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E184515-6008-1B28-6316-6DE05E9647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573FBDE9-107C-2FD8-E841-10880797DA00}"/>
                  </a:ext>
                </a:extLst>
              </p:cNvPr>
              <p:cNvSpPr/>
              <p:nvPr/>
            </p:nvSpPr>
            <p:spPr>
              <a:xfrm>
                <a:off x="4262851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573FBDE9-107C-2FD8-E841-10880797DA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851" y="1652753"/>
                <a:ext cx="3794760" cy="56896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642C9BAF-9D22-EEBA-F8FE-3802CAA1E295}"/>
                  </a:ext>
                </a:extLst>
              </p:cNvPr>
              <p:cNvSpPr/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642C9BAF-9D22-EEBA-F8FE-3802CAA1E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17398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First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055EB5-9EB7-C956-241C-87EB70AE71C2}"/>
              </a:ext>
            </a:extLst>
          </p:cNvPr>
          <p:cNvSpPr/>
          <p:nvPr/>
        </p:nvSpPr>
        <p:spPr>
          <a:xfrm>
            <a:off x="7130577" y="3275975"/>
            <a:ext cx="3776909" cy="2390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6348B262-FFCF-CD5F-2620-5F72AF4E5EF9}"/>
                  </a:ext>
                </a:extLst>
              </p:cNvPr>
              <p:cNvSpPr/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6348B262-FFCF-CD5F-2620-5F72AF4E5E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56B491E1-FA81-96AA-02D3-8D77462F2932}"/>
                  </a:ext>
                </a:extLst>
              </p:cNvPr>
              <p:cNvSpPr/>
              <p:nvPr/>
            </p:nvSpPr>
            <p:spPr>
              <a:xfrm>
                <a:off x="4262851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56B491E1-FA81-96AA-02D3-8D77462F29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851" y="1652753"/>
                <a:ext cx="3794760" cy="56896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2DF229C0-7550-F3DE-647D-A84DAB873435}"/>
                  </a:ext>
                </a:extLst>
              </p:cNvPr>
              <p:cNvSpPr/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2DF229C0-7550-F3DE-647D-A84DAB87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E07EFD4B-F6BF-5390-B90D-367B28E700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21" b="133"/>
          <a:stretch>
            <a:fillRect/>
          </a:stretch>
        </p:blipFill>
        <p:spPr>
          <a:xfrm>
            <a:off x="3916982" y="2374490"/>
            <a:ext cx="7497507" cy="340981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18B784B-8C82-5363-E017-D1EA2BC6D8E2}"/>
              </a:ext>
            </a:extLst>
          </p:cNvPr>
          <p:cNvSpPr/>
          <p:nvPr/>
        </p:nvSpPr>
        <p:spPr>
          <a:xfrm>
            <a:off x="8057611" y="3275975"/>
            <a:ext cx="3776909" cy="2390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0CA6EA-F05D-52D5-D6F8-D280300E7F90}"/>
                  </a:ext>
                </a:extLst>
              </p:cNvPr>
              <p:cNvSpPr txBox="1"/>
              <p:nvPr/>
            </p:nvSpPr>
            <p:spPr>
              <a:xfrm>
                <a:off x="1627996" y="3481209"/>
                <a:ext cx="24808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latin typeface=""/>
                    <a:ea typeface="Source Sans Pro"/>
                  </a:rPr>
                  <a:t>Impersonation should be noticed by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𝐴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!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0CA6EA-F05D-52D5-D6F8-D280300E7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996" y="3481209"/>
                <a:ext cx="2480801" cy="646331"/>
              </a:xfrm>
              <a:prstGeom prst="rect">
                <a:avLst/>
              </a:prstGeom>
              <a:blipFill>
                <a:blip r:embed="rId7"/>
                <a:stretch>
                  <a:fillRect l="-2041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1F0314-B726-C865-6B5C-8F6BF8FF6D94}"/>
                  </a:ext>
                </a:extLst>
              </p:cNvPr>
              <p:cNvSpPr txBox="1"/>
              <p:nvPr/>
            </p:nvSpPr>
            <p:spPr>
              <a:xfrm>
                <a:off x="1627996" y="4229013"/>
                <a:ext cx="29589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latin typeface=""/>
                    <a:ea typeface="Source Sans Pro"/>
                  </a:rPr>
                  <a:t>The message should be bound to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𝐵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’s identity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1F0314-B726-C865-6B5C-8F6BF8FF6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996" y="4229013"/>
                <a:ext cx="2958959" cy="646331"/>
              </a:xfrm>
              <a:prstGeom prst="rect">
                <a:avLst/>
              </a:prstGeom>
              <a:blipFill>
                <a:blip r:embed="rId8"/>
                <a:stretch>
                  <a:fillRect l="-1717" t="-5882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922CB7-FD51-B189-3F23-0A5A3B06FE29}"/>
                  </a:ext>
                </a:extLst>
              </p:cNvPr>
              <p:cNvSpPr txBox="1"/>
              <p:nvPr/>
            </p:nvSpPr>
            <p:spPr>
              <a:xfrm>
                <a:off x="1627996" y="5005483"/>
                <a:ext cx="2480801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latin typeface=""/>
                    <a:ea typeface="Source Sans Pro"/>
                  </a:rPr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, </m:t>
                            </m:r>
                            <m: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 </a:t>
                </a:r>
                <a:r>
                  <a:rPr lang="en-US" sz="1800" dirty="0">
                    <a:latin typeface=""/>
                    <a:ea typeface="Source Sans Pro"/>
                  </a:rPr>
                  <a:t>prevents the attack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922CB7-FD51-B189-3F23-0A5A3B06F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996" y="5005483"/>
                <a:ext cx="2480801" cy="669992"/>
              </a:xfrm>
              <a:prstGeom prst="rect">
                <a:avLst/>
              </a:prstGeom>
              <a:blipFill>
                <a:blip r:embed="rId9"/>
                <a:stretch>
                  <a:fillRect l="-2041" t="-3774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4D31A6C9-6F8A-284D-7BCE-C884CA4EE4B0}"/>
              </a:ext>
            </a:extLst>
          </p:cNvPr>
          <p:cNvSpPr/>
          <p:nvPr/>
        </p:nvSpPr>
        <p:spPr>
          <a:xfrm>
            <a:off x="4302529" y="4127540"/>
            <a:ext cx="3683479" cy="905773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E4D475-DD46-7C1C-0DBB-11E305F9BF89}"/>
              </a:ext>
            </a:extLst>
          </p:cNvPr>
          <p:cNvSpPr/>
          <p:nvPr/>
        </p:nvSpPr>
        <p:spPr>
          <a:xfrm>
            <a:off x="5001106" y="3364975"/>
            <a:ext cx="508441" cy="20179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4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B134-327B-0941-EFA2-626FD1C1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Needham-Schroeder Public Key Protocol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6B429F-7074-2761-2461-E28DCEBC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0" t="451" r="1260" b="301"/>
          <a:stretch>
            <a:fillRect/>
          </a:stretch>
        </p:blipFill>
        <p:spPr>
          <a:xfrm>
            <a:off x="2182874" y="1966673"/>
            <a:ext cx="7905563" cy="3203289"/>
          </a:xfrm>
          <a:prstGeom prst="rect">
            <a:avLst/>
          </a:prstGeom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EF90065-7AAE-0B0A-B959-AA669B120547}"/>
              </a:ext>
            </a:extLst>
          </p:cNvPr>
          <p:cNvSpPr/>
          <p:nvPr/>
        </p:nvSpPr>
        <p:spPr>
          <a:xfrm>
            <a:off x="3315955" y="3868102"/>
            <a:ext cx="840011" cy="35021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D5D8792B-348B-7118-E779-82A64458F613}"/>
                  </a:ext>
                </a:extLst>
              </p:cNvPr>
              <p:cNvSpPr/>
              <p:nvPr/>
            </p:nvSpPr>
            <p:spPr>
              <a:xfrm>
                <a:off x="3541167" y="5483336"/>
                <a:ext cx="4940580" cy="509478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Using a triple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  <a:ea typeface="Source Sans Pro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, </m:t>
                            </m:r>
                            <m: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prevents the attack.</a:t>
                </a: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D5D8792B-348B-7118-E779-82A64458F6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167" y="5483336"/>
                <a:ext cx="4940580" cy="509478"/>
              </a:xfrm>
              <a:prstGeom prst="roundRect">
                <a:avLst/>
              </a:prstGeom>
              <a:blipFill>
                <a:blip r:embed="rId4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2CE4F6B-AAEC-820D-12D9-1F65669DF6C2}"/>
                  </a:ext>
                </a:extLst>
              </p:cNvPr>
              <p:cNvSpPr/>
              <p:nvPr/>
            </p:nvSpPr>
            <p:spPr>
              <a:xfrm>
                <a:off x="3541167" y="6163661"/>
                <a:ext cx="4940580" cy="509478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What about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⟨</m:t>
                    </m:r>
                    <m:sSub>
                      <m:sSubPr>
                        <m:ctrlP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𝐴</m:t>
                        </m:r>
                      </m:sub>
                    </m:sSub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⟨</m:t>
                        </m:r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</m:t>
                    </m:r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𝐵</m:t>
                    </m:r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⟩⟩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?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2CE4F6B-AAEC-820D-12D9-1F65669DF6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167" y="6163661"/>
                <a:ext cx="4940580" cy="509478"/>
              </a:xfrm>
              <a:prstGeom prst="roundRect">
                <a:avLst/>
              </a:prstGeom>
              <a:blipFill>
                <a:blip r:embed="rId5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BEDBE90-DE91-072D-8166-75C57F6DAC62}"/>
              </a:ext>
            </a:extLst>
          </p:cNvPr>
          <p:cNvSpPr txBox="1"/>
          <p:nvPr/>
        </p:nvSpPr>
        <p:spPr>
          <a:xfrm>
            <a:off x="6382716" y="4886054"/>
            <a:ext cx="282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Bind message to sender 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1E7CBE-AFAA-F245-8DF8-7C9B5B4B1461}"/>
              </a:ext>
            </a:extLst>
          </p:cNvPr>
          <p:cNvSpPr/>
          <p:nvPr/>
        </p:nvSpPr>
        <p:spPr>
          <a:xfrm>
            <a:off x="5854603" y="5588000"/>
            <a:ext cx="281052" cy="3055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7397EB-652A-735D-C702-BAAE6CCBF594}"/>
              </a:ext>
            </a:extLst>
          </p:cNvPr>
          <p:cNvCxnSpPr>
            <a:cxnSpLocks/>
            <a:stCxn id="9" idx="1"/>
            <a:endCxn id="10" idx="0"/>
          </p:cNvCxnSpPr>
          <p:nvPr/>
        </p:nvCxnSpPr>
        <p:spPr>
          <a:xfrm flipH="1">
            <a:off x="5995129" y="5070720"/>
            <a:ext cx="387587" cy="517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D36F06D-4161-7F52-8709-DCF721DBD495}"/>
              </a:ext>
            </a:extLst>
          </p:cNvPr>
          <p:cNvSpPr/>
          <p:nvPr/>
        </p:nvSpPr>
        <p:spPr>
          <a:xfrm>
            <a:off x="5369826" y="3200400"/>
            <a:ext cx="3841293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52BDBA-9C84-7027-4C8F-B6AFC2527999}"/>
              </a:ext>
            </a:extLst>
          </p:cNvPr>
          <p:cNvSpPr/>
          <p:nvPr/>
        </p:nvSpPr>
        <p:spPr>
          <a:xfrm>
            <a:off x="5369826" y="4314879"/>
            <a:ext cx="3841293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5AC21A-3D00-4576-7E8B-51C6C4B8E1CB}"/>
              </a:ext>
            </a:extLst>
          </p:cNvPr>
          <p:cNvSpPr txBox="1"/>
          <p:nvPr/>
        </p:nvSpPr>
        <p:spPr>
          <a:xfrm>
            <a:off x="7255747" y="623373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6">
                    <a:lumMod val="75000"/>
                  </a:schemeClr>
                </a:solidFill>
                <a:latin typeface=""/>
              </a:rPr>
              <a:t>Insecure!</a:t>
            </a:r>
          </a:p>
        </p:txBody>
      </p:sp>
    </p:spTree>
    <p:extLst>
      <p:ext uri="{BB962C8B-B14F-4D97-AF65-F5344CB8AC3E}">
        <p14:creationId xmlns:p14="http://schemas.microsoft.com/office/powerpoint/2010/main" val="136642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2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Type Confusion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graph&#10;&#10;Description automatically generated">
            <a:extLst>
              <a:ext uri="{FF2B5EF4-FFF2-40B4-BE49-F238E27FC236}">
                <a16:creationId xmlns:a16="http://schemas.microsoft.com/office/drawing/2014/main" id="{00C21EE1-30BD-07A2-3ECD-A23083217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806" y="2260677"/>
            <a:ext cx="8744674" cy="375307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A4279A4-74A9-BC0C-2536-FCBE23E16BE3}"/>
              </a:ext>
            </a:extLst>
          </p:cNvPr>
          <p:cNvSpPr/>
          <p:nvPr/>
        </p:nvSpPr>
        <p:spPr>
          <a:xfrm>
            <a:off x="4075435" y="3377071"/>
            <a:ext cx="4055408" cy="98107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C3DB54-EC6A-EC9B-46EF-2E5E414A27C0}"/>
              </a:ext>
            </a:extLst>
          </p:cNvPr>
          <p:cNvSpPr txBox="1"/>
          <p:nvPr/>
        </p:nvSpPr>
        <p:spPr>
          <a:xfrm>
            <a:off x="2214581" y="3631962"/>
            <a:ext cx="2539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"/>
                <a:ea typeface="Source Sans Pro"/>
              </a:rPr>
              <a:t>Intruder initiates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ABA4D8CC-0C61-502F-308E-51431554350D}"/>
                  </a:ext>
                </a:extLst>
              </p:cNvPr>
              <p:cNvSpPr/>
              <p:nvPr/>
            </p:nvSpPr>
            <p:spPr>
              <a:xfrm>
                <a:off x="4067816" y="1652753"/>
                <a:ext cx="4095379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ABA4D8CC-0C61-502F-308E-5143155435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816" y="1652753"/>
                <a:ext cx="4095379" cy="56896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76096595-3B7A-6F60-13DB-5FF06375C7E3}"/>
              </a:ext>
            </a:extLst>
          </p:cNvPr>
          <p:cNvSpPr/>
          <p:nvPr/>
        </p:nvSpPr>
        <p:spPr>
          <a:xfrm>
            <a:off x="8300931" y="3249386"/>
            <a:ext cx="4012233" cy="2645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4C8B001-C58E-BF9C-5A00-C6ACEE5BE58C}"/>
                  </a:ext>
                </a:extLst>
              </p:cNvPr>
              <p:cNvSpPr/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4C8B001-C58E-BF9C-5A00-C6ACEE5BE5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69293631-5D53-5AE9-772B-74F7CE62AD7B}"/>
                  </a:ext>
                </a:extLst>
              </p:cNvPr>
              <p:cNvSpPr/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69293631-5D53-5AE9-772B-74F7CE62A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94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diagram of a graph&#10;&#10;Description automatically generated">
            <a:extLst>
              <a:ext uri="{FF2B5EF4-FFF2-40B4-BE49-F238E27FC236}">
                <a16:creationId xmlns:a16="http://schemas.microsoft.com/office/drawing/2014/main" id="{5512973A-5467-8C03-AB42-9C717B5B6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806" y="2260677"/>
            <a:ext cx="8744674" cy="37530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Type Confusion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D08E0167-012F-D41A-5BB4-CCCDD5B1C32B}"/>
                  </a:ext>
                </a:extLst>
              </p:cNvPr>
              <p:cNvSpPr/>
              <p:nvPr/>
            </p:nvSpPr>
            <p:spPr>
              <a:xfrm>
                <a:off x="4067816" y="1652753"/>
                <a:ext cx="4095379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D08E0167-012F-D41A-5BB4-CCCDD5B1C3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816" y="1652753"/>
                <a:ext cx="4095379" cy="56896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16F1F1F9-A25A-C9D6-2600-5943393577B0}"/>
                  </a:ext>
                </a:extLst>
              </p:cNvPr>
              <p:cNvSpPr/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16F1F1F9-A25A-C9D6-2600-5943393577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822C1D7F-1E9F-10FF-2837-A8EDAEDF0D2E}"/>
                  </a:ext>
                </a:extLst>
              </p:cNvPr>
              <p:cNvSpPr/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822C1D7F-1E9F-10FF-2837-A8EDAEDF0D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4A4279A4-74A9-BC0C-2536-FCBE23E16BE3}"/>
              </a:ext>
            </a:extLst>
          </p:cNvPr>
          <p:cNvSpPr/>
          <p:nvPr/>
        </p:nvSpPr>
        <p:spPr>
          <a:xfrm>
            <a:off x="4075431" y="3783852"/>
            <a:ext cx="4055408" cy="98107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C3DB54-EC6A-EC9B-46EF-2E5E414A27C0}"/>
              </a:ext>
            </a:extLst>
          </p:cNvPr>
          <p:cNvSpPr txBox="1"/>
          <p:nvPr/>
        </p:nvSpPr>
        <p:spPr>
          <a:xfrm>
            <a:off x="1535697" y="3783852"/>
            <a:ext cx="25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"/>
                <a:ea typeface="Source Sans Pro"/>
              </a:rPr>
              <a:t>Response is confused as an initiation!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4145F7-3FC4-B454-40AA-F5E1E95958DA}"/>
              </a:ext>
            </a:extLst>
          </p:cNvPr>
          <p:cNvSpPr/>
          <p:nvPr/>
        </p:nvSpPr>
        <p:spPr>
          <a:xfrm>
            <a:off x="8300931" y="3249386"/>
            <a:ext cx="4012233" cy="2645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810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diagram of a graph&#10;&#10;Description automatically generated">
            <a:extLst>
              <a:ext uri="{FF2B5EF4-FFF2-40B4-BE49-F238E27FC236}">
                <a16:creationId xmlns:a16="http://schemas.microsoft.com/office/drawing/2014/main" id="{2C0D0FFA-BF8E-45FC-8FB4-1E8660550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806" y="2260677"/>
            <a:ext cx="8744674" cy="37530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Type Confusion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38C7FF64-D2CF-15D0-0E69-3B0F966DDA89}"/>
                  </a:ext>
                </a:extLst>
              </p:cNvPr>
              <p:cNvSpPr/>
              <p:nvPr/>
            </p:nvSpPr>
            <p:spPr>
              <a:xfrm>
                <a:off x="4067816" y="1652753"/>
                <a:ext cx="4095379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38C7FF64-D2CF-15D0-0E69-3B0F966DDA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816" y="1652753"/>
                <a:ext cx="4095379" cy="56896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FB98A3CD-5B49-B0C0-FD1A-CA64B45C1552}"/>
                  </a:ext>
                </a:extLst>
              </p:cNvPr>
              <p:cNvSpPr/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FB98A3CD-5B49-B0C0-FD1A-CA64B45C15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F91F6DAD-D5F8-14A3-5C5E-C1BB47E2BF88}"/>
                  </a:ext>
                </a:extLst>
              </p:cNvPr>
              <p:cNvSpPr/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F91F6DAD-D5F8-14A3-5C5E-C1BB47E2B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4A4279A4-74A9-BC0C-2536-FCBE23E16BE3}"/>
              </a:ext>
            </a:extLst>
          </p:cNvPr>
          <p:cNvSpPr/>
          <p:nvPr/>
        </p:nvSpPr>
        <p:spPr>
          <a:xfrm>
            <a:off x="4087470" y="4896631"/>
            <a:ext cx="4055408" cy="98107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C3DB54-EC6A-EC9B-46EF-2E5E414A27C0}"/>
                  </a:ext>
                </a:extLst>
              </p:cNvPr>
              <p:cNvSpPr txBox="1"/>
              <p:nvPr/>
            </p:nvSpPr>
            <p:spPr>
              <a:xfrm>
                <a:off x="2027801" y="4852390"/>
                <a:ext cx="1994353" cy="1224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"/>
                    <a:ea typeface="Source Sans Pro"/>
                  </a:rPr>
                  <a:t> responds thinking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𝐼</m:t>
                    </m:r>
                    <m:r>
                      <a:rPr lang="en-US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dirty="0">
                    <a:latin typeface=""/>
                    <a:ea typeface="Source Sans Pro"/>
                  </a:rPr>
                  <a:t>initiated with them, but it leaks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𝑁</m:t>
                        </m:r>
                      </m:e>
                      <m:sub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endParaRPr lang="en-US" sz="1800" dirty="0"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C3DB54-EC6A-EC9B-46EF-2E5E414A2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801" y="4852390"/>
                <a:ext cx="1994353" cy="1224118"/>
              </a:xfrm>
              <a:prstGeom prst="rect">
                <a:avLst/>
              </a:prstGeom>
              <a:blipFill>
                <a:blip r:embed="rId7"/>
                <a:stretch>
                  <a:fillRect l="-2532" t="-2062" r="-1266" b="-4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2FB3039F-4437-4B83-48B4-87B21F37C511}"/>
              </a:ext>
            </a:extLst>
          </p:cNvPr>
          <p:cNvSpPr/>
          <p:nvPr/>
        </p:nvSpPr>
        <p:spPr>
          <a:xfrm>
            <a:off x="8300931" y="3249386"/>
            <a:ext cx="4012233" cy="2645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78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diagram of a graph&#10;&#10;Description automatically generated">
            <a:extLst>
              <a:ext uri="{FF2B5EF4-FFF2-40B4-BE49-F238E27FC236}">
                <a16:creationId xmlns:a16="http://schemas.microsoft.com/office/drawing/2014/main" id="{2C0D0FFA-BF8E-45FC-8FB4-1E8660550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806" y="2260677"/>
            <a:ext cx="8744674" cy="37530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Type Confusion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38C7FF64-D2CF-15D0-0E69-3B0F966DDA89}"/>
                  </a:ext>
                </a:extLst>
              </p:cNvPr>
              <p:cNvSpPr/>
              <p:nvPr/>
            </p:nvSpPr>
            <p:spPr>
              <a:xfrm>
                <a:off x="4067816" y="1652753"/>
                <a:ext cx="4095379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38C7FF64-D2CF-15D0-0E69-3B0F966DDA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816" y="1652753"/>
                <a:ext cx="4095379" cy="56896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FB98A3CD-5B49-B0C0-FD1A-CA64B45C1552}"/>
                  </a:ext>
                </a:extLst>
              </p:cNvPr>
              <p:cNvSpPr/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FB98A3CD-5B49-B0C0-FD1A-CA64B45C15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F91F6DAD-D5F8-14A3-5C5E-C1BB47E2BF88}"/>
                  </a:ext>
                </a:extLst>
              </p:cNvPr>
              <p:cNvSpPr/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F91F6DAD-D5F8-14A3-5C5E-C1BB47E2B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2FB3039F-4437-4B83-48B4-87B21F37C511}"/>
              </a:ext>
            </a:extLst>
          </p:cNvPr>
          <p:cNvSpPr/>
          <p:nvPr/>
        </p:nvSpPr>
        <p:spPr>
          <a:xfrm>
            <a:off x="8300931" y="3249386"/>
            <a:ext cx="4012233" cy="2645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65C11-C638-2DE4-BF30-34B48FC986F5}"/>
                  </a:ext>
                </a:extLst>
              </p:cNvPr>
              <p:cNvSpPr txBox="1"/>
              <p:nvPr/>
            </p:nvSpPr>
            <p:spPr>
              <a:xfrm>
                <a:off x="4439405" y="6013755"/>
                <a:ext cx="3007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"/>
                  </a:rPr>
                  <a:t> has impersonated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65C11-C638-2DE4-BF30-34B48FC98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405" y="6013755"/>
                <a:ext cx="3007875" cy="369332"/>
              </a:xfrm>
              <a:prstGeom prst="rect">
                <a:avLst/>
              </a:prstGeom>
              <a:blipFill>
                <a:blip r:embed="rId7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25488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1E4EA248-AB8D-433B-1855-C467EEB553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8243" y="2311773"/>
                <a:ext cx="10515600" cy="168110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Rule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={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…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}→{</m:t>
                      </m:r>
                      <m:r>
                        <m:rPr>
                          <m:nor/>
                        </m:rPr>
                        <a:rPr lang="en-US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Out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enc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𝐴</m:t>
                                  </m:r>
                                  <m: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𝐴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i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k</m:t>
                              </m:r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(</m:t>
                              </m:r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,…</m:t>
                      </m:r>
                    </m:oMath>
                  </m:oMathPara>
                </a14:m>
                <a:endParaRPr lang="en-US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Rule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…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→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Out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enc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, ⟨</m:t>
                                  </m:r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, </m:t>
                                  </m:r>
                                  <m: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𝐵</m:t>
                                  </m:r>
                                  <m: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⟩</m:t>
                                  </m:r>
                                </m:e>
                              </m:d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i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k</m:t>
                              </m:r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(</m:t>
                              </m:r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,…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Source Sans Pro"/>
                  <a:ea typeface="Source Sans Pro"/>
                </a:endParaRPr>
              </a:p>
              <a:p>
                <a:endParaRPr lang="en-US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1E4EA248-AB8D-433B-1855-C467EEB55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43" y="2311773"/>
                <a:ext cx="10515600" cy="1681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Type Confusion Attack on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DDF645-5129-B9D2-A764-38644C2916D2}"/>
                  </a:ext>
                </a:extLst>
              </p:cNvPr>
              <p:cNvSpPr txBox="1"/>
              <p:nvPr/>
            </p:nvSpPr>
            <p:spPr>
              <a:xfrm>
                <a:off x="2457378" y="4300341"/>
                <a:ext cx="7316251" cy="578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𝐹𝑟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𝐹𝑟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𝑃𝑢𝑏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𝑀𝑠𝑔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…}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DDF645-5129-B9D2-A764-38644C291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378" y="4300341"/>
                <a:ext cx="7316251" cy="578941"/>
              </a:xfrm>
              <a:prstGeom prst="rect">
                <a:avLst/>
              </a:prstGeom>
              <a:blipFill>
                <a:blip r:embed="rId4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952C69CE-C26E-C631-C49C-5895D81623D5}"/>
              </a:ext>
            </a:extLst>
          </p:cNvPr>
          <p:cNvSpPr/>
          <p:nvPr/>
        </p:nvSpPr>
        <p:spPr>
          <a:xfrm>
            <a:off x="5233489" y="2738645"/>
            <a:ext cx="3698241" cy="4506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64F116-F5DE-9395-6309-6AF64AB8EB90}"/>
              </a:ext>
            </a:extLst>
          </p:cNvPr>
          <p:cNvSpPr/>
          <p:nvPr/>
        </p:nvSpPr>
        <p:spPr>
          <a:xfrm>
            <a:off x="4859049" y="3198175"/>
            <a:ext cx="4518772" cy="4506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45BAE93-272E-51BB-928F-C98DD6251EE9}"/>
              </a:ext>
            </a:extLst>
          </p:cNvPr>
          <p:cNvSpPr/>
          <p:nvPr/>
        </p:nvSpPr>
        <p:spPr>
          <a:xfrm>
            <a:off x="2820530" y="5010621"/>
            <a:ext cx="6589949" cy="8118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dirty="0">
                <a:latin typeface=""/>
                <a:ea typeface="Source Sans Pro"/>
              </a:rPr>
              <a:t>With more sort information, the unifier is not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"/>
                <a:ea typeface="Source Sans Pro"/>
              </a:rPr>
              <a:t>well-sorted</a:t>
            </a:r>
            <a:r>
              <a:rPr lang="en-US" dirty="0">
                <a:latin typeface=""/>
                <a:ea typeface="Source Sans Pro"/>
              </a:rPr>
              <a:t>           (step 2 expects a fresh atomic value and gets a pair message)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4B9807-E1A8-D9CF-8DBE-8C7E3B014596}"/>
              </a:ext>
            </a:extLst>
          </p:cNvPr>
          <p:cNvSpPr/>
          <p:nvPr/>
        </p:nvSpPr>
        <p:spPr>
          <a:xfrm>
            <a:off x="2468880" y="4168927"/>
            <a:ext cx="7316251" cy="18661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80FF3E4B-0FEC-C016-2923-B3ACB0E50822}"/>
                  </a:ext>
                </a:extLst>
              </p:cNvPr>
              <p:cNvSpPr/>
              <p:nvPr/>
            </p:nvSpPr>
            <p:spPr>
              <a:xfrm>
                <a:off x="4067816" y="1652753"/>
                <a:ext cx="4095379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80FF3E4B-0FEC-C016-2923-B3ACB0E508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816" y="1652753"/>
                <a:ext cx="4095379" cy="56896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CDE7F1C5-9282-31A3-0019-E4F453ADA68D}"/>
                  </a:ext>
                </a:extLst>
              </p:cNvPr>
              <p:cNvSpPr/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CDE7F1C5-9282-31A3-0019-E4F453ADA6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EED4DC6F-3A06-4A4D-9322-EC56F6579EA7}"/>
                  </a:ext>
                </a:extLst>
              </p:cNvPr>
              <p:cNvSpPr/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EED4DC6F-3A06-4A4D-9322-EC56F6579E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42B6A13-DE1A-DB78-6469-9C1E3FA96E06}"/>
              </a:ext>
            </a:extLst>
          </p:cNvPr>
          <p:cNvSpPr/>
          <p:nvPr/>
        </p:nvSpPr>
        <p:spPr>
          <a:xfrm>
            <a:off x="10008840" y="2903535"/>
            <a:ext cx="1793014" cy="589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Unifiable!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9ABA28-8175-7014-A5D4-0525CDE1DFCB}"/>
              </a:ext>
            </a:extLst>
          </p:cNvPr>
          <p:cNvSpPr txBox="1"/>
          <p:nvPr/>
        </p:nvSpPr>
        <p:spPr>
          <a:xfrm>
            <a:off x="4793193" y="2248475"/>
            <a:ext cx="2605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"/>
              </a:rPr>
              <a:t>What is the problem?</a:t>
            </a:r>
          </a:p>
        </p:txBody>
      </p:sp>
    </p:spTree>
    <p:extLst>
      <p:ext uri="{BB962C8B-B14F-4D97-AF65-F5344CB8AC3E}">
        <p14:creationId xmlns:p14="http://schemas.microsoft.com/office/powerpoint/2010/main" val="293934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" grpId="1"/>
      <p:bldP spid="3" grpId="2"/>
      <p:bldP spid="13" grpId="1" animBg="1"/>
      <p:bldP spid="11" grpId="1" animBg="1"/>
      <p:bldP spid="16" grpId="0" animBg="1"/>
      <p:bldP spid="17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Type Confusion Attack on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3DD4E-6041-0067-4BBA-A27F6D68D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19" y="1638080"/>
            <a:ext cx="10515600" cy="74014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Is this a design-level bug or a parsing bug?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89C09-AAAC-32EE-8A95-930FDB2F6F2D}"/>
              </a:ext>
            </a:extLst>
          </p:cNvPr>
          <p:cNvSpPr txBox="1"/>
          <p:nvPr/>
        </p:nvSpPr>
        <p:spPr>
          <a:xfrm>
            <a:off x="3907823" y="5577840"/>
            <a:ext cx="3390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Tamarin leaves it up to the user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DC0DBAA-8E23-EF50-0164-AD47EBB91B30}"/>
              </a:ext>
            </a:extLst>
          </p:cNvPr>
          <p:cNvSpPr/>
          <p:nvPr/>
        </p:nvSpPr>
        <p:spPr>
          <a:xfrm>
            <a:off x="1407161" y="2370318"/>
            <a:ext cx="4289566" cy="529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ritannic Bold" panose="020B0903060703020204" pitchFamily="34" charset="77"/>
              </a:rPr>
              <a:t>Design-level bug!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9696CC7-9151-BEF2-9855-0697B91C7A07}"/>
              </a:ext>
            </a:extLst>
          </p:cNvPr>
          <p:cNvSpPr/>
          <p:nvPr/>
        </p:nvSpPr>
        <p:spPr>
          <a:xfrm>
            <a:off x="6424155" y="2366020"/>
            <a:ext cx="4268364" cy="529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ritannic Bold" panose="020B0903060703020204" pitchFamily="34" charset="77"/>
              </a:rPr>
              <a:t>Parsing bug!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A981D6-D16C-EEF1-5AF5-CA041D2BE4A1}"/>
                  </a:ext>
                </a:extLst>
              </p:cNvPr>
              <p:cNvSpPr txBox="1"/>
              <p:nvPr/>
            </p:nvSpPr>
            <p:spPr>
              <a:xfrm>
                <a:off x="3845560" y="5890330"/>
                <a:ext cx="4767202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Rule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In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enc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, ⟨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, </m:t>
                                  </m:r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𝐵</m:t>
                                  </m:r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⟩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k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,…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A981D6-D16C-EEF1-5AF5-CA041D2BE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560" y="5890330"/>
                <a:ext cx="4767202" cy="404983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D0FFB11-F6F3-499B-017A-BE14BF219251}"/>
                  </a:ext>
                </a:extLst>
              </p:cNvPr>
              <p:cNvSpPr txBox="1"/>
              <p:nvPr/>
            </p:nvSpPr>
            <p:spPr>
              <a:xfrm>
                <a:off x="3853620" y="6240281"/>
                <a:ext cx="5532477" cy="506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Rule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={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In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enc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US" b="1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𝑭𝒓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, ⟨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en-US" b="1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𝑭𝒓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b="1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Source Sans Pro"/>
                                        </a:rPr>
                                        <m:t>𝑷𝒖𝒃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⟩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k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𝑠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b="1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𝑭𝒓</m:t>
                                  </m:r>
                                </m:sup>
                              </m:sSubSup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,…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D0FFB11-F6F3-499B-017A-BE14BF219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620" y="6240281"/>
                <a:ext cx="5532477" cy="5068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1C98E74A-6904-22D1-BAAD-BB289AF17225}"/>
              </a:ext>
            </a:extLst>
          </p:cNvPr>
          <p:cNvSpPr/>
          <p:nvPr/>
        </p:nvSpPr>
        <p:spPr>
          <a:xfrm>
            <a:off x="3774440" y="5577840"/>
            <a:ext cx="5556943" cy="11693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0250795-9026-AEEB-3B09-A25FE78856D9}"/>
              </a:ext>
            </a:extLst>
          </p:cNvPr>
          <p:cNvSpPr/>
          <p:nvPr/>
        </p:nvSpPr>
        <p:spPr>
          <a:xfrm>
            <a:off x="1407161" y="2912388"/>
            <a:ext cx="4270128" cy="8432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"/>
              </a:rPr>
              <a:t>Detectable in an abstract model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C6C33EA-1022-9119-0899-1B4A33A54C2D}"/>
              </a:ext>
            </a:extLst>
          </p:cNvPr>
          <p:cNvSpPr/>
          <p:nvPr/>
        </p:nvSpPr>
        <p:spPr>
          <a:xfrm>
            <a:off x="1407161" y="3772800"/>
            <a:ext cx="4270128" cy="8432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"/>
              </a:rPr>
              <a:t>Should not assume parsers </a:t>
            </a:r>
          </a:p>
          <a:p>
            <a:pPr algn="ctr"/>
            <a:r>
              <a:rPr lang="en-US" sz="1800" dirty="0">
                <a:solidFill>
                  <a:schemeClr val="tx1"/>
                </a:solidFill>
                <a:latin typeface=""/>
              </a:rPr>
              <a:t>are implemented well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921D106-436F-E26B-E832-FC010785B7CD}"/>
              </a:ext>
            </a:extLst>
          </p:cNvPr>
          <p:cNvSpPr/>
          <p:nvPr/>
        </p:nvSpPr>
        <p:spPr>
          <a:xfrm>
            <a:off x="6439536" y="2895936"/>
            <a:ext cx="4270128" cy="8432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"/>
              </a:rPr>
              <a:t>Does not affect all implementations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D0B7C12-4F66-4892-7645-C69E75F06F5B}"/>
              </a:ext>
            </a:extLst>
          </p:cNvPr>
          <p:cNvSpPr/>
          <p:nvPr/>
        </p:nvSpPr>
        <p:spPr>
          <a:xfrm>
            <a:off x="6439536" y="3746196"/>
            <a:ext cx="4270128" cy="8432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"/>
              </a:rPr>
              <a:t>No reasonable parser is affected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C0159C6-7D14-415A-9CFD-7A25C6115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641" y="2356929"/>
            <a:ext cx="497840" cy="49784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67C824D-CBC1-2CF6-7E64-61A956F814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111" y="2360172"/>
            <a:ext cx="558800" cy="558800"/>
          </a:xfrm>
          <a:prstGeom prst="rect">
            <a:avLst/>
          </a:prstGeom>
        </p:spPr>
      </p:pic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7004691-8A4C-BA5E-7CBD-578838AABB79}"/>
              </a:ext>
            </a:extLst>
          </p:cNvPr>
          <p:cNvSpPr/>
          <p:nvPr/>
        </p:nvSpPr>
        <p:spPr>
          <a:xfrm>
            <a:off x="1426599" y="4632279"/>
            <a:ext cx="4270128" cy="8432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"/>
              </a:rPr>
              <a:t>Compact binary formats do not include explicit type information</a:t>
            </a:r>
          </a:p>
        </p:txBody>
      </p:sp>
    </p:spTree>
    <p:extLst>
      <p:ext uri="{BB962C8B-B14F-4D97-AF65-F5344CB8AC3E}">
        <p14:creationId xmlns:p14="http://schemas.microsoft.com/office/powerpoint/2010/main" val="4130819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3" grpId="0" animBg="1"/>
      <p:bldP spid="27" grpId="0" animBg="1"/>
      <p:bldP spid="28" grpId="0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35E0-BEEA-EB4D-28A6-402771B8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0EAD-0D27-1C7F-A0A8-F961B406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88B1-2267-9A92-9381-94A9E59DC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Source Sans Pro"/>
              </a:rPr>
              <a:t>Talk objectives</a:t>
            </a:r>
          </a:p>
          <a:p>
            <a:r>
              <a:rPr lang="en-US" sz="3200" dirty="0">
                <a:ea typeface="Source Sans Pro"/>
              </a:rPr>
              <a:t>Cryptographic protocol verification background</a:t>
            </a:r>
          </a:p>
          <a:p>
            <a:r>
              <a:rPr lang="en-US" sz="3200" dirty="0">
                <a:ea typeface="Source Sans Pro"/>
              </a:rPr>
              <a:t>Automated reasoning for protocols </a:t>
            </a:r>
          </a:p>
          <a:p>
            <a:r>
              <a:rPr lang="en-US" sz="3200" dirty="0">
                <a:ea typeface="Source Sans Pro"/>
              </a:rPr>
              <a:t>Breaking, fixing, and breaking Needham-Schroeder</a:t>
            </a:r>
          </a:p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Making reasoning tractable</a:t>
            </a:r>
            <a:endParaRPr lang="en-US" sz="3200" dirty="0">
              <a:ea typeface="Source Sans Pro"/>
            </a:endParaRPr>
          </a:p>
          <a:p>
            <a:r>
              <a:rPr lang="en-US" sz="3200" dirty="0">
                <a:ea typeface="Source Sans Pro"/>
              </a:rPr>
              <a:t>Discussion, Research Questions, &amp; Conclusion  </a:t>
            </a:r>
          </a:p>
          <a:p>
            <a:r>
              <a:rPr lang="en-US" sz="3200" dirty="0">
                <a:ea typeface="Source Sans Pro"/>
              </a:rPr>
              <a:t>Appendix: Making reasoning expressive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013BD-B792-7885-524D-3E34C6C84D3E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270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5B9CD5F-299D-0F81-DD48-C8D7DDC2167F}"/>
              </a:ext>
            </a:extLst>
          </p:cNvPr>
          <p:cNvSpPr/>
          <p:nvPr/>
        </p:nvSpPr>
        <p:spPr>
          <a:xfrm>
            <a:off x="2283071" y="2775857"/>
            <a:ext cx="7625443" cy="13062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  <a:latin typeface=""/>
                <a:ea typeface="Source Sans Pro"/>
              </a:rPr>
              <a:t>Symbolic model (unbounded)                protocol security is undecidable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063A3C-32E2-1038-A8A4-870CAE75A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928" y="2775857"/>
            <a:ext cx="1306286" cy="13062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7C7B51-92BC-9B5D-6F44-D50DCB2112E5}"/>
              </a:ext>
            </a:extLst>
          </p:cNvPr>
          <p:cNvSpPr txBox="1"/>
          <p:nvPr/>
        </p:nvSpPr>
        <p:spPr>
          <a:xfrm>
            <a:off x="2470440" y="4433104"/>
            <a:ext cx="7250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"/>
              </a:rPr>
              <a:t>How can we use typing information to make reasoning easier?</a:t>
            </a:r>
          </a:p>
        </p:txBody>
      </p:sp>
    </p:spTree>
    <p:extLst>
      <p:ext uri="{BB962C8B-B14F-4D97-AF65-F5344CB8AC3E}">
        <p14:creationId xmlns:p14="http://schemas.microsoft.com/office/powerpoint/2010/main" val="278026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66E0-3AE2-538B-2897-FC68DF25B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One can heuristically cut the search space by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 </a:t>
            </a:r>
            <a:r>
              <a:rPr lang="en-US" dirty="0">
                <a:ea typeface="Source Sans Pro"/>
              </a:rPr>
              <a:t>only considering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well-typed</a:t>
            </a:r>
            <a:r>
              <a:rPr lang="en-US" dirty="0">
                <a:ea typeface="Source Sans Pro"/>
              </a:rPr>
              <a:t> attacks… this is called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strong typing assumption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When is the strong typing assumption sound?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29E9BA44-F852-68E7-FB36-F455C086D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783" y="3600067"/>
            <a:ext cx="5769659" cy="24762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F44C939-3ECA-FB5D-9E0A-8A41DE31A9C8}"/>
              </a:ext>
            </a:extLst>
          </p:cNvPr>
          <p:cNvSpPr/>
          <p:nvPr/>
        </p:nvSpPr>
        <p:spPr>
          <a:xfrm>
            <a:off x="4416785" y="4228367"/>
            <a:ext cx="2803917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3F99FFE-3B47-207F-EE7E-197E25093DE0}"/>
              </a:ext>
            </a:extLst>
          </p:cNvPr>
          <p:cNvSpPr/>
          <p:nvPr/>
        </p:nvSpPr>
        <p:spPr>
          <a:xfrm>
            <a:off x="6433415" y="3649121"/>
            <a:ext cx="4378960" cy="101803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Maybe you don’t care about soundness… fair enough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A58E69-D6A7-DA55-D23B-99F35BB1F4EC}"/>
              </a:ext>
            </a:extLst>
          </p:cNvPr>
          <p:cNvSpPr/>
          <p:nvPr/>
        </p:nvSpPr>
        <p:spPr>
          <a:xfrm>
            <a:off x="6433415" y="4802089"/>
            <a:ext cx="4378960" cy="101803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But definitely not always!</a:t>
            </a:r>
          </a:p>
        </p:txBody>
      </p:sp>
    </p:spTree>
    <p:extLst>
      <p:ext uri="{BB962C8B-B14F-4D97-AF65-F5344CB8AC3E}">
        <p14:creationId xmlns:p14="http://schemas.microsoft.com/office/powerpoint/2010/main" val="178692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66E0-3AE2-538B-2897-FC68DF25B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Can we guarantee the absence of type confusion attacks?</a:t>
            </a:r>
            <a:endParaRPr lang="en-US" sz="2400" dirty="0">
              <a:solidFill>
                <a:srgbClr val="C00000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CBED7B1-FD00-4797-4DF2-6D8ABDDC55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644" y="4607484"/>
                <a:ext cx="3452192" cy="97821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 </m:t>
                    </m:r>
                  </m:oMath>
                </a14:m>
                <a:r>
                  <a:rPr lang="en-US" sz="2000" dirty="0">
                    <a:latin typeface=""/>
                    <a:ea typeface="Source Sans Pro"/>
                  </a:rPr>
                  <a:t>expends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tag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"/>
                    <a:ea typeface="Source Sans Pro"/>
                  </a:rPr>
                  <a:t> but gets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tag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"/>
                    <a:ea typeface="Source Sans Pro"/>
                  </a:rPr>
                  <a:t> (attack fails)</a:t>
                </a:r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CBED7B1-FD00-4797-4DF2-6D8ABDDC5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44" y="4607484"/>
                <a:ext cx="3452192" cy="978210"/>
              </a:xfrm>
              <a:prstGeom prst="rect">
                <a:avLst/>
              </a:prstGeom>
              <a:blipFill>
                <a:blip r:embed="rId3"/>
                <a:stretch>
                  <a:fillRect l="-1832" t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16C67BE9-BB5A-E697-5DD2-E953CF6CB4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644" y="5269461"/>
                <a:ext cx="3452192" cy="74370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𝐼</m:t>
                    </m:r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 </m:t>
                    </m:r>
                  </m:oMath>
                </a14:m>
                <a:r>
                  <a:rPr lang="en-US" sz="2000" dirty="0">
                    <a:latin typeface=""/>
                    <a:ea typeface="Source Sans Pro"/>
                  </a:rPr>
                  <a:t>cannot alter the tag due to encryption… </a:t>
                </a:r>
              </a:p>
              <a:p>
                <a:pPr marL="0" indent="0">
                  <a:buNone/>
                </a:pPr>
                <a:endParaRPr lang="en-US" sz="2000" dirty="0"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16C67BE9-BB5A-E697-5DD2-E953CF6CB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44" y="5269461"/>
                <a:ext cx="3452192" cy="743709"/>
              </a:xfrm>
              <a:prstGeom prst="rect">
                <a:avLst/>
              </a:prstGeom>
              <a:blipFill>
                <a:blip r:embed="rId4"/>
                <a:stretch>
                  <a:fillRect l="-1832" t="-6667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diagram of a person&#10;&#10;Description automatically generated">
            <a:extLst>
              <a:ext uri="{FF2B5EF4-FFF2-40B4-BE49-F238E27FC236}">
                <a16:creationId xmlns:a16="http://schemas.microsoft.com/office/drawing/2014/main" id="{50E78C67-D625-181E-6730-6A1DCFD381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835" y="3776870"/>
            <a:ext cx="8238583" cy="24000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381B804-8850-898A-60E0-66F3163C77FE}"/>
              </a:ext>
            </a:extLst>
          </p:cNvPr>
          <p:cNvSpPr/>
          <p:nvPr/>
        </p:nvSpPr>
        <p:spPr>
          <a:xfrm>
            <a:off x="4552890" y="5329099"/>
            <a:ext cx="3810104" cy="74370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49F0880-4EEE-05CF-D542-D8B04D13F8E9}"/>
                  </a:ext>
                </a:extLst>
              </p:cNvPr>
              <p:cNvSpPr/>
              <p:nvPr/>
            </p:nvSpPr>
            <p:spPr>
              <a:xfrm>
                <a:off x="3332273" y="2348430"/>
                <a:ext cx="5527040" cy="115824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  <a:latin typeface=""/>
                    <a:ea typeface="Source Sans Pro"/>
                  </a:rPr>
                  <a:t>Tagging scheme: </a:t>
                </a:r>
                <a:r>
                  <a:rPr lang="en-US" sz="1800" dirty="0">
                    <a:latin typeface=""/>
                    <a:ea typeface="Source Sans Pro"/>
                  </a:rPr>
                  <a:t>	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Update each term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f</m:t>
                    </m:r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,…,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f</m:t>
                    </m:r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⟨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800" b="0" i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Source Sans Pro" panose="020B0503030403020204" pitchFamily="34" charset="0"/>
                                <a:ea typeface="Source Sans Pro" panose="020B0503030403020204" pitchFamily="34" charset="0"/>
                              </a:rPr>
                              <m:t>tag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𝑖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⟩,…,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  <a:ea typeface="Source Sans Pro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and have participants check tags</a:t>
                </a:r>
              </a:p>
            </p:txBody>
          </p:sp>
        </mc:Choice>
        <mc:Fallback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49F0880-4EEE-05CF-D542-D8B04D13F8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2273" y="2348430"/>
                <a:ext cx="5527040" cy="115824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4BEE50F-6686-703C-0058-66344BAE5C3D}"/>
              </a:ext>
            </a:extLst>
          </p:cNvPr>
          <p:cNvSpPr txBox="1"/>
          <p:nvPr/>
        </p:nvSpPr>
        <p:spPr>
          <a:xfrm>
            <a:off x="493644" y="5942731"/>
            <a:ext cx="354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"/>
                <a:ea typeface="Source Sans Pro"/>
              </a:rPr>
              <a:t>But what if they could? </a:t>
            </a:r>
          </a:p>
          <a:p>
            <a:r>
              <a:rPr lang="en-US" sz="1800" dirty="0">
                <a:latin typeface=""/>
                <a:ea typeface="Source Sans Pro"/>
              </a:rPr>
              <a:t>Type confusion even with tagging?</a:t>
            </a:r>
            <a:endParaRPr lang="en-US" dirty="0">
              <a:latin typeface="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63D8F2-C9B1-338A-6D41-ABD04E5D0791}"/>
              </a:ext>
            </a:extLst>
          </p:cNvPr>
          <p:cNvSpPr/>
          <p:nvPr/>
        </p:nvSpPr>
        <p:spPr>
          <a:xfrm>
            <a:off x="8655359" y="4607484"/>
            <a:ext cx="3452192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7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 animBg="1"/>
      <p:bldP spid="5" grpId="0" animBg="1"/>
      <p:bldP spid="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66E0-3AE2-538B-2897-FC68DF25B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Does tagging prevent type confusion?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346C7E-490F-E2ED-BF64-82C8C9E5D79D}"/>
              </a:ext>
            </a:extLst>
          </p:cNvPr>
          <p:cNvSpPr/>
          <p:nvPr/>
        </p:nvSpPr>
        <p:spPr>
          <a:xfrm>
            <a:off x="0" y="5271760"/>
            <a:ext cx="12192000" cy="1037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venir Next" panose="020B0503020202020204" pitchFamily="34" charset="0"/>
                <a:ea typeface="Source Sans Pro"/>
              </a:rPr>
              <a:t>The protocol becomes obviously insecure, but we’re targeting a deeper question: </a:t>
            </a:r>
          </a:p>
          <a:p>
            <a:pPr algn="ctr"/>
            <a:r>
              <a:rPr lang="en-US" sz="2400" dirty="0">
                <a:latin typeface="Avenir Next" panose="020B0503020202020204" pitchFamily="34" charset="0"/>
                <a:ea typeface="Source Sans Pro"/>
              </a:rPr>
              <a:t>Does tagging prevent type confusion?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792AE-A49B-3874-6E8F-AD310FFD24AE}"/>
              </a:ext>
            </a:extLst>
          </p:cNvPr>
          <p:cNvSpPr txBox="1"/>
          <p:nvPr/>
        </p:nvSpPr>
        <p:spPr>
          <a:xfrm>
            <a:off x="5217160" y="3321058"/>
            <a:ext cx="5237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"/>
                <a:ea typeface="Source Sans Pro"/>
              </a:rPr>
              <a:t>What if the tag is not cryptographically protected?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89AA93D6-07D6-F69D-37F5-159D89EFEAA3}"/>
                  </a:ext>
                </a:extLst>
              </p:cNvPr>
              <p:cNvSpPr/>
              <p:nvPr/>
            </p:nvSpPr>
            <p:spPr>
              <a:xfrm>
                <a:off x="778566" y="2437036"/>
                <a:ext cx="4378960" cy="66712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(⟨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tag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⟩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89AA93D6-07D6-F69D-37F5-159D89EFEA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66" y="2437036"/>
                <a:ext cx="4378960" cy="66712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3AE0CE70-125B-3588-4ECB-A5A836486788}"/>
                  </a:ext>
                </a:extLst>
              </p:cNvPr>
              <p:cNvSpPr/>
              <p:nvPr/>
            </p:nvSpPr>
            <p:spPr>
              <a:xfrm>
                <a:off x="778566" y="3211376"/>
                <a:ext cx="4378960" cy="66712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:⟨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tag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,⟨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3AE0CE70-125B-3588-4ECB-A5A8364867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66" y="3211376"/>
                <a:ext cx="4378960" cy="66712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3DD61D08-8532-6C61-DF2A-9120D1E1DE96}"/>
                  </a:ext>
                </a:extLst>
              </p:cNvPr>
              <p:cNvSpPr/>
              <p:nvPr/>
            </p:nvSpPr>
            <p:spPr>
              <a:xfrm>
                <a:off x="778566" y="3985716"/>
                <a:ext cx="4378960" cy="66712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tag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⟩,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3DD61D08-8532-6C61-DF2A-9120D1E1DE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66" y="3985716"/>
                <a:ext cx="4378960" cy="66712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115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C67BE9-BB5A-E697-5DD2-E953CF6CB43B}"/>
              </a:ext>
            </a:extLst>
          </p:cNvPr>
          <p:cNvSpPr txBox="1">
            <a:spLocks/>
          </p:cNvSpPr>
          <p:nvPr/>
        </p:nvSpPr>
        <p:spPr>
          <a:xfrm>
            <a:off x="6800525" y="5696950"/>
            <a:ext cx="4799274" cy="16703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"/>
                <a:ea typeface="Source Sans Pro"/>
              </a:rPr>
              <a:t>The type confusion attack works again, despite tagging…</a:t>
            </a:r>
          </a:p>
        </p:txBody>
      </p:sp>
      <p:pic>
        <p:nvPicPr>
          <p:cNvPr id="12" name="Picture 11" descr="A diagram of a person's relationship&#10;&#10;Description automatically generated">
            <a:extLst>
              <a:ext uri="{FF2B5EF4-FFF2-40B4-BE49-F238E27FC236}">
                <a16:creationId xmlns:a16="http://schemas.microsoft.com/office/drawing/2014/main" id="{4F81EC09-EF33-21B8-3CF6-5B78BA633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525" y="2266771"/>
            <a:ext cx="4344995" cy="3437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40B950B-F96D-3118-3194-3B68AC371249}"/>
              </a:ext>
            </a:extLst>
          </p:cNvPr>
          <p:cNvSpPr/>
          <p:nvPr/>
        </p:nvSpPr>
        <p:spPr>
          <a:xfrm>
            <a:off x="7324776" y="3306030"/>
            <a:ext cx="3383864" cy="120059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34F6924-A046-227E-8112-18334CD5975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7401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C00000"/>
                </a:solidFill>
                <a:latin typeface=""/>
                <a:ea typeface="Source Sans Pro"/>
              </a:rPr>
              <a:t>Does tagging prevent type confusion?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39F0F27-5E48-5B76-80DA-CFCEE3E1582C}"/>
                  </a:ext>
                </a:extLst>
              </p:cNvPr>
              <p:cNvSpPr/>
              <p:nvPr/>
            </p:nvSpPr>
            <p:spPr>
              <a:xfrm>
                <a:off x="778566" y="2437036"/>
                <a:ext cx="4378960" cy="66712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(⟨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tag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⟩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39F0F27-5E48-5B76-80DA-CFCEE3E158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66" y="2437036"/>
                <a:ext cx="4378960" cy="66712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C651A7C0-D351-1776-FDA1-DA3DBD6F7864}"/>
                  </a:ext>
                </a:extLst>
              </p:cNvPr>
              <p:cNvSpPr/>
              <p:nvPr/>
            </p:nvSpPr>
            <p:spPr>
              <a:xfrm>
                <a:off x="778566" y="3211376"/>
                <a:ext cx="4378960" cy="66712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:⟨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tag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,⟨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C651A7C0-D351-1776-FDA1-DA3DBD6F7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66" y="3211376"/>
                <a:ext cx="4378960" cy="66712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B742E25-275F-DEE2-2676-6DE8E1825E68}"/>
                  </a:ext>
                </a:extLst>
              </p:cNvPr>
              <p:cNvSpPr/>
              <p:nvPr/>
            </p:nvSpPr>
            <p:spPr>
              <a:xfrm>
                <a:off x="778566" y="3985716"/>
                <a:ext cx="4378960" cy="66712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tag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⟩,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B742E25-275F-DEE2-2676-6DE8E1825E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66" y="3985716"/>
                <a:ext cx="4378960" cy="66712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89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diagram of a person's relationship&#10;&#10;Description automatically generated">
            <a:extLst>
              <a:ext uri="{FF2B5EF4-FFF2-40B4-BE49-F238E27FC236}">
                <a16:creationId xmlns:a16="http://schemas.microsoft.com/office/drawing/2014/main" id="{E3E1C6DF-DDD9-6AAE-CF3F-39617B5EE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525" y="2266771"/>
            <a:ext cx="4344995" cy="34378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C67BE9-BB5A-E697-5DD2-E953CF6CB43B}"/>
              </a:ext>
            </a:extLst>
          </p:cNvPr>
          <p:cNvSpPr txBox="1">
            <a:spLocks/>
          </p:cNvSpPr>
          <p:nvPr/>
        </p:nvSpPr>
        <p:spPr>
          <a:xfrm>
            <a:off x="335332" y="5522484"/>
            <a:ext cx="3604671" cy="7401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latin typeface=""/>
              <a:ea typeface="Source Sans Pro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27CCEF-A7B9-B99C-AC40-16CF9074A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911" y="4121253"/>
            <a:ext cx="993593" cy="99359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567F335-E8C5-AE0D-B1E9-D5E066428ABE}"/>
              </a:ext>
            </a:extLst>
          </p:cNvPr>
          <p:cNvSpPr/>
          <p:nvPr/>
        </p:nvSpPr>
        <p:spPr>
          <a:xfrm>
            <a:off x="7403067" y="3225298"/>
            <a:ext cx="1639957" cy="223785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73CAF1B-70D9-DD64-4590-3D9DA3C94247}"/>
              </a:ext>
            </a:extLst>
          </p:cNvPr>
          <p:cNvSpPr txBox="1">
            <a:spLocks/>
          </p:cNvSpPr>
          <p:nvPr/>
        </p:nvSpPr>
        <p:spPr>
          <a:xfrm>
            <a:off x="408327" y="6570441"/>
            <a:ext cx="11667850" cy="1405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"/>
                <a:ea typeface="Source Sans Pro"/>
              </a:rPr>
              <a:t>Heather, James, Gavin Lowe, and Steve Schneider. "How to prevent type flaw attacks on security protocols." Journal of Computer Security 11.2 (2003): 217-244.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7F53572-86BE-94DD-E18D-2ECFC6F125C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7401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solidFill>
                  <a:srgbClr val="C00000"/>
                </a:solidFill>
                <a:latin typeface=""/>
                <a:ea typeface="Source Sans Pro"/>
              </a:rPr>
              <a:t>Does tagging prevent type confusion?</a:t>
            </a:r>
            <a:endParaRPr lang="en-US" dirty="0">
              <a:solidFill>
                <a:srgbClr val="C00000"/>
              </a:solidFill>
              <a:latin typeface=""/>
              <a:ea typeface="Source Sans Pro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FAE2581-CEFC-090C-0DF5-239FDAC4CB22}"/>
              </a:ext>
            </a:extLst>
          </p:cNvPr>
          <p:cNvSpPr/>
          <p:nvPr/>
        </p:nvSpPr>
        <p:spPr>
          <a:xfrm>
            <a:off x="130334" y="5233536"/>
            <a:ext cx="3604671" cy="7467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000" dirty="0">
                <a:latin typeface=""/>
                <a:ea typeface="Source Sans Pro"/>
              </a:rPr>
              <a:t>We can find another attack without type confusion!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30A5485-C8CC-32A8-76ED-0C5861316E08}"/>
              </a:ext>
            </a:extLst>
          </p:cNvPr>
          <p:cNvSpPr/>
          <p:nvPr/>
        </p:nvSpPr>
        <p:spPr>
          <a:xfrm>
            <a:off x="3969104" y="5231589"/>
            <a:ext cx="2877329" cy="7467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"/>
                <a:ea typeface="Source Sans Pro"/>
              </a:rPr>
              <a:t>And it’s always possible!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2534AC34-CDE2-47EC-B1A2-C473995BA305}"/>
                  </a:ext>
                </a:extLst>
              </p:cNvPr>
              <p:cNvSpPr/>
              <p:nvPr/>
            </p:nvSpPr>
            <p:spPr>
              <a:xfrm>
                <a:off x="778566" y="2437036"/>
                <a:ext cx="4378960" cy="66712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(⟨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tag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⟩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2534AC34-CDE2-47EC-B1A2-C473995BA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66" y="2437036"/>
                <a:ext cx="4378960" cy="66712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850B3B84-0A72-EE2D-70A0-170C61F79C59}"/>
                  </a:ext>
                </a:extLst>
              </p:cNvPr>
              <p:cNvSpPr/>
              <p:nvPr/>
            </p:nvSpPr>
            <p:spPr>
              <a:xfrm>
                <a:off x="778566" y="3211376"/>
                <a:ext cx="4378960" cy="66712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:⟨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tag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,⟨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850B3B84-0A72-EE2D-70A0-170C61F79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66" y="3211376"/>
                <a:ext cx="4378960" cy="66712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57BC55B3-7BF9-F897-0349-CE4A3EA5A22D}"/>
                  </a:ext>
                </a:extLst>
              </p:cNvPr>
              <p:cNvSpPr/>
              <p:nvPr/>
            </p:nvSpPr>
            <p:spPr>
              <a:xfrm>
                <a:off x="778566" y="3985716"/>
                <a:ext cx="4378960" cy="66712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Source Sans Pro" panose="020B0503030403020204" pitchFamily="34" charset="0"/>
                                  <a:ea typeface="Source Sans Pro" panose="020B0503030403020204" pitchFamily="34" charset="0"/>
                                </a:rPr>
                                <m:t>tag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⟩,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57BC55B3-7BF9-F897-0349-CE4A3EA5A2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66" y="3985716"/>
                <a:ext cx="4378960" cy="66712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240ECD97-599B-0650-8DCC-2681396E5244}"/>
              </a:ext>
            </a:extLst>
          </p:cNvPr>
          <p:cNvSpPr/>
          <p:nvPr/>
        </p:nvSpPr>
        <p:spPr>
          <a:xfrm>
            <a:off x="-207" y="2537554"/>
            <a:ext cx="12192000" cy="1782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venir Next" panose="020B0503020202020204" pitchFamily="34" charset="0"/>
                <a:ea typeface="Source Sans Pro"/>
              </a:rPr>
              <a:t>With this tagging scheme, type confusion attacks imply existence of well-typed attacks [Heather et al.]</a:t>
            </a:r>
          </a:p>
        </p:txBody>
      </p:sp>
    </p:spTree>
    <p:extLst>
      <p:ext uri="{BB962C8B-B14F-4D97-AF65-F5344CB8AC3E}">
        <p14:creationId xmlns:p14="http://schemas.microsoft.com/office/powerpoint/2010/main" val="108277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0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mph" presetSubtype="0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3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6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9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2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5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38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41" dur="indefinite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46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49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9" grpId="0"/>
      <p:bldP spid="17" grpId="0" animBg="1"/>
      <p:bldP spid="18" grpId="0"/>
      <p:bldP spid="12" grpId="0"/>
      <p:bldP spid="21" grpId="0" animBg="1"/>
      <p:bldP spid="21" grpId="1" animBg="1"/>
      <p:bldP spid="22" grpId="0" animBg="1"/>
      <p:bldP spid="22" grpId="1" animBg="1"/>
      <p:bldP spid="24" grpId="0" animBg="1"/>
      <p:bldP spid="26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174CBC-2AA8-A1CF-35E9-3B15D1CE1D2A}"/>
              </a:ext>
            </a:extLst>
          </p:cNvPr>
          <p:cNvSpPr/>
          <p:nvPr/>
        </p:nvSpPr>
        <p:spPr>
          <a:xfrm>
            <a:off x="893207" y="2639377"/>
            <a:ext cx="10515600" cy="12903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Next" panose="020B0503020202020204" pitchFamily="34" charset="0"/>
                <a:ea typeface="Source Sans Pro"/>
              </a:rPr>
              <a:t>Generalization: one can soundly discount type confusion attacks if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Avenir Next" panose="020B0503020202020204" pitchFamily="34" charset="0"/>
                <a:ea typeface="Source Sans Pro"/>
              </a:rPr>
              <a:t>opaque subterms are not unifiable </a:t>
            </a:r>
            <a:r>
              <a:rPr lang="en-US" sz="2800" dirty="0">
                <a:solidFill>
                  <a:schemeClr val="tx1"/>
                </a:solidFill>
                <a:latin typeface="Avenir Next" panose="020B0503020202020204" pitchFamily="34" charset="0"/>
                <a:ea typeface="Source Sans Pro"/>
              </a:rPr>
              <a:t>[Chrétien et al.]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66E0-3AE2-538B-2897-FC68DF25B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39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How to learn from this if our protocol doesn’t have tagging?</a:t>
            </a:r>
          </a:p>
          <a:p>
            <a:pPr marL="457200" lvl="1" indent="0" algn="ctr">
              <a:buNone/>
            </a:pPr>
            <a:endParaRPr lang="en-US" dirty="0">
              <a:solidFill>
                <a:srgbClr val="C00000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E671F49-832C-1E2E-B7EB-97E5B7B6D4CD}"/>
              </a:ext>
            </a:extLst>
          </p:cNvPr>
          <p:cNvSpPr txBox="1">
            <a:spLocks/>
          </p:cNvSpPr>
          <p:nvPr/>
        </p:nvSpPr>
        <p:spPr>
          <a:xfrm>
            <a:off x="280702" y="6480683"/>
            <a:ext cx="11740610" cy="4809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Chrétien, Rémy, et al. "Typing messages for free in security protocols."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ACM Transactions On Computational Logic (TOCL)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21.1 (2019): 1-52.</a:t>
            </a:r>
            <a:endParaRPr lang="en-US" sz="2000" dirty="0">
              <a:latin typeface="Source Sans Pro"/>
              <a:ea typeface="Source Sans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6A48A-CB56-F871-F51E-6724C317BFCC}"/>
              </a:ext>
            </a:extLst>
          </p:cNvPr>
          <p:cNvSpPr txBox="1"/>
          <p:nvPr/>
        </p:nvSpPr>
        <p:spPr>
          <a:xfrm>
            <a:off x="2723023" y="4558783"/>
            <a:ext cx="51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"/>
                <a:ea typeface="Source Sans Pro"/>
              </a:rPr>
              <a:t>Intuitively, this has the same effect as tagging!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A26202-D5FF-A45D-15F9-090303D9A0E4}"/>
              </a:ext>
            </a:extLst>
          </p:cNvPr>
          <p:cNvCxnSpPr>
            <a:cxnSpLocks/>
          </p:cNvCxnSpPr>
          <p:nvPr/>
        </p:nvCxnSpPr>
        <p:spPr>
          <a:xfrm flipV="1">
            <a:off x="5090057" y="3749041"/>
            <a:ext cx="0" cy="850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DC01F8-5313-ADFE-34DE-0CDEE59A6802}"/>
              </a:ext>
            </a:extLst>
          </p:cNvPr>
          <p:cNvCxnSpPr>
            <a:cxnSpLocks/>
          </p:cNvCxnSpPr>
          <p:nvPr/>
        </p:nvCxnSpPr>
        <p:spPr>
          <a:xfrm>
            <a:off x="2859164" y="3735728"/>
            <a:ext cx="554911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90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uiExpand="1" build="p"/>
      <p:bldP spid="7" grpId="0"/>
      <p:bldP spid="8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66E0-3AE2-538B-2897-FC68DF25B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986" y="1703810"/>
            <a:ext cx="10515600" cy="7401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How does the strong typing assumption help reasoning?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E671F49-832C-1E2E-B7EB-97E5B7B6D4CD}"/>
              </a:ext>
            </a:extLst>
          </p:cNvPr>
          <p:cNvSpPr txBox="1">
            <a:spLocks/>
          </p:cNvSpPr>
          <p:nvPr/>
        </p:nvSpPr>
        <p:spPr>
          <a:xfrm>
            <a:off x="280702" y="6480683"/>
            <a:ext cx="11740610" cy="4809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0" i="0" dirty="0">
                <a:solidFill>
                  <a:srgbClr val="222222"/>
                </a:solidFill>
                <a:effectLst/>
                <a:latin typeface=""/>
              </a:rPr>
              <a:t>Chrétien, Rémy, et al. "Typing messages for free in security protocols."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"/>
              </a:rPr>
              <a:t>ACM Transactions On Computational Logic (TOCL)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"/>
              </a:rPr>
              <a:t> 21.1 (2019): 1-52.</a:t>
            </a:r>
            <a:endParaRPr lang="en-US" sz="2000" dirty="0">
              <a:latin typeface=""/>
              <a:ea typeface="Source Sans Pro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3FD4F1-471D-1E9F-CFF1-602CF269A329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2717899" y="5232807"/>
            <a:ext cx="965826" cy="325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4227CA3-FF57-8502-360D-BE75D7F5919A}"/>
                  </a:ext>
                </a:extLst>
              </p:cNvPr>
              <p:cNvSpPr/>
              <p:nvPr/>
            </p:nvSpPr>
            <p:spPr>
              <a:xfrm>
                <a:off x="1125582" y="4415517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Adversary destructed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(⟨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⟩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4227CA3-FF57-8502-360D-BE75D7F591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82" y="4415517"/>
                <a:ext cx="3184634" cy="8172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34EBD4-34D0-8D37-8969-7AE55A73707F}"/>
              </a:ext>
            </a:extLst>
          </p:cNvPr>
          <p:cNvCxnSpPr>
            <a:cxnSpLocks/>
            <a:stCxn id="20" idx="2"/>
            <a:endCxn id="9" idx="0"/>
          </p:cNvCxnSpPr>
          <p:nvPr/>
        </p:nvCxnSpPr>
        <p:spPr>
          <a:xfrm>
            <a:off x="2717899" y="4069613"/>
            <a:ext cx="0" cy="345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B41B1EF8-D65A-6936-50DA-223A8373E2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39205" y="5558208"/>
                <a:ext cx="10515600" cy="70400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  <a:p>
                <a:endParaRPr lang="en-US" dirty="0">
                  <a:latin typeface="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B41B1EF8-D65A-6936-50DA-223A8373E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9205" y="5558208"/>
                <a:ext cx="10515600" cy="704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2D91BBA-D9AA-757C-B7E7-99B40C4A9143}"/>
                  </a:ext>
                </a:extLst>
              </p:cNvPr>
              <p:cNvSpPr/>
              <p:nvPr/>
            </p:nvSpPr>
            <p:spPr>
              <a:xfrm>
                <a:off x="1125582" y="3252323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Adversary destructed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(⟨</m:t>
                    </m:r>
                    <m:d>
                      <m:dPr>
                        <m:begChr m:val="⟨"/>
                        <m:endChr m:val="⟩"/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⟩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2D91BBA-D9AA-757C-B7E7-99B40C4A91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82" y="3252323"/>
                <a:ext cx="3184634" cy="8172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4527934-9B27-809A-5385-83738C40B82A}"/>
              </a:ext>
            </a:extLst>
          </p:cNvPr>
          <p:cNvCxnSpPr>
            <a:cxnSpLocks/>
          </p:cNvCxnSpPr>
          <p:nvPr/>
        </p:nvCxnSpPr>
        <p:spPr>
          <a:xfrm>
            <a:off x="2705662" y="2827180"/>
            <a:ext cx="0" cy="425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C57154C5-3973-F55E-3145-4B08BDBAAA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7640" y="2458920"/>
            <a:ext cx="256044" cy="25604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EC28E52-A97E-41D4-F784-8573AEA02D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034" y="2405349"/>
            <a:ext cx="993593" cy="1572765"/>
          </a:xfrm>
          <a:prstGeom prst="rect">
            <a:avLst/>
          </a:prstGeom>
        </p:spPr>
      </p:pic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5DE1200-CBF9-FBC1-8552-7E1AA03D7C36}"/>
              </a:ext>
            </a:extLst>
          </p:cNvPr>
          <p:cNvSpPr txBox="1">
            <a:spLocks/>
          </p:cNvSpPr>
          <p:nvPr/>
        </p:nvSpPr>
        <p:spPr>
          <a:xfrm>
            <a:off x="5144324" y="2891174"/>
            <a:ext cx="6209476" cy="21738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latin typeface="Source Sans Pro"/>
              <a:ea typeface="Source Sans Pro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61A08D1-CAF5-887D-C995-1065A7518203}"/>
              </a:ext>
            </a:extLst>
          </p:cNvPr>
          <p:cNvSpPr/>
          <p:nvPr/>
        </p:nvSpPr>
        <p:spPr>
          <a:xfrm>
            <a:off x="4924129" y="3274678"/>
            <a:ext cx="7097181" cy="166078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latin typeface=""/>
                <a:ea typeface="Source Sans Pro"/>
              </a:rPr>
              <a:t>Meta-level argument: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"/>
                <a:ea typeface="Source Sans Pro"/>
              </a:rPr>
              <a:t>Nested pairs will be rejected by honest participants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Adversary does not learn “new”  knowledge from nested pairs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Therefore, nested pairs need not be considered</a:t>
            </a:r>
          </a:p>
        </p:txBody>
      </p:sp>
    </p:spTree>
    <p:extLst>
      <p:ext uri="{BB962C8B-B14F-4D97-AF65-F5344CB8AC3E}">
        <p14:creationId xmlns:p14="http://schemas.microsoft.com/office/powerpoint/2010/main" val="270914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/>
      <p:bldP spid="20" grpId="0" animBg="1"/>
      <p:bldP spid="6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66E0-3AE2-538B-2897-FC68DF25B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986" y="1703810"/>
            <a:ext cx="10515600" cy="7401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How does the strong typing assumption help reasoning?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E671F49-832C-1E2E-B7EB-97E5B7B6D4CD}"/>
              </a:ext>
            </a:extLst>
          </p:cNvPr>
          <p:cNvSpPr txBox="1">
            <a:spLocks/>
          </p:cNvSpPr>
          <p:nvPr/>
        </p:nvSpPr>
        <p:spPr>
          <a:xfrm>
            <a:off x="280702" y="6480683"/>
            <a:ext cx="11740610" cy="4809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0" i="0" dirty="0">
                <a:solidFill>
                  <a:srgbClr val="222222"/>
                </a:solidFill>
                <a:effectLst/>
                <a:latin typeface=""/>
              </a:rPr>
              <a:t>Chrétien, Rémy, et al. "Typing messages for free in security protocols."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"/>
              </a:rPr>
              <a:t>ACM Transactions On Computational Logic (TOCL)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"/>
              </a:rPr>
              <a:t> 21.1 (2019): 1-52.</a:t>
            </a:r>
            <a:endParaRPr lang="en-US" sz="2000" dirty="0">
              <a:latin typeface=""/>
              <a:ea typeface="Source Sans Pro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3FD4F1-471D-1E9F-CFF1-602CF269A329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2717899" y="5232807"/>
            <a:ext cx="965826" cy="325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4227CA3-FF57-8502-360D-BE75D7F5919A}"/>
                  </a:ext>
                </a:extLst>
              </p:cNvPr>
              <p:cNvSpPr/>
              <p:nvPr/>
            </p:nvSpPr>
            <p:spPr>
              <a:xfrm>
                <a:off x="1125582" y="4415517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Adversary destructed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(⟨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⟩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4227CA3-FF57-8502-360D-BE75D7F591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82" y="4415517"/>
                <a:ext cx="3184634" cy="8172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34EBD4-34D0-8D37-8969-7AE55A73707F}"/>
              </a:ext>
            </a:extLst>
          </p:cNvPr>
          <p:cNvCxnSpPr>
            <a:cxnSpLocks/>
            <a:stCxn id="20" idx="2"/>
            <a:endCxn id="9" idx="0"/>
          </p:cNvCxnSpPr>
          <p:nvPr/>
        </p:nvCxnSpPr>
        <p:spPr>
          <a:xfrm>
            <a:off x="2717899" y="4069613"/>
            <a:ext cx="0" cy="345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B41B1EF8-D65A-6936-50DA-223A8373E2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39205" y="5558208"/>
                <a:ext cx="10515600" cy="70400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  <a:p>
                <a:endParaRPr lang="en-US" dirty="0">
                  <a:latin typeface="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B41B1EF8-D65A-6936-50DA-223A8373E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9205" y="5558208"/>
                <a:ext cx="10515600" cy="704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2D91BBA-D9AA-757C-B7E7-99B40C4A9143}"/>
                  </a:ext>
                </a:extLst>
              </p:cNvPr>
              <p:cNvSpPr/>
              <p:nvPr/>
            </p:nvSpPr>
            <p:spPr>
              <a:xfrm>
                <a:off x="1125582" y="3252323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Adversary destructed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(⟨</m:t>
                    </m:r>
                    <m:d>
                      <m:dPr>
                        <m:begChr m:val="⟨"/>
                        <m:endChr m:val="⟩"/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⟩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2D91BBA-D9AA-757C-B7E7-99B40C4A91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82" y="3252323"/>
                <a:ext cx="3184634" cy="8172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4527934-9B27-809A-5385-83738C40B82A}"/>
              </a:ext>
            </a:extLst>
          </p:cNvPr>
          <p:cNvCxnSpPr>
            <a:cxnSpLocks/>
          </p:cNvCxnSpPr>
          <p:nvPr/>
        </p:nvCxnSpPr>
        <p:spPr>
          <a:xfrm>
            <a:off x="2705662" y="2827180"/>
            <a:ext cx="0" cy="425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C57154C5-3973-F55E-3145-4B08BDBAAA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7640" y="2458920"/>
            <a:ext cx="256044" cy="25604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EC28E52-A97E-41D4-F784-8573AEA02D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034" y="2405349"/>
            <a:ext cx="993593" cy="1572765"/>
          </a:xfrm>
          <a:prstGeom prst="rect">
            <a:avLst/>
          </a:prstGeom>
        </p:spPr>
      </p:pic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5DE1200-CBF9-FBC1-8552-7E1AA03D7C36}"/>
              </a:ext>
            </a:extLst>
          </p:cNvPr>
          <p:cNvSpPr txBox="1">
            <a:spLocks/>
          </p:cNvSpPr>
          <p:nvPr/>
        </p:nvSpPr>
        <p:spPr>
          <a:xfrm>
            <a:off x="5144324" y="2891174"/>
            <a:ext cx="6209476" cy="21738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latin typeface="Source Sans Pro"/>
              <a:ea typeface="Source Sans Pro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61A08D1-CAF5-887D-C995-1065A7518203}"/>
              </a:ext>
            </a:extLst>
          </p:cNvPr>
          <p:cNvSpPr/>
          <p:nvPr/>
        </p:nvSpPr>
        <p:spPr>
          <a:xfrm>
            <a:off x="4924129" y="3274678"/>
            <a:ext cx="7097181" cy="166078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latin typeface=""/>
                <a:ea typeface="Source Sans Pro"/>
              </a:rPr>
              <a:t>Meta-level argument: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"/>
                <a:ea typeface="Source Sans Pro"/>
              </a:rPr>
              <a:t>Nested pairs will be rejected by honest participants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"/>
                <a:ea typeface="Source Sans Pro"/>
              </a:rPr>
              <a:t>Adversary does not learn “new”  knowledge from nested pairs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Therefore, nested pairs need not be considered</a:t>
            </a:r>
          </a:p>
        </p:txBody>
      </p:sp>
    </p:spTree>
    <p:extLst>
      <p:ext uri="{BB962C8B-B14F-4D97-AF65-F5344CB8AC3E}">
        <p14:creationId xmlns:p14="http://schemas.microsoft.com/office/powerpoint/2010/main" val="156322008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66E0-3AE2-538B-2897-FC68DF25B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986" y="1703810"/>
            <a:ext cx="10515600" cy="7401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How does the strong typing assumption help reasoning?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E671F49-832C-1E2E-B7EB-97E5B7B6D4CD}"/>
              </a:ext>
            </a:extLst>
          </p:cNvPr>
          <p:cNvSpPr txBox="1">
            <a:spLocks/>
          </p:cNvSpPr>
          <p:nvPr/>
        </p:nvSpPr>
        <p:spPr>
          <a:xfrm>
            <a:off x="280702" y="6480683"/>
            <a:ext cx="11740610" cy="4809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0" i="0" dirty="0">
                <a:solidFill>
                  <a:srgbClr val="222222"/>
                </a:solidFill>
                <a:effectLst/>
                <a:latin typeface=""/>
              </a:rPr>
              <a:t>Chrétien, Rémy, et al. "Typing messages for free in security protocols."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"/>
              </a:rPr>
              <a:t>ACM Transactions On Computational Logic (TOCL)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"/>
              </a:rPr>
              <a:t> 21.1 (2019): 1-52.</a:t>
            </a:r>
            <a:endParaRPr lang="en-US" sz="2000" dirty="0">
              <a:latin typeface=""/>
              <a:ea typeface="Source Sans Pro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3FD4F1-471D-1E9F-CFF1-602CF269A329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2717899" y="5232807"/>
            <a:ext cx="965826" cy="325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4227CA3-FF57-8502-360D-BE75D7F5919A}"/>
                  </a:ext>
                </a:extLst>
              </p:cNvPr>
              <p:cNvSpPr/>
              <p:nvPr/>
            </p:nvSpPr>
            <p:spPr>
              <a:xfrm>
                <a:off x="1125582" y="4415517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Adversary destructed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(⟨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⟩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4227CA3-FF57-8502-360D-BE75D7F591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82" y="4415517"/>
                <a:ext cx="3184634" cy="8172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34EBD4-34D0-8D37-8969-7AE55A73707F}"/>
              </a:ext>
            </a:extLst>
          </p:cNvPr>
          <p:cNvCxnSpPr>
            <a:cxnSpLocks/>
            <a:stCxn id="20" idx="2"/>
            <a:endCxn id="9" idx="0"/>
          </p:cNvCxnSpPr>
          <p:nvPr/>
        </p:nvCxnSpPr>
        <p:spPr>
          <a:xfrm>
            <a:off x="2717899" y="4069613"/>
            <a:ext cx="0" cy="345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B41B1EF8-D65A-6936-50DA-223A8373E2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39205" y="5558208"/>
                <a:ext cx="10515600" cy="70400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{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  <a:p>
                <a:endParaRPr lang="en-US" dirty="0">
                  <a:latin typeface="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B41B1EF8-D65A-6936-50DA-223A8373E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9205" y="5558208"/>
                <a:ext cx="10515600" cy="704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2D91BBA-D9AA-757C-B7E7-99B40C4A9143}"/>
                  </a:ext>
                </a:extLst>
              </p:cNvPr>
              <p:cNvSpPr/>
              <p:nvPr/>
            </p:nvSpPr>
            <p:spPr>
              <a:xfrm>
                <a:off x="1125582" y="3252323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Adversary destructed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(⟨</m:t>
                    </m:r>
                    <m:d>
                      <m:dPr>
                        <m:begChr m:val="⟨"/>
                        <m:endChr m:val="⟩"/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  <a:ea typeface="Source Sans Pro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⟩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2D91BBA-D9AA-757C-B7E7-99B40C4A91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82" y="3252323"/>
                <a:ext cx="3184634" cy="8172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4527934-9B27-809A-5385-83738C40B82A}"/>
              </a:ext>
            </a:extLst>
          </p:cNvPr>
          <p:cNvCxnSpPr>
            <a:cxnSpLocks/>
          </p:cNvCxnSpPr>
          <p:nvPr/>
        </p:nvCxnSpPr>
        <p:spPr>
          <a:xfrm>
            <a:off x="2705662" y="2827180"/>
            <a:ext cx="0" cy="425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C57154C5-3973-F55E-3145-4B08BDBAAA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7640" y="2458920"/>
            <a:ext cx="256044" cy="25604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EC28E52-A97E-41D4-F784-8573AEA02D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034" y="2405349"/>
            <a:ext cx="993593" cy="1572765"/>
          </a:xfrm>
          <a:prstGeom prst="rect">
            <a:avLst/>
          </a:prstGeom>
        </p:spPr>
      </p:pic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5DE1200-CBF9-FBC1-8552-7E1AA03D7C36}"/>
              </a:ext>
            </a:extLst>
          </p:cNvPr>
          <p:cNvSpPr txBox="1">
            <a:spLocks/>
          </p:cNvSpPr>
          <p:nvPr/>
        </p:nvSpPr>
        <p:spPr>
          <a:xfrm>
            <a:off x="5144324" y="2891174"/>
            <a:ext cx="6209476" cy="21738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latin typeface="Source Sans Pro"/>
              <a:ea typeface="Source Sans Pro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61A08D1-CAF5-887D-C995-1065A7518203}"/>
              </a:ext>
            </a:extLst>
          </p:cNvPr>
          <p:cNvSpPr/>
          <p:nvPr/>
        </p:nvSpPr>
        <p:spPr>
          <a:xfrm>
            <a:off x="4924129" y="3274678"/>
            <a:ext cx="7097181" cy="166078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latin typeface=""/>
                <a:ea typeface="Source Sans Pro"/>
              </a:rPr>
              <a:t>Meta-level argument: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"/>
                <a:ea typeface="Source Sans Pro"/>
              </a:rPr>
              <a:t>Nested pairs will be rejected by honest participants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"/>
                <a:ea typeface="Source Sans Pro"/>
              </a:rPr>
              <a:t>Adversary does not learn “new”  knowledge from nested pairs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"/>
                <a:ea typeface="Source Sans Pro"/>
              </a:rPr>
              <a:t>Therefore, nested pairs need not be considered</a:t>
            </a:r>
          </a:p>
        </p:txBody>
      </p:sp>
    </p:spTree>
    <p:extLst>
      <p:ext uri="{BB962C8B-B14F-4D97-AF65-F5344CB8AC3E}">
        <p14:creationId xmlns:p14="http://schemas.microsoft.com/office/powerpoint/2010/main" val="229428873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Other </a:t>
            </a:r>
            <a:r>
              <a:rPr lang="en-US" sz="3200" dirty="0" err="1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Metatheorems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66E0-3AE2-538B-2897-FC68DF25B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74014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dirty="0">
                <a:ea typeface="Source Sans Pro"/>
              </a:rPr>
              <a:t>There are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four general strategies </a:t>
            </a:r>
            <a:r>
              <a:rPr lang="en-US" dirty="0">
                <a:ea typeface="Source Sans Pro"/>
              </a:rPr>
              <a:t>to make reasoning more tractable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9DDECC-C671-4B0A-0C1D-36886DFAFF6E}"/>
              </a:ext>
            </a:extLst>
          </p:cNvPr>
          <p:cNvSpPr/>
          <p:nvPr/>
        </p:nvSpPr>
        <p:spPr>
          <a:xfrm>
            <a:off x="1564692" y="2510213"/>
            <a:ext cx="3830320" cy="11067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dirty="0">
                <a:latin typeface=""/>
                <a:ea typeface="Source Sans Pro"/>
              </a:rPr>
              <a:t>Heuristically cut search space (no guarantees)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3CC9203-A0EE-01BD-EF77-247D3F657201}"/>
              </a:ext>
            </a:extLst>
          </p:cNvPr>
          <p:cNvSpPr/>
          <p:nvPr/>
        </p:nvSpPr>
        <p:spPr>
          <a:xfrm>
            <a:off x="6868160" y="2510213"/>
            <a:ext cx="3830320" cy="11067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dirty="0">
                <a:latin typeface=""/>
                <a:ea typeface="Source Sans Pro"/>
              </a:rPr>
              <a:t>Sacrifice completeness for decidability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B828D0-F406-BA03-02B6-4C83A9EBE1A3}"/>
              </a:ext>
            </a:extLst>
          </p:cNvPr>
          <p:cNvSpPr/>
          <p:nvPr/>
        </p:nvSpPr>
        <p:spPr>
          <a:xfrm>
            <a:off x="6868160" y="4859972"/>
            <a:ext cx="3830320" cy="11067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dirty="0">
                <a:latin typeface=""/>
                <a:ea typeface="Source Sans Pro"/>
              </a:rPr>
              <a:t>Syntactically restrict protocols for decidability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EB35FE-A6F5-AD01-BFBE-748DE094FBFA}"/>
              </a:ext>
            </a:extLst>
          </p:cNvPr>
          <p:cNvSpPr/>
          <p:nvPr/>
        </p:nvSpPr>
        <p:spPr>
          <a:xfrm>
            <a:off x="1564692" y="4859972"/>
            <a:ext cx="3830320" cy="11067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dirty="0">
                <a:latin typeface=""/>
                <a:ea typeface="Source Sans Pro"/>
              </a:rPr>
              <a:t>Sacrifice soundness for termination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38EFB1D-9143-716A-312E-8884D1437D84}"/>
              </a:ext>
            </a:extLst>
          </p:cNvPr>
          <p:cNvSpPr/>
          <p:nvPr/>
        </p:nvSpPr>
        <p:spPr>
          <a:xfrm>
            <a:off x="2032000" y="3622411"/>
            <a:ext cx="1930400" cy="50254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Typing for free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99AF043-A4F0-8F7C-C72F-651CB6DF7DD6}"/>
              </a:ext>
            </a:extLst>
          </p:cNvPr>
          <p:cNvSpPr/>
          <p:nvPr/>
        </p:nvSpPr>
        <p:spPr>
          <a:xfrm>
            <a:off x="6868160" y="3632571"/>
            <a:ext cx="1930400" cy="50254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Bound sessions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CEC9C87-1653-18E7-C232-19B2911C99F5}"/>
              </a:ext>
            </a:extLst>
          </p:cNvPr>
          <p:cNvSpPr/>
          <p:nvPr/>
        </p:nvSpPr>
        <p:spPr>
          <a:xfrm>
            <a:off x="8798560" y="3620950"/>
            <a:ext cx="2121688" cy="50254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Bound term depth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9C1979D-6337-2A61-12BD-C00FA51C45CC}"/>
              </a:ext>
            </a:extLst>
          </p:cNvPr>
          <p:cNvSpPr/>
          <p:nvPr/>
        </p:nvSpPr>
        <p:spPr>
          <a:xfrm>
            <a:off x="7779595" y="4135120"/>
            <a:ext cx="2037930" cy="50254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Bound nonce set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C1CF3EB-9BBE-66D0-D6A3-1E639201A8F9}"/>
              </a:ext>
            </a:extLst>
          </p:cNvPr>
          <p:cNvSpPr/>
          <p:nvPr/>
        </p:nvSpPr>
        <p:spPr>
          <a:xfrm>
            <a:off x="1621972" y="5966720"/>
            <a:ext cx="1930400" cy="6169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Information flow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9AA9749-7D87-9245-4416-92BA29D5D690}"/>
              </a:ext>
            </a:extLst>
          </p:cNvPr>
          <p:cNvSpPr/>
          <p:nvPr/>
        </p:nvSpPr>
        <p:spPr>
          <a:xfrm>
            <a:off x="3552373" y="5966720"/>
            <a:ext cx="1818640" cy="6169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Abstract interpretation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9EE144D-175A-F8CE-8451-E8F22AA81AAE}"/>
              </a:ext>
            </a:extLst>
          </p:cNvPr>
          <p:cNvSpPr/>
          <p:nvPr/>
        </p:nvSpPr>
        <p:spPr>
          <a:xfrm>
            <a:off x="6898692" y="5966719"/>
            <a:ext cx="1970988" cy="61696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Ping-pong protocols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BC33D8F-E77A-2FB2-2FED-364CABD31F25}"/>
              </a:ext>
            </a:extLst>
          </p:cNvPr>
          <p:cNvSpPr/>
          <p:nvPr/>
        </p:nvSpPr>
        <p:spPr>
          <a:xfrm>
            <a:off x="8879944" y="5966719"/>
            <a:ext cx="1828748" cy="61696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Depth-bounded protocols</a:t>
            </a:r>
          </a:p>
        </p:txBody>
      </p:sp>
    </p:spTree>
    <p:extLst>
      <p:ext uri="{BB962C8B-B14F-4D97-AF65-F5344CB8AC3E}">
        <p14:creationId xmlns:p14="http://schemas.microsoft.com/office/powerpoint/2010/main" val="130599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F7AC4-7B65-E57D-B591-30635793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02FA7-CDA5-A73A-A21C-73483A4A0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8AD0F-4517-B249-7CE9-91AC65371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Source Sans Pro"/>
              </a:rPr>
              <a:t>Talk objectives</a:t>
            </a:r>
          </a:p>
          <a:p>
            <a:r>
              <a:rPr lang="en-US" sz="3200" dirty="0">
                <a:ea typeface="Source Sans Pro"/>
              </a:rPr>
              <a:t>Cryptographic protocol verification background</a:t>
            </a:r>
          </a:p>
          <a:p>
            <a:r>
              <a:rPr lang="en-US" sz="3200" dirty="0">
                <a:ea typeface="Source Sans Pro"/>
              </a:rPr>
              <a:t>Automated reasoning for protocols </a:t>
            </a:r>
          </a:p>
          <a:p>
            <a:r>
              <a:rPr lang="en-US" sz="3200" dirty="0">
                <a:ea typeface="Source Sans Pro"/>
              </a:rPr>
              <a:t>Breaking, fixing, and breaking Needham-Schroeder</a:t>
            </a:r>
          </a:p>
          <a:p>
            <a:r>
              <a:rPr lang="en-US" sz="3200" dirty="0">
                <a:ea typeface="Source Sans Pro"/>
              </a:rPr>
              <a:t>Making reasoning tractable</a:t>
            </a:r>
          </a:p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Discussion, Research Questions, &amp; Conclusion</a:t>
            </a:r>
          </a:p>
          <a:p>
            <a:r>
              <a:rPr lang="en-US" sz="3200" dirty="0">
                <a:ea typeface="Source Sans Pro"/>
              </a:rPr>
              <a:t>Appendix: Making reasoning expressive </a:t>
            </a:r>
          </a:p>
          <a:p>
            <a:pPr marL="0" indent="0">
              <a:buNone/>
            </a:pPr>
            <a:endParaRPr lang="en-US" sz="3200" dirty="0"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A939B8-2E69-9CDC-CE8A-344679948D9E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279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Discussion &amp; Research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000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Source Sans Pro"/>
              </a:rPr>
              <a:t>RQ1. How to incorporate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compositional reasoning</a:t>
            </a:r>
            <a:r>
              <a:rPr lang="en-US" dirty="0">
                <a:ea typeface="Source Sans Pro"/>
              </a:rPr>
              <a:t>?</a:t>
            </a:r>
          </a:p>
          <a:p>
            <a:pPr marL="0" indent="0">
              <a:buNone/>
            </a:pPr>
            <a:r>
              <a:rPr lang="en-US" dirty="0">
                <a:ea typeface="Source Sans Pro"/>
              </a:rPr>
              <a:t>RQ2. How to incorporate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dedicated theory reasoning</a:t>
            </a:r>
            <a:r>
              <a:rPr lang="en-US" dirty="0">
                <a:ea typeface="Source Sans Pro"/>
              </a:rPr>
              <a:t>?</a:t>
            </a:r>
          </a:p>
          <a:p>
            <a:pPr marL="0" indent="0">
              <a:buNone/>
            </a:pPr>
            <a:r>
              <a:rPr lang="en-US" dirty="0">
                <a:ea typeface="Source Sans Pro"/>
              </a:rPr>
              <a:t>RQ3. How to reason about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control flow </a:t>
            </a:r>
            <a:r>
              <a:rPr lang="en-US" dirty="0">
                <a:ea typeface="Source Sans Pro"/>
              </a:rPr>
              <a:t>beyond Alice-Bob?</a:t>
            </a:r>
          </a:p>
          <a:p>
            <a:pPr marL="0" indent="0">
              <a:buNone/>
            </a:pPr>
            <a:r>
              <a:rPr lang="en-US" dirty="0">
                <a:ea typeface="Source Sans Pro"/>
              </a:rPr>
              <a:t>RQ4. How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gracefully recover interactivity </a:t>
            </a:r>
            <a:r>
              <a:rPr lang="en-US" dirty="0">
                <a:ea typeface="Source Sans Pro"/>
              </a:rPr>
              <a:t>if automation fails?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2B5111-8C98-30D0-9E1F-8D9DF971C949}"/>
              </a:ext>
            </a:extLst>
          </p:cNvPr>
          <p:cNvSpPr/>
          <p:nvPr/>
        </p:nvSpPr>
        <p:spPr>
          <a:xfrm>
            <a:off x="1870368" y="4717508"/>
            <a:ext cx="9462654" cy="928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"/>
              </a:rPr>
              <a:t>Idea: Frame 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"/>
              </a:rPr>
              <a:t>protocol</a:t>
            </a:r>
            <a:r>
              <a:rPr lang="en-US" sz="2800" dirty="0">
                <a:latin typeface=""/>
              </a:rPr>
              <a:t> verification as 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"/>
              </a:rPr>
              <a:t>program</a:t>
            </a:r>
            <a:r>
              <a:rPr lang="en-US" sz="2800" dirty="0">
                <a:latin typeface=""/>
              </a:rPr>
              <a:t> verification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7DC2BD-40EE-A5B4-2D3D-5C4D58027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66" y="4590548"/>
            <a:ext cx="1182255" cy="118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3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Discussion &amp; Research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73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RQ1. How to incorporate compositional reasoning?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FACDD85-64ED-4C94-5CF5-EB022D70AABF}"/>
              </a:ext>
            </a:extLst>
          </p:cNvPr>
          <p:cNvSpPr/>
          <p:nvPr/>
        </p:nvSpPr>
        <p:spPr>
          <a:xfrm>
            <a:off x="2542733" y="2336766"/>
            <a:ext cx="7106120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"/>
              </a:rPr>
              <a:t>Tamarin pools all steps and participants into shared global state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33BC95E-D326-6B8A-E965-346407DBE29A}"/>
              </a:ext>
            </a:extLst>
          </p:cNvPr>
          <p:cNvSpPr/>
          <p:nvPr/>
        </p:nvSpPr>
        <p:spPr>
          <a:xfrm>
            <a:off x="1242801" y="2917375"/>
            <a:ext cx="7106120" cy="4876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Challenge: Automatically inferring decompositions is hard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BF71FF5-5929-3755-5326-DF6EAAB26D72}"/>
              </a:ext>
            </a:extLst>
          </p:cNvPr>
          <p:cNvSpPr/>
          <p:nvPr/>
        </p:nvSpPr>
        <p:spPr>
          <a:xfrm>
            <a:off x="4532224" y="3505494"/>
            <a:ext cx="6158401" cy="64158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Insight: Cryptographic protocols often have similar shapes, and steps have similar invariants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A2A48EF-0CEE-0C2A-7B69-7BF4B830C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63" y="2939523"/>
            <a:ext cx="467360" cy="4673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6C2EE5D-0109-B2E4-4C0F-50266628F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201" y="3521372"/>
            <a:ext cx="599440" cy="599440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0531A96-5101-4505-5434-197A0B668721}"/>
              </a:ext>
            </a:extLst>
          </p:cNvPr>
          <p:cNvSpPr/>
          <p:nvPr/>
        </p:nvSpPr>
        <p:spPr>
          <a:xfrm>
            <a:off x="4532224" y="4248690"/>
            <a:ext cx="6158401" cy="64158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Deductive verification engines support assume/guarantee-style compositional reasoning 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B0F07E4-6FDB-5C76-4C33-A625EF5F9FCC}"/>
              </a:ext>
            </a:extLst>
          </p:cNvPr>
          <p:cNvSpPr/>
          <p:nvPr/>
        </p:nvSpPr>
        <p:spPr>
          <a:xfrm>
            <a:off x="4532223" y="4991886"/>
            <a:ext cx="6158401" cy="64158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Deductive verification engines can often highlight individual failing verification conditions</a:t>
            </a:r>
          </a:p>
        </p:txBody>
      </p:sp>
    </p:spTree>
    <p:extLst>
      <p:ext uri="{BB962C8B-B14F-4D97-AF65-F5344CB8AC3E}">
        <p14:creationId xmlns:p14="http://schemas.microsoft.com/office/powerpoint/2010/main" val="204293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1" grpId="0" animBg="1"/>
      <p:bldP spid="24" grpId="0" animBg="1"/>
      <p:bldP spid="26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Discussion &amp; Research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73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RQ1. How to incorporate compositional reasoning?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F69930-C776-20D9-9B54-216A6A2E91D6}"/>
              </a:ext>
            </a:extLst>
          </p:cNvPr>
          <p:cNvSpPr/>
          <p:nvPr/>
        </p:nvSpPr>
        <p:spPr>
          <a:xfrm>
            <a:off x="1777200" y="3856407"/>
            <a:ext cx="1555934" cy="11860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765F9C-1C59-4D91-07DA-684D125E4978}"/>
              </a:ext>
            </a:extLst>
          </p:cNvPr>
          <p:cNvSpPr/>
          <p:nvPr/>
        </p:nvSpPr>
        <p:spPr>
          <a:xfrm>
            <a:off x="4148503" y="3856407"/>
            <a:ext cx="1555934" cy="11860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91F1D5-E183-AA04-E8A2-35920459F27E}"/>
              </a:ext>
            </a:extLst>
          </p:cNvPr>
          <p:cNvSpPr/>
          <p:nvPr/>
        </p:nvSpPr>
        <p:spPr>
          <a:xfrm>
            <a:off x="6519807" y="3856407"/>
            <a:ext cx="1555934" cy="11860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06A176-F6D2-0183-B3A1-65B916D475A9}"/>
              </a:ext>
            </a:extLst>
          </p:cNvPr>
          <p:cNvSpPr/>
          <p:nvPr/>
        </p:nvSpPr>
        <p:spPr>
          <a:xfrm>
            <a:off x="8891110" y="3856407"/>
            <a:ext cx="1555934" cy="11860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D7CE68-BBD2-4DE4-ED8A-246528FCF1B5}"/>
              </a:ext>
            </a:extLst>
          </p:cNvPr>
          <p:cNvSpPr/>
          <p:nvPr/>
        </p:nvSpPr>
        <p:spPr>
          <a:xfrm>
            <a:off x="5356596" y="5456829"/>
            <a:ext cx="1555934" cy="11860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"/>
            </a:endParaRP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7F912332-AB1B-C695-5BF6-5CC516A5CCF2}"/>
              </a:ext>
            </a:extLst>
          </p:cNvPr>
          <p:cNvCxnSpPr>
            <a:cxnSpLocks/>
            <a:stCxn id="11" idx="1"/>
            <a:endCxn id="5" idx="2"/>
          </p:cNvCxnSpPr>
          <p:nvPr/>
        </p:nvCxnSpPr>
        <p:spPr>
          <a:xfrm rot="10800000">
            <a:off x="2555167" y="5042455"/>
            <a:ext cx="2801429" cy="10073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478B3F80-9B63-E799-2CC3-9E24F3931DA8}"/>
              </a:ext>
            </a:extLst>
          </p:cNvPr>
          <p:cNvCxnSpPr>
            <a:cxnSpLocks/>
            <a:stCxn id="11" idx="3"/>
            <a:endCxn id="10" idx="2"/>
          </p:cNvCxnSpPr>
          <p:nvPr/>
        </p:nvCxnSpPr>
        <p:spPr>
          <a:xfrm flipV="1">
            <a:off x="6912530" y="5042455"/>
            <a:ext cx="2756547" cy="10073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ED29170D-C608-5EE6-BCF0-727E7CDC8BF7}"/>
              </a:ext>
            </a:extLst>
          </p:cNvPr>
          <p:cNvCxnSpPr>
            <a:cxnSpLocks/>
            <a:stCxn id="11" idx="1"/>
            <a:endCxn id="8" idx="2"/>
          </p:cNvCxnSpPr>
          <p:nvPr/>
        </p:nvCxnSpPr>
        <p:spPr>
          <a:xfrm rot="10800000">
            <a:off x="4926470" y="5042455"/>
            <a:ext cx="430126" cy="10073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656132C5-635D-C8B6-13A7-0DD6DEC7B299}"/>
              </a:ext>
            </a:extLst>
          </p:cNvPr>
          <p:cNvCxnSpPr>
            <a:cxnSpLocks/>
            <a:stCxn id="11" idx="3"/>
            <a:endCxn id="9" idx="2"/>
          </p:cNvCxnSpPr>
          <p:nvPr/>
        </p:nvCxnSpPr>
        <p:spPr>
          <a:xfrm flipV="1">
            <a:off x="6912530" y="5042455"/>
            <a:ext cx="385243" cy="10073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AF00FD49-A5B5-E700-9AC7-89275E879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531" y="5337458"/>
            <a:ext cx="584722" cy="61806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52167E3-17E3-D57A-92A9-70000F3B5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174" y="5337458"/>
            <a:ext cx="584722" cy="61806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E7C7281-C90E-E0C0-3BE1-20F42FE38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5765" y="5321644"/>
            <a:ext cx="614644" cy="649691"/>
          </a:xfrm>
          <a:prstGeom prst="rect">
            <a:avLst/>
          </a:prstGeom>
        </p:spPr>
      </p:pic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3E319BDC-A2C6-88FE-2039-B0E17E60EA42}"/>
              </a:ext>
            </a:extLst>
          </p:cNvPr>
          <p:cNvCxnSpPr>
            <a:cxnSpLocks/>
            <a:endCxn id="11" idx="0"/>
          </p:cNvCxnSpPr>
          <p:nvPr/>
        </p:nvCxnSpPr>
        <p:spPr>
          <a:xfrm rot="16200000" flipH="1">
            <a:off x="5415801" y="4738067"/>
            <a:ext cx="1007399" cy="430126"/>
          </a:xfrm>
          <a:prstGeom prst="bentConnector3">
            <a:avLst>
              <a:gd name="adj1" fmla="val -2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D0680970-AC2F-EB19-AAA9-44A6596F232C}"/>
              </a:ext>
            </a:extLst>
          </p:cNvPr>
          <p:cNvCxnSpPr>
            <a:cxnSpLocks/>
            <a:stCxn id="9" idx="1"/>
            <a:endCxn id="11" idx="0"/>
          </p:cNvCxnSpPr>
          <p:nvPr/>
        </p:nvCxnSpPr>
        <p:spPr>
          <a:xfrm rot="10800000" flipV="1">
            <a:off x="6134563" y="4449431"/>
            <a:ext cx="385243" cy="10073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58CC4BB0-2E84-1437-DAB5-1EFC20F5862C}"/>
              </a:ext>
            </a:extLst>
          </p:cNvPr>
          <p:cNvCxnSpPr>
            <a:cxnSpLocks/>
            <a:stCxn id="10" idx="0"/>
            <a:endCxn id="11" idx="0"/>
          </p:cNvCxnSpPr>
          <p:nvPr/>
        </p:nvCxnSpPr>
        <p:spPr>
          <a:xfrm rot="16200000" flipH="1" flipV="1">
            <a:off x="7101609" y="2889361"/>
            <a:ext cx="1600423" cy="3534514"/>
          </a:xfrm>
          <a:prstGeom prst="bentConnector3">
            <a:avLst>
              <a:gd name="adj1" fmla="val -292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7CF1E0B4-FDF6-549A-2FA8-9F5808DE46A0}"/>
              </a:ext>
            </a:extLst>
          </p:cNvPr>
          <p:cNvCxnSpPr>
            <a:cxnSpLocks/>
            <a:stCxn id="5" idx="0"/>
            <a:endCxn id="11" idx="0"/>
          </p:cNvCxnSpPr>
          <p:nvPr/>
        </p:nvCxnSpPr>
        <p:spPr>
          <a:xfrm rot="16200000" flipH="1">
            <a:off x="3544654" y="2866920"/>
            <a:ext cx="1600423" cy="3579396"/>
          </a:xfrm>
          <a:prstGeom prst="bentConnector3">
            <a:avLst>
              <a:gd name="adj1" fmla="val -293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879377B4-E86C-9A19-6778-B1D4CB0B4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073" y="2605618"/>
            <a:ext cx="584722" cy="61806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5D7FA38-7EC8-8849-E603-5F9027EED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715" y="2605618"/>
            <a:ext cx="584722" cy="61806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6916E8A-D83C-FB78-0F08-6092E202D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792" y="2589804"/>
            <a:ext cx="614644" cy="64969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8E46FB4-5505-2D6B-EF28-8CA081830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745" y="5337458"/>
            <a:ext cx="584722" cy="618063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22143079-FDF6-FED4-DA45-1A3F9AF82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388" y="5337458"/>
            <a:ext cx="584722" cy="61806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19D24E6-E3E2-B209-12E5-1F24EA636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979" y="5321644"/>
            <a:ext cx="614644" cy="649691"/>
          </a:xfrm>
          <a:prstGeom prst="rect">
            <a:avLst/>
          </a:prstGeom>
        </p:spPr>
      </p:pic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5892A11D-D3E4-5DD4-50FB-9C69DE612000}"/>
              </a:ext>
            </a:extLst>
          </p:cNvPr>
          <p:cNvSpPr txBox="1">
            <a:spLocks/>
          </p:cNvSpPr>
          <p:nvPr/>
        </p:nvSpPr>
        <p:spPr>
          <a:xfrm>
            <a:off x="5306052" y="5773954"/>
            <a:ext cx="1646476" cy="5995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"/>
                <a:ea typeface="Source Sans Pro"/>
              </a:rPr>
              <a:t>Environment multiplexer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"/>
              <a:ea typeface="Source Sans Pro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 dirty="0">
              <a:latin typeface=""/>
              <a:ea typeface="Source Sans Pro"/>
            </a:endParaRP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0017CA83-264C-DD00-6487-142E84330011}"/>
              </a:ext>
            </a:extLst>
          </p:cNvPr>
          <p:cNvSpPr txBox="1">
            <a:spLocks/>
          </p:cNvSpPr>
          <p:nvPr/>
        </p:nvSpPr>
        <p:spPr>
          <a:xfrm>
            <a:off x="1777200" y="3964486"/>
            <a:ext cx="1555934" cy="363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"/>
                <a:ea typeface="Source Sans Pro"/>
              </a:rPr>
              <a:t>Honest step 1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"/>
              <a:ea typeface="Source Sans Pro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 dirty="0">
              <a:latin typeface=""/>
              <a:ea typeface="Source Sans Pro"/>
            </a:endParaRP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A8C4C458-982B-4F45-7C89-3694B4C75711}"/>
              </a:ext>
            </a:extLst>
          </p:cNvPr>
          <p:cNvSpPr txBox="1">
            <a:spLocks/>
          </p:cNvSpPr>
          <p:nvPr/>
        </p:nvSpPr>
        <p:spPr>
          <a:xfrm>
            <a:off x="4148503" y="3970995"/>
            <a:ext cx="1555934" cy="363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"/>
                <a:ea typeface="Source Sans Pro"/>
              </a:rPr>
              <a:t>Honest step 2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"/>
              <a:ea typeface="Source Sans Pro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 dirty="0">
              <a:latin typeface=""/>
              <a:ea typeface="Source Sans Pro"/>
            </a:endParaRP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3BCA634C-1FE7-DEA4-D14B-44F351577811}"/>
              </a:ext>
            </a:extLst>
          </p:cNvPr>
          <p:cNvSpPr txBox="1">
            <a:spLocks/>
          </p:cNvSpPr>
          <p:nvPr/>
        </p:nvSpPr>
        <p:spPr>
          <a:xfrm>
            <a:off x="6517467" y="3965143"/>
            <a:ext cx="1555934" cy="363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"/>
                <a:ea typeface="Source Sans Pro"/>
              </a:rPr>
              <a:t>Honest step n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"/>
              <a:ea typeface="Source Sans Pro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 dirty="0">
              <a:latin typeface=""/>
              <a:ea typeface="Source Sans Pro"/>
            </a:endParaRP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B669791E-151B-F769-829A-562105671363}"/>
              </a:ext>
            </a:extLst>
          </p:cNvPr>
          <p:cNvSpPr txBox="1">
            <a:spLocks/>
          </p:cNvSpPr>
          <p:nvPr/>
        </p:nvSpPr>
        <p:spPr>
          <a:xfrm>
            <a:off x="8891110" y="3964486"/>
            <a:ext cx="1555934" cy="363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"/>
                <a:ea typeface="Source Sans Pro"/>
              </a:rPr>
              <a:t>Adversary step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"/>
              <a:ea typeface="Source Sans Pro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dirty="0">
              <a:latin typeface=""/>
              <a:ea typeface="Source Sans Pro"/>
            </a:endParaRP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8C85CB7-E87B-ECC6-32D8-9B795F38D54C}"/>
              </a:ext>
            </a:extLst>
          </p:cNvPr>
          <p:cNvSpPr txBox="1">
            <a:spLocks/>
          </p:cNvSpPr>
          <p:nvPr/>
        </p:nvSpPr>
        <p:spPr>
          <a:xfrm>
            <a:off x="4619147" y="2235615"/>
            <a:ext cx="1555934" cy="363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"/>
                <a:ea typeface="Source Sans Pro"/>
              </a:rPr>
              <a:t>State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"/>
              <a:ea typeface="Source Sans Pro"/>
            </a:endParaRPr>
          </a:p>
        </p:txBody>
      </p:sp>
      <p:sp>
        <p:nvSpPr>
          <p:cNvPr id="77" name="Content Placeholder 2">
            <a:extLst>
              <a:ext uri="{FF2B5EF4-FFF2-40B4-BE49-F238E27FC236}">
                <a16:creationId xmlns:a16="http://schemas.microsoft.com/office/drawing/2014/main" id="{D28C5D49-86CB-A912-8758-BB5C3745BB48}"/>
              </a:ext>
            </a:extLst>
          </p:cNvPr>
          <p:cNvSpPr txBox="1">
            <a:spLocks/>
          </p:cNvSpPr>
          <p:nvPr/>
        </p:nvSpPr>
        <p:spPr>
          <a:xfrm>
            <a:off x="5658461" y="2257246"/>
            <a:ext cx="2673951" cy="3205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latin typeface=""/>
                <a:ea typeface="Source Sans Pro"/>
              </a:rPr>
              <a:t>Adversary knowledge</a:t>
            </a:r>
            <a:endParaRPr lang="en-US" sz="1400" dirty="0">
              <a:solidFill>
                <a:schemeClr val="accent6">
                  <a:lumMod val="75000"/>
                </a:schemeClr>
              </a:solidFill>
              <a:latin typeface=""/>
              <a:ea typeface="Source Sans Pro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 dirty="0">
              <a:latin typeface=""/>
              <a:ea typeface="Source Sans Pro"/>
            </a:endParaRPr>
          </a:p>
        </p:txBody>
      </p: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EF5F80CF-A730-78EB-248C-82EEAAF81307}"/>
              </a:ext>
            </a:extLst>
          </p:cNvPr>
          <p:cNvSpPr txBox="1">
            <a:spLocks/>
          </p:cNvSpPr>
          <p:nvPr/>
        </p:nvSpPr>
        <p:spPr>
          <a:xfrm>
            <a:off x="3186328" y="2235615"/>
            <a:ext cx="1555934" cy="363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"/>
                <a:ea typeface="Source Sans Pro"/>
              </a:rPr>
              <a:t>Session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"/>
              <a:ea typeface="Source Sans Pro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 dirty="0">
              <a:latin typeface=""/>
              <a:ea typeface="Source Sans Pro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B821B072-3CEC-08C1-1893-66C3CC681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3276" y="2658412"/>
            <a:ext cx="484830" cy="512475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99A81680-CF40-9278-4FED-C61D1BF9CF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120" y="6153220"/>
            <a:ext cx="484830" cy="512475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83927E5B-17FD-9B1C-5757-4A33E5803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2892" y="6160672"/>
            <a:ext cx="484830" cy="512475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DA97808D-5D20-E50B-6CFB-26A3DA2B8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5187" y="4336949"/>
            <a:ext cx="509504" cy="538556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B6C99A1-416A-687D-1969-1E3466320A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389" y="4336949"/>
            <a:ext cx="509504" cy="538556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245BDFF4-ACC7-564E-CB60-4D442D828F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9430" y="4336949"/>
            <a:ext cx="509504" cy="53855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3A25CF4D-A406-C119-6859-BA8697F322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2476" y="4336949"/>
            <a:ext cx="509504" cy="53855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E40AEFB-2627-47DB-74DC-C3C08F04C3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9448" y="3842919"/>
            <a:ext cx="414912" cy="41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1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8" grpId="0"/>
      <p:bldP spid="76" grpId="0"/>
      <p:bldP spid="77" grpId="0"/>
      <p:bldP spid="8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Discussion &amp; Research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132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RQ2. Can dedicated theory reasoning be feasible in practice?</a:t>
            </a:r>
            <a:endParaRPr lang="en-US" dirty="0">
              <a:ea typeface="Source Sans Pro"/>
            </a:endParaRPr>
          </a:p>
          <a:p>
            <a:endParaRPr lang="en-US" dirty="0"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82D8C2-9DDE-479E-F815-4E813F8F8349}"/>
              </a:ext>
            </a:extLst>
          </p:cNvPr>
          <p:cNvSpPr/>
          <p:nvPr/>
        </p:nvSpPr>
        <p:spPr>
          <a:xfrm>
            <a:off x="2332879" y="2407789"/>
            <a:ext cx="7525827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"/>
              </a:rPr>
              <a:t>Tamarin’s search modulo equational theories does not scale in practice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AE89C8-99D9-DAED-FB36-1B150B1FB865}"/>
              </a:ext>
            </a:extLst>
          </p:cNvPr>
          <p:cNvSpPr/>
          <p:nvPr/>
        </p:nvSpPr>
        <p:spPr>
          <a:xfrm>
            <a:off x="1573676" y="2968586"/>
            <a:ext cx="7255014" cy="4876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Challenge: How to incorporate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"/>
              </a:rPr>
              <a:t>scalable</a:t>
            </a:r>
            <a:r>
              <a:rPr lang="en-US" dirty="0">
                <a:solidFill>
                  <a:schemeClr val="tx1"/>
                </a:solidFill>
                <a:latin typeface=""/>
              </a:rPr>
              <a:t> dedicated theory reasoning?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C76075-48E5-6B4A-02BB-DAD8F9479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988906"/>
            <a:ext cx="467360" cy="46736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D4716D5-4C89-36D5-B66F-720B26CB1EEF}"/>
              </a:ext>
            </a:extLst>
          </p:cNvPr>
          <p:cNvSpPr/>
          <p:nvPr/>
        </p:nvSpPr>
        <p:spPr>
          <a:xfrm>
            <a:off x="5515822" y="3529921"/>
            <a:ext cx="5724502" cy="74014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Insight: deductive verification tools (often) natively reason modulo theories with an SMT backend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78F4AF-8252-E180-D706-7F273E38F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736" y="3600274"/>
            <a:ext cx="599440" cy="59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1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Discussion &amp; Research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01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RQ3. How to reason about control flow beyond Alice-Bob?</a:t>
            </a:r>
          </a:p>
          <a:p>
            <a:pPr lvl="1"/>
            <a:endParaRPr lang="en-US" dirty="0">
              <a:ea typeface="Source Sans Pro"/>
            </a:endParaRPr>
          </a:p>
          <a:p>
            <a:endParaRPr lang="en-US" dirty="0"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70DFD9-22E7-92A7-1634-5897C3E9FABD}"/>
              </a:ext>
            </a:extLst>
          </p:cNvPr>
          <p:cNvSpPr/>
          <p:nvPr/>
        </p:nvSpPr>
        <p:spPr>
          <a:xfrm>
            <a:off x="2332879" y="2407789"/>
            <a:ext cx="7525827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"/>
              </a:rPr>
              <a:t>Tamarin’s analysis of looping protocols often causes nontermination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7F1AF76-5B22-D693-9074-94012F824183}"/>
              </a:ext>
            </a:extLst>
          </p:cNvPr>
          <p:cNvSpPr/>
          <p:nvPr/>
        </p:nvSpPr>
        <p:spPr>
          <a:xfrm>
            <a:off x="1787036" y="2957305"/>
            <a:ext cx="7106120" cy="53644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Challenge: How to reason about loops with symbolic bounds?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4644F6-C6CD-B2DA-F7FB-543D3FBC9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712" y="2978641"/>
            <a:ext cx="514096" cy="514096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F671F68-22CA-54BF-CA77-42A8A04B2A86}"/>
              </a:ext>
            </a:extLst>
          </p:cNvPr>
          <p:cNvSpPr/>
          <p:nvPr/>
        </p:nvSpPr>
        <p:spPr>
          <a:xfrm>
            <a:off x="3595516" y="3560168"/>
            <a:ext cx="7106120" cy="74014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Insight: deductive verification tools typically natively support loops with corresponding loop invariants to prove properties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35D066-0FCD-7124-3822-3F026CFA1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016" y="3630521"/>
            <a:ext cx="599440" cy="59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Discussion &amp; Research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01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RQ4. Is it possible to  gracefully recover interactivity for difficult proofs?</a:t>
            </a:r>
          </a:p>
          <a:p>
            <a:pPr lvl="1"/>
            <a:endParaRPr lang="en-US" dirty="0">
              <a:solidFill>
                <a:srgbClr val="C00000"/>
              </a:solidFill>
              <a:ea typeface="Source Sans Pro"/>
            </a:endParaRPr>
          </a:p>
          <a:p>
            <a:endParaRPr lang="en-US" dirty="0">
              <a:solidFill>
                <a:srgbClr val="C00000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AEB369F-9A28-22B1-9709-554524436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920" y="3035943"/>
            <a:ext cx="6614160" cy="3456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635DE93-0A9A-FDA8-7158-0E4CE5BD43AF}"/>
              </a:ext>
            </a:extLst>
          </p:cNvPr>
          <p:cNvSpPr/>
          <p:nvPr/>
        </p:nvSpPr>
        <p:spPr>
          <a:xfrm>
            <a:off x="2332879" y="2321933"/>
            <a:ext cx="7525827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"/>
              </a:rPr>
              <a:t>Tamarin’s monolithic proofs are hard for humans to digest</a:t>
            </a:r>
          </a:p>
        </p:txBody>
      </p:sp>
    </p:spTree>
    <p:extLst>
      <p:ext uri="{BB962C8B-B14F-4D97-AF65-F5344CB8AC3E}">
        <p14:creationId xmlns:p14="http://schemas.microsoft.com/office/powerpoint/2010/main" val="384637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Discussion &amp; Research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01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RQ4. Is it possible to  gracefully recover interactivity for difficult proofs?</a:t>
            </a:r>
          </a:p>
          <a:p>
            <a:pPr lvl="1"/>
            <a:endParaRPr lang="en-US" dirty="0">
              <a:solidFill>
                <a:srgbClr val="C00000"/>
              </a:solidFill>
              <a:ea typeface="Source Sans Pro"/>
            </a:endParaRPr>
          </a:p>
          <a:p>
            <a:endParaRPr lang="en-US" dirty="0">
              <a:solidFill>
                <a:srgbClr val="C00000"/>
              </a:solidFill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FF2BEA-9D6E-F7FA-6B26-69BC45003194}"/>
              </a:ext>
            </a:extLst>
          </p:cNvPr>
          <p:cNvSpPr/>
          <p:nvPr/>
        </p:nvSpPr>
        <p:spPr>
          <a:xfrm>
            <a:off x="1797196" y="2872022"/>
            <a:ext cx="6127604" cy="4876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Challenge: How to localize verification failures?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CD015D0-ED10-EB6C-4145-9257DCD04AC4}"/>
              </a:ext>
            </a:extLst>
          </p:cNvPr>
          <p:cNvSpPr/>
          <p:nvPr/>
        </p:nvSpPr>
        <p:spPr>
          <a:xfrm>
            <a:off x="4043680" y="3423856"/>
            <a:ext cx="6939280" cy="74014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Insight: deductive verification engines can isolate an individual postcondition within an individual function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2CBC3C-9061-20A5-E594-165F8B4D0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2897448"/>
            <a:ext cx="467360" cy="4673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D128E3-5319-6914-A4A6-245151C17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121" y="3494209"/>
            <a:ext cx="599440" cy="59944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72BAF5-52AB-2A9F-9CC2-455978CB655B}"/>
              </a:ext>
            </a:extLst>
          </p:cNvPr>
          <p:cNvSpPr/>
          <p:nvPr/>
        </p:nvSpPr>
        <p:spPr>
          <a:xfrm>
            <a:off x="2332879" y="2321933"/>
            <a:ext cx="7525827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"/>
              </a:rPr>
              <a:t>Tamarin’s monolithic proofs are hard for humans to digest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173638B-0FF0-95B2-C2E2-1E65880C5E37}"/>
              </a:ext>
            </a:extLst>
          </p:cNvPr>
          <p:cNvSpPr/>
          <p:nvPr/>
        </p:nvSpPr>
        <p:spPr>
          <a:xfrm>
            <a:off x="4043680" y="4234356"/>
            <a:ext cx="6939280" cy="74014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Deductive verification engines may be embedded in ITPs,      giving an escape hatch</a:t>
            </a:r>
          </a:p>
        </p:txBody>
      </p:sp>
    </p:spTree>
    <p:extLst>
      <p:ext uri="{BB962C8B-B14F-4D97-AF65-F5344CB8AC3E}">
        <p14:creationId xmlns:p14="http://schemas.microsoft.com/office/powerpoint/2010/main" val="135061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12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F881E0-5D24-2878-1BDA-B054DA23B3A2}"/>
              </a:ext>
            </a:extLst>
          </p:cNvPr>
          <p:cNvSpPr/>
          <p:nvPr/>
        </p:nvSpPr>
        <p:spPr>
          <a:xfrm>
            <a:off x="630414" y="1825625"/>
            <a:ext cx="10930758" cy="11246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venir Next" panose="020B0503020202020204" pitchFamily="34" charset="0"/>
                <a:ea typeface="Source Sans Pro"/>
              </a:rPr>
              <a:t>Even with idealized primitives, cryptographic protocol verification is hard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en-US" sz="2400" dirty="0">
                <a:solidFill>
                  <a:schemeClr val="tx1"/>
                </a:solidFill>
                <a:latin typeface="Avenir Next" panose="020B0503020202020204" pitchFamily="34" charset="0"/>
                <a:ea typeface="Source Sans Pro"/>
              </a:rPr>
              <a:t> we didn’t even touch hyper properties!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B6D3E9-F60F-59D9-65C8-297B60DFEA8D}"/>
              </a:ext>
            </a:extLst>
          </p:cNvPr>
          <p:cNvSpPr/>
          <p:nvPr/>
        </p:nvSpPr>
        <p:spPr>
          <a:xfrm>
            <a:off x="630414" y="3499493"/>
            <a:ext cx="10930758" cy="11246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  <a:latin typeface="Avenir Next" panose="020B0503020202020204" pitchFamily="34" charset="0"/>
                <a:ea typeface="Source Sans Pro"/>
              </a:rPr>
              <a:t>Current work is impressive but faces fundamental limitations with scalability, (practical) expressivity, and usable interactivity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35077D-A146-18D5-8BC0-8FD705D2681D}"/>
              </a:ext>
            </a:extLst>
          </p:cNvPr>
          <p:cNvSpPr/>
          <p:nvPr/>
        </p:nvSpPr>
        <p:spPr>
          <a:xfrm>
            <a:off x="630414" y="5170664"/>
            <a:ext cx="10930758" cy="11246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  <a:latin typeface="Avenir Next" panose="020B0503020202020204" pitchFamily="34" charset="0"/>
                <a:ea typeface="Source Sans Pro"/>
              </a:rPr>
              <a:t>We need advances both in terms of theory and verification tooling</a:t>
            </a:r>
          </a:p>
        </p:txBody>
      </p:sp>
    </p:spTree>
    <p:extLst>
      <p:ext uri="{BB962C8B-B14F-4D97-AF65-F5344CB8AC3E}">
        <p14:creationId xmlns:p14="http://schemas.microsoft.com/office/powerpoint/2010/main" val="211845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67D0A9E-0BD0-5468-EE66-F1B353CE5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latin typeface="Avenir Next" panose="020B0503020202020204" pitchFamily="34" charset="0"/>
                <a:ea typeface="Source Sans Pro"/>
              </a:rPr>
              <a:t>Thanks! Questions?</a:t>
            </a:r>
          </a:p>
          <a:p>
            <a:endParaRPr lang="en-US" dirty="0">
              <a:latin typeface="Avenir Next" panose="020B0503020202020204" pitchFamily="34" charset="0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04694303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6E1A8-04A0-434B-6CBD-45DB89602C9A}"/>
              </a:ext>
            </a:extLst>
          </p:cNvPr>
          <p:cNvSpPr/>
          <p:nvPr/>
        </p:nvSpPr>
        <p:spPr>
          <a:xfrm>
            <a:off x="2695018" y="3521228"/>
            <a:ext cx="6849374" cy="46582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4750C9E-858D-B1DA-F78E-A96DAA1C61EA}"/>
              </a:ext>
            </a:extLst>
          </p:cNvPr>
          <p:cNvGrpSpPr/>
          <p:nvPr/>
        </p:nvGrpSpPr>
        <p:grpSpPr>
          <a:xfrm>
            <a:off x="4062519" y="4419020"/>
            <a:ext cx="3477316" cy="2316606"/>
            <a:chOff x="4062519" y="4419020"/>
            <a:chExt cx="3477316" cy="231660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729CB89-C10D-DB5A-952F-FB5A0A1C44FA}"/>
                </a:ext>
              </a:extLst>
            </p:cNvPr>
            <p:cNvSpPr txBox="1"/>
            <p:nvPr/>
          </p:nvSpPr>
          <p:spPr>
            <a:xfrm>
              <a:off x="5529534" y="636629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>
                <a:latin typeface="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375BFF0-7EEE-2BF5-3E86-8FA4A781DE2D}"/>
                </a:ext>
              </a:extLst>
            </p:cNvPr>
            <p:cNvSpPr/>
            <p:nvPr/>
          </p:nvSpPr>
          <p:spPr>
            <a:xfrm>
              <a:off x="4062519" y="4856671"/>
              <a:ext cx="1236274" cy="1636203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2B0AF2C-8E5C-07D2-F892-F0A53C2BF61C}"/>
                </a:ext>
              </a:extLst>
            </p:cNvPr>
            <p:cNvSpPr/>
            <p:nvPr/>
          </p:nvSpPr>
          <p:spPr>
            <a:xfrm>
              <a:off x="5949353" y="4856670"/>
              <a:ext cx="1236274" cy="1636203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221C949-3379-22B7-A74D-36965B406CB0}"/>
                    </a:ext>
                  </a:extLst>
                </p:cNvPr>
                <p:cNvSpPr txBox="1"/>
                <p:nvPr/>
              </p:nvSpPr>
              <p:spPr>
                <a:xfrm>
                  <a:off x="4140283" y="4419022"/>
                  <a:ext cx="11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>
                      <a:latin typeface=""/>
                      <a:ea typeface="Source Sans Pro"/>
                    </a:rPr>
                    <a:t>Sent by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𝐵</m:t>
                      </m:r>
                    </m:oMath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221C949-3379-22B7-A74D-36965B406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0283" y="4419022"/>
                  <a:ext cx="1184940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3158" t="-10345" b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DECD5AD-35D3-7A88-ECED-33BA0CEDC684}"/>
                    </a:ext>
                  </a:extLst>
                </p:cNvPr>
                <p:cNvSpPr txBox="1"/>
                <p:nvPr/>
              </p:nvSpPr>
              <p:spPr>
                <a:xfrm>
                  <a:off x="5880342" y="4419020"/>
                  <a:ext cx="165949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>
                      <a:latin typeface=""/>
                      <a:ea typeface="Source Sans Pro"/>
                    </a:rPr>
                    <a:t>Accepted by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𝐴</m:t>
                      </m:r>
                    </m:oMath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DECD5AD-35D3-7A88-ECED-33BA0CEDC6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0342" y="4419020"/>
                  <a:ext cx="165949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3817" t="-10345" b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2B045D3-7D10-27A7-3748-2C6CB4E9C425}"/>
                </a:ext>
              </a:extLst>
            </p:cNvPr>
            <p:cNvSpPr/>
            <p:nvPr/>
          </p:nvSpPr>
          <p:spPr>
            <a:xfrm>
              <a:off x="4600332" y="5181790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B5994BA-563D-BA9E-669A-7777719FD2A0}"/>
                </a:ext>
              </a:extLst>
            </p:cNvPr>
            <p:cNvSpPr/>
            <p:nvPr/>
          </p:nvSpPr>
          <p:spPr>
            <a:xfrm>
              <a:off x="4685886" y="5851709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726D391-1B60-BAD3-A5C6-F3CE22CE8580}"/>
                </a:ext>
              </a:extLst>
            </p:cNvPr>
            <p:cNvSpPr/>
            <p:nvPr/>
          </p:nvSpPr>
          <p:spPr>
            <a:xfrm>
              <a:off x="6288234" y="5245971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BDF3B72-4F9F-5137-55DD-CBF66277DB5B}"/>
                </a:ext>
              </a:extLst>
            </p:cNvPr>
            <p:cNvSpPr/>
            <p:nvPr/>
          </p:nvSpPr>
          <p:spPr>
            <a:xfrm>
              <a:off x="6368557" y="5775182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816AF4-0B82-E4CD-1D71-F1B0D9ECD9A4}"/>
                    </a:ext>
                  </a:extLst>
                </p:cNvPr>
                <p:cNvSpPr txBox="1"/>
                <p:nvPr/>
              </p:nvSpPr>
              <p:spPr>
                <a:xfrm>
                  <a:off x="4287426" y="5035655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816AF4-0B82-E4CD-1D71-F1B0D9ECD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7426" y="5035655"/>
                  <a:ext cx="3891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3D59B5C-44E1-93A9-CF7E-7FB96A8711E9}"/>
                    </a:ext>
                  </a:extLst>
                </p:cNvPr>
                <p:cNvSpPr txBox="1"/>
                <p:nvPr/>
              </p:nvSpPr>
              <p:spPr>
                <a:xfrm>
                  <a:off x="6389526" y="5617810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3D59B5C-44E1-93A9-CF7E-7FB96A871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9526" y="5617810"/>
                  <a:ext cx="38914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69AC445-B558-D9B4-C92E-29573E3D96EC}"/>
                    </a:ext>
                  </a:extLst>
                </p:cNvPr>
                <p:cNvSpPr txBox="1"/>
                <p:nvPr/>
              </p:nvSpPr>
              <p:spPr>
                <a:xfrm>
                  <a:off x="4379251" y="5707852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69AC445-B558-D9B4-C92E-29573E3D9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9251" y="5707852"/>
                  <a:ext cx="38914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D3A10F4-3E4E-4D48-E949-2504BE5C3B89}"/>
                    </a:ext>
                  </a:extLst>
                </p:cNvPr>
                <p:cNvSpPr txBox="1"/>
                <p:nvPr/>
              </p:nvSpPr>
              <p:spPr>
                <a:xfrm>
                  <a:off x="6320943" y="5084548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D3A10F4-3E4E-4D48-E949-2504BE5C3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0943" y="5084548"/>
                  <a:ext cx="3891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590CCD6F-1DAC-0039-9587-4BE203918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45FE81D-3A46-25E2-81B8-2E6E5CAB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25077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F1151DB7-B4D4-6F7C-4F01-472C71ED20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92023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ea typeface="Source Sans Pro"/>
                  </a:rPr>
                  <a:t>Injective agreement</a:t>
                </a:r>
                <a:r>
                  <a:rPr lang="en-US" dirty="0">
                    <a:ea typeface="Source Sans Pro"/>
                  </a:rPr>
                  <a:t>: There is an injective mapping from data items accepted by principal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</m:oMath>
                </a14:m>
                <a:r>
                  <a:rPr lang="en-US" dirty="0">
                    <a:ea typeface="Source Sans Pro"/>
                  </a:rPr>
                  <a:t> apparently from principal</a:t>
                </a: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ea typeface="Source Sans Pro"/>
                  </a:rPr>
                  <a:t>, to data items sent from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ea typeface="Source Sans Pro"/>
                  </a:rPr>
                  <a:t> apparently to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</m:oMath>
                </a14:m>
                <a:endParaRPr lang="en-US" dirty="0"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∀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𝑡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.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Accept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𝐴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 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𝐵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 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@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⇒(∃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𝑗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. </m:t>
                    </m:r>
                    <m:r>
                      <m:rPr>
                        <m:sty m:val="p"/>
                      </m:rP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Sent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𝐵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𝐴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@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𝑗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 &amp;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𝑗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&lt;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&amp;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¬(∃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𝐴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𝐵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Accept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</m:t>
                          </m:r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&amp;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≠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F1151DB7-B4D4-6F7C-4F01-472C71ED2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920232"/>
              </a:xfrm>
              <a:prstGeom prst="rect">
                <a:avLst/>
              </a:prstGeom>
              <a:blipFill>
                <a:blip r:embed="rId7"/>
                <a:stretch>
                  <a:fillRect l="-1206" t="-2057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8A3E038-8664-599C-5BF2-3CA759E4CD66}"/>
              </a:ext>
            </a:extLst>
          </p:cNvPr>
          <p:cNvSpPr txBox="1"/>
          <p:nvPr/>
        </p:nvSpPr>
        <p:spPr>
          <a:xfrm>
            <a:off x="1624101" y="4351679"/>
            <a:ext cx="1793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"/>
              </a:rPr>
              <a:t>Too strong?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4FD549D-6CF6-5630-1246-7A55D4F56061}"/>
              </a:ext>
            </a:extLst>
          </p:cNvPr>
          <p:cNvCxnSpPr>
            <a:cxnSpLocks/>
            <a:stCxn id="14" idx="2"/>
            <a:endCxn id="23" idx="3"/>
          </p:cNvCxnSpPr>
          <p:nvPr/>
        </p:nvCxnSpPr>
        <p:spPr>
          <a:xfrm flipH="1" flipV="1">
            <a:off x="4676571" y="5220321"/>
            <a:ext cx="1611663" cy="65812"/>
          </a:xfrm>
          <a:prstGeom prst="straightConnector1">
            <a:avLst/>
          </a:prstGeom>
          <a:ln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60A8220-E0CD-52D8-2699-AE225D276F39}"/>
              </a:ext>
            </a:extLst>
          </p:cNvPr>
          <p:cNvCxnSpPr>
            <a:cxnSpLocks/>
            <a:stCxn id="15" idx="2"/>
            <a:endCxn id="13" idx="6"/>
          </p:cNvCxnSpPr>
          <p:nvPr/>
        </p:nvCxnSpPr>
        <p:spPr>
          <a:xfrm flipH="1">
            <a:off x="4766209" y="5815344"/>
            <a:ext cx="1602348" cy="76527"/>
          </a:xfrm>
          <a:prstGeom prst="straightConnector1">
            <a:avLst/>
          </a:prstGeom>
          <a:ln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50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6E1A8-04A0-434B-6CBD-45DB89602C9A}"/>
              </a:ext>
            </a:extLst>
          </p:cNvPr>
          <p:cNvSpPr/>
          <p:nvPr/>
        </p:nvSpPr>
        <p:spPr>
          <a:xfrm>
            <a:off x="2695018" y="3521228"/>
            <a:ext cx="6849374" cy="46582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4750C9E-858D-B1DA-F78E-A96DAA1C61EA}"/>
              </a:ext>
            </a:extLst>
          </p:cNvPr>
          <p:cNvGrpSpPr/>
          <p:nvPr/>
        </p:nvGrpSpPr>
        <p:grpSpPr>
          <a:xfrm>
            <a:off x="4062519" y="4419020"/>
            <a:ext cx="3477316" cy="2316606"/>
            <a:chOff x="4062519" y="4419020"/>
            <a:chExt cx="3477316" cy="231660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729CB89-C10D-DB5A-952F-FB5A0A1C44FA}"/>
                </a:ext>
              </a:extLst>
            </p:cNvPr>
            <p:cNvSpPr txBox="1"/>
            <p:nvPr/>
          </p:nvSpPr>
          <p:spPr>
            <a:xfrm>
              <a:off x="5529534" y="636629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>
                <a:latin typeface="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375BFF0-7EEE-2BF5-3E86-8FA4A781DE2D}"/>
                </a:ext>
              </a:extLst>
            </p:cNvPr>
            <p:cNvSpPr/>
            <p:nvPr/>
          </p:nvSpPr>
          <p:spPr>
            <a:xfrm>
              <a:off x="4062519" y="4856671"/>
              <a:ext cx="1236274" cy="1636203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2B0AF2C-8E5C-07D2-F892-F0A53C2BF61C}"/>
                </a:ext>
              </a:extLst>
            </p:cNvPr>
            <p:cNvSpPr/>
            <p:nvPr/>
          </p:nvSpPr>
          <p:spPr>
            <a:xfrm>
              <a:off x="5949353" y="4856670"/>
              <a:ext cx="1236274" cy="1636203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221C949-3379-22B7-A74D-36965B406CB0}"/>
                    </a:ext>
                  </a:extLst>
                </p:cNvPr>
                <p:cNvSpPr txBox="1"/>
                <p:nvPr/>
              </p:nvSpPr>
              <p:spPr>
                <a:xfrm>
                  <a:off x="4140283" y="4419022"/>
                  <a:ext cx="11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>
                      <a:latin typeface=""/>
                      <a:ea typeface="Source Sans Pro"/>
                    </a:rPr>
                    <a:t>Sent by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𝐵</m:t>
                      </m:r>
                    </m:oMath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221C949-3379-22B7-A74D-36965B406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0283" y="4419022"/>
                  <a:ext cx="1184940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3158" t="-10345" b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DECD5AD-35D3-7A88-ECED-33BA0CEDC684}"/>
                    </a:ext>
                  </a:extLst>
                </p:cNvPr>
                <p:cNvSpPr txBox="1"/>
                <p:nvPr/>
              </p:nvSpPr>
              <p:spPr>
                <a:xfrm>
                  <a:off x="5880342" y="4419020"/>
                  <a:ext cx="165949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>
                      <a:latin typeface=""/>
                      <a:ea typeface="Source Sans Pro"/>
                    </a:rPr>
                    <a:t>Accepted by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𝐴</m:t>
                      </m:r>
                    </m:oMath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DECD5AD-35D3-7A88-ECED-33BA0CEDC6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0342" y="4419020"/>
                  <a:ext cx="165949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3817" t="-10345" b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2B045D3-7D10-27A7-3748-2C6CB4E9C425}"/>
                </a:ext>
              </a:extLst>
            </p:cNvPr>
            <p:cNvSpPr/>
            <p:nvPr/>
          </p:nvSpPr>
          <p:spPr>
            <a:xfrm>
              <a:off x="4600332" y="5181790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B5994BA-563D-BA9E-669A-7777719FD2A0}"/>
                </a:ext>
              </a:extLst>
            </p:cNvPr>
            <p:cNvSpPr/>
            <p:nvPr/>
          </p:nvSpPr>
          <p:spPr>
            <a:xfrm>
              <a:off x="4685886" y="5851709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726D391-1B60-BAD3-A5C6-F3CE22CE8580}"/>
                </a:ext>
              </a:extLst>
            </p:cNvPr>
            <p:cNvSpPr/>
            <p:nvPr/>
          </p:nvSpPr>
          <p:spPr>
            <a:xfrm>
              <a:off x="6288234" y="5245971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BDF3B72-4F9F-5137-55DD-CBF66277DB5B}"/>
                </a:ext>
              </a:extLst>
            </p:cNvPr>
            <p:cNvSpPr/>
            <p:nvPr/>
          </p:nvSpPr>
          <p:spPr>
            <a:xfrm>
              <a:off x="6368557" y="5775182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816AF4-0B82-E4CD-1D71-F1B0D9ECD9A4}"/>
                    </a:ext>
                  </a:extLst>
                </p:cNvPr>
                <p:cNvSpPr txBox="1"/>
                <p:nvPr/>
              </p:nvSpPr>
              <p:spPr>
                <a:xfrm>
                  <a:off x="4287426" y="5035655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816AF4-0B82-E4CD-1D71-F1B0D9ECD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7426" y="5035655"/>
                  <a:ext cx="3891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3D59B5C-44E1-93A9-CF7E-7FB96A8711E9}"/>
                    </a:ext>
                  </a:extLst>
                </p:cNvPr>
                <p:cNvSpPr txBox="1"/>
                <p:nvPr/>
              </p:nvSpPr>
              <p:spPr>
                <a:xfrm>
                  <a:off x="6389526" y="5617810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3D59B5C-44E1-93A9-CF7E-7FB96A871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9526" y="5617810"/>
                  <a:ext cx="38914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69AC445-B558-D9B4-C92E-29573E3D96EC}"/>
                    </a:ext>
                  </a:extLst>
                </p:cNvPr>
                <p:cNvSpPr txBox="1"/>
                <p:nvPr/>
              </p:nvSpPr>
              <p:spPr>
                <a:xfrm>
                  <a:off x="4379251" y="5707852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69AC445-B558-D9B4-C92E-29573E3D9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9251" y="5707852"/>
                  <a:ext cx="38914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D3A10F4-3E4E-4D48-E949-2504BE5C3B89}"/>
                    </a:ext>
                  </a:extLst>
                </p:cNvPr>
                <p:cNvSpPr txBox="1"/>
                <p:nvPr/>
              </p:nvSpPr>
              <p:spPr>
                <a:xfrm>
                  <a:off x="6320943" y="5084548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D3A10F4-3E4E-4D48-E949-2504BE5C3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0943" y="5084548"/>
                  <a:ext cx="3891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590CCD6F-1DAC-0039-9587-4BE203918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45FE81D-3A46-25E2-81B8-2E6E5CAB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25077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F1151DB7-B4D4-6F7C-4F01-472C71ED20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92023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ea typeface="Source Sans Pro"/>
                  </a:rPr>
                  <a:t>Injective agreement</a:t>
                </a:r>
                <a:r>
                  <a:rPr lang="en-US" dirty="0">
                    <a:ea typeface="Source Sans Pro"/>
                  </a:rPr>
                  <a:t>: There is an injective mapping from data items accepted by principal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</m:oMath>
                </a14:m>
                <a:r>
                  <a:rPr lang="en-US" dirty="0">
                    <a:ea typeface="Source Sans Pro"/>
                  </a:rPr>
                  <a:t> apparently from principal</a:t>
                </a: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ea typeface="Source Sans Pro"/>
                  </a:rPr>
                  <a:t>, to data items sent from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ea typeface="Source Sans Pro"/>
                  </a:rPr>
                  <a:t> apparently to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</m:oMath>
                </a14:m>
                <a:endParaRPr lang="en-US" dirty="0"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∀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𝑡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.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Accept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𝐴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 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𝐵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 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@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⇒(∃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𝑗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. </m:t>
                    </m:r>
                    <m:r>
                      <m:rPr>
                        <m:sty m:val="p"/>
                      </m:rP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Sent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𝐵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𝐴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@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𝑗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 &amp;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𝑗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&lt;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&amp;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¬(∃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𝐴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𝐵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Accept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</m:t>
                          </m:r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&amp;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≠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F1151DB7-B4D4-6F7C-4F01-472C71ED2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920232"/>
              </a:xfrm>
              <a:prstGeom prst="rect">
                <a:avLst/>
              </a:prstGeom>
              <a:blipFill>
                <a:blip r:embed="rId7"/>
                <a:stretch>
                  <a:fillRect l="-1206" t="-2057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8A3E038-8664-599C-5BF2-3CA759E4CD66}"/>
              </a:ext>
            </a:extLst>
          </p:cNvPr>
          <p:cNvSpPr txBox="1"/>
          <p:nvPr/>
        </p:nvSpPr>
        <p:spPr>
          <a:xfrm>
            <a:off x="1624101" y="4351679"/>
            <a:ext cx="1793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"/>
              </a:rPr>
              <a:t>Too strong?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4FD549D-6CF6-5630-1246-7A55D4F56061}"/>
              </a:ext>
            </a:extLst>
          </p:cNvPr>
          <p:cNvCxnSpPr>
            <a:cxnSpLocks/>
            <a:stCxn id="14" idx="2"/>
            <a:endCxn id="23" idx="3"/>
          </p:cNvCxnSpPr>
          <p:nvPr/>
        </p:nvCxnSpPr>
        <p:spPr>
          <a:xfrm flipH="1" flipV="1">
            <a:off x="4676571" y="5220321"/>
            <a:ext cx="1611663" cy="65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60A8220-E0CD-52D8-2699-AE225D276F39}"/>
              </a:ext>
            </a:extLst>
          </p:cNvPr>
          <p:cNvCxnSpPr>
            <a:cxnSpLocks/>
            <a:stCxn id="15" idx="2"/>
            <a:endCxn id="13" idx="6"/>
          </p:cNvCxnSpPr>
          <p:nvPr/>
        </p:nvCxnSpPr>
        <p:spPr>
          <a:xfrm flipH="1">
            <a:off x="4766209" y="5815344"/>
            <a:ext cx="1602348" cy="76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0337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6E1A8-04A0-434B-6CBD-45DB89602C9A}"/>
              </a:ext>
            </a:extLst>
          </p:cNvPr>
          <p:cNvSpPr/>
          <p:nvPr/>
        </p:nvSpPr>
        <p:spPr>
          <a:xfrm>
            <a:off x="2695018" y="3521228"/>
            <a:ext cx="6849374" cy="46582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2C234E-DED9-8595-2E5F-228CA0081C83}"/>
              </a:ext>
            </a:extLst>
          </p:cNvPr>
          <p:cNvSpPr txBox="1"/>
          <p:nvPr/>
        </p:nvSpPr>
        <p:spPr>
          <a:xfrm>
            <a:off x="9340694" y="63312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3484B50-4B0D-0616-0C60-9141CB1F7BC2}"/>
              </a:ext>
            </a:extLst>
          </p:cNvPr>
          <p:cNvSpPr/>
          <p:nvPr/>
        </p:nvSpPr>
        <p:spPr>
          <a:xfrm>
            <a:off x="7873679" y="4821625"/>
            <a:ext cx="1236274" cy="1636203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B471C69-C918-DCFC-E9A3-2E91A25DEC3D}"/>
              </a:ext>
            </a:extLst>
          </p:cNvPr>
          <p:cNvSpPr/>
          <p:nvPr/>
        </p:nvSpPr>
        <p:spPr>
          <a:xfrm>
            <a:off x="9760513" y="4821624"/>
            <a:ext cx="1236274" cy="1636203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5582B76-80D0-C233-A48D-FDEF0CF9A23C}"/>
                  </a:ext>
                </a:extLst>
              </p:cNvPr>
              <p:cNvSpPr txBox="1"/>
              <p:nvPr/>
            </p:nvSpPr>
            <p:spPr>
              <a:xfrm>
                <a:off x="7951443" y="4383976"/>
                <a:ext cx="1172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"/>
                    <a:ea typeface="Source Sans Pro"/>
                  </a:rPr>
                  <a:t>Sent by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</m:oMath>
                </a14:m>
                <a:endParaRPr lang="en-US" sz="1800" dirty="0"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5582B76-80D0-C233-A48D-FDEF0CF9A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443" y="4383976"/>
                <a:ext cx="1172180" cy="369332"/>
              </a:xfrm>
              <a:prstGeom prst="rect">
                <a:avLst/>
              </a:prstGeom>
              <a:blipFill>
                <a:blip r:embed="rId2"/>
                <a:stretch>
                  <a:fillRect l="-319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717C6F7-E02E-D396-6F48-EA3FE8518D99}"/>
                  </a:ext>
                </a:extLst>
              </p:cNvPr>
              <p:cNvSpPr txBox="1"/>
              <p:nvPr/>
            </p:nvSpPr>
            <p:spPr>
              <a:xfrm>
                <a:off x="9691502" y="4383974"/>
                <a:ext cx="16722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"/>
                    <a:ea typeface="Source Sans Pro"/>
                  </a:rPr>
                  <a:t>Accepted by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</m:oMath>
                </a14:m>
                <a:endParaRPr lang="en-US" sz="1800" dirty="0"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717C6F7-E02E-D396-6F48-EA3FE8518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502" y="4383974"/>
                <a:ext cx="1672253" cy="369332"/>
              </a:xfrm>
              <a:prstGeom prst="rect">
                <a:avLst/>
              </a:prstGeom>
              <a:blipFill>
                <a:blip r:embed="rId3"/>
                <a:stretch>
                  <a:fillRect l="-3788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Oval 64">
            <a:extLst>
              <a:ext uri="{FF2B5EF4-FFF2-40B4-BE49-F238E27FC236}">
                <a16:creationId xmlns:a16="http://schemas.microsoft.com/office/drawing/2014/main" id="{8EACB7A5-B8FF-3E77-D102-5CD81BA1C9C8}"/>
              </a:ext>
            </a:extLst>
          </p:cNvPr>
          <p:cNvSpPr/>
          <p:nvPr/>
        </p:nvSpPr>
        <p:spPr>
          <a:xfrm>
            <a:off x="8411492" y="5146744"/>
            <a:ext cx="80323" cy="803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A6471FD-BB31-5ED2-F36D-6DA33E783052}"/>
              </a:ext>
            </a:extLst>
          </p:cNvPr>
          <p:cNvSpPr/>
          <p:nvPr/>
        </p:nvSpPr>
        <p:spPr>
          <a:xfrm>
            <a:off x="9386668" y="5789099"/>
            <a:ext cx="80323" cy="803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306535D-BD4E-5AA9-20ED-7014F5E1B2B1}"/>
              </a:ext>
            </a:extLst>
          </p:cNvPr>
          <p:cNvSpPr/>
          <p:nvPr/>
        </p:nvSpPr>
        <p:spPr>
          <a:xfrm>
            <a:off x="10099394" y="5210925"/>
            <a:ext cx="80323" cy="803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3CA975F-C093-5B06-4FF7-3936D02BD3A0}"/>
              </a:ext>
            </a:extLst>
          </p:cNvPr>
          <p:cNvSpPr/>
          <p:nvPr/>
        </p:nvSpPr>
        <p:spPr>
          <a:xfrm>
            <a:off x="10179717" y="5740136"/>
            <a:ext cx="80323" cy="803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993B2FC-9DC7-8A8B-7FD4-F458536DAEE2}"/>
                  </a:ext>
                </a:extLst>
              </p:cNvPr>
              <p:cNvSpPr txBox="1"/>
              <p:nvPr/>
            </p:nvSpPr>
            <p:spPr>
              <a:xfrm>
                <a:off x="7881710" y="5016973"/>
                <a:ext cx="371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993B2FC-9DC7-8A8B-7FD4-F458536DA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710" y="5016973"/>
                <a:ext cx="37151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3A1B24C-2D32-EDF4-364E-FC6A0792F681}"/>
                  </a:ext>
                </a:extLst>
              </p:cNvPr>
              <p:cNvSpPr txBox="1"/>
              <p:nvPr/>
            </p:nvSpPr>
            <p:spPr>
              <a:xfrm>
                <a:off x="10225797" y="5562700"/>
                <a:ext cx="371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3A1B24C-2D32-EDF4-364E-FC6A0792F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797" y="5562700"/>
                <a:ext cx="37151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7303BA-ED74-2C0F-D504-B2B02E67800E}"/>
                  </a:ext>
                </a:extLst>
              </p:cNvPr>
              <p:cNvSpPr txBox="1"/>
              <p:nvPr/>
            </p:nvSpPr>
            <p:spPr>
              <a:xfrm>
                <a:off x="9062555" y="5639725"/>
                <a:ext cx="371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7303BA-ED74-2C0F-D504-B2B02E678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555" y="5639725"/>
                <a:ext cx="37151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7F0681C-C9F9-C94E-AFE8-02A1A677376D}"/>
                  </a:ext>
                </a:extLst>
              </p:cNvPr>
              <p:cNvSpPr txBox="1"/>
              <p:nvPr/>
            </p:nvSpPr>
            <p:spPr>
              <a:xfrm>
                <a:off x="10134651" y="5068561"/>
                <a:ext cx="371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7F0681C-C9F9-C94E-AFE8-02A1A6773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4651" y="5068561"/>
                <a:ext cx="37151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8" name="Picture 77" descr="A red smiley with horns and yellow eyes&#10;&#10;Description automatically generated">
            <a:extLst>
              <a:ext uri="{FF2B5EF4-FFF2-40B4-BE49-F238E27FC236}">
                <a16:creationId xmlns:a16="http://schemas.microsoft.com/office/drawing/2014/main" id="{7DF1FC6A-C774-C59B-D510-2019B93F78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314" y="5948061"/>
            <a:ext cx="373030" cy="323762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CDDE8C84-E81F-0A56-BC9F-D1F46F7E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B8C1055-8F19-DCA8-7B25-7713EEA50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31314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B566FEA6-09FB-3110-2B87-07CED728D5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92023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ea typeface="Source Sans Pro"/>
                  </a:rPr>
                  <a:t>Injective agreement</a:t>
                </a:r>
                <a:r>
                  <a:rPr lang="en-US" dirty="0">
                    <a:ea typeface="Source Sans Pro"/>
                  </a:rPr>
                  <a:t>: There is an injective mapping from data items accepted by principal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</m:oMath>
                </a14:m>
                <a:r>
                  <a:rPr lang="en-US" dirty="0">
                    <a:ea typeface="Source Sans Pro"/>
                  </a:rPr>
                  <a:t> apparently from principal</a:t>
                </a: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ea typeface="Source Sans Pro"/>
                  </a:rPr>
                  <a:t>, to data items sent from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ea typeface="Source Sans Pro"/>
                  </a:rPr>
                  <a:t> apparently to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</m:oMath>
                </a14:m>
                <a:endParaRPr lang="en-US" dirty="0"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∀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𝑡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.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Accept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𝐴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 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𝐵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 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@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⇒(∃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𝑗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. </m:t>
                    </m:r>
                    <m:r>
                      <m:rPr>
                        <m:sty m:val="p"/>
                      </m:rP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Sent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𝐵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𝐴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@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𝑗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 &amp;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𝑗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&lt;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&amp;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¬(∃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𝐴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𝐵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Accept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</m:t>
                          </m:r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&amp;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≠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B566FEA6-09FB-3110-2B87-07CED728D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920232"/>
              </a:xfrm>
              <a:prstGeom prst="rect">
                <a:avLst/>
              </a:prstGeom>
              <a:blipFill>
                <a:blip r:embed="rId9"/>
                <a:stretch>
                  <a:fillRect l="-1206" t="-2057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A121365D-D62E-F8ED-5440-3167AA86E613}"/>
              </a:ext>
            </a:extLst>
          </p:cNvPr>
          <p:cNvSpPr txBox="1"/>
          <p:nvPr/>
        </p:nvSpPr>
        <p:spPr>
          <a:xfrm>
            <a:off x="1624101" y="4351679"/>
            <a:ext cx="1793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"/>
              </a:rPr>
              <a:t>Too strong?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2B6185E-CA88-FC2B-6DBA-DACE4872F3E4}"/>
              </a:ext>
            </a:extLst>
          </p:cNvPr>
          <p:cNvGrpSpPr/>
          <p:nvPr/>
        </p:nvGrpSpPr>
        <p:grpSpPr>
          <a:xfrm>
            <a:off x="4062519" y="4419020"/>
            <a:ext cx="3477316" cy="2316606"/>
            <a:chOff x="4062519" y="4419020"/>
            <a:chExt cx="3477316" cy="231660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9FA4CE-B163-B02A-6305-9A55BDAEA8CB}"/>
                </a:ext>
              </a:extLst>
            </p:cNvPr>
            <p:cNvSpPr txBox="1"/>
            <p:nvPr/>
          </p:nvSpPr>
          <p:spPr>
            <a:xfrm>
              <a:off x="5529534" y="636629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>
                <a:latin typeface="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C783CF0-FF12-7489-E554-7021233F107D}"/>
                </a:ext>
              </a:extLst>
            </p:cNvPr>
            <p:cNvSpPr/>
            <p:nvPr/>
          </p:nvSpPr>
          <p:spPr>
            <a:xfrm>
              <a:off x="4062519" y="4856671"/>
              <a:ext cx="1236274" cy="1636203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BC19C22-DCA2-ADB5-C205-7408833F6975}"/>
                </a:ext>
              </a:extLst>
            </p:cNvPr>
            <p:cNvSpPr/>
            <p:nvPr/>
          </p:nvSpPr>
          <p:spPr>
            <a:xfrm>
              <a:off x="5949353" y="4856670"/>
              <a:ext cx="1236274" cy="1636203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1615CD2-E827-6B14-CBC0-DB452225E96C}"/>
                    </a:ext>
                  </a:extLst>
                </p:cNvPr>
                <p:cNvSpPr txBox="1"/>
                <p:nvPr/>
              </p:nvSpPr>
              <p:spPr>
                <a:xfrm>
                  <a:off x="4140283" y="4419022"/>
                  <a:ext cx="11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>
                      <a:latin typeface=""/>
                      <a:ea typeface="Source Sans Pro"/>
                    </a:rPr>
                    <a:t>Sent by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𝐵</m:t>
                      </m:r>
                    </m:oMath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1615CD2-E827-6B14-CBC0-DB452225E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0283" y="4419022"/>
                  <a:ext cx="1184940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3158" t="-10345" b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C890AC9-781D-6541-E9A5-F6696ABC0BAD}"/>
                    </a:ext>
                  </a:extLst>
                </p:cNvPr>
                <p:cNvSpPr txBox="1"/>
                <p:nvPr/>
              </p:nvSpPr>
              <p:spPr>
                <a:xfrm>
                  <a:off x="5880342" y="4419020"/>
                  <a:ext cx="165949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>
                      <a:latin typeface=""/>
                      <a:ea typeface="Source Sans Pro"/>
                    </a:rPr>
                    <a:t>Accepted by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𝐴</m:t>
                      </m:r>
                    </m:oMath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C890AC9-781D-6541-E9A5-F6696ABC0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0342" y="4419020"/>
                  <a:ext cx="1659493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817" t="-10345" b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6076645-9FB1-6C72-62E5-F1C51BB53568}"/>
                </a:ext>
              </a:extLst>
            </p:cNvPr>
            <p:cNvSpPr/>
            <p:nvPr/>
          </p:nvSpPr>
          <p:spPr>
            <a:xfrm>
              <a:off x="4600332" y="5181790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A5CC4E3-FA96-1630-E115-2025AF87ECFF}"/>
                </a:ext>
              </a:extLst>
            </p:cNvPr>
            <p:cNvSpPr/>
            <p:nvPr/>
          </p:nvSpPr>
          <p:spPr>
            <a:xfrm>
              <a:off x="4685886" y="5851709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39380C4-F821-A85F-D708-5B342008C898}"/>
                </a:ext>
              </a:extLst>
            </p:cNvPr>
            <p:cNvSpPr/>
            <p:nvPr/>
          </p:nvSpPr>
          <p:spPr>
            <a:xfrm>
              <a:off x="6288234" y="5245971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D25D39A-5F6B-37C6-3026-F64205B23B22}"/>
                </a:ext>
              </a:extLst>
            </p:cNvPr>
            <p:cNvSpPr/>
            <p:nvPr/>
          </p:nvSpPr>
          <p:spPr>
            <a:xfrm>
              <a:off x="6368557" y="5775182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B75BE1-7950-03B7-1336-22E24393B8B7}"/>
                    </a:ext>
                  </a:extLst>
                </p:cNvPr>
                <p:cNvSpPr txBox="1"/>
                <p:nvPr/>
              </p:nvSpPr>
              <p:spPr>
                <a:xfrm>
                  <a:off x="4287426" y="5035655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B75BE1-7950-03B7-1336-22E24393B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7426" y="5035655"/>
                  <a:ext cx="38914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A637742-F885-659D-5369-C34F6DD0E3B8}"/>
                    </a:ext>
                  </a:extLst>
                </p:cNvPr>
                <p:cNvSpPr txBox="1"/>
                <p:nvPr/>
              </p:nvSpPr>
              <p:spPr>
                <a:xfrm>
                  <a:off x="6389526" y="5617810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A637742-F885-659D-5369-C34F6DD0E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9526" y="5617810"/>
                  <a:ext cx="389145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19549BB2-54EE-3F5C-7DDF-7A9A1F9C63E2}"/>
                    </a:ext>
                  </a:extLst>
                </p:cNvPr>
                <p:cNvSpPr txBox="1"/>
                <p:nvPr/>
              </p:nvSpPr>
              <p:spPr>
                <a:xfrm>
                  <a:off x="4379251" y="5707852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19549BB2-54EE-3F5C-7DDF-7A9A1F9C63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9251" y="5707852"/>
                  <a:ext cx="389145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7A0BE24-294F-730A-A02C-CDDCB9900868}"/>
                    </a:ext>
                  </a:extLst>
                </p:cNvPr>
                <p:cNvSpPr txBox="1"/>
                <p:nvPr/>
              </p:nvSpPr>
              <p:spPr>
                <a:xfrm>
                  <a:off x="6320943" y="5084548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7A0BE24-294F-730A-A02C-CDDCB9900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0943" y="5084548"/>
                  <a:ext cx="38914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8EFB083-D99F-558F-7A89-FFA5A8E18AD2}"/>
              </a:ext>
            </a:extLst>
          </p:cNvPr>
          <p:cNvCxnSpPr>
            <a:cxnSpLocks/>
            <a:stCxn id="37" idx="2"/>
            <a:endCxn id="39" idx="3"/>
          </p:cNvCxnSpPr>
          <p:nvPr/>
        </p:nvCxnSpPr>
        <p:spPr>
          <a:xfrm flipH="1" flipV="1">
            <a:off x="4676571" y="5220321"/>
            <a:ext cx="1611663" cy="65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FF8976F-B44F-D730-8BA5-2309D1B27F0C}"/>
              </a:ext>
            </a:extLst>
          </p:cNvPr>
          <p:cNvCxnSpPr>
            <a:cxnSpLocks/>
            <a:stCxn id="38" idx="2"/>
            <a:endCxn id="36" idx="6"/>
          </p:cNvCxnSpPr>
          <p:nvPr/>
        </p:nvCxnSpPr>
        <p:spPr>
          <a:xfrm flipH="1">
            <a:off x="4766209" y="5815344"/>
            <a:ext cx="1602348" cy="76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86412EA-F965-34A4-C46C-A64CBE0374D5}"/>
              </a:ext>
            </a:extLst>
          </p:cNvPr>
          <p:cNvCxnSpPr>
            <a:cxnSpLocks/>
            <a:stCxn id="67" idx="2"/>
            <a:endCxn id="65" idx="6"/>
          </p:cNvCxnSpPr>
          <p:nvPr/>
        </p:nvCxnSpPr>
        <p:spPr>
          <a:xfrm flipH="1" flipV="1">
            <a:off x="8491815" y="5186906"/>
            <a:ext cx="1607579" cy="64181"/>
          </a:xfrm>
          <a:prstGeom prst="straightConnector1">
            <a:avLst/>
          </a:prstGeom>
          <a:ln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4A77069-91DD-8703-1013-0467722E7FFF}"/>
              </a:ext>
            </a:extLst>
          </p:cNvPr>
          <p:cNvCxnSpPr>
            <a:cxnSpLocks/>
            <a:stCxn id="66" idx="6"/>
            <a:endCxn id="68" idx="2"/>
          </p:cNvCxnSpPr>
          <p:nvPr/>
        </p:nvCxnSpPr>
        <p:spPr>
          <a:xfrm flipV="1">
            <a:off x="9466991" y="5780298"/>
            <a:ext cx="712726" cy="4896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85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6E1A8-04A0-434B-6CBD-45DB89602C9A}"/>
              </a:ext>
            </a:extLst>
          </p:cNvPr>
          <p:cNvSpPr/>
          <p:nvPr/>
        </p:nvSpPr>
        <p:spPr>
          <a:xfrm>
            <a:off x="2695018" y="3521228"/>
            <a:ext cx="6849374" cy="46582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2C234E-DED9-8595-2E5F-228CA0081C83}"/>
              </a:ext>
            </a:extLst>
          </p:cNvPr>
          <p:cNvSpPr txBox="1"/>
          <p:nvPr/>
        </p:nvSpPr>
        <p:spPr>
          <a:xfrm>
            <a:off x="9340694" y="63312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3484B50-4B0D-0616-0C60-9141CB1F7BC2}"/>
              </a:ext>
            </a:extLst>
          </p:cNvPr>
          <p:cNvSpPr/>
          <p:nvPr/>
        </p:nvSpPr>
        <p:spPr>
          <a:xfrm>
            <a:off x="7873679" y="4821625"/>
            <a:ext cx="1236274" cy="1636203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B471C69-C918-DCFC-E9A3-2E91A25DEC3D}"/>
              </a:ext>
            </a:extLst>
          </p:cNvPr>
          <p:cNvSpPr/>
          <p:nvPr/>
        </p:nvSpPr>
        <p:spPr>
          <a:xfrm>
            <a:off x="9760513" y="4821624"/>
            <a:ext cx="1236274" cy="1636203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5582B76-80D0-C233-A48D-FDEF0CF9A23C}"/>
                  </a:ext>
                </a:extLst>
              </p:cNvPr>
              <p:cNvSpPr txBox="1"/>
              <p:nvPr/>
            </p:nvSpPr>
            <p:spPr>
              <a:xfrm>
                <a:off x="7951443" y="4383976"/>
                <a:ext cx="1172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"/>
                    <a:ea typeface="Source Sans Pro"/>
                  </a:rPr>
                  <a:t>Sent by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</m:oMath>
                </a14:m>
                <a:endParaRPr lang="en-US" sz="1800" dirty="0"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5582B76-80D0-C233-A48D-FDEF0CF9A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443" y="4383976"/>
                <a:ext cx="1172180" cy="369332"/>
              </a:xfrm>
              <a:prstGeom prst="rect">
                <a:avLst/>
              </a:prstGeom>
              <a:blipFill>
                <a:blip r:embed="rId2"/>
                <a:stretch>
                  <a:fillRect l="-319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717C6F7-E02E-D396-6F48-EA3FE8518D99}"/>
                  </a:ext>
                </a:extLst>
              </p:cNvPr>
              <p:cNvSpPr txBox="1"/>
              <p:nvPr/>
            </p:nvSpPr>
            <p:spPr>
              <a:xfrm>
                <a:off x="9691502" y="4383974"/>
                <a:ext cx="16722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"/>
                    <a:ea typeface="Source Sans Pro"/>
                  </a:rPr>
                  <a:t>Accepted by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</m:oMath>
                </a14:m>
                <a:endParaRPr lang="en-US" sz="1800" dirty="0"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717C6F7-E02E-D396-6F48-EA3FE8518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502" y="4383974"/>
                <a:ext cx="1672253" cy="369332"/>
              </a:xfrm>
              <a:prstGeom prst="rect">
                <a:avLst/>
              </a:prstGeom>
              <a:blipFill>
                <a:blip r:embed="rId3"/>
                <a:stretch>
                  <a:fillRect l="-3788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Oval 64">
            <a:extLst>
              <a:ext uri="{FF2B5EF4-FFF2-40B4-BE49-F238E27FC236}">
                <a16:creationId xmlns:a16="http://schemas.microsoft.com/office/drawing/2014/main" id="{8EACB7A5-B8FF-3E77-D102-5CD81BA1C9C8}"/>
              </a:ext>
            </a:extLst>
          </p:cNvPr>
          <p:cNvSpPr/>
          <p:nvPr/>
        </p:nvSpPr>
        <p:spPr>
          <a:xfrm>
            <a:off x="8411492" y="5146744"/>
            <a:ext cx="80323" cy="803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A6471FD-BB31-5ED2-F36D-6DA33E783052}"/>
              </a:ext>
            </a:extLst>
          </p:cNvPr>
          <p:cNvSpPr/>
          <p:nvPr/>
        </p:nvSpPr>
        <p:spPr>
          <a:xfrm>
            <a:off x="9386668" y="5789099"/>
            <a:ext cx="80323" cy="803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306535D-BD4E-5AA9-20ED-7014F5E1B2B1}"/>
              </a:ext>
            </a:extLst>
          </p:cNvPr>
          <p:cNvSpPr/>
          <p:nvPr/>
        </p:nvSpPr>
        <p:spPr>
          <a:xfrm>
            <a:off x="10099394" y="5210925"/>
            <a:ext cx="80323" cy="803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3CA975F-C093-5B06-4FF7-3936D02BD3A0}"/>
              </a:ext>
            </a:extLst>
          </p:cNvPr>
          <p:cNvSpPr/>
          <p:nvPr/>
        </p:nvSpPr>
        <p:spPr>
          <a:xfrm>
            <a:off x="10179717" y="5740136"/>
            <a:ext cx="80323" cy="803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993B2FC-9DC7-8A8B-7FD4-F458536DAEE2}"/>
                  </a:ext>
                </a:extLst>
              </p:cNvPr>
              <p:cNvSpPr txBox="1"/>
              <p:nvPr/>
            </p:nvSpPr>
            <p:spPr>
              <a:xfrm>
                <a:off x="7881710" y="5016973"/>
                <a:ext cx="371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993B2FC-9DC7-8A8B-7FD4-F458536DA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710" y="5016973"/>
                <a:ext cx="37151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3A1B24C-2D32-EDF4-364E-FC6A0792F681}"/>
                  </a:ext>
                </a:extLst>
              </p:cNvPr>
              <p:cNvSpPr txBox="1"/>
              <p:nvPr/>
            </p:nvSpPr>
            <p:spPr>
              <a:xfrm>
                <a:off x="10225797" y="5562700"/>
                <a:ext cx="371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3A1B24C-2D32-EDF4-364E-FC6A0792F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797" y="5562700"/>
                <a:ext cx="37151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7303BA-ED74-2C0F-D504-B2B02E67800E}"/>
                  </a:ext>
                </a:extLst>
              </p:cNvPr>
              <p:cNvSpPr txBox="1"/>
              <p:nvPr/>
            </p:nvSpPr>
            <p:spPr>
              <a:xfrm>
                <a:off x="9062555" y="5639725"/>
                <a:ext cx="371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7303BA-ED74-2C0F-D504-B2B02E678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555" y="5639725"/>
                <a:ext cx="37151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7F0681C-C9F9-C94E-AFE8-02A1A677376D}"/>
                  </a:ext>
                </a:extLst>
              </p:cNvPr>
              <p:cNvSpPr txBox="1"/>
              <p:nvPr/>
            </p:nvSpPr>
            <p:spPr>
              <a:xfrm>
                <a:off x="10134651" y="5068561"/>
                <a:ext cx="371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7F0681C-C9F9-C94E-AFE8-02A1A6773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4651" y="5068561"/>
                <a:ext cx="37151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8" name="Picture 77" descr="A red smiley with horns and yellow eyes&#10;&#10;Description automatically generated">
            <a:extLst>
              <a:ext uri="{FF2B5EF4-FFF2-40B4-BE49-F238E27FC236}">
                <a16:creationId xmlns:a16="http://schemas.microsoft.com/office/drawing/2014/main" id="{7DF1FC6A-C774-C59B-D510-2019B93F78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314" y="5948061"/>
            <a:ext cx="373030" cy="323762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CDDE8C84-E81F-0A56-BC9F-D1F46F7E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B8C1055-8F19-DCA8-7B25-7713EEA50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31314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B566FEA6-09FB-3110-2B87-07CED728D5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92023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ea typeface="Source Sans Pro"/>
                  </a:rPr>
                  <a:t>Injective agreement</a:t>
                </a:r>
                <a:r>
                  <a:rPr lang="en-US" dirty="0">
                    <a:ea typeface="Source Sans Pro"/>
                  </a:rPr>
                  <a:t>: There is an injective mapping from data items accepted by principal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</m:oMath>
                </a14:m>
                <a:r>
                  <a:rPr lang="en-US" dirty="0">
                    <a:ea typeface="Source Sans Pro"/>
                  </a:rPr>
                  <a:t> apparently from principal</a:t>
                </a: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ea typeface="Source Sans Pro"/>
                  </a:rPr>
                  <a:t>, to data items sent from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ea typeface="Source Sans Pro"/>
                  </a:rPr>
                  <a:t> apparently to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</m:oMath>
                </a14:m>
                <a:endParaRPr lang="en-US" dirty="0"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∀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𝐴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𝐵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𝑡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, 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.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Accept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𝐴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 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𝐵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, 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@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𝑖</m:t>
                    </m:r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a typeface="Source Sans Pro"/>
                      </a:rPr>
                      <m:t>⇒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∃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𝑗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. </m:t>
                        </m:r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Sent</m:t>
                        </m:r>
                        <m:d>
                          <m:dPr>
                            <m:ctrlPr>
                              <a:rPr lang="en-US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ea typeface="Source Sans Pro"/>
                              </a:rPr>
                              <m:t>𝐵</m:t>
                            </m:r>
                            <m:r>
                              <a:rPr lang="en-US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ea typeface="Source Sans Pro"/>
                              </a:rPr>
                              <m:t>,</m:t>
                            </m:r>
                            <m:r>
                              <a:rPr lang="en-US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ea typeface="Source Sans Pro"/>
                              </a:rPr>
                              <m:t>𝐴</m:t>
                            </m:r>
                            <m:r>
                              <a:rPr lang="en-US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ea typeface="Source Sans Pro"/>
                              </a:rPr>
                              <m:t>,</m:t>
                            </m:r>
                            <m:r>
                              <a:rPr lang="en-US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ea typeface="Source Sans Pro"/>
                              </a:rPr>
                              <m:t>𝑡</m:t>
                            </m:r>
                          </m:e>
                        </m:d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@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𝑗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 &amp; 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𝑗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&lt;</m:t>
                        </m:r>
                        <m:r>
                          <a:rPr lang="en-US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ea typeface="Source Sans Pro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&amp;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¬(∃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𝐴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𝐵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.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Accept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,</m:t>
                          </m:r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@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&amp;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≠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𝑖</m:t>
                      </m:r>
                      <m:r>
                        <a:rPr lang="en-US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ea typeface="Source Sans Pro"/>
                </a:endParaRPr>
              </a:p>
            </p:txBody>
          </p:sp>
        </mc:Choice>
        <mc:Fallback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B566FEA6-09FB-3110-2B87-07CED728D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920232"/>
              </a:xfrm>
              <a:prstGeom prst="rect">
                <a:avLst/>
              </a:prstGeom>
              <a:blipFill>
                <a:blip r:embed="rId9"/>
                <a:stretch>
                  <a:fillRect l="-1206" t="-2057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A121365D-D62E-F8ED-5440-3167AA86E613}"/>
              </a:ext>
            </a:extLst>
          </p:cNvPr>
          <p:cNvSpPr txBox="1"/>
          <p:nvPr/>
        </p:nvSpPr>
        <p:spPr>
          <a:xfrm>
            <a:off x="1624101" y="4351679"/>
            <a:ext cx="1793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"/>
              </a:rPr>
              <a:t>Too strong?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2B6185E-CA88-FC2B-6DBA-DACE4872F3E4}"/>
              </a:ext>
            </a:extLst>
          </p:cNvPr>
          <p:cNvGrpSpPr/>
          <p:nvPr/>
        </p:nvGrpSpPr>
        <p:grpSpPr>
          <a:xfrm>
            <a:off x="4062519" y="4419020"/>
            <a:ext cx="3477316" cy="2316606"/>
            <a:chOff x="4062519" y="4419020"/>
            <a:chExt cx="3477316" cy="231660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9FA4CE-B163-B02A-6305-9A55BDAEA8CB}"/>
                </a:ext>
              </a:extLst>
            </p:cNvPr>
            <p:cNvSpPr txBox="1"/>
            <p:nvPr/>
          </p:nvSpPr>
          <p:spPr>
            <a:xfrm>
              <a:off x="5529534" y="636629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>
                <a:latin typeface="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C783CF0-FF12-7489-E554-7021233F107D}"/>
                </a:ext>
              </a:extLst>
            </p:cNvPr>
            <p:cNvSpPr/>
            <p:nvPr/>
          </p:nvSpPr>
          <p:spPr>
            <a:xfrm>
              <a:off x="4062519" y="4856671"/>
              <a:ext cx="1236274" cy="1636203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BC19C22-DCA2-ADB5-C205-7408833F6975}"/>
                </a:ext>
              </a:extLst>
            </p:cNvPr>
            <p:cNvSpPr/>
            <p:nvPr/>
          </p:nvSpPr>
          <p:spPr>
            <a:xfrm>
              <a:off x="5949353" y="4856670"/>
              <a:ext cx="1236274" cy="1636203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1615CD2-E827-6B14-CBC0-DB452225E96C}"/>
                    </a:ext>
                  </a:extLst>
                </p:cNvPr>
                <p:cNvSpPr txBox="1"/>
                <p:nvPr/>
              </p:nvSpPr>
              <p:spPr>
                <a:xfrm>
                  <a:off x="4140283" y="4419022"/>
                  <a:ext cx="11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>
                      <a:latin typeface=""/>
                      <a:ea typeface="Source Sans Pro"/>
                    </a:rPr>
                    <a:t>Sent by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𝐵</m:t>
                      </m:r>
                    </m:oMath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1615CD2-E827-6B14-CBC0-DB452225E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0283" y="4419022"/>
                  <a:ext cx="1184940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3158" t="-10345" b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C890AC9-781D-6541-E9A5-F6696ABC0BAD}"/>
                    </a:ext>
                  </a:extLst>
                </p:cNvPr>
                <p:cNvSpPr txBox="1"/>
                <p:nvPr/>
              </p:nvSpPr>
              <p:spPr>
                <a:xfrm>
                  <a:off x="5880342" y="4419020"/>
                  <a:ext cx="165949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>
                      <a:latin typeface=""/>
                      <a:ea typeface="Source Sans Pro"/>
                    </a:rPr>
                    <a:t>Accepted by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𝐴</m:t>
                      </m:r>
                    </m:oMath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C890AC9-781D-6541-E9A5-F6696ABC0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0342" y="4419020"/>
                  <a:ext cx="1659493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817" t="-10345" b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6076645-9FB1-6C72-62E5-F1C51BB53568}"/>
                </a:ext>
              </a:extLst>
            </p:cNvPr>
            <p:cNvSpPr/>
            <p:nvPr/>
          </p:nvSpPr>
          <p:spPr>
            <a:xfrm>
              <a:off x="4600332" y="5181790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A5CC4E3-FA96-1630-E115-2025AF87ECFF}"/>
                </a:ext>
              </a:extLst>
            </p:cNvPr>
            <p:cNvSpPr/>
            <p:nvPr/>
          </p:nvSpPr>
          <p:spPr>
            <a:xfrm>
              <a:off x="4685886" y="5851709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39380C4-F821-A85F-D708-5B342008C898}"/>
                </a:ext>
              </a:extLst>
            </p:cNvPr>
            <p:cNvSpPr/>
            <p:nvPr/>
          </p:nvSpPr>
          <p:spPr>
            <a:xfrm>
              <a:off x="6288234" y="5245971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D25D39A-5F6B-37C6-3026-F64205B23B22}"/>
                </a:ext>
              </a:extLst>
            </p:cNvPr>
            <p:cNvSpPr/>
            <p:nvPr/>
          </p:nvSpPr>
          <p:spPr>
            <a:xfrm>
              <a:off x="6368557" y="5775182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B75BE1-7950-03B7-1336-22E24393B8B7}"/>
                    </a:ext>
                  </a:extLst>
                </p:cNvPr>
                <p:cNvSpPr txBox="1"/>
                <p:nvPr/>
              </p:nvSpPr>
              <p:spPr>
                <a:xfrm>
                  <a:off x="4287426" y="5035655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B75BE1-7950-03B7-1336-22E24393B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7426" y="5035655"/>
                  <a:ext cx="38914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A637742-F885-659D-5369-C34F6DD0E3B8}"/>
                    </a:ext>
                  </a:extLst>
                </p:cNvPr>
                <p:cNvSpPr txBox="1"/>
                <p:nvPr/>
              </p:nvSpPr>
              <p:spPr>
                <a:xfrm>
                  <a:off x="6389526" y="5617810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A637742-F885-659D-5369-C34F6DD0E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9526" y="5617810"/>
                  <a:ext cx="389145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19549BB2-54EE-3F5C-7DDF-7A9A1F9C63E2}"/>
                    </a:ext>
                  </a:extLst>
                </p:cNvPr>
                <p:cNvSpPr txBox="1"/>
                <p:nvPr/>
              </p:nvSpPr>
              <p:spPr>
                <a:xfrm>
                  <a:off x="4379251" y="5707852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19549BB2-54EE-3F5C-7DDF-7A9A1F9C63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9251" y="5707852"/>
                  <a:ext cx="389145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7A0BE24-294F-730A-A02C-CDDCB9900868}"/>
                    </a:ext>
                  </a:extLst>
                </p:cNvPr>
                <p:cNvSpPr txBox="1"/>
                <p:nvPr/>
              </p:nvSpPr>
              <p:spPr>
                <a:xfrm>
                  <a:off x="6320943" y="5084548"/>
                  <a:ext cx="3891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"/>
                    <a:ea typeface="Source Sans Pro"/>
                  </a:endParaRPr>
                </a:p>
              </p:txBody>
            </p:sp>
          </mc:Choice>
          <mc:Fallback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7A0BE24-294F-730A-A02C-CDDCB9900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0943" y="5084548"/>
                  <a:ext cx="38914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8EFB083-D99F-558F-7A89-FFA5A8E18AD2}"/>
              </a:ext>
            </a:extLst>
          </p:cNvPr>
          <p:cNvCxnSpPr>
            <a:cxnSpLocks/>
            <a:stCxn id="37" idx="2"/>
            <a:endCxn id="39" idx="3"/>
          </p:cNvCxnSpPr>
          <p:nvPr/>
        </p:nvCxnSpPr>
        <p:spPr>
          <a:xfrm flipH="1" flipV="1">
            <a:off x="4676571" y="5220321"/>
            <a:ext cx="1611663" cy="65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FF8976F-B44F-D730-8BA5-2309D1B27F0C}"/>
              </a:ext>
            </a:extLst>
          </p:cNvPr>
          <p:cNvCxnSpPr>
            <a:cxnSpLocks/>
            <a:stCxn id="38" idx="2"/>
            <a:endCxn id="36" idx="6"/>
          </p:cNvCxnSpPr>
          <p:nvPr/>
        </p:nvCxnSpPr>
        <p:spPr>
          <a:xfrm flipH="1">
            <a:off x="4766209" y="5815344"/>
            <a:ext cx="1602348" cy="76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86412EA-F965-34A4-C46C-A64CBE0374D5}"/>
              </a:ext>
            </a:extLst>
          </p:cNvPr>
          <p:cNvCxnSpPr>
            <a:cxnSpLocks/>
            <a:stCxn id="67" idx="2"/>
            <a:endCxn id="65" idx="6"/>
          </p:cNvCxnSpPr>
          <p:nvPr/>
        </p:nvCxnSpPr>
        <p:spPr>
          <a:xfrm flipH="1" flipV="1">
            <a:off x="8491815" y="5186906"/>
            <a:ext cx="1607579" cy="64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AED191A-3995-522A-77CA-3BAB09A7FBA7}"/>
              </a:ext>
            </a:extLst>
          </p:cNvPr>
          <p:cNvCxnSpPr>
            <a:cxnSpLocks/>
            <a:stCxn id="68" idx="2"/>
            <a:endCxn id="65" idx="6"/>
          </p:cNvCxnSpPr>
          <p:nvPr/>
        </p:nvCxnSpPr>
        <p:spPr>
          <a:xfrm flipH="1" flipV="1">
            <a:off x="8491815" y="5186906"/>
            <a:ext cx="1687902" cy="593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4A77069-91DD-8703-1013-0467722E7FFF}"/>
              </a:ext>
            </a:extLst>
          </p:cNvPr>
          <p:cNvCxnSpPr>
            <a:cxnSpLocks/>
            <a:stCxn id="66" idx="6"/>
            <a:endCxn id="68" idx="5"/>
          </p:cNvCxnSpPr>
          <p:nvPr/>
        </p:nvCxnSpPr>
        <p:spPr>
          <a:xfrm flipV="1">
            <a:off x="9466991" y="5808696"/>
            <a:ext cx="781286" cy="2056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9679C9A-349E-A933-AC66-7B2AE49766D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73375" y="5121647"/>
            <a:ext cx="451022" cy="45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9294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DEF77-C32D-B9D1-FD95-218B012B5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ea typeface="Source Sans Pro"/>
              </a:rPr>
              <a:t>What about hyper properties?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8BAC0-CD18-7594-F454-C249E20CD6BC}"/>
              </a:ext>
            </a:extLst>
          </p:cNvPr>
          <p:cNvSpPr txBox="1"/>
          <p:nvPr/>
        </p:nvSpPr>
        <p:spPr>
          <a:xfrm>
            <a:off x="2213960" y="2332514"/>
            <a:ext cx="776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"/>
              </a:rPr>
              <a:t>Current tools don’t have a generic (hyper) property specification language!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2406F4B6-1E7C-E71B-8E9B-F36FCC263BF0}"/>
                  </a:ext>
                </a:extLst>
              </p:cNvPr>
              <p:cNvSpPr/>
              <p:nvPr/>
            </p:nvSpPr>
            <p:spPr>
              <a:xfrm>
                <a:off x="1427272" y="3552150"/>
                <a:ext cx="9337040" cy="934809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Equiv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  <a:ea typeface="Source Sans Pro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"/>
                  </a:rPr>
                  <a:t>for some notion of equivalence between two protocols</a:t>
                </a: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2406F4B6-1E7C-E71B-8E9B-F36FCC263B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272" y="3552150"/>
                <a:ext cx="9337040" cy="93480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A9CCCAAF-56B9-3B06-8EDE-9515289C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Formalizing Security Properties in the Symbolic Model</a:t>
            </a:r>
            <a:endParaRPr lang="en-US" sz="4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63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Automated Property Satisfaction/Violation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FACD8D-0D96-76B5-1545-0DD47637BA9B}"/>
              </a:ext>
            </a:extLst>
          </p:cNvPr>
          <p:cNvSpPr txBox="1"/>
          <p:nvPr/>
        </p:nvSpPr>
        <p:spPr>
          <a:xfrm>
            <a:off x="2855450" y="1690688"/>
            <a:ext cx="6742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"/>
              </a:rPr>
              <a:t>Why not use a general-purpose model checker?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13C1D56-A78D-758C-85A7-1FF1327CB580}"/>
              </a:ext>
            </a:extLst>
          </p:cNvPr>
          <p:cNvSpPr/>
          <p:nvPr/>
        </p:nvSpPr>
        <p:spPr>
          <a:xfrm>
            <a:off x="2855450" y="2477211"/>
            <a:ext cx="6641715" cy="58382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1. Need symbolic terms of recursive ADTs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1D5CC6A-F3EE-57E3-B9CE-4A2527EBFDAB}"/>
              </a:ext>
            </a:extLst>
          </p:cNvPr>
          <p:cNvSpPr/>
          <p:nvPr/>
        </p:nvSpPr>
        <p:spPr>
          <a:xfrm>
            <a:off x="2855450" y="3351739"/>
            <a:ext cx="6641715" cy="58382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2. Need to model </a:t>
            </a:r>
            <a:r>
              <a:rPr lang="en-US" dirty="0" err="1">
                <a:solidFill>
                  <a:schemeClr val="tx1"/>
                </a:solidFill>
                <a:latin typeface=""/>
              </a:rPr>
              <a:t>Dolev</a:t>
            </a:r>
            <a:r>
              <a:rPr lang="en-US" dirty="0">
                <a:solidFill>
                  <a:schemeClr val="tx1"/>
                </a:solidFill>
                <a:latin typeface=""/>
              </a:rPr>
              <a:t>-Yao adversary knowledge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2BE2950-652B-938C-437A-AA9AD93B3F36}"/>
              </a:ext>
            </a:extLst>
          </p:cNvPr>
          <p:cNvSpPr/>
          <p:nvPr/>
        </p:nvSpPr>
        <p:spPr>
          <a:xfrm>
            <a:off x="2855450" y="4224717"/>
            <a:ext cx="6641715" cy="58382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"/>
              </a:rPr>
              <a:t>3. Need to model inter- and intra-session adversary influence</a:t>
            </a:r>
          </a:p>
        </p:txBody>
      </p:sp>
    </p:spTree>
    <p:extLst>
      <p:ext uri="{BB962C8B-B14F-4D97-AF65-F5344CB8AC3E}">
        <p14:creationId xmlns:p14="http://schemas.microsoft.com/office/powerpoint/2010/main" val="96445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Automated Property Satisfaction/Violation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107A3A4-22FA-2AC4-7840-CFEEF4B691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84400" y="5277124"/>
                <a:ext cx="3393440" cy="70400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K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dirty="0"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107A3A4-22FA-2AC4-7840-CFEEF4B69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400" y="5277124"/>
                <a:ext cx="3393440" cy="70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B150F1-0B16-EB49-8B10-16A232A65EF5}"/>
              </a:ext>
            </a:extLst>
          </p:cNvPr>
          <p:cNvCxnSpPr>
            <a:cxnSpLocks/>
          </p:cNvCxnSpPr>
          <p:nvPr/>
        </p:nvCxnSpPr>
        <p:spPr>
          <a:xfrm>
            <a:off x="2390666" y="4255267"/>
            <a:ext cx="578069" cy="1021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310CBD-FF22-CC09-4FB9-142A21332E4E}"/>
              </a:ext>
            </a:extLst>
          </p:cNvPr>
          <p:cNvCxnSpPr>
            <a:cxnSpLocks/>
          </p:cNvCxnSpPr>
          <p:nvPr/>
        </p:nvCxnSpPr>
        <p:spPr>
          <a:xfrm flipH="1">
            <a:off x="4177425" y="4168831"/>
            <a:ext cx="446689" cy="1108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91EDAA-B220-69DE-E6D2-086C5464519F}"/>
                  </a:ext>
                </a:extLst>
              </p:cNvPr>
              <p:cNvSpPr/>
              <p:nvPr/>
            </p:nvSpPr>
            <p:spPr>
              <a:xfrm>
                <a:off x="4177425" y="3351542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Honest rule with label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Secret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𝑡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91EDAA-B220-69DE-E6D2-086C546451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425" y="3351542"/>
                <a:ext cx="3184634" cy="8172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8B0FBA0-4B8D-CD77-BC5B-55DAC2A2D6FD}"/>
                  </a:ext>
                </a:extLst>
              </p:cNvPr>
              <p:cNvSpPr/>
              <p:nvPr/>
            </p:nvSpPr>
            <p:spPr>
              <a:xfrm>
                <a:off x="367426" y="3429000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Adversary rule with label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𝑡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8B0FBA0-4B8D-CD77-BC5B-55DAC2A2D6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26" y="3429000"/>
                <a:ext cx="3184634" cy="817290"/>
              </a:xfrm>
              <a:prstGeom prst="rect">
                <a:avLst/>
              </a:prstGeom>
              <a:blipFill>
                <a:blip r:embed="rId5"/>
                <a:stretch>
                  <a:fillRect l="-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9FF3D42-9419-77D5-787E-85464F06664C}"/>
              </a:ext>
            </a:extLst>
          </p:cNvPr>
          <p:cNvCxnSpPr>
            <a:cxnSpLocks/>
          </p:cNvCxnSpPr>
          <p:nvPr/>
        </p:nvCxnSpPr>
        <p:spPr>
          <a:xfrm>
            <a:off x="1775811" y="2615820"/>
            <a:ext cx="0" cy="804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8029AE-A362-D9BA-5693-36FC2A020D90}"/>
              </a:ext>
            </a:extLst>
          </p:cNvPr>
          <p:cNvCxnSpPr>
            <a:cxnSpLocks/>
          </p:cNvCxnSpPr>
          <p:nvPr/>
        </p:nvCxnSpPr>
        <p:spPr>
          <a:xfrm>
            <a:off x="5396625" y="2539620"/>
            <a:ext cx="0" cy="799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AADD5AE-5537-EBA8-BDB9-9724D8FDDE5A}"/>
              </a:ext>
            </a:extLst>
          </p:cNvPr>
          <p:cNvSpPr txBox="1">
            <a:spLocks/>
          </p:cNvSpPr>
          <p:nvPr/>
        </p:nvSpPr>
        <p:spPr>
          <a:xfrm>
            <a:off x="1614217" y="2097008"/>
            <a:ext cx="691052" cy="4838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Source Sans Pro"/>
                <a:ea typeface="Source Sans Pro"/>
              </a:rPr>
              <a:t>?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EEACFD5-C32E-0C0B-CD8A-B5F5265D07C8}"/>
              </a:ext>
            </a:extLst>
          </p:cNvPr>
          <p:cNvSpPr txBox="1">
            <a:spLocks/>
          </p:cNvSpPr>
          <p:nvPr/>
        </p:nvSpPr>
        <p:spPr>
          <a:xfrm>
            <a:off x="5235031" y="2043279"/>
            <a:ext cx="691052" cy="4838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Source Sans Pro"/>
                <a:ea typeface="Source Sans Pro"/>
              </a:rPr>
              <a:t>?</a:t>
            </a: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ECFBD86-1CC5-A7D4-ABDB-3A2874CB6BBB}"/>
              </a:ext>
            </a:extLst>
          </p:cNvPr>
          <p:cNvSpPr/>
          <p:nvPr/>
        </p:nvSpPr>
        <p:spPr>
          <a:xfrm>
            <a:off x="5173938" y="3719951"/>
            <a:ext cx="1191607" cy="4183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6005FD5-8FD6-8257-53C4-D55F808B3EF1}"/>
              </a:ext>
            </a:extLst>
          </p:cNvPr>
          <p:cNvSpPr/>
          <p:nvPr/>
        </p:nvSpPr>
        <p:spPr>
          <a:xfrm>
            <a:off x="3407544" y="5166042"/>
            <a:ext cx="2079731" cy="70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42F1B-8619-CF90-7515-29A508A503A8}"/>
              </a:ext>
            </a:extLst>
          </p:cNvPr>
          <p:cNvSpPr txBox="1"/>
          <p:nvPr/>
        </p:nvSpPr>
        <p:spPr>
          <a:xfrm>
            <a:off x="6754592" y="1896694"/>
            <a:ext cx="5010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Can use equational theories for expressivity</a:t>
            </a:r>
          </a:p>
          <a:p>
            <a:endParaRPr lang="en-US" dirty="0">
              <a:latin typeface="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C4277762-99F5-68E1-C89D-A971F31FF44E}"/>
                  </a:ext>
                </a:extLst>
              </p:cNvPr>
              <p:cNvSpPr/>
              <p:nvPr/>
            </p:nvSpPr>
            <p:spPr>
              <a:xfrm>
                <a:off x="5926083" y="4617873"/>
                <a:ext cx="3799840" cy="109633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Find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𝜎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such that </a:t>
                </a:r>
                <a:endParaRPr lang="en-US" sz="18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i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</m:t>
                      </m:r>
                      <m:d>
                        <m:dPr>
                          <m:ctrlP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…</m:t>
                          </m:r>
                          <m:r>
                            <a:rPr lang="en-US" sz="18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</m:t>
                          </m:r>
                          <m: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𝜎</m:t>
                      </m:r>
                      <m:sSub>
                        <m:sSubPr>
                          <m:ctrlPr>
                            <a:rPr lang="en-US" sz="1800" b="1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=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𝑬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i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</m:t>
                      </m:r>
                      <m:d>
                        <m:dPr>
                          <m:ctrlP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800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SupPr>
                            <m:e>
                              <m: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18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</m:t>
                          </m:r>
                          <m: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 …, </m:t>
                          </m:r>
                          <m:sSub>
                            <m:sSubPr>
                              <m:ctrlP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8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′</m:t>
                          </m:r>
                        </m:e>
                      </m:d>
                      <m:r>
                        <a:rPr lang="en-US" sz="18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𝜎</m:t>
                      </m:r>
                    </m:oMath>
                  </m:oMathPara>
                </a14:m>
                <a:endParaRPr lang="en-US" sz="18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C4277762-99F5-68E1-C89D-A971F31F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083" y="4617873"/>
                <a:ext cx="3799840" cy="109633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BD38573E-6655-F333-B3A4-7E4412B1C477}"/>
              </a:ext>
            </a:extLst>
          </p:cNvPr>
          <p:cNvSpPr/>
          <p:nvPr/>
        </p:nvSpPr>
        <p:spPr>
          <a:xfrm>
            <a:off x="7506928" y="5146884"/>
            <a:ext cx="478832" cy="37115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59CA30-D1D9-2D7A-F0A3-F8011773B05B}"/>
                  </a:ext>
                </a:extLst>
              </p:cNvPr>
              <p:cNvSpPr txBox="1"/>
              <p:nvPr/>
            </p:nvSpPr>
            <p:spPr>
              <a:xfrm>
                <a:off x="6365545" y="2250374"/>
                <a:ext cx="5399736" cy="61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𝐸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=0, 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⊕0=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𝑦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𝑥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𝑧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𝑦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=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𝑦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59CA30-D1D9-2D7A-F0A3-F8011773B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545" y="2250374"/>
                <a:ext cx="5399736" cy="615618"/>
              </a:xfrm>
              <a:prstGeom prst="rect">
                <a:avLst/>
              </a:prstGeom>
              <a:blipFill>
                <a:blip r:embed="rId7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9AE3839F-06E4-7C95-9D3D-EABAEE42B2D8}"/>
              </a:ext>
            </a:extLst>
          </p:cNvPr>
          <p:cNvSpPr/>
          <p:nvPr/>
        </p:nvSpPr>
        <p:spPr>
          <a:xfrm>
            <a:off x="6365545" y="1798320"/>
            <a:ext cx="5491175" cy="1320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8CB66B2-3436-894E-137A-F60EA58A1459}"/>
              </a:ext>
            </a:extLst>
          </p:cNvPr>
          <p:cNvCxnSpPr>
            <a:cxnSpLocks/>
            <a:stCxn id="37" idx="2"/>
            <a:endCxn id="34" idx="0"/>
          </p:cNvCxnSpPr>
          <p:nvPr/>
        </p:nvCxnSpPr>
        <p:spPr>
          <a:xfrm flipH="1">
            <a:off x="7746344" y="3119120"/>
            <a:ext cx="1364789" cy="2027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9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4" grpId="0" animBg="1"/>
      <p:bldP spid="36" grpId="0"/>
      <p:bldP spid="37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45D0CF13-85F0-E2FE-8E71-4140776AFC19}"/>
                  </a:ext>
                </a:extLst>
              </p:cNvPr>
              <p:cNvSpPr/>
              <p:nvPr/>
            </p:nvSpPr>
            <p:spPr>
              <a:xfrm>
                <a:off x="5926083" y="4617873"/>
                <a:ext cx="3799840" cy="1096337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Find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𝜎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"/>
                    <a:ea typeface="Source Sans Pro"/>
                  </a:rPr>
                  <a:t>such that </a:t>
                </a:r>
                <a:endParaRPr lang="en-US" sz="18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i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</m:t>
                      </m:r>
                      <m:d>
                        <m:dPr>
                          <m:ctrlP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 …</m:t>
                          </m:r>
                          <m:r>
                            <a:rPr lang="en-US" sz="18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</m:t>
                          </m:r>
                          <m: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𝜎</m:t>
                      </m:r>
                      <m:sSub>
                        <m:sSubPr>
                          <m:ctrlPr>
                            <a:rPr lang="en-US" sz="1800" b="1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=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𝑬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i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F</m:t>
                      </m:r>
                      <m:d>
                        <m:dPr>
                          <m:ctrlP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800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SupPr>
                            <m:e>
                              <m: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18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,</m:t>
                          </m:r>
                          <m:r>
                            <a:rPr lang="en-US" sz="18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 …, </m:t>
                          </m:r>
                          <m:sSub>
                            <m:sSubPr>
                              <m:ctrlP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 dirty="0" err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"/>
                                  <a:ea typeface="Source Sans Pro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8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"/>
                              <a:ea typeface="Source Sans Pro"/>
                            </a:rPr>
                            <m:t>′</m:t>
                          </m:r>
                        </m:e>
                      </m:d>
                      <m:r>
                        <a:rPr lang="en-US" sz="18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"/>
                          <a:ea typeface="Source Sans Pro"/>
                        </a:rPr>
                        <m:t>𝜎</m:t>
                      </m:r>
                    </m:oMath>
                  </m:oMathPara>
                </a14:m>
                <a:endParaRPr lang="en-US" sz="18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  <a:ea typeface="Source Sans Pro"/>
                </a:endParaRPr>
              </a:p>
            </p:txBody>
          </p:sp>
        </mc:Choice>
        <mc:Fallback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45D0CF13-85F0-E2FE-8E71-4140776AFC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083" y="4617873"/>
                <a:ext cx="3799840" cy="109633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Automated Property Satisfaction/Violation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42F1B-8619-CF90-7515-29A508A503A8}"/>
              </a:ext>
            </a:extLst>
          </p:cNvPr>
          <p:cNvSpPr txBox="1"/>
          <p:nvPr/>
        </p:nvSpPr>
        <p:spPr>
          <a:xfrm>
            <a:off x="6754592" y="1896694"/>
            <a:ext cx="5010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"/>
              </a:rPr>
              <a:t>Can use equational theories for expressivity</a:t>
            </a:r>
          </a:p>
          <a:p>
            <a:endParaRPr lang="en-US" dirty="0">
              <a:latin typeface="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D38573E-6655-F333-B3A4-7E4412B1C477}"/>
              </a:ext>
            </a:extLst>
          </p:cNvPr>
          <p:cNvSpPr/>
          <p:nvPr/>
        </p:nvSpPr>
        <p:spPr>
          <a:xfrm>
            <a:off x="7506928" y="5146884"/>
            <a:ext cx="478832" cy="37115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59CA30-D1D9-2D7A-F0A3-F8011773B05B}"/>
                  </a:ext>
                </a:extLst>
              </p:cNvPr>
              <p:cNvSpPr txBox="1"/>
              <p:nvPr/>
            </p:nvSpPr>
            <p:spPr>
              <a:xfrm>
                <a:off x="6365545" y="2250374"/>
                <a:ext cx="5399736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𝐸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+0=</m:t>
                          </m:r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+</m:t>
                          </m:r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=</m:t>
                          </m:r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(</m:t>
                          </m:r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+</m:t>
                          </m:r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𝑦</m:t>
                          </m:r>
                          <m:r>
                            <a:rPr lang="en-US" sz="18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59CA30-D1D9-2D7A-F0A3-F8011773B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545" y="2250374"/>
                <a:ext cx="5399736" cy="381451"/>
              </a:xfrm>
              <a:prstGeom prst="rect">
                <a:avLst/>
              </a:prstGeom>
              <a:blipFill>
                <a:blip r:embed="rId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9AE3839F-06E4-7C95-9D3D-EABAEE42B2D8}"/>
              </a:ext>
            </a:extLst>
          </p:cNvPr>
          <p:cNvSpPr/>
          <p:nvPr/>
        </p:nvSpPr>
        <p:spPr>
          <a:xfrm>
            <a:off x="6365545" y="1798320"/>
            <a:ext cx="5491175" cy="10361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8CB66B2-3436-894E-137A-F60EA58A1459}"/>
              </a:ext>
            </a:extLst>
          </p:cNvPr>
          <p:cNvCxnSpPr>
            <a:cxnSpLocks/>
            <a:stCxn id="37" idx="2"/>
            <a:endCxn id="34" idx="0"/>
          </p:cNvCxnSpPr>
          <p:nvPr/>
        </p:nvCxnSpPr>
        <p:spPr>
          <a:xfrm flipH="1">
            <a:off x="7746344" y="2834478"/>
            <a:ext cx="1364789" cy="2312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4CA7939-BF2A-B71F-45A1-C085ED685DA0}"/>
              </a:ext>
            </a:extLst>
          </p:cNvPr>
          <p:cNvSpPr/>
          <p:nvPr/>
        </p:nvSpPr>
        <p:spPr>
          <a:xfrm>
            <a:off x="8050878" y="3867720"/>
            <a:ext cx="3870960" cy="6719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When is unification decidable?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4743C0-FB51-8097-A200-85D3909155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785" y="3894650"/>
            <a:ext cx="658486" cy="658486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B4AE248-096C-A2FB-1CB7-8E2EAC0FEC00}"/>
              </a:ext>
            </a:extLst>
          </p:cNvPr>
          <p:cNvSpPr/>
          <p:nvPr/>
        </p:nvSpPr>
        <p:spPr>
          <a:xfrm>
            <a:off x="8050878" y="3039403"/>
            <a:ext cx="3870960" cy="6719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How scalable?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2619C13-C81B-3264-C46A-9EC04DFFC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785" y="3066333"/>
            <a:ext cx="658486" cy="658486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EB0FDC4-B554-EF45-E38E-022FC9E7B04A}"/>
              </a:ext>
            </a:extLst>
          </p:cNvPr>
          <p:cNvSpPr/>
          <p:nvPr/>
        </p:nvSpPr>
        <p:spPr>
          <a:xfrm>
            <a:off x="8072120" y="4677586"/>
            <a:ext cx="3870960" cy="6719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When is the search algo decidable?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76DAC3-C307-C0A2-3B19-F9C19A692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027" y="4704516"/>
            <a:ext cx="658486" cy="658486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47B1962-F759-DE17-D80B-2DE1ADA2B49E}"/>
              </a:ext>
            </a:extLst>
          </p:cNvPr>
          <p:cNvSpPr/>
          <p:nvPr/>
        </p:nvSpPr>
        <p:spPr>
          <a:xfrm>
            <a:off x="8072120" y="5469684"/>
            <a:ext cx="3870960" cy="6719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"/>
              </a:rPr>
              <a:t>How to cope with undecidability?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15F39F6-F0C1-0F06-76A6-AAA50160D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027" y="5496614"/>
            <a:ext cx="658486" cy="6584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38531469-8BB6-4149-6DE4-3214DF28FC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84400" y="5277124"/>
                <a:ext cx="3393440" cy="70400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K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Secret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dirty="0"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38531469-8BB6-4149-6DE4-3214DF28F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400" y="5277124"/>
                <a:ext cx="3393440" cy="704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C36C857-0C97-D8B0-0CF7-6B5B47A957A9}"/>
              </a:ext>
            </a:extLst>
          </p:cNvPr>
          <p:cNvCxnSpPr>
            <a:cxnSpLocks/>
          </p:cNvCxnSpPr>
          <p:nvPr/>
        </p:nvCxnSpPr>
        <p:spPr>
          <a:xfrm>
            <a:off x="2390666" y="4255267"/>
            <a:ext cx="578069" cy="1021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2C0D052-511B-7598-E979-6292FBD90D05}"/>
              </a:ext>
            </a:extLst>
          </p:cNvPr>
          <p:cNvCxnSpPr>
            <a:cxnSpLocks/>
          </p:cNvCxnSpPr>
          <p:nvPr/>
        </p:nvCxnSpPr>
        <p:spPr>
          <a:xfrm flipH="1">
            <a:off x="4177425" y="4168831"/>
            <a:ext cx="446689" cy="1108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0A95BF1-A5C4-B1F8-B81D-A6B81472172C}"/>
                  </a:ext>
                </a:extLst>
              </p:cNvPr>
              <p:cNvSpPr/>
              <p:nvPr/>
            </p:nvSpPr>
            <p:spPr>
              <a:xfrm>
                <a:off x="4177425" y="3351542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Honest rule with label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Secret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𝑡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0A95BF1-A5C4-B1F8-B81D-A6B8147217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425" y="3351542"/>
                <a:ext cx="3184634" cy="8172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B1E1315-F78B-2134-6243-6B3354951486}"/>
                  </a:ext>
                </a:extLst>
              </p:cNvPr>
              <p:cNvSpPr/>
              <p:nvPr/>
            </p:nvSpPr>
            <p:spPr>
              <a:xfrm>
                <a:off x="367426" y="3429000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"/>
                    <a:ea typeface="Source Sans Pro"/>
                  </a:rPr>
                  <a:t>Adversary rule with label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K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𝑡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B1E1315-F78B-2134-6243-6B33549514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26" y="3429000"/>
                <a:ext cx="3184634" cy="817290"/>
              </a:xfrm>
              <a:prstGeom prst="rect">
                <a:avLst/>
              </a:prstGeom>
              <a:blipFill>
                <a:blip r:embed="rId8"/>
                <a:stretch>
                  <a:fillRect l="-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90E1AF1-22DC-48F6-C16A-7C987939678F}"/>
              </a:ext>
            </a:extLst>
          </p:cNvPr>
          <p:cNvCxnSpPr>
            <a:cxnSpLocks/>
          </p:cNvCxnSpPr>
          <p:nvPr/>
        </p:nvCxnSpPr>
        <p:spPr>
          <a:xfrm>
            <a:off x="1775811" y="2615820"/>
            <a:ext cx="0" cy="804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93B4D41-8290-91F6-AEB1-24010B8CDF94}"/>
              </a:ext>
            </a:extLst>
          </p:cNvPr>
          <p:cNvCxnSpPr>
            <a:cxnSpLocks/>
          </p:cNvCxnSpPr>
          <p:nvPr/>
        </p:nvCxnSpPr>
        <p:spPr>
          <a:xfrm>
            <a:off x="5396625" y="2539620"/>
            <a:ext cx="0" cy="799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3173F87F-9B73-F624-0AA7-FD81E474E274}"/>
              </a:ext>
            </a:extLst>
          </p:cNvPr>
          <p:cNvSpPr txBox="1">
            <a:spLocks/>
          </p:cNvSpPr>
          <p:nvPr/>
        </p:nvSpPr>
        <p:spPr>
          <a:xfrm>
            <a:off x="1614217" y="2097008"/>
            <a:ext cx="691052" cy="4838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Source Sans Pro"/>
                <a:ea typeface="Source Sans Pro"/>
              </a:rPr>
              <a:t>?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D0A620D7-909C-C68F-CF98-7800A0432E1D}"/>
              </a:ext>
            </a:extLst>
          </p:cNvPr>
          <p:cNvSpPr txBox="1">
            <a:spLocks/>
          </p:cNvSpPr>
          <p:nvPr/>
        </p:nvSpPr>
        <p:spPr>
          <a:xfrm>
            <a:off x="5235031" y="2043279"/>
            <a:ext cx="691052" cy="4838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Source Sans Pro"/>
                <a:ea typeface="Source Sans Pro"/>
              </a:rPr>
              <a:t>?</a:t>
            </a: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5182429-18CE-0E62-59E3-A8A8119E2F04}"/>
              </a:ext>
            </a:extLst>
          </p:cNvPr>
          <p:cNvSpPr/>
          <p:nvPr/>
        </p:nvSpPr>
        <p:spPr>
          <a:xfrm>
            <a:off x="5173938" y="3719951"/>
            <a:ext cx="1191607" cy="4183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33CE3FE-67FA-BE18-6136-996FA33A0BF7}"/>
              </a:ext>
            </a:extLst>
          </p:cNvPr>
          <p:cNvSpPr/>
          <p:nvPr/>
        </p:nvSpPr>
        <p:spPr>
          <a:xfrm>
            <a:off x="3407544" y="5166042"/>
            <a:ext cx="2079731" cy="70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1" dur="indefinite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4" dur="indefinite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27" dur="indefinite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34" grpId="0" animBg="1"/>
      <p:bldP spid="9" grpId="0" animBg="1"/>
      <p:bldP spid="11" grpId="0" animBg="1"/>
      <p:bldP spid="18" grpId="0" animBg="1"/>
      <p:bldP spid="22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First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3CA980-B60C-BF94-9DD3-7F4A315C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1" b="133"/>
          <a:stretch>
            <a:fillRect/>
          </a:stretch>
        </p:blipFill>
        <p:spPr>
          <a:xfrm>
            <a:off x="661241" y="3259762"/>
            <a:ext cx="7497507" cy="34098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7E6EC1-09CD-A36C-6AFE-E7FB8F51DBC4}"/>
              </a:ext>
            </a:extLst>
          </p:cNvPr>
          <p:cNvSpPr txBox="1"/>
          <p:nvPr/>
        </p:nvSpPr>
        <p:spPr>
          <a:xfrm>
            <a:off x="5412288" y="2718947"/>
            <a:ext cx="6224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"/>
                <a:ea typeface="Source Sans Pro"/>
              </a:rPr>
              <a:t>In our formalization, the attack does not actually work yet…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3A5855-7DA2-0722-5BF9-BFAA2C865C2E}"/>
                  </a:ext>
                </a:extLst>
              </p:cNvPr>
              <p:cNvSpPr txBox="1"/>
              <p:nvPr/>
            </p:nvSpPr>
            <p:spPr>
              <a:xfrm>
                <a:off x="5412288" y="3020724"/>
                <a:ext cx="10824765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Fr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→{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Sk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Pk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pk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𝑠𝑘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Out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pk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𝑠𝑘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)⟩)}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3A5855-7DA2-0722-5BF9-BFAA2C865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288" y="3020724"/>
                <a:ext cx="10824765" cy="404983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88F2F7-C625-5D4E-9799-791CF2AC1EE8}"/>
                  </a:ext>
                </a:extLst>
              </p:cNvPr>
              <p:cNvSpPr txBox="1"/>
              <p:nvPr/>
            </p:nvSpPr>
            <p:spPr>
              <a:xfrm>
                <a:off x="5424232" y="3347797"/>
                <a:ext cx="10824765" cy="423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Sk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{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Reveal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)}</m:t>
                        </m:r>
                      </m:sup>
                    </m:sSup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{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Out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𝑠𝑘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⟩)}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88F2F7-C625-5D4E-9799-791CF2AC1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232" y="3347797"/>
                <a:ext cx="10824765" cy="423514"/>
              </a:xfrm>
              <a:prstGeom prst="rect">
                <a:avLst/>
              </a:prstGeom>
              <a:blipFill>
                <a:blip r:embed="rId5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FCB3996-4289-4A3D-1814-CFBDE611F51C}"/>
              </a:ext>
            </a:extLst>
          </p:cNvPr>
          <p:cNvSpPr/>
          <p:nvPr/>
        </p:nvSpPr>
        <p:spPr>
          <a:xfrm>
            <a:off x="1133061" y="4133363"/>
            <a:ext cx="3571943" cy="87921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60C753-1CD1-5D36-AF02-DA0AAB743B4C}"/>
              </a:ext>
            </a:extLst>
          </p:cNvPr>
          <p:cNvSpPr/>
          <p:nvPr/>
        </p:nvSpPr>
        <p:spPr>
          <a:xfrm>
            <a:off x="4800600" y="4293712"/>
            <a:ext cx="4065104" cy="24450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6CDFD4-FD89-2429-C39C-13DB2DC9C081}"/>
                  </a:ext>
                </a:extLst>
              </p:cNvPr>
              <p:cNvSpPr txBox="1"/>
              <p:nvPr/>
            </p:nvSpPr>
            <p:spPr>
              <a:xfrm>
                <a:off x="4775237" y="4367230"/>
                <a:ext cx="27551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𝐼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 must decrypt to forward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6CDFD4-FD89-2429-C39C-13DB2DC9C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237" y="4367230"/>
                <a:ext cx="2755178" cy="369332"/>
              </a:xfrm>
              <a:prstGeom prst="rect">
                <a:avLst/>
              </a:prstGeom>
              <a:blipFill>
                <a:blip r:embed="rId6"/>
                <a:stretch>
                  <a:fillRect t="-6667" r="-91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A5AF8D5E-016F-3D63-534F-8F9720EFDFDF}"/>
              </a:ext>
            </a:extLst>
          </p:cNvPr>
          <p:cNvSpPr/>
          <p:nvPr/>
        </p:nvSpPr>
        <p:spPr>
          <a:xfrm>
            <a:off x="5252720" y="2611669"/>
            <a:ext cx="6380480" cy="12629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4A62F2-11F4-1103-2F4B-155570F7CB33}"/>
                  </a:ext>
                </a:extLst>
              </p:cNvPr>
              <p:cNvSpPr txBox="1"/>
              <p:nvPr/>
            </p:nvSpPr>
            <p:spPr>
              <a:xfrm>
                <a:off x="4772208" y="4673629"/>
                <a:ext cx="42230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"/>
                    <a:ea typeface="Source Sans Pro"/>
                  </a:rPr>
                  <a:t>Key compromise of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𝐴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"/>
                        <a:ea typeface="Source Sans Pro"/>
                      </a:rPr>
                      <m:t>𝐵</m:t>
                    </m:r>
                  </m:oMath>
                </a14:m>
                <a:r>
                  <a:rPr lang="en-US" sz="1800" dirty="0">
                    <a:latin typeface=""/>
                    <a:ea typeface="Source Sans Pro"/>
                  </a:rPr>
                  <a:t> not required!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4A62F2-11F4-1103-2F4B-155570F7C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208" y="4673629"/>
                <a:ext cx="4223079" cy="369332"/>
              </a:xfrm>
              <a:prstGeom prst="rect">
                <a:avLst/>
              </a:prstGeom>
              <a:blipFill>
                <a:blip r:embed="rId7"/>
                <a:stretch>
                  <a:fillRect l="-1198"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8408FA40-CB69-6331-10F6-232806EAE2CD}"/>
                  </a:ext>
                </a:extLst>
              </p:cNvPr>
              <p:cNvSpPr/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8408FA40-CB69-6331-10F6-232806EAE2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2" y="1652753"/>
                <a:ext cx="3794760" cy="56896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5E76C388-5A9D-B01B-83CF-875AC3B5E67D}"/>
                  </a:ext>
                </a:extLst>
              </p:cNvPr>
              <p:cNvSpPr/>
              <p:nvPr/>
            </p:nvSpPr>
            <p:spPr>
              <a:xfrm>
                <a:off x="4262851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5E76C388-5A9D-B01B-83CF-875AC3B5E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851" y="1652753"/>
                <a:ext cx="3794760" cy="56896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B6D48830-6C21-757D-6724-553A6490AC6C}"/>
                  </a:ext>
                </a:extLst>
              </p:cNvPr>
              <p:cNvSpPr/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3. 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enc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m:t>k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B6D48830-6C21-757D-6724-553A6490AC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240" y="1652753"/>
                <a:ext cx="3794760" cy="56896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33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6" grpId="0"/>
      <p:bldP spid="13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73CAF1B-70D9-DD64-4590-3D9DA3C94247}"/>
              </a:ext>
            </a:extLst>
          </p:cNvPr>
          <p:cNvSpPr txBox="1">
            <a:spLocks/>
          </p:cNvSpPr>
          <p:nvPr/>
        </p:nvSpPr>
        <p:spPr>
          <a:xfrm>
            <a:off x="408327" y="6570441"/>
            <a:ext cx="11667850" cy="1405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Source Sans Pro"/>
                <a:ea typeface="Source Sans Pro"/>
              </a:rPr>
              <a:t>Heather, James, Gavin Lowe, and Steve Schneider. "How to prevent type flaw attacks on security protocols." Journal of Computer Security 11.2 (2003): 217-244.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FA0FD6-31EB-97C7-8C07-7ECD4B62A615}"/>
              </a:ext>
            </a:extLst>
          </p:cNvPr>
          <p:cNvSpPr txBox="1">
            <a:spLocks/>
          </p:cNvSpPr>
          <p:nvPr/>
        </p:nvSpPr>
        <p:spPr>
          <a:xfrm>
            <a:off x="4219523" y="-59580"/>
            <a:ext cx="4854786" cy="1405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latin typeface="Source Sans Pro"/>
              <a:ea typeface="Source Sans P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B4A20A-F4CA-247A-6BA3-315C7F4B8D1A}"/>
              </a:ext>
            </a:extLst>
          </p:cNvPr>
          <p:cNvSpPr txBox="1"/>
          <p:nvPr/>
        </p:nvSpPr>
        <p:spPr>
          <a:xfrm>
            <a:off x="2590800" y="2529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80F5CF-BA9F-93E2-1705-5763625689FB}"/>
              </a:ext>
            </a:extLst>
          </p:cNvPr>
          <p:cNvSpPr/>
          <p:nvPr/>
        </p:nvSpPr>
        <p:spPr>
          <a:xfrm>
            <a:off x="951263" y="1683007"/>
            <a:ext cx="10289061" cy="5524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latin typeface=""/>
                <a:ea typeface="Source Sans Pro"/>
              </a:rPr>
              <a:t>Thm</a:t>
            </a:r>
            <a:r>
              <a:rPr lang="en-US" sz="1600" b="1" dirty="0">
                <a:latin typeface=""/>
                <a:ea typeface="Source Sans Pro"/>
              </a:rPr>
              <a:t>: </a:t>
            </a:r>
            <a:r>
              <a:rPr lang="en-US" sz="1600" dirty="0">
                <a:latin typeface=""/>
                <a:ea typeface="Source Sans Pro"/>
              </a:rPr>
              <a:t>With this tagging scheme, type confusion attacks imply existence of well-typed attacks [Heather et al.] 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340519C-109E-C8F2-CB70-03B996CE1C31}"/>
              </a:ext>
            </a:extLst>
          </p:cNvPr>
          <p:cNvSpPr/>
          <p:nvPr/>
        </p:nvSpPr>
        <p:spPr>
          <a:xfrm>
            <a:off x="951263" y="2458720"/>
            <a:ext cx="10402537" cy="376664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"/>
                <a:ea typeface="Source Sans Pro"/>
              </a:rPr>
              <a:t>Pf</a:t>
            </a:r>
            <a:r>
              <a:rPr lang="en-US" sz="1600" b="1" dirty="0">
                <a:solidFill>
                  <a:schemeClr val="tx1"/>
                </a:solidFill>
                <a:latin typeface=""/>
                <a:ea typeface="Source Sans Pro"/>
              </a:rPr>
              <a:t> sketch:</a:t>
            </a:r>
          </a:p>
          <a:p>
            <a:endParaRPr lang="en-US" sz="1600" dirty="0">
              <a:solidFill>
                <a:schemeClr val="tx1"/>
              </a:solidFill>
              <a:latin typeface=""/>
              <a:ea typeface="Source Sans Pro"/>
            </a:endParaRP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Define function that translates (possibly) ill-typed attack trace to well-typed attack trace.</a:t>
            </a:r>
          </a:p>
          <a:p>
            <a:endParaRPr lang="en-US" sz="1600" dirty="0">
              <a:solidFill>
                <a:schemeClr val="tx2">
                  <a:lumMod val="10000"/>
                  <a:lumOff val="90000"/>
                </a:schemeClr>
              </a:solidFill>
              <a:latin typeface=""/>
              <a:ea typeface="Source Sans Pro"/>
            </a:endParaRP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For each message sent in the trace, there are two cases.</a:t>
            </a:r>
          </a:p>
          <a:p>
            <a:endParaRPr lang="en-US" sz="1600" dirty="0">
              <a:solidFill>
                <a:schemeClr val="tx2">
                  <a:lumMod val="10000"/>
                  <a:lumOff val="90000"/>
                </a:schemeClr>
              </a:solidFill>
              <a:latin typeface=""/>
              <a:ea typeface="Source Sans Pro"/>
            </a:endParaRPr>
          </a:p>
          <a:p>
            <a:r>
              <a:rPr lang="en-US" sz="16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Case 1. There is (honest) cryptographic protection.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Can’t be tampered by adversary, but honest agents only create well-tagged terms anyway.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</a:t>
            </a:r>
          </a:p>
          <a:p>
            <a:r>
              <a:rPr lang="en-US" sz="16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Case 2. There is no (honest) cryptographic protection. 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Utilize lack of cryptographic protection to forge a well-tagged term that executes the attack.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Replace ill-tagged terms with (fresh) well-tagged terms 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(relevant ill-tagged terms are rejected anyway). </a:t>
            </a:r>
          </a:p>
        </p:txBody>
      </p:sp>
    </p:spTree>
    <p:extLst>
      <p:ext uri="{BB962C8B-B14F-4D97-AF65-F5344CB8AC3E}">
        <p14:creationId xmlns:p14="http://schemas.microsoft.com/office/powerpoint/2010/main" val="345064999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73CAF1B-70D9-DD64-4590-3D9DA3C94247}"/>
              </a:ext>
            </a:extLst>
          </p:cNvPr>
          <p:cNvSpPr txBox="1">
            <a:spLocks/>
          </p:cNvSpPr>
          <p:nvPr/>
        </p:nvSpPr>
        <p:spPr>
          <a:xfrm>
            <a:off x="408327" y="6570441"/>
            <a:ext cx="11667850" cy="1405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Source Sans Pro"/>
                <a:ea typeface="Source Sans Pro"/>
              </a:rPr>
              <a:t>Heather, James, Gavin Lowe, and Steve Schneider. "How to prevent type flaw attacks on security protocols." Journal of Computer Security 11.2 (2003): 217-244.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FA0FD6-31EB-97C7-8C07-7ECD4B62A615}"/>
              </a:ext>
            </a:extLst>
          </p:cNvPr>
          <p:cNvSpPr txBox="1">
            <a:spLocks/>
          </p:cNvSpPr>
          <p:nvPr/>
        </p:nvSpPr>
        <p:spPr>
          <a:xfrm>
            <a:off x="4219523" y="-59580"/>
            <a:ext cx="4854786" cy="1405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latin typeface="Source Sans Pro"/>
              <a:ea typeface="Source Sans P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B4A20A-F4CA-247A-6BA3-315C7F4B8D1A}"/>
              </a:ext>
            </a:extLst>
          </p:cNvPr>
          <p:cNvSpPr txBox="1"/>
          <p:nvPr/>
        </p:nvSpPr>
        <p:spPr>
          <a:xfrm>
            <a:off x="2590800" y="2529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80F5CF-BA9F-93E2-1705-5763625689FB}"/>
              </a:ext>
            </a:extLst>
          </p:cNvPr>
          <p:cNvSpPr/>
          <p:nvPr/>
        </p:nvSpPr>
        <p:spPr>
          <a:xfrm>
            <a:off x="951263" y="1683007"/>
            <a:ext cx="10289061" cy="5524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latin typeface=""/>
                <a:ea typeface="Source Sans Pro"/>
              </a:rPr>
              <a:t>Thm</a:t>
            </a:r>
            <a:r>
              <a:rPr lang="en-US" sz="1600" b="1" dirty="0">
                <a:latin typeface=""/>
                <a:ea typeface="Source Sans Pro"/>
              </a:rPr>
              <a:t>: </a:t>
            </a:r>
            <a:r>
              <a:rPr lang="en-US" sz="1600" dirty="0">
                <a:latin typeface=""/>
                <a:ea typeface="Source Sans Pro"/>
              </a:rPr>
              <a:t>With this tagging scheme, type confusion attacks imply existence of well-typed attacks [Heather et al.] 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340519C-109E-C8F2-CB70-03B996CE1C31}"/>
              </a:ext>
            </a:extLst>
          </p:cNvPr>
          <p:cNvSpPr/>
          <p:nvPr/>
        </p:nvSpPr>
        <p:spPr>
          <a:xfrm>
            <a:off x="951263" y="2458720"/>
            <a:ext cx="10402537" cy="376664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"/>
                <a:ea typeface="Source Sans Pro"/>
              </a:rPr>
              <a:t>Pf</a:t>
            </a:r>
            <a:r>
              <a:rPr lang="en-US" sz="1600" b="1" dirty="0">
                <a:solidFill>
                  <a:schemeClr val="tx1"/>
                </a:solidFill>
                <a:latin typeface=""/>
                <a:ea typeface="Source Sans Pro"/>
              </a:rPr>
              <a:t> sketch:</a:t>
            </a:r>
          </a:p>
          <a:p>
            <a:endParaRPr lang="en-US" sz="1600" dirty="0">
              <a:solidFill>
                <a:schemeClr val="tx1"/>
              </a:solidFill>
              <a:latin typeface=""/>
              <a:ea typeface="Source Sans Pro"/>
            </a:endParaRPr>
          </a:p>
          <a:p>
            <a:r>
              <a:rPr lang="en-US" sz="1600" dirty="0">
                <a:solidFill>
                  <a:schemeClr val="tx1"/>
                </a:solidFill>
                <a:latin typeface=""/>
                <a:ea typeface="Source Sans Pro"/>
              </a:rPr>
              <a:t>Define function that translates (possibly) ill-typed attack trace to well-typed attack trace.</a:t>
            </a:r>
          </a:p>
          <a:p>
            <a:endParaRPr lang="en-US" sz="1600" dirty="0">
              <a:solidFill>
                <a:schemeClr val="tx1"/>
              </a:solidFill>
              <a:latin typeface=""/>
              <a:ea typeface="Source Sans Pro"/>
            </a:endParaRP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For each message sent in the trace, there are two cases.</a:t>
            </a:r>
          </a:p>
          <a:p>
            <a:endParaRPr lang="en-US" sz="1600" dirty="0">
              <a:solidFill>
                <a:schemeClr val="tx2">
                  <a:lumMod val="10000"/>
                  <a:lumOff val="90000"/>
                </a:schemeClr>
              </a:solidFill>
              <a:latin typeface=""/>
              <a:ea typeface="Source Sans Pro"/>
            </a:endParaRPr>
          </a:p>
          <a:p>
            <a:r>
              <a:rPr lang="en-US" sz="16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Case 1. There is (honest) cryptographic protection.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Can’t be tampered by adversary, but honest agents only create well-tagged terms anyway.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</a:t>
            </a:r>
          </a:p>
          <a:p>
            <a:r>
              <a:rPr lang="en-US" sz="16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Case 2. There is no (honest) cryptographic protection. 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Utilize lack of cryptographic protection to forge a well-tagged term that executes the attack.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Replace ill-tagged terms with (fresh) well-tagged terms 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(relevant ill-tagged terms are rejected anyway). </a:t>
            </a:r>
          </a:p>
        </p:txBody>
      </p:sp>
    </p:spTree>
    <p:extLst>
      <p:ext uri="{BB962C8B-B14F-4D97-AF65-F5344CB8AC3E}">
        <p14:creationId xmlns:p14="http://schemas.microsoft.com/office/powerpoint/2010/main" val="423050724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73CAF1B-70D9-DD64-4590-3D9DA3C94247}"/>
              </a:ext>
            </a:extLst>
          </p:cNvPr>
          <p:cNvSpPr txBox="1">
            <a:spLocks/>
          </p:cNvSpPr>
          <p:nvPr/>
        </p:nvSpPr>
        <p:spPr>
          <a:xfrm>
            <a:off x="408327" y="6570441"/>
            <a:ext cx="11667850" cy="1405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Source Sans Pro"/>
                <a:ea typeface="Source Sans Pro"/>
              </a:rPr>
              <a:t>Heather, James, Gavin Lowe, and Steve Schneider. "How to prevent type flaw attacks on security protocols." Journal of Computer Security 11.2 (2003): 217-244.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FA0FD6-31EB-97C7-8C07-7ECD4B62A615}"/>
              </a:ext>
            </a:extLst>
          </p:cNvPr>
          <p:cNvSpPr txBox="1">
            <a:spLocks/>
          </p:cNvSpPr>
          <p:nvPr/>
        </p:nvSpPr>
        <p:spPr>
          <a:xfrm>
            <a:off x="4219523" y="-59580"/>
            <a:ext cx="4854786" cy="1405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latin typeface="Source Sans Pro"/>
              <a:ea typeface="Source Sans P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B4A20A-F4CA-247A-6BA3-315C7F4B8D1A}"/>
              </a:ext>
            </a:extLst>
          </p:cNvPr>
          <p:cNvSpPr txBox="1"/>
          <p:nvPr/>
        </p:nvSpPr>
        <p:spPr>
          <a:xfrm>
            <a:off x="2590800" y="2529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80F5CF-BA9F-93E2-1705-5763625689FB}"/>
              </a:ext>
            </a:extLst>
          </p:cNvPr>
          <p:cNvSpPr/>
          <p:nvPr/>
        </p:nvSpPr>
        <p:spPr>
          <a:xfrm>
            <a:off x="951263" y="1683007"/>
            <a:ext cx="10289061" cy="5524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latin typeface=""/>
                <a:ea typeface="Source Sans Pro"/>
              </a:rPr>
              <a:t>Thm</a:t>
            </a:r>
            <a:r>
              <a:rPr lang="en-US" sz="1600" b="1" dirty="0">
                <a:latin typeface=""/>
                <a:ea typeface="Source Sans Pro"/>
              </a:rPr>
              <a:t>: </a:t>
            </a:r>
            <a:r>
              <a:rPr lang="en-US" sz="1600" dirty="0">
                <a:latin typeface=""/>
                <a:ea typeface="Source Sans Pro"/>
              </a:rPr>
              <a:t>With this tagging scheme, type confusion attacks imply existence of well-typed attacks [Heather et al.] 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340519C-109E-C8F2-CB70-03B996CE1C31}"/>
              </a:ext>
            </a:extLst>
          </p:cNvPr>
          <p:cNvSpPr/>
          <p:nvPr/>
        </p:nvSpPr>
        <p:spPr>
          <a:xfrm>
            <a:off x="951263" y="2458720"/>
            <a:ext cx="10402537" cy="376664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"/>
                <a:ea typeface="Source Sans Pro"/>
              </a:rPr>
              <a:t>Pf</a:t>
            </a:r>
            <a:r>
              <a:rPr lang="en-US" sz="1600" b="1" dirty="0">
                <a:solidFill>
                  <a:schemeClr val="tx1"/>
                </a:solidFill>
                <a:latin typeface=""/>
                <a:ea typeface="Source Sans Pro"/>
              </a:rPr>
              <a:t> sketch:</a:t>
            </a:r>
          </a:p>
          <a:p>
            <a:endParaRPr lang="en-US" sz="1600" dirty="0">
              <a:solidFill>
                <a:schemeClr val="tx1"/>
              </a:solidFill>
              <a:latin typeface=""/>
              <a:ea typeface="Source Sans Pro"/>
            </a:endParaRPr>
          </a:p>
          <a:p>
            <a:r>
              <a:rPr lang="en-US" sz="1600" dirty="0">
                <a:solidFill>
                  <a:schemeClr val="tx1"/>
                </a:solidFill>
                <a:latin typeface=""/>
                <a:ea typeface="Source Sans Pro"/>
              </a:rPr>
              <a:t>Define function that translates (possibly) ill-typed attack trace to well-typed attack trace.</a:t>
            </a:r>
          </a:p>
          <a:p>
            <a:endParaRPr lang="en-US" sz="1600" dirty="0">
              <a:solidFill>
                <a:schemeClr val="tx1"/>
              </a:solidFill>
              <a:latin typeface=""/>
              <a:ea typeface="Source Sans Pro"/>
            </a:endParaRPr>
          </a:p>
          <a:p>
            <a:r>
              <a:rPr lang="en-US" sz="1600" dirty="0">
                <a:solidFill>
                  <a:schemeClr val="tx1"/>
                </a:solidFill>
                <a:latin typeface=""/>
                <a:ea typeface="Source Sans Pro"/>
              </a:rPr>
              <a:t>For each message sent in the trace, there are two cases.</a:t>
            </a:r>
          </a:p>
          <a:p>
            <a:endParaRPr lang="en-US" sz="1600" dirty="0">
              <a:solidFill>
                <a:schemeClr val="tx1"/>
              </a:solidFill>
              <a:latin typeface=""/>
              <a:ea typeface="Source Sans Pro"/>
            </a:endParaRPr>
          </a:p>
          <a:p>
            <a:r>
              <a:rPr lang="en-US" sz="16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Case 1. There is (honest) cryptographic protection.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Can’t be tampered by adversary, but honest agents only create well-tagged terms anyway.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</a:t>
            </a:r>
          </a:p>
          <a:p>
            <a:r>
              <a:rPr lang="en-US" sz="16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Case 2. There is no (honest) cryptographic protection. 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Utilize lack of cryptographic protection to forge a well-tagged term that executes the attack.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Replace ill-tagged terms with (fresh) well-tagged terms 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(relevant ill-tagged terms are rejected anyway). </a:t>
            </a:r>
          </a:p>
        </p:txBody>
      </p:sp>
    </p:spTree>
    <p:extLst>
      <p:ext uri="{BB962C8B-B14F-4D97-AF65-F5344CB8AC3E}">
        <p14:creationId xmlns:p14="http://schemas.microsoft.com/office/powerpoint/2010/main" val="255278294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73CAF1B-70D9-DD64-4590-3D9DA3C94247}"/>
              </a:ext>
            </a:extLst>
          </p:cNvPr>
          <p:cNvSpPr txBox="1">
            <a:spLocks/>
          </p:cNvSpPr>
          <p:nvPr/>
        </p:nvSpPr>
        <p:spPr>
          <a:xfrm>
            <a:off x="408327" y="6570441"/>
            <a:ext cx="11667850" cy="1405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Source Sans Pro"/>
                <a:ea typeface="Source Sans Pro"/>
              </a:rPr>
              <a:t>Heather, James, Gavin Lowe, and Steve Schneider. "How to prevent type flaw attacks on security protocols." Journal of Computer Security 11.2 (2003): 217-244.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FA0FD6-31EB-97C7-8C07-7ECD4B62A615}"/>
              </a:ext>
            </a:extLst>
          </p:cNvPr>
          <p:cNvSpPr txBox="1">
            <a:spLocks/>
          </p:cNvSpPr>
          <p:nvPr/>
        </p:nvSpPr>
        <p:spPr>
          <a:xfrm>
            <a:off x="4219523" y="-59580"/>
            <a:ext cx="4854786" cy="1405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latin typeface="Source Sans Pro"/>
              <a:ea typeface="Source Sans P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B4A20A-F4CA-247A-6BA3-315C7F4B8D1A}"/>
              </a:ext>
            </a:extLst>
          </p:cNvPr>
          <p:cNvSpPr txBox="1"/>
          <p:nvPr/>
        </p:nvSpPr>
        <p:spPr>
          <a:xfrm>
            <a:off x="2590800" y="2529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80F5CF-BA9F-93E2-1705-5763625689FB}"/>
              </a:ext>
            </a:extLst>
          </p:cNvPr>
          <p:cNvSpPr/>
          <p:nvPr/>
        </p:nvSpPr>
        <p:spPr>
          <a:xfrm>
            <a:off x="951263" y="1683007"/>
            <a:ext cx="10289061" cy="5524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latin typeface=""/>
                <a:ea typeface="Source Sans Pro"/>
              </a:rPr>
              <a:t>Thm</a:t>
            </a:r>
            <a:r>
              <a:rPr lang="en-US" sz="1600" b="1" dirty="0">
                <a:latin typeface=""/>
                <a:ea typeface="Source Sans Pro"/>
              </a:rPr>
              <a:t>: </a:t>
            </a:r>
            <a:r>
              <a:rPr lang="en-US" sz="1600" dirty="0">
                <a:latin typeface=""/>
                <a:ea typeface="Source Sans Pro"/>
              </a:rPr>
              <a:t>With this tagging scheme, type confusion attacks imply existence of well-typed attacks [Heather et al.] 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340519C-109E-C8F2-CB70-03B996CE1C31}"/>
              </a:ext>
            </a:extLst>
          </p:cNvPr>
          <p:cNvSpPr/>
          <p:nvPr/>
        </p:nvSpPr>
        <p:spPr>
          <a:xfrm>
            <a:off x="951263" y="2458720"/>
            <a:ext cx="10402537" cy="376664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"/>
                <a:ea typeface="Source Sans Pro"/>
              </a:rPr>
              <a:t>Pf</a:t>
            </a:r>
            <a:r>
              <a:rPr lang="en-US" sz="1600" b="1" dirty="0">
                <a:solidFill>
                  <a:schemeClr val="tx1"/>
                </a:solidFill>
                <a:latin typeface=""/>
                <a:ea typeface="Source Sans Pro"/>
              </a:rPr>
              <a:t> sketch:</a:t>
            </a:r>
          </a:p>
          <a:p>
            <a:endParaRPr lang="en-US" sz="1600" dirty="0">
              <a:solidFill>
                <a:schemeClr val="tx1"/>
              </a:solidFill>
              <a:latin typeface=""/>
              <a:ea typeface="Source Sans Pro"/>
            </a:endParaRPr>
          </a:p>
          <a:p>
            <a:r>
              <a:rPr lang="en-US" sz="1600" dirty="0">
                <a:solidFill>
                  <a:schemeClr val="tx1"/>
                </a:solidFill>
                <a:latin typeface=""/>
                <a:ea typeface="Source Sans Pro"/>
              </a:rPr>
              <a:t>Define function that translates (possibly) ill-typed attack trace to well-typed attack trace.</a:t>
            </a:r>
          </a:p>
          <a:p>
            <a:endParaRPr lang="en-US" sz="1600" dirty="0">
              <a:solidFill>
                <a:schemeClr val="tx1"/>
              </a:solidFill>
              <a:latin typeface=""/>
              <a:ea typeface="Source Sans Pro"/>
            </a:endParaRPr>
          </a:p>
          <a:p>
            <a:r>
              <a:rPr lang="en-US" sz="1600" dirty="0">
                <a:solidFill>
                  <a:schemeClr val="tx1"/>
                </a:solidFill>
                <a:latin typeface=""/>
                <a:ea typeface="Source Sans Pro"/>
              </a:rPr>
              <a:t>For each message sent in the trace, there are two cases.</a:t>
            </a:r>
          </a:p>
          <a:p>
            <a:endParaRPr lang="en-US" sz="1600" dirty="0">
              <a:solidFill>
                <a:schemeClr val="tx1"/>
              </a:solidFill>
              <a:latin typeface=""/>
              <a:ea typeface="Source Sans Pro"/>
            </a:endParaRPr>
          </a:p>
          <a:p>
            <a:r>
              <a:rPr lang="en-US" sz="1600" u="sng" dirty="0">
                <a:solidFill>
                  <a:schemeClr val="tx1"/>
                </a:solidFill>
                <a:latin typeface=""/>
                <a:ea typeface="Source Sans Pro"/>
              </a:rPr>
              <a:t>Case 1. There is (honest) cryptographic protection.</a:t>
            </a:r>
          </a:p>
          <a:p>
            <a:r>
              <a:rPr lang="en-US" sz="1600" dirty="0">
                <a:solidFill>
                  <a:schemeClr val="tx1"/>
                </a:solidFill>
                <a:latin typeface=""/>
                <a:ea typeface="Source Sans Pro"/>
              </a:rPr>
              <a:t>                Can’t be tampered by adversary, but honest agents only create well-tagged terms anyway.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</a:t>
            </a:r>
          </a:p>
          <a:p>
            <a:r>
              <a:rPr lang="en-US" sz="1600" u="sng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Case 2. There is no (honest) cryptographic protection. 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Utilize lack of cryptographic protection to forge a well-tagged term that executes the attack.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Replace ill-tagged terms with (fresh) well-tagged terms 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(relevant ill-tagged terms are rejected anyway). </a:t>
            </a:r>
          </a:p>
        </p:txBody>
      </p:sp>
    </p:spTree>
    <p:extLst>
      <p:ext uri="{BB962C8B-B14F-4D97-AF65-F5344CB8AC3E}">
        <p14:creationId xmlns:p14="http://schemas.microsoft.com/office/powerpoint/2010/main" val="396000306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76000"/>
                    <a:lumOff val="24000"/>
                  </a:schemeClr>
                </a:solidFill>
                <a:ea typeface="Source Sans Pro"/>
              </a:rPr>
              <a:t>Making Reasoning Tractable: Strong Typing Assumption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73CAF1B-70D9-DD64-4590-3D9DA3C94247}"/>
              </a:ext>
            </a:extLst>
          </p:cNvPr>
          <p:cNvSpPr txBox="1">
            <a:spLocks/>
          </p:cNvSpPr>
          <p:nvPr/>
        </p:nvSpPr>
        <p:spPr>
          <a:xfrm>
            <a:off x="408327" y="6570441"/>
            <a:ext cx="11667850" cy="1405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atin typeface="Source Sans Pro"/>
                <a:ea typeface="Source Sans Pro"/>
              </a:rPr>
              <a:t>Heather, James, Gavin Lowe, and Steve Schneider. "How to prevent type flaw attacks on security protocols." Journal of Computer Security 11.2 (2003): 217-244.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FA0FD6-31EB-97C7-8C07-7ECD4B62A615}"/>
              </a:ext>
            </a:extLst>
          </p:cNvPr>
          <p:cNvSpPr txBox="1">
            <a:spLocks/>
          </p:cNvSpPr>
          <p:nvPr/>
        </p:nvSpPr>
        <p:spPr>
          <a:xfrm>
            <a:off x="4219523" y="-59580"/>
            <a:ext cx="4854786" cy="1405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latin typeface="Source Sans Pro"/>
              <a:ea typeface="Source Sans P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B4A20A-F4CA-247A-6BA3-315C7F4B8D1A}"/>
              </a:ext>
            </a:extLst>
          </p:cNvPr>
          <p:cNvSpPr txBox="1"/>
          <p:nvPr/>
        </p:nvSpPr>
        <p:spPr>
          <a:xfrm>
            <a:off x="2590800" y="2529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80F5CF-BA9F-93E2-1705-5763625689FB}"/>
              </a:ext>
            </a:extLst>
          </p:cNvPr>
          <p:cNvSpPr/>
          <p:nvPr/>
        </p:nvSpPr>
        <p:spPr>
          <a:xfrm>
            <a:off x="951263" y="1683007"/>
            <a:ext cx="10289061" cy="5524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latin typeface=""/>
                <a:ea typeface="Source Sans Pro"/>
              </a:rPr>
              <a:t>Thm</a:t>
            </a:r>
            <a:r>
              <a:rPr lang="en-US" sz="1600" b="1" dirty="0">
                <a:latin typeface=""/>
                <a:ea typeface="Source Sans Pro"/>
              </a:rPr>
              <a:t>: </a:t>
            </a:r>
            <a:r>
              <a:rPr lang="en-US" sz="1600" dirty="0">
                <a:latin typeface=""/>
                <a:ea typeface="Source Sans Pro"/>
              </a:rPr>
              <a:t>With this tagging scheme, type confusion attacks imply existence of well-typed attacks [Heather et al.] 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340519C-109E-C8F2-CB70-03B996CE1C31}"/>
              </a:ext>
            </a:extLst>
          </p:cNvPr>
          <p:cNvSpPr/>
          <p:nvPr/>
        </p:nvSpPr>
        <p:spPr>
          <a:xfrm>
            <a:off x="951263" y="2458720"/>
            <a:ext cx="10402537" cy="376664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"/>
                <a:ea typeface="Source Sans Pro"/>
              </a:rPr>
              <a:t>Pf</a:t>
            </a:r>
            <a:r>
              <a:rPr lang="en-US" sz="1600" b="1" dirty="0">
                <a:solidFill>
                  <a:schemeClr val="tx1"/>
                </a:solidFill>
                <a:latin typeface=""/>
                <a:ea typeface="Source Sans Pro"/>
              </a:rPr>
              <a:t> sketch:</a:t>
            </a:r>
          </a:p>
          <a:p>
            <a:endParaRPr lang="en-US" sz="1600" dirty="0">
              <a:solidFill>
                <a:schemeClr val="tx1"/>
              </a:solidFill>
              <a:latin typeface=""/>
              <a:ea typeface="Source Sans Pro"/>
            </a:endParaRPr>
          </a:p>
          <a:p>
            <a:r>
              <a:rPr lang="en-US" sz="1600" dirty="0">
                <a:solidFill>
                  <a:schemeClr val="tx1"/>
                </a:solidFill>
                <a:latin typeface=""/>
                <a:ea typeface="Source Sans Pro"/>
              </a:rPr>
              <a:t>Define function that translates (possibly) ill-typed attack trace to well-typed attack trace.</a:t>
            </a:r>
          </a:p>
          <a:p>
            <a:endParaRPr lang="en-US" sz="1600" dirty="0">
              <a:solidFill>
                <a:schemeClr val="tx1"/>
              </a:solidFill>
              <a:latin typeface=""/>
              <a:ea typeface="Source Sans Pro"/>
            </a:endParaRPr>
          </a:p>
          <a:p>
            <a:r>
              <a:rPr lang="en-US" sz="1600" dirty="0">
                <a:solidFill>
                  <a:schemeClr val="tx1"/>
                </a:solidFill>
                <a:latin typeface=""/>
                <a:ea typeface="Source Sans Pro"/>
              </a:rPr>
              <a:t>For each message sent in the trace, there are two cases.</a:t>
            </a:r>
          </a:p>
          <a:p>
            <a:endParaRPr lang="en-US" sz="1600" dirty="0">
              <a:solidFill>
                <a:schemeClr val="tx1"/>
              </a:solidFill>
              <a:latin typeface=""/>
              <a:ea typeface="Source Sans Pro"/>
            </a:endParaRPr>
          </a:p>
          <a:p>
            <a:r>
              <a:rPr lang="en-US" sz="1600" u="sng" dirty="0">
                <a:solidFill>
                  <a:schemeClr val="tx1"/>
                </a:solidFill>
                <a:latin typeface=""/>
                <a:ea typeface="Source Sans Pro"/>
              </a:rPr>
              <a:t>Case 1. There is (honest) cryptographic protection.</a:t>
            </a:r>
          </a:p>
          <a:p>
            <a:r>
              <a:rPr lang="en-US" sz="1600" dirty="0">
                <a:solidFill>
                  <a:schemeClr val="tx1"/>
                </a:solidFill>
                <a:latin typeface=""/>
                <a:ea typeface="Source Sans Pro"/>
              </a:rPr>
              <a:t>                Can’t be tampered by adversary, but honest agents only create well-tagged terms anyway.</a:t>
            </a:r>
          </a:p>
          <a:p>
            <a:r>
              <a:rPr lang="en-US" sz="1600" dirty="0">
                <a:solidFill>
                  <a:schemeClr val="tx1"/>
                </a:solidFill>
                <a:latin typeface=""/>
                <a:ea typeface="Source Sans Pro"/>
              </a:rPr>
              <a:t>                </a:t>
            </a:r>
          </a:p>
          <a:p>
            <a:r>
              <a:rPr lang="en-US" sz="1600" u="sng" dirty="0">
                <a:solidFill>
                  <a:schemeClr val="tx1"/>
                </a:solidFill>
                <a:latin typeface=""/>
                <a:ea typeface="Source Sans Pro"/>
              </a:rPr>
              <a:t>Case 2. There is no (honest) cryptographic protection. </a:t>
            </a:r>
          </a:p>
          <a:p>
            <a:r>
              <a:rPr lang="en-US" sz="1600" dirty="0">
                <a:solidFill>
                  <a:schemeClr val="tx1"/>
                </a:solidFill>
                <a:latin typeface=""/>
                <a:ea typeface="Source Sans Pro"/>
              </a:rPr>
              <a:t>                Utilize lack of cryptographic protection to forge a well-tagged term that executes the attack.</a:t>
            </a:r>
          </a:p>
          <a:p>
            <a:r>
              <a:rPr lang="en-US" sz="1600" dirty="0">
                <a:solidFill>
                  <a:schemeClr val="tx1"/>
                </a:solidFill>
                <a:latin typeface=""/>
                <a:ea typeface="Source Sans Pro"/>
              </a:rPr>
              <a:t>                Replace ill-tagged terms with (fresh) well-tagged </a:t>
            </a:r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terms </a:t>
            </a:r>
          </a:p>
          <a:p>
            <a:r>
              <a:rPr lang="en-US" sz="1600" dirty="0">
                <a:solidFill>
                  <a:schemeClr val="tx2">
                    <a:lumMod val="10000"/>
                    <a:lumOff val="90000"/>
                  </a:schemeClr>
                </a:solidFill>
                <a:latin typeface=""/>
                <a:ea typeface="Source Sans Pro"/>
              </a:rPr>
              <a:t>                (relevant ill-tagged terms are rejected anyway). </a:t>
            </a:r>
          </a:p>
        </p:txBody>
      </p:sp>
    </p:spTree>
    <p:extLst>
      <p:ext uri="{BB962C8B-B14F-4D97-AF65-F5344CB8AC3E}">
        <p14:creationId xmlns:p14="http://schemas.microsoft.com/office/powerpoint/2010/main" val="39050569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6B2E6-AAC7-7031-E954-F3F4B068A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7D96F-1E67-5CCF-6D1E-796842481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5C1B9-E4DF-459B-F285-ACE5151B9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Source Sans Pro"/>
              </a:rPr>
              <a:t>Talk objectives</a:t>
            </a:r>
          </a:p>
          <a:p>
            <a:r>
              <a:rPr lang="en-US" sz="3200" dirty="0">
                <a:ea typeface="Source Sans Pro"/>
              </a:rPr>
              <a:t>Cryptographic protocol verification background</a:t>
            </a:r>
          </a:p>
          <a:p>
            <a:r>
              <a:rPr lang="en-US" sz="3200" dirty="0">
                <a:ea typeface="Source Sans Pro"/>
              </a:rPr>
              <a:t>Automated reasoning for protocols </a:t>
            </a:r>
          </a:p>
          <a:p>
            <a:r>
              <a:rPr lang="en-US" sz="3200" dirty="0">
                <a:ea typeface="Source Sans Pro"/>
              </a:rPr>
              <a:t>Breaking, fixing, and breaking Needham-Schroeder</a:t>
            </a:r>
          </a:p>
          <a:p>
            <a:r>
              <a:rPr lang="en-US" sz="3200" dirty="0">
                <a:ea typeface="Source Sans Pro"/>
              </a:rPr>
              <a:t>Making reasoning tractable</a:t>
            </a:r>
          </a:p>
          <a:p>
            <a:r>
              <a:rPr lang="en-US" sz="3200" dirty="0">
                <a:ea typeface="Source Sans Pro"/>
              </a:rPr>
              <a:t>Discussion, Research Questions, &amp; Conclusion</a:t>
            </a:r>
          </a:p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ea typeface="Source Sans Pro"/>
              </a:rPr>
              <a:t>Appendix: Making reasoning expressive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BA45F0-B70D-DE28-C4E3-EA00543AB8F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8018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981-B140-C98E-A655-DFDD280D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A17B-322A-09FE-4B4C-0AFA6D7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Our current handling of encryption and decryption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does not generalize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Many protocols use other primitives, like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 exclusive or </a:t>
                </a:r>
                <a:r>
                  <a:rPr lang="en-US" sz="2400" dirty="0">
                    <a:latin typeface="Source Sans Pro"/>
                    <a:ea typeface="Source Sans Pro"/>
                  </a:rPr>
                  <a:t>(denoted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⊕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)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We can try to encode properties with multiset rewriting</a:t>
                </a:r>
              </a:p>
              <a:p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𝐾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→{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⊕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)}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What if we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⊕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⊕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?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We want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  <m:r>
                      <a:rPr lang="en-US" sz="24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⊕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⊕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to be derivable, but this requires some form of congruence…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This looks more like a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term rewriting </a:t>
                </a:r>
                <a:r>
                  <a:rPr lang="en-US" sz="2400" dirty="0">
                    <a:latin typeface="Source Sans Pro"/>
                    <a:ea typeface="Source Sans Pro"/>
                  </a:rPr>
                  <a:t>problem…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4ED43B0-8ED7-4691-34DD-D6722F7073D1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9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981-B140-C98E-A655-DFDD280D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A17B-322A-09FE-4B4C-0AFA6D7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6135"/>
                <a:ext cx="10515600" cy="4656739"/>
              </a:xfrm>
            </p:spPr>
            <p:txBody>
              <a:bodyPr vert="horz" lIns="91440" tIns="45720" rIns="91440" bIns="45720" rtlCol="0" anchor="t">
                <a:normAutofit fontScale="92500"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We can capture the algebraic properties of exclusive or with an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equational theory</a:t>
                </a:r>
              </a:p>
              <a:p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=0, 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⊕0=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𝑦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b="0" dirty="0">
                  <a:latin typeface="Source Sans Pro"/>
                  <a:ea typeface="Source Sans Pro"/>
                </a:endParaRPr>
              </a:p>
              <a:p>
                <a:pPr marL="0" indent="0" algn="ctr">
                  <a:buNone/>
                </a:pPr>
                <a:endParaRPr lang="en-US" sz="2400" b="0" dirty="0">
                  <a:latin typeface="Source Sans Pro"/>
                  <a:ea typeface="Source Sans Pro"/>
                </a:endParaRP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We can use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equality modulo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𝐸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:</a:t>
                </a:r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</a:t>
                </a:r>
                <a:r>
                  <a:rPr lang="en-US" sz="2400" dirty="0">
                    <a:latin typeface="Source Sans Pro"/>
                    <a:ea typeface="Source Sans Pro"/>
                  </a:rPr>
                  <a:t>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x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⊕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𝑦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≠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𝑦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⊕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x</m:t>
                    </m:r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⊕</m:t>
                    </m:r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𝑦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=</m:t>
                        </m:r>
                      </m:e>
                      <m:sub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⊕</m:t>
                            </m:r>
                          </m:sub>
                        </m:sSub>
                      </m:sub>
                    </m:sSub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𝑦</m:t>
                    </m:r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⊕</m:t>
                    </m:r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</m:oMath>
                </a14:m>
                <a:endParaRPr lang="en-US" sz="2400" dirty="0">
                  <a:latin typeface="Source Sans Pro"/>
                  <a:ea typeface="Source Sans Pro"/>
                </a:endParaRP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Now just update the semantics and property logic to use equality modulo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𝐸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⊕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!</a:t>
                </a:r>
              </a:p>
              <a:p>
                <a:endParaRPr lang="en-US" sz="2400" dirty="0">
                  <a:latin typeface="Source Sans Pro"/>
                  <a:ea typeface="Source Sans Pro"/>
                </a:endParaRPr>
              </a:p>
              <a:p>
                <a:endParaRPr lang="en-US" sz="2400" dirty="0">
                  <a:latin typeface="Source Sans Pro"/>
                  <a:ea typeface="Source Sans Pro"/>
                </a:endParaRPr>
              </a:p>
              <a:p>
                <a:endParaRPr lang="en-US" sz="2400" dirty="0">
                  <a:latin typeface="Source Sans Pro"/>
                  <a:ea typeface="Source Sans Pro"/>
                </a:endParaRP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But what about the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search algorithm</a:t>
                </a:r>
                <a:r>
                  <a:rPr lang="en-US" sz="2400" dirty="0">
                    <a:latin typeface="Source Sans Pro"/>
                    <a:ea typeface="Source Sans Pro"/>
                  </a:rPr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6135"/>
                <a:ext cx="10515600" cy="4656739"/>
              </a:xfrm>
              <a:blipFill>
                <a:blip r:embed="rId3"/>
                <a:stretch>
                  <a:fillRect l="-724" t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4ED43B0-8ED7-4691-34DD-D6722F7073D1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B52435C-3E9A-3A36-FE66-8D4768DE0DE6}"/>
              </a:ext>
            </a:extLst>
          </p:cNvPr>
          <p:cNvGrpSpPr/>
          <p:nvPr/>
        </p:nvGrpSpPr>
        <p:grpSpPr>
          <a:xfrm>
            <a:off x="832242" y="4686390"/>
            <a:ext cx="6185293" cy="1390824"/>
            <a:chOff x="1" y="4512022"/>
            <a:chExt cx="12192206" cy="13908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E8D1870-E043-69AA-76F3-45DF30325830}"/>
                </a:ext>
              </a:extLst>
            </p:cNvPr>
            <p:cNvSpPr/>
            <p:nvPr/>
          </p:nvSpPr>
          <p:spPr>
            <a:xfrm>
              <a:off x="4257315" y="5024336"/>
              <a:ext cx="3693934" cy="1828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823A7F4-B089-E30E-5F57-09CF34607B46}"/>
                    </a:ext>
                  </a:extLst>
                </p:cNvPr>
                <p:cNvSpPr txBox="1"/>
                <p:nvPr/>
              </p:nvSpPr>
              <p:spPr>
                <a:xfrm>
                  <a:off x="208" y="5024336"/>
                  <a:ext cx="12191999" cy="8785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</m:t>
                        </m:r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→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𝑅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𝛼</m:t>
                            </m:r>
                          </m:sup>
                        </m:sSubSup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𝑆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 \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#</m:t>
                                </m:r>
                              </m:sup>
                            </m:sSup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𝑙</m:t>
                            </m:r>
                          </m:e>
                        </m:d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∪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#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𝑟</m:t>
                        </m:r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 </m:t>
                        </m:r>
                      </m:oMath>
                    </m:oMathPara>
                  </a14:m>
                  <a:endPara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endParaRPr>
                </a:p>
                <a:p>
                  <a:endPara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823A7F4-B089-E30E-5F57-09CF34607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" y="5024336"/>
                  <a:ext cx="12191999" cy="8785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07D3149-2945-1137-7A98-05EC2A128EDD}"/>
                    </a:ext>
                  </a:extLst>
                </p:cNvPr>
                <p:cNvSpPr txBox="1"/>
                <p:nvPr/>
              </p:nvSpPr>
              <p:spPr>
                <a:xfrm>
                  <a:off x="1" y="4540820"/>
                  <a:ext cx="12191999" cy="837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𝑙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→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𝛼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𝑟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∈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𝑔𝑖𝑛𝑠𝑡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𝑬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Source Sans Pro"/>
                            <a:ea typeface="Source Sans Pro"/>
                          </a:rPr>
                          <m:t>     </m:t>
                        </m:r>
                        <m:r>
                          <a:rPr lang="en-US" sz="2400" i="1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𝑙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⊆</m:t>
                            </m:r>
                          </m:e>
                          <m:sup>
                            <m:r>
                              <a:rPr lang="en-US" sz="2400" i="1" dirty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#</m:t>
                            </m:r>
                          </m:sup>
                        </m:sSup>
                        <m:r>
                          <a:rPr lang="en-US" sz="2400" i="1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</m:t>
                        </m:r>
                      </m:oMath>
                    </m:oMathPara>
                  </a14:m>
                  <a:endPara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endParaRPr>
                </a:p>
                <a:p>
                  <a:endPara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07D3149-2945-1137-7A98-05EC2A128E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" y="4540820"/>
                  <a:ext cx="12191999" cy="837665"/>
                </a:xfrm>
                <a:prstGeom prst="rect">
                  <a:avLst/>
                </a:prstGeom>
                <a:blipFill>
                  <a:blip r:embed="rId5"/>
                  <a:stretch>
                    <a:fillRect t="-44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7FD4AB1-F1DB-D1C0-BB6A-AE79596A27D8}"/>
                </a:ext>
              </a:extLst>
            </p:cNvPr>
            <p:cNvSpPr/>
            <p:nvPr/>
          </p:nvSpPr>
          <p:spPr>
            <a:xfrm>
              <a:off x="4487778" y="4512022"/>
              <a:ext cx="3463471" cy="5862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8CBF9D-0D3C-1946-EBA9-5BCCA0FB129B}"/>
                  </a:ext>
                </a:extLst>
              </p:cNvPr>
              <p:cNvSpPr txBox="1"/>
              <p:nvPr/>
            </p:nvSpPr>
            <p:spPr>
              <a:xfrm>
                <a:off x="7017430" y="4683925"/>
                <a:ext cx="42208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≔ 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→{</m:t>
                      </m:r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8CBF9D-0D3C-1946-EBA9-5BCCA0FB1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430" y="4683925"/>
                <a:ext cx="4220835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968F70-7C3A-14F6-5B87-B54012639DED}"/>
                  </a:ext>
                </a:extLst>
              </p:cNvPr>
              <p:cNvSpPr txBox="1"/>
              <p:nvPr/>
            </p:nvSpPr>
            <p:spPr>
              <a:xfrm>
                <a:off x="6557054" y="5041033"/>
                <a:ext cx="51291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𝑔𝑖𝑛𝑠𝑡𝑠</m:t>
                      </m:r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968F70-7C3A-14F6-5B87-B54012639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054" y="5041033"/>
                <a:ext cx="5129161" cy="369332"/>
              </a:xfrm>
              <a:prstGeom prst="rect">
                <a:avLst/>
              </a:prstGeom>
              <a:blipFill>
                <a:blip r:embed="rId7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CC8BAB-7CB7-3712-0C0C-88D086D9B5CB}"/>
                  </a:ext>
                </a:extLst>
              </p:cNvPr>
              <p:cNvSpPr txBox="1"/>
              <p:nvPr/>
            </p:nvSpPr>
            <p:spPr>
              <a:xfrm>
                <a:off x="6557054" y="5424647"/>
                <a:ext cx="5331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𝑔𝑖𝑛𝑠𝑡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CC8BAB-7CB7-3712-0C0C-88D086D9B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054" y="5424647"/>
                <a:ext cx="5331588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566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1" grpId="0"/>
      <p:bldP spid="12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981-B140-C98E-A655-DFDD280D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A17B-322A-09FE-4B4C-0AFA6D7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9A992-E5F6-1706-8A28-87A2E4222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Source Sans Pro"/>
                <a:ea typeface="Source Sans Pro"/>
              </a:rPr>
              <a:t>But what about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search algorithm</a:t>
            </a:r>
            <a:r>
              <a:rPr lang="en-US" sz="2400" dirty="0">
                <a:latin typeface="Source Sans Pro"/>
                <a:ea typeface="Source Sans Pro"/>
              </a:rPr>
              <a:t>?</a:t>
            </a:r>
          </a:p>
          <a:p>
            <a:r>
              <a:rPr lang="en-US" sz="2400" dirty="0">
                <a:latin typeface="Source Sans Pro"/>
                <a:ea typeface="Source Sans Pro"/>
              </a:rPr>
              <a:t>Recall we need to perform unification of facts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ED43B0-8ED7-4691-34DD-D6722F7073D1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6012CA08-2993-9C9D-8B84-E0B2F81274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883359" y="5972490"/>
                <a:ext cx="10515600" cy="70400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K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𝑆𝑒𝑐𝑟𝑒𝑡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dirty="0"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6012CA08-2993-9C9D-8B84-E0B2F8127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3359" y="5972490"/>
                <a:ext cx="10515600" cy="704000"/>
              </a:xfrm>
              <a:prstGeom prst="rect">
                <a:avLst/>
              </a:prstGeom>
              <a:blipFill>
                <a:blip r:embed="rId2"/>
                <a:stretch>
                  <a:fillRect t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0037F1-E4EA-5B44-1C89-C63EF3084613}"/>
              </a:ext>
            </a:extLst>
          </p:cNvPr>
          <p:cNvCxnSpPr>
            <a:cxnSpLocks/>
          </p:cNvCxnSpPr>
          <p:nvPr/>
        </p:nvCxnSpPr>
        <p:spPr>
          <a:xfrm>
            <a:off x="2858814" y="4950633"/>
            <a:ext cx="578069" cy="1021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E2B240-CDFE-939F-5D9A-74DBD10E609B}"/>
              </a:ext>
            </a:extLst>
          </p:cNvPr>
          <p:cNvCxnSpPr>
            <a:cxnSpLocks/>
          </p:cNvCxnSpPr>
          <p:nvPr/>
        </p:nvCxnSpPr>
        <p:spPr>
          <a:xfrm flipH="1">
            <a:off x="4645573" y="4864197"/>
            <a:ext cx="446689" cy="1108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EC363C0-DD18-CFE2-06AB-85B903FCFBB2}"/>
                  </a:ext>
                </a:extLst>
              </p:cNvPr>
              <p:cNvSpPr/>
              <p:nvPr/>
            </p:nvSpPr>
            <p:spPr>
              <a:xfrm>
                <a:off x="4645573" y="4046908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Honest rule producing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𝑆𝑒𝑐𝑟𝑒𝑡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EC363C0-DD18-CFE2-06AB-85B903FCFB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573" y="4046908"/>
                <a:ext cx="3184634" cy="8172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016A39F-42E9-C814-6EBF-C2B7624C9199}"/>
                  </a:ext>
                </a:extLst>
              </p:cNvPr>
              <p:cNvSpPr/>
              <p:nvPr/>
            </p:nvSpPr>
            <p:spPr>
              <a:xfrm>
                <a:off x="835574" y="4124366"/>
                <a:ext cx="3184634" cy="817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Adversary rule producing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016A39F-42E9-C814-6EBF-C2B7624C91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74" y="4124366"/>
                <a:ext cx="3184634" cy="8172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F66AB86-A159-C422-87AF-4FE425E6CB29}"/>
              </a:ext>
            </a:extLst>
          </p:cNvPr>
          <p:cNvCxnSpPr>
            <a:cxnSpLocks/>
          </p:cNvCxnSpPr>
          <p:nvPr/>
        </p:nvCxnSpPr>
        <p:spPr>
          <a:xfrm>
            <a:off x="2243959" y="3311186"/>
            <a:ext cx="0" cy="804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EE85D3-532D-18D5-CE84-9436DDCC978A}"/>
              </a:ext>
            </a:extLst>
          </p:cNvPr>
          <p:cNvCxnSpPr>
            <a:cxnSpLocks/>
          </p:cNvCxnSpPr>
          <p:nvPr/>
        </p:nvCxnSpPr>
        <p:spPr>
          <a:xfrm>
            <a:off x="5864773" y="3234986"/>
            <a:ext cx="0" cy="799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F0713B0-637E-6473-59A6-8D1D8BA2EEA0}"/>
              </a:ext>
            </a:extLst>
          </p:cNvPr>
          <p:cNvSpPr txBox="1">
            <a:spLocks/>
          </p:cNvSpPr>
          <p:nvPr/>
        </p:nvSpPr>
        <p:spPr>
          <a:xfrm>
            <a:off x="2082365" y="2792374"/>
            <a:ext cx="691052" cy="11382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Source Sans Pro"/>
                <a:ea typeface="Source Sans Pro"/>
              </a:rPr>
              <a:t>?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5236701-1CAD-D6D9-A17A-D5A8E49514C8}"/>
              </a:ext>
            </a:extLst>
          </p:cNvPr>
          <p:cNvSpPr txBox="1">
            <a:spLocks/>
          </p:cNvSpPr>
          <p:nvPr/>
        </p:nvSpPr>
        <p:spPr>
          <a:xfrm>
            <a:off x="6394231" y="5182055"/>
            <a:ext cx="4446700" cy="704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Source Sans Pro"/>
                <a:ea typeface="Source Sans Pro"/>
              </a:rPr>
              <a:t>Process relies on Tamarin being able to perform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unification</a:t>
            </a:r>
            <a:r>
              <a:rPr lang="en-US" sz="2000" dirty="0">
                <a:latin typeface="Source Sans Pro"/>
                <a:ea typeface="Source Sans Pro"/>
              </a:rPr>
              <a:t> on facts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Source Sans Pro"/>
              <a:ea typeface="Source Sans Pro"/>
            </a:endParaRPr>
          </a:p>
          <a:p>
            <a:endParaRPr lang="en-US" sz="2000" dirty="0">
              <a:latin typeface="Source Sans Pro"/>
              <a:ea typeface="Source Sans 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rgbClr val="000000"/>
              </a:solidFill>
              <a:latin typeface="Source Sans Pro"/>
              <a:ea typeface="Source Sans Pr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BF3F4FA8-2A40-AF33-8062-FA7F891D3F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94231" y="5972490"/>
                <a:ext cx="3506514" cy="70400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dirty="0">
                    <a:latin typeface="Source Sans Pro"/>
                    <a:ea typeface="Source Sans Pro"/>
                  </a:rPr>
                  <a:t>I.e., find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𝜎</m:t>
                    </m:r>
                  </m:oMath>
                </a14:m>
                <a:r>
                  <a:rPr lang="en-US" sz="2000" dirty="0">
                    <a:latin typeface="Source Sans Pro"/>
                    <a:ea typeface="Source Sans Pro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𝐹</m:t>
                    </m:r>
                    <m:d>
                      <m:dPr>
                        <m:ctrlPr>
                          <a:rPr lang="en-US" sz="20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…</m:t>
                        </m:r>
                        <m:r>
                          <a:rPr lang="en-US" sz="20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</m:t>
                        </m:r>
                        <m:r>
                          <a:rPr lang="en-US" sz="20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 dirty="0" err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000" i="1" dirty="0" err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 err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𝜎</m:t>
                    </m:r>
                    <m:r>
                      <a:rPr lang="en-US" sz="20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= </m:t>
                    </m:r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𝐹</m:t>
                    </m:r>
                    <m:d>
                      <m:dPr>
                        <m:ctrlPr>
                          <a:rPr lang="en-US" sz="20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SupPr>
                          <m:e>
                            <m:r>
                              <a:rPr lang="en-US" sz="20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′</m:t>
                            </m:r>
                          </m:sup>
                        </m:sSubSup>
                        <m:r>
                          <a:rPr lang="en-US" sz="20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</m:t>
                        </m:r>
                        <m:r>
                          <a:rPr lang="en-US" sz="20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 …, </m:t>
                        </m:r>
                        <m:sSub>
                          <m:sSubPr>
                            <m:ctrlPr>
                              <a:rPr lang="en-US" sz="2000" i="1" dirty="0" err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000" i="1" dirty="0" err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 err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𝑛</m:t>
                            </m:r>
                          </m:sub>
                        </m:sSub>
                        <m:r>
                          <a:rPr lang="en-US" sz="20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′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𝜎</m:t>
                    </m:r>
                  </m:oMath>
                </a14:m>
                <a:endPara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000" dirty="0"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BF3F4FA8-2A40-AF33-8062-FA7F891D3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231" y="5972490"/>
                <a:ext cx="3506514" cy="704000"/>
              </a:xfrm>
              <a:prstGeom prst="rect">
                <a:avLst/>
              </a:prstGeom>
              <a:blipFill>
                <a:blip r:embed="rId5"/>
                <a:stretch>
                  <a:fillRect l="-1805" t="-10714"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43213BC8-D4E7-A2E4-9288-5C7E819A54E3}"/>
              </a:ext>
            </a:extLst>
          </p:cNvPr>
          <p:cNvSpPr/>
          <p:nvPr/>
        </p:nvSpPr>
        <p:spPr>
          <a:xfrm>
            <a:off x="5621066" y="4412253"/>
            <a:ext cx="1191607" cy="4183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CDF0D99-E8EF-42D0-2E52-927E60FB463A}"/>
              </a:ext>
            </a:extLst>
          </p:cNvPr>
          <p:cNvSpPr/>
          <p:nvPr/>
        </p:nvSpPr>
        <p:spPr>
          <a:xfrm>
            <a:off x="3875692" y="5861408"/>
            <a:ext cx="2079731" cy="70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E325DD1E-361F-87CD-2262-00E576AF3F51}"/>
              </a:ext>
            </a:extLst>
          </p:cNvPr>
          <p:cNvSpPr txBox="1">
            <a:spLocks/>
          </p:cNvSpPr>
          <p:nvPr/>
        </p:nvSpPr>
        <p:spPr>
          <a:xfrm>
            <a:off x="5689386" y="2785054"/>
            <a:ext cx="691052" cy="11382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Source Sans Pro"/>
                <a:ea typeface="Source Sans Pro"/>
              </a:rPr>
              <a:t>?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29455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/>
      <p:bldP spid="24" grpId="0" animBg="1"/>
      <p:bldP spid="25" grpId="0" animBg="1"/>
      <p:bldP spid="28" grpId="0"/>
      <p:bldP spid="29" grpId="0"/>
      <p:bldP spid="30" grpId="0"/>
      <p:bldP spid="31" grpId="0" animBg="1"/>
      <p:bldP spid="32" grpId="0" animBg="1"/>
      <p:bldP spid="33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981-B140-C98E-A655-DFDD280D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A17B-322A-09FE-4B4C-0AFA6D7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ED43B0-8ED7-4691-34DD-D6722F7073D1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F69730B-600B-BB8E-1F40-1A348436F8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749986"/>
                <a:ext cx="10402124" cy="501657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3000" dirty="0">
                    <a:latin typeface="Source Sans Pro"/>
                    <a:ea typeface="Source Sans Pro"/>
                  </a:rPr>
                  <a:t>Orient equations from left to right, obtaining a </a:t>
                </a:r>
                <a:r>
                  <a:rPr lang="en-US" sz="30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rewrite system </a:t>
                </a:r>
                <a:r>
                  <a:rPr lang="en-US" sz="3000" dirty="0">
                    <a:latin typeface="Source Sans Pro"/>
                    <a:ea typeface="Source Sans Pro"/>
                  </a:rPr>
                  <a:t>from the </a:t>
                </a:r>
                <a:r>
                  <a:rPr lang="en-US" sz="30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equational theory</a:t>
                </a:r>
              </a:p>
              <a:p>
                <a:pPr marL="0" indent="0" algn="ctr">
                  <a:buNone/>
                </a:pPr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</m:sub>
                      </m:sSub>
                      <m:r>
                        <a:rPr lang="en-US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  <m: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  <m: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  <m: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=0, …</m:t>
                          </m:r>
                        </m:e>
                      </m:d>
                      <m:r>
                        <a:rPr lang="en-US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𝑅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</m:sub>
                      </m:sSub>
                      <m:r>
                        <a:rPr lang="en-US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={</m:t>
                      </m:r>
                      <m:r>
                        <a:rPr lang="en-US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𝑥</m:t>
                      </m:r>
                      <m:r>
                        <a:rPr lang="en-US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⊕</m:t>
                      </m:r>
                      <m:r>
                        <a:rPr lang="en-US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𝑥</m:t>
                      </m:r>
                      <m:r>
                        <a:rPr lang="en-US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→0, … }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Rewrite systems define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(</a:t>
                </a:r>
                <a:r>
                  <a:rPr lang="en-US" sz="2400" dirty="0" err="1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uni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-)directional evaluation rules </a:t>
                </a:r>
                <a:r>
                  <a:rPr lang="en-US" sz="2400" dirty="0">
                    <a:latin typeface="Source Sans Pro"/>
                    <a:ea typeface="Source Sans Pro"/>
                  </a:rPr>
                  <a:t>for symbolic terms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𝑏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⊕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𝑎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𝑏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⊕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𝑎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𝑏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⊕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𝑎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𝑏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⊕0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𝑏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F69730B-600B-BB8E-1F40-1A348436F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49986"/>
                <a:ext cx="10402124" cy="5016574"/>
              </a:xfrm>
              <a:prstGeom prst="rect">
                <a:avLst/>
              </a:prstGeom>
              <a:blipFill>
                <a:blip r:embed="rId3"/>
                <a:stretch>
                  <a:fillRect l="-976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245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981-B140-C98E-A655-DFDD280D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A17B-322A-09FE-4B4C-0AFA6D7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ED43B0-8ED7-4691-34DD-D6722F7073D1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F09A150-7776-D155-DE8D-45A14E11A5B7}"/>
              </a:ext>
            </a:extLst>
          </p:cNvPr>
          <p:cNvGrpSpPr/>
          <p:nvPr/>
        </p:nvGrpSpPr>
        <p:grpSpPr>
          <a:xfrm>
            <a:off x="5825122" y="2063862"/>
            <a:ext cx="4334082" cy="1721141"/>
            <a:chOff x="547971" y="3199056"/>
            <a:chExt cx="4334082" cy="17211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392C5482-B060-AEB9-7213-1253149F70F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47971" y="3763385"/>
                  <a:ext cx="848346" cy="61218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oMath>
                    </m:oMathPara>
                  </a14:m>
                  <a:endParaRPr lang="en-US" sz="24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392C5482-B060-AEB9-7213-1253149F70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71" y="3763385"/>
                  <a:ext cx="848346" cy="61218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32C6AB91-8C4C-CC24-62A5-DFFE38D43C0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783736" y="3199056"/>
                  <a:ext cx="848346" cy="61218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32C6AB91-8C4C-CC24-62A5-DFFE38D43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3736" y="3199056"/>
                  <a:ext cx="848346" cy="6121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ontent Placeholder 2">
                  <a:extLst>
                    <a:ext uri="{FF2B5EF4-FFF2-40B4-BE49-F238E27FC236}">
                      <a16:creationId xmlns:a16="http://schemas.microsoft.com/office/drawing/2014/main" id="{5920A889-380A-90DC-8223-06B97100C6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783736" y="4168131"/>
                  <a:ext cx="848346" cy="61218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38" name="Content Placeholder 2">
                  <a:extLst>
                    <a:ext uri="{FF2B5EF4-FFF2-40B4-BE49-F238E27FC236}">
                      <a16:creationId xmlns:a16="http://schemas.microsoft.com/office/drawing/2014/main" id="{5920A889-380A-90DC-8223-06B97100C6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3736" y="4168131"/>
                  <a:ext cx="848346" cy="6121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4C933688-6677-B89E-6898-49F42C66B3C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33362" y="3728216"/>
                  <a:ext cx="848346" cy="61218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′</m:t>
                        </m:r>
                      </m:oMath>
                    </m:oMathPara>
                  </a14:m>
                  <a:endParaRPr lang="en-US" sz="24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4C933688-6677-B89E-6898-49F42C66B3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3362" y="3728216"/>
                  <a:ext cx="848346" cy="61218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8E8022B-4B9E-45A0-8292-82DA0D49DD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8204" y="3471106"/>
              <a:ext cx="934278" cy="4273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A6E5158-09CE-B2CC-3582-514FF5BC08F8}"/>
                </a:ext>
              </a:extLst>
            </p:cNvPr>
            <p:cNvCxnSpPr>
              <a:cxnSpLocks/>
            </p:cNvCxnSpPr>
            <p:nvPr/>
          </p:nvCxnSpPr>
          <p:spPr>
            <a:xfrm>
              <a:off x="1078265" y="4067454"/>
              <a:ext cx="934278" cy="3081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B43E8E7-76B8-DCD9-7E7A-A402130E5AE7}"/>
                </a:ext>
              </a:extLst>
            </p:cNvPr>
            <p:cNvCxnSpPr>
              <a:cxnSpLocks/>
            </p:cNvCxnSpPr>
            <p:nvPr/>
          </p:nvCxnSpPr>
          <p:spPr>
            <a:xfrm>
              <a:off x="2366832" y="3471106"/>
              <a:ext cx="831780" cy="3677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C8C59D5-65EA-0B6D-A6F0-80ED025CBC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6832" y="4007819"/>
              <a:ext cx="831780" cy="3677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ontent Placeholder 2">
                  <a:extLst>
                    <a:ext uri="{FF2B5EF4-FFF2-40B4-BE49-F238E27FC236}">
                      <a16:creationId xmlns:a16="http://schemas.microsoft.com/office/drawing/2014/main" id="{2942114A-FC35-01B4-9D61-8425AEFA015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681363" y="4308015"/>
                  <a:ext cx="2200690" cy="61218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dirty="0" smtClean="0">
                          <a:latin typeface="Source Sans Pro"/>
                          <a:ea typeface="Source Sans Pro"/>
                        </a:rPr>
                        <m:t>+ </m:t>
                      </m:r>
                    </m:oMath>
                  </a14:m>
                  <a:r>
                    <a:rPr lang="en-US" sz="2400" dirty="0">
                      <a:latin typeface="Source Sans Pro"/>
                      <a:ea typeface="Source Sans Pro"/>
                    </a:rPr>
                    <a:t>termination</a:t>
                  </a:r>
                </a:p>
              </p:txBody>
            </p:sp>
          </mc:Choice>
          <mc:Fallback xmlns="">
            <p:sp>
              <p:nvSpPr>
                <p:cNvPr id="48" name="Content Placeholder 2">
                  <a:extLst>
                    <a:ext uri="{FF2B5EF4-FFF2-40B4-BE49-F238E27FC236}">
                      <a16:creationId xmlns:a16="http://schemas.microsoft.com/office/drawing/2014/main" id="{2942114A-FC35-01B4-9D61-8425AEFA0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1363" y="4308015"/>
                  <a:ext cx="2200690" cy="612182"/>
                </a:xfrm>
                <a:prstGeom prst="rect">
                  <a:avLst/>
                </a:prstGeom>
                <a:blipFill>
                  <a:blip r:embed="rId7"/>
                  <a:stretch>
                    <a:fillRect t="-1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2870D5E5-84AA-21C7-E0DC-298838A03C18}"/>
              </a:ext>
            </a:extLst>
          </p:cNvPr>
          <p:cNvSpPr txBox="1">
            <a:spLocks/>
          </p:cNvSpPr>
          <p:nvPr/>
        </p:nvSpPr>
        <p:spPr>
          <a:xfrm>
            <a:off x="-1280185" y="1779275"/>
            <a:ext cx="10402124" cy="17470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Convergence </a:t>
            </a:r>
            <a:r>
              <a:rPr lang="en-US" sz="2400" dirty="0">
                <a:latin typeface="Source Sans Pro"/>
                <a:ea typeface="Source Sans Pro"/>
              </a:rPr>
              <a:t>is important for reasoning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 dirty="0">
              <a:latin typeface="Source Sans Pro"/>
              <a:ea typeface="Source Sans Pr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654E1-E242-A572-96B4-89F98B120C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98457" y="3850749"/>
                <a:ext cx="10402124" cy="159416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With convergence, terms have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normal forms</a:t>
                </a:r>
                <a:r>
                  <a:rPr lang="en-US" sz="2400" dirty="0">
                    <a:latin typeface="Source Sans Pro"/>
                    <a:ea typeface="Source Sans Pro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𝜋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𝑒𝑛𝑐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𝑑𝑒𝑐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𝑚</m:t>
                                  </m:r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</m:t>
                          </m:r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𝐶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→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𝑒𝑛𝑐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𝑑𝑒𝑐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𝑚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𝑚</m:t>
                      </m:r>
                    </m:oMath>
                  </m:oMathPara>
                </a14:m>
                <a:endParaRPr lang="en-US" sz="2400" b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𝜋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𝑒𝑛𝑐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𝑑𝑒𝑐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𝑚</m:t>
                                  </m:r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</m:t>
                          </m:r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𝐶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⟨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𝐶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⟩→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𝑚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d>
                      <m:dPr>
                        <m:begChr m:val="⟨"/>
                        <m:endChr m:val="⟩"/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𝑒𝑛𝑐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𝑑𝑒𝑐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𝑚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𝑘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𝐶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↓ =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</m:t>
                    </m:r>
                  </m:oMath>
                </a14:m>
                <a:endParaRPr lang="en-US" sz="2400" b="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Source Sans Pro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654E1-E242-A572-96B4-89F98B120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457" y="3850749"/>
                <a:ext cx="10402124" cy="1594169"/>
              </a:xfrm>
              <a:prstGeom prst="rect">
                <a:avLst/>
              </a:prstGeom>
              <a:blipFill>
                <a:blip r:embed="rId8"/>
                <a:stretch>
                  <a:fillRect l="-976" t="-5556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5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981-B140-C98E-A655-DFDD280D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A17B-322A-09FE-4B4C-0AFA6D7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Consider the problem: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=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𝐸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?</m:t>
                        </m:r>
                      </m:sup>
                    </m:sSubSup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>
                  <a:latin typeface="Source Sans Pro"/>
                  <a:ea typeface="Source Sans Pro"/>
                </a:endParaRP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R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𝐸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is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convergent</a:t>
                </a:r>
                <a:r>
                  <a:rPr lang="en-US" sz="2400" dirty="0">
                    <a:latin typeface="Source Sans Pro"/>
                    <a:ea typeface="Source Sans Pro"/>
                  </a:rPr>
                  <a:t>, we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=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𝐸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iff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↓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𝐸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↓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𝐸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 </m:t>
                        </m:r>
                      </m:sub>
                    </m:sSub>
                  </m:oMath>
                </a14:m>
                <a:endParaRPr lang="en-US" sz="2400" dirty="0">
                  <a:latin typeface="Source Sans Pro"/>
                  <a:ea typeface="Source Sans Pro"/>
                </a:endParaRP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What about unification (finding substitution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𝜎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  <a:r>
                  <a:rPr lang="en-US" sz="2400" dirty="0" err="1">
                    <a:latin typeface="Source Sans Pro"/>
                    <a:ea typeface="Source Sans Pro"/>
                  </a:rPr>
                  <a:t>s.t.</a:t>
                </a:r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𝜎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=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𝐸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𝜎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)?                           Just normalize and then perform syntactic unification?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Let’s try unifying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𝑑𝑒𝑐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𝑒𝑛𝑐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𝑑𝑒𝑐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),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),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𝑦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Normalize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𝑑𝑒𝑐</m:t>
                    </m:r>
                    <m:d>
                      <m:d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𝑥</m:t>
                        </m:r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𝑦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With syntactic unification, we find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𝜎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=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{ 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𝑦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↦ 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𝑑𝑒𝑐</m:t>
                    </m:r>
                    <m:d>
                      <m:d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𝑥</m:t>
                        </m:r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}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What about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b="0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𝜎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={</m:t>
                    </m:r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↦ 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𝑒𝑛𝑐</m:t>
                    </m:r>
                    <m:d>
                      <m:d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𝑦</m:t>
                        </m:r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}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endParaRPr lang="en-US" sz="2400" dirty="0">
                  <a:latin typeface="Source Sans Pro"/>
                  <a:ea typeface="Source Sans Pro"/>
                </a:endParaRPr>
              </a:p>
              <a:p>
                <a:pPr lvl="1"/>
                <a:r>
                  <a:rPr lang="en-US" sz="2000" dirty="0">
                    <a:latin typeface="Source Sans Pro"/>
                    <a:ea typeface="Source Sans Pro"/>
                  </a:rPr>
                  <a:t>Syntactic unification won’t find this solution! </a:t>
                </a:r>
                <a:r>
                  <a:rPr lang="en-US" sz="2000" i="1" dirty="0">
                    <a:latin typeface="Source Sans Pro"/>
                    <a:ea typeface="Source Sans Pro"/>
                  </a:rPr>
                  <a:t>It relies on knowledge of the equational theory</a:t>
                </a:r>
              </a:p>
              <a:p>
                <a:pPr lvl="1"/>
                <a:r>
                  <a:rPr lang="en-US" sz="2000" dirty="0">
                    <a:latin typeface="Source Sans Pro"/>
                    <a:ea typeface="Source Sans Pro"/>
                  </a:rPr>
                  <a:t>In general, there could be 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multiple “MGUs” modulo</a:t>
                </a:r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𝐸</m:t>
                    </m:r>
                  </m:oMath>
                </a14:m>
                <a:r>
                  <a:rPr lang="en-US" sz="2000" dirty="0">
                    <a:latin typeface="Source Sans Pro"/>
                    <a:ea typeface="Source Sans Pro"/>
                  </a:rPr>
                  <a:t>! </a:t>
                </a:r>
              </a:p>
              <a:p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844" t="-1626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4ED43B0-8ED7-4691-34DD-D6722F7073D1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981-B140-C98E-A655-DFDD280D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A17B-322A-09FE-4B4C-0AFA6D7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8123"/>
                <a:ext cx="10515600" cy="706781"/>
              </a:xfrm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has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convergence</a:t>
                </a:r>
                <a:r>
                  <a:rPr lang="en-US" sz="2400" dirty="0">
                    <a:latin typeface="Source Sans Pro"/>
                    <a:ea typeface="Source Sans Pro"/>
                  </a:rPr>
                  <a:t> and the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finite variant property</a:t>
                </a:r>
                <a:r>
                  <a:rPr lang="en-US" sz="2400" dirty="0">
                    <a:latin typeface="Source Sans Pro"/>
                    <a:ea typeface="Source Sans Pro"/>
                  </a:rPr>
                  <a:t>, we can repair our strategy for unification modulo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𝐸</m:t>
                    </m:r>
                  </m:oMath>
                </a14:m>
                <a:endPara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8123"/>
                <a:ext cx="10515600" cy="706781"/>
              </a:xfrm>
              <a:blipFill>
                <a:blip r:embed="rId3"/>
                <a:stretch>
                  <a:fillRect l="-844" t="-178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4ED43B0-8ED7-4691-34DD-D6722F7073D1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95EE57-0045-D4D8-78A2-958989F50132}"/>
              </a:ext>
            </a:extLst>
          </p:cNvPr>
          <p:cNvGrpSpPr/>
          <p:nvPr/>
        </p:nvGrpSpPr>
        <p:grpSpPr>
          <a:xfrm>
            <a:off x="1004776" y="2880066"/>
            <a:ext cx="4334082" cy="1721141"/>
            <a:chOff x="547971" y="3199056"/>
            <a:chExt cx="4334082" cy="17211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ontent Placeholder 2">
                  <a:extLst>
                    <a:ext uri="{FF2B5EF4-FFF2-40B4-BE49-F238E27FC236}">
                      <a16:creationId xmlns:a16="http://schemas.microsoft.com/office/drawing/2014/main" id="{FA517882-335C-1B08-60EE-424C0FCA101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47971" y="3763385"/>
                  <a:ext cx="848346" cy="61218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oMath>
                    </m:oMathPara>
                  </a14:m>
                  <a:endParaRPr lang="en-US" sz="24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6" name="Content Placeholder 2">
                  <a:extLst>
                    <a:ext uri="{FF2B5EF4-FFF2-40B4-BE49-F238E27FC236}">
                      <a16:creationId xmlns:a16="http://schemas.microsoft.com/office/drawing/2014/main" id="{FA517882-335C-1B08-60EE-424C0FCA10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71" y="3763385"/>
                  <a:ext cx="848346" cy="6121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ontent Placeholder 2">
                  <a:extLst>
                    <a:ext uri="{FF2B5EF4-FFF2-40B4-BE49-F238E27FC236}">
                      <a16:creationId xmlns:a16="http://schemas.microsoft.com/office/drawing/2014/main" id="{4BF29FEE-E4E0-8600-C6CC-FBC19F797C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783736" y="3199056"/>
                  <a:ext cx="848346" cy="61218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7" name="Content Placeholder 2">
                  <a:extLst>
                    <a:ext uri="{FF2B5EF4-FFF2-40B4-BE49-F238E27FC236}">
                      <a16:creationId xmlns:a16="http://schemas.microsoft.com/office/drawing/2014/main" id="{4BF29FEE-E4E0-8600-C6CC-FBC19F797C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3736" y="3199056"/>
                  <a:ext cx="848346" cy="6121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ontent Placeholder 2">
                  <a:extLst>
                    <a:ext uri="{FF2B5EF4-FFF2-40B4-BE49-F238E27FC236}">
                      <a16:creationId xmlns:a16="http://schemas.microsoft.com/office/drawing/2014/main" id="{E52FF4BB-BBE5-344A-7CE8-9890C92CA7C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783736" y="4168131"/>
                  <a:ext cx="848346" cy="61218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8" name="Content Placeholder 2">
                  <a:extLst>
                    <a:ext uri="{FF2B5EF4-FFF2-40B4-BE49-F238E27FC236}">
                      <a16:creationId xmlns:a16="http://schemas.microsoft.com/office/drawing/2014/main" id="{E52FF4BB-BBE5-344A-7CE8-9890C92CA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3736" y="4168131"/>
                  <a:ext cx="848346" cy="61218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ontent Placeholder 2">
                  <a:extLst>
                    <a:ext uri="{FF2B5EF4-FFF2-40B4-BE49-F238E27FC236}">
                      <a16:creationId xmlns:a16="http://schemas.microsoft.com/office/drawing/2014/main" id="{6C962DF4-C18F-8719-85D2-7542D64ED71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933362" y="3728216"/>
                  <a:ext cx="848346" cy="61218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′</m:t>
                        </m:r>
                      </m:oMath>
                    </m:oMathPara>
                  </a14:m>
                  <a:endParaRPr lang="en-US" sz="24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9" name="Content Placeholder 2">
                  <a:extLst>
                    <a:ext uri="{FF2B5EF4-FFF2-40B4-BE49-F238E27FC236}">
                      <a16:creationId xmlns:a16="http://schemas.microsoft.com/office/drawing/2014/main" id="{6C962DF4-C18F-8719-85D2-7542D64ED7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3362" y="3728216"/>
                  <a:ext cx="848346" cy="61218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CE07780-DC8A-A468-8CE0-EED5ECA437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8204" y="3471106"/>
              <a:ext cx="934278" cy="4273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8309BE5-1198-7217-A4CA-9F4A58DE8786}"/>
                </a:ext>
              </a:extLst>
            </p:cNvPr>
            <p:cNvCxnSpPr>
              <a:cxnSpLocks/>
            </p:cNvCxnSpPr>
            <p:nvPr/>
          </p:nvCxnSpPr>
          <p:spPr>
            <a:xfrm>
              <a:off x="1078265" y="4067454"/>
              <a:ext cx="934278" cy="3081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48FB1A1-B9FE-DA09-D4FC-877E27C4C70B}"/>
                </a:ext>
              </a:extLst>
            </p:cNvPr>
            <p:cNvCxnSpPr>
              <a:cxnSpLocks/>
            </p:cNvCxnSpPr>
            <p:nvPr/>
          </p:nvCxnSpPr>
          <p:spPr>
            <a:xfrm>
              <a:off x="2366832" y="3471106"/>
              <a:ext cx="831780" cy="3677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30363C3-3870-9176-F8AA-0E59CC63F2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6832" y="4007819"/>
              <a:ext cx="831780" cy="3677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90E91B51-61D6-2826-CD8B-16FC53B1D41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681363" y="4308015"/>
                  <a:ext cx="2200690" cy="61218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dirty="0" smtClean="0">
                          <a:latin typeface="Source Sans Pro"/>
                          <a:ea typeface="Source Sans Pro"/>
                        </a:rPr>
                        <m:t>+ </m:t>
                      </m:r>
                    </m:oMath>
                  </a14:m>
                  <a:r>
                    <a:rPr lang="en-US" sz="2400" dirty="0">
                      <a:latin typeface="Source Sans Pro"/>
                      <a:ea typeface="Source Sans Pro"/>
                    </a:rPr>
                    <a:t>termination</a:t>
                  </a:r>
                </a:p>
              </p:txBody>
            </p:sp>
          </mc:Choice>
          <mc:Fallback xmlns="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90E91B51-61D6-2826-CD8B-16FC53B1D4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1363" y="4308015"/>
                  <a:ext cx="2200690" cy="612182"/>
                </a:xfrm>
                <a:prstGeom prst="rect">
                  <a:avLst/>
                </a:prstGeom>
                <a:blipFill>
                  <a:blip r:embed="rId8"/>
                  <a:stretch>
                    <a:fillRect t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081A92DF-F240-261F-86BE-8CC2E52CAD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56425" y="3806232"/>
                <a:ext cx="848346" cy="61218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𝑡</m:t>
                      </m:r>
                    </m:oMath>
                  </m:oMathPara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081A92DF-F240-261F-86BE-8CC2E52CA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425" y="3806232"/>
                <a:ext cx="848346" cy="6121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7F74A86-0F8D-4A1E-CA43-272CDF371A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20269" y="3396491"/>
                <a:ext cx="1915146" cy="147311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7F74A86-0F8D-4A1E-CA43-272CDF371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269" y="3396491"/>
                <a:ext cx="1915146" cy="14731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896637E8-8A87-E07C-FDEE-333DDAC7F0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7808" y="4141267"/>
            <a:ext cx="256044" cy="256044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042425-8766-E693-E797-4DCDD78E4D65}"/>
              </a:ext>
            </a:extLst>
          </p:cNvPr>
          <p:cNvCxnSpPr>
            <a:cxnSpLocks/>
          </p:cNvCxnSpPr>
          <p:nvPr/>
        </p:nvCxnSpPr>
        <p:spPr>
          <a:xfrm flipV="1">
            <a:off x="6408150" y="3644190"/>
            <a:ext cx="969168" cy="300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E02FC1F-01F3-0D8C-2187-9F733E5D67A1}"/>
              </a:ext>
            </a:extLst>
          </p:cNvPr>
          <p:cNvCxnSpPr>
            <a:cxnSpLocks/>
          </p:cNvCxnSpPr>
          <p:nvPr/>
        </p:nvCxnSpPr>
        <p:spPr>
          <a:xfrm flipV="1">
            <a:off x="6408150" y="3910821"/>
            <a:ext cx="969168" cy="121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E794C5-CE22-BF46-D9D2-6D2A3B0458A9}"/>
              </a:ext>
            </a:extLst>
          </p:cNvPr>
          <p:cNvCxnSpPr>
            <a:cxnSpLocks/>
          </p:cNvCxnSpPr>
          <p:nvPr/>
        </p:nvCxnSpPr>
        <p:spPr>
          <a:xfrm>
            <a:off x="6408150" y="4133050"/>
            <a:ext cx="969168" cy="443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CE673109-9A93-6254-DDF7-B83C2D7DDEFA}"/>
              </a:ext>
            </a:extLst>
          </p:cNvPr>
          <p:cNvSpPr txBox="1">
            <a:spLocks/>
          </p:cNvSpPr>
          <p:nvPr/>
        </p:nvSpPr>
        <p:spPr>
          <a:xfrm>
            <a:off x="6024013" y="3338230"/>
            <a:ext cx="2262169" cy="5846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Source Sans Pro"/>
                <a:ea typeface="Source Sans Pro"/>
              </a:rPr>
              <a:t>Variants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Source Sans Pro"/>
              <a:ea typeface="Source Sans 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latin typeface="Source Sans Pro"/>
              <a:ea typeface="Source Sans Pr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ontent Placeholder 2">
                <a:extLst>
                  <a:ext uri="{FF2B5EF4-FFF2-40B4-BE49-F238E27FC236}">
                    <a16:creationId xmlns:a16="http://schemas.microsoft.com/office/drawing/2014/main" id="{97F6EE69-0C89-8EE7-68FB-3768E05855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18929" y="3032401"/>
                <a:ext cx="2940222" cy="346047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dirty="0">
                    <a:latin typeface="Source Sans Pro"/>
                    <a:ea typeface="Source Sans Pro"/>
                  </a:rPr>
                  <a:t>For any substitution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𝜎</m:t>
                    </m:r>
                  </m:oMath>
                </a14:m>
                <a:r>
                  <a:rPr lang="en-US" sz="2000" dirty="0">
                    <a:latin typeface="Source Sans Pro"/>
                    <a:ea typeface="Source Sans Pro"/>
                  </a:rPr>
                  <a:t>, We can find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</m:oMath>
                </a14:m>
                <a:r>
                  <a:rPr lang="en-US" sz="2000" dirty="0">
                    <a:latin typeface="Source Sans Pro"/>
                    <a:ea typeface="Source Sans Pro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𝜎</m:t>
                    </m:r>
                    <m:r>
                      <a:rPr lang="en-US" sz="20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′</m:t>
                    </m:r>
                  </m:oMath>
                </a14:m>
                <a:r>
                  <a:rPr lang="en-US" sz="2000" dirty="0">
                    <a:latin typeface="Source Sans Pro"/>
                    <a:ea typeface="Source Sans Pro"/>
                  </a:rPr>
                  <a:t> such that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Source Sans Pro"/>
                    <a:ea typeface="Source Sans Pro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𝑡</m:t>
                      </m:r>
                      <m:r>
                        <a:rPr lang="en-US" sz="2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𝜎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↓</m:t>
                          </m:r>
                        </m:e>
                        <m:sub>
                          <m:sSub>
                            <m:sSubPr>
                              <m:ctrlPr>
                                <a:rPr lang="en-US" sz="26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𝐸</m:t>
                              </m:r>
                            </m:sub>
                          </m:sSub>
                        </m:sub>
                      </m:sSub>
                      <m:r>
                        <a:rPr lang="en-US" sz="26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=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6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𝜎</m:t>
                          </m:r>
                        </m:e>
                        <m:sup>
                          <m:r>
                            <a:rPr lang="en-US" sz="26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 algn="ctr">
                  <a:buNone/>
                </a:pPr>
                <a:r>
                  <a:rPr lang="en-US" sz="2000" dirty="0">
                    <a:latin typeface="Source Sans Pro"/>
                    <a:ea typeface="Source Sans Pro"/>
                  </a:rPr>
                  <a:t>Variants characterize “shapes” a term can take after substitution and equational reasoning</a:t>
                </a:r>
              </a:p>
              <a:p>
                <a:pPr marL="0" indent="0" algn="ctr">
                  <a:buNone/>
                </a:pPr>
                <a:endPara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 algn="ctr">
                  <a:buNone/>
                </a:pPr>
                <a:r>
                  <a:rPr lang="en-US" sz="2000" dirty="0">
                    <a:latin typeface="Source Sans Pro"/>
                    <a:ea typeface="Source Sans Pro"/>
                  </a:rPr>
                  <a:t>No equational reasoning!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45" name="Content Placeholder 2">
                <a:extLst>
                  <a:ext uri="{FF2B5EF4-FFF2-40B4-BE49-F238E27FC236}">
                    <a16:creationId xmlns:a16="http://schemas.microsoft.com/office/drawing/2014/main" id="{97F6EE69-0C89-8EE7-68FB-3768E0585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929" y="3032401"/>
                <a:ext cx="2940222" cy="3460473"/>
              </a:xfrm>
              <a:prstGeom prst="rect">
                <a:avLst/>
              </a:prstGeom>
              <a:blipFill>
                <a:blip r:embed="rId12"/>
                <a:stretch>
                  <a:fillRect t="-2190" r="-1288" b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B3011007-A31B-524E-1E32-4D46C15B4C4D}"/>
              </a:ext>
            </a:extLst>
          </p:cNvPr>
          <p:cNvSpPr/>
          <p:nvPr/>
        </p:nvSpPr>
        <p:spPr>
          <a:xfrm>
            <a:off x="10126844" y="3719586"/>
            <a:ext cx="725556" cy="7042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7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uiExpand="1" build="allAtOnce"/>
      <p:bldP spid="11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981-B140-C98E-A655-DFDD280D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A17B-322A-09FE-4B4C-0AFA6D7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8123"/>
                <a:ext cx="10515600" cy="706781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Goal: find unifiers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8123"/>
                <a:ext cx="10515600" cy="706781"/>
              </a:xfrm>
              <a:blipFill>
                <a:blip r:embed="rId3"/>
                <a:stretch>
                  <a:fillRect l="-844" t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4ED43B0-8ED7-4691-34DD-D6722F7073D1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DEB33E-8C9F-1BEC-FEC2-688498D29701}"/>
              </a:ext>
            </a:extLst>
          </p:cNvPr>
          <p:cNvGrpSpPr/>
          <p:nvPr/>
        </p:nvGrpSpPr>
        <p:grpSpPr>
          <a:xfrm>
            <a:off x="1155896" y="2861718"/>
            <a:ext cx="2978990" cy="1531379"/>
            <a:chOff x="5032156" y="3199083"/>
            <a:chExt cx="2978990" cy="15313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081A92DF-F240-261F-86BE-8CC2E52CAD0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032156" y="3667085"/>
                  <a:ext cx="848346" cy="61218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081A92DF-F240-261F-86BE-8CC2E52CA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2156" y="3667085"/>
                  <a:ext cx="848346" cy="6121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B7F74A86-0F8D-4A1E-CA43-272CDF371A1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096000" y="3257344"/>
                  <a:ext cx="1915146" cy="147311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t">
                  <a:normAutofit fontScale="92500"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en-US" sz="2400" b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endParaRPr>
                </a:p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sz="2400" b="0" dirty="0">
                    <a:latin typeface="Source Sans Pro"/>
                    <a:ea typeface="Source Sans Pro"/>
                  </a:endParaRPr>
                </a:p>
                <a:p>
                  <a:pPr marL="0" indent="0">
                    <a:buNone/>
                  </a:pPr>
                  <a:endParaRPr lang="en-US" sz="2400" dirty="0">
                    <a:latin typeface="Source Sans Pro"/>
                    <a:ea typeface="Source Sans Pro"/>
                  </a:endParaRPr>
                </a:p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1,</m:t>
                            </m:r>
                            <m:r>
                              <a:rPr lang="en-US" sz="2400" b="0" i="1" dirty="0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B7F74A86-0F8D-4A1E-CA43-272CDF371A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257344"/>
                  <a:ext cx="1915146" cy="147311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96637E8-8A87-E07C-FDEE-333DDAC7F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53539" y="4002120"/>
              <a:ext cx="256044" cy="256044"/>
            </a:xfrm>
            <a:prstGeom prst="rect">
              <a:avLst/>
            </a:prstGeom>
          </p:spPr>
        </p:pic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7042425-8766-E693-E797-4DCDD78E4D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3881" y="3505043"/>
              <a:ext cx="969168" cy="3009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E02FC1F-01F3-0D8C-2187-9F733E5D67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3881" y="3771674"/>
              <a:ext cx="969168" cy="1215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0E794C5-CE22-BF46-D9D2-6D2A3B0458A9}"/>
                </a:ext>
              </a:extLst>
            </p:cNvPr>
            <p:cNvCxnSpPr>
              <a:cxnSpLocks/>
            </p:cNvCxnSpPr>
            <p:nvPr/>
          </p:nvCxnSpPr>
          <p:spPr>
            <a:xfrm>
              <a:off x="5583881" y="3993903"/>
              <a:ext cx="969168" cy="4434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Content Placeholder 2">
              <a:extLst>
                <a:ext uri="{FF2B5EF4-FFF2-40B4-BE49-F238E27FC236}">
                  <a16:creationId xmlns:a16="http://schemas.microsoft.com/office/drawing/2014/main" id="{CE673109-9A93-6254-DDF7-B83C2D7DDEFA}"/>
                </a:ext>
              </a:extLst>
            </p:cNvPr>
            <p:cNvSpPr txBox="1">
              <a:spLocks/>
            </p:cNvSpPr>
            <p:nvPr/>
          </p:nvSpPr>
          <p:spPr>
            <a:xfrm>
              <a:off x="5199744" y="3199083"/>
              <a:ext cx="2262169" cy="5846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dirty="0">
                  <a:latin typeface="Source Sans Pro"/>
                  <a:ea typeface="Source Sans Pro"/>
                </a:rPr>
                <a:t>Variants</a:t>
              </a:r>
              <a:endParaRPr lang="en-US" sz="20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2000" dirty="0">
                <a:latin typeface="Source Sans Pro"/>
                <a:ea typeface="Source Sans Pro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DC414CDD-D73A-3704-FC0F-7DC9C9928F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02000" y="3387981"/>
                <a:ext cx="848346" cy="61218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DC414CDD-D73A-3704-FC0F-7DC9C9928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000" y="3387981"/>
                <a:ext cx="848346" cy="6121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F1BCB90F-E6C8-5E1A-3215-D3434439F5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0047" y="2919979"/>
                <a:ext cx="1915146" cy="147311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2,</m:t>
                          </m:r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F1BCB90F-E6C8-5E1A-3215-D3434439F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047" y="2919979"/>
                <a:ext cx="1915146" cy="14731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323E21F3-5B4D-B4DF-5CC2-38C6FB051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015" y="3677458"/>
            <a:ext cx="256044" cy="256044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286C70-BE50-BB3F-28D8-94971A39D67B}"/>
              </a:ext>
            </a:extLst>
          </p:cNvPr>
          <p:cNvCxnSpPr>
            <a:cxnSpLocks/>
          </p:cNvCxnSpPr>
          <p:nvPr/>
        </p:nvCxnSpPr>
        <p:spPr>
          <a:xfrm flipH="1" flipV="1">
            <a:off x="4929453" y="3195127"/>
            <a:ext cx="924696" cy="297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636AB5D-D6D6-BCE3-0B5A-99B5BCE0DA8A}"/>
              </a:ext>
            </a:extLst>
          </p:cNvPr>
          <p:cNvCxnSpPr>
            <a:cxnSpLocks/>
          </p:cNvCxnSpPr>
          <p:nvPr/>
        </p:nvCxnSpPr>
        <p:spPr>
          <a:xfrm flipH="1" flipV="1">
            <a:off x="4929453" y="3490614"/>
            <a:ext cx="840134" cy="65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C21335D-CCE2-237D-B51C-0F2AD52DA564}"/>
              </a:ext>
            </a:extLst>
          </p:cNvPr>
          <p:cNvCxnSpPr>
            <a:cxnSpLocks/>
          </p:cNvCxnSpPr>
          <p:nvPr/>
        </p:nvCxnSpPr>
        <p:spPr>
          <a:xfrm flipH="1">
            <a:off x="4929453" y="3694072"/>
            <a:ext cx="840134" cy="498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5BD66E8-F947-0469-F0D3-83605D0F1E86}"/>
              </a:ext>
            </a:extLst>
          </p:cNvPr>
          <p:cNvSpPr txBox="1">
            <a:spLocks/>
          </p:cNvSpPr>
          <p:nvPr/>
        </p:nvSpPr>
        <p:spPr>
          <a:xfrm>
            <a:off x="5178144" y="2919979"/>
            <a:ext cx="2262169" cy="5846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Source Sans Pro"/>
                <a:ea typeface="Source Sans Pro"/>
              </a:rPr>
              <a:t>Variants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Source Sans Pro"/>
              <a:ea typeface="Source Sans 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latin typeface="Source Sans Pro"/>
              <a:ea typeface="Source Sans Pro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43C582-A7CC-4A66-D57C-7967649CE4E9}"/>
              </a:ext>
            </a:extLst>
          </p:cNvPr>
          <p:cNvCxnSpPr/>
          <p:nvPr/>
        </p:nvCxnSpPr>
        <p:spPr>
          <a:xfrm>
            <a:off x="3478697" y="3154056"/>
            <a:ext cx="9044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C765970-4E14-F11A-4A98-A29D8481D003}"/>
              </a:ext>
            </a:extLst>
          </p:cNvPr>
          <p:cNvCxnSpPr>
            <a:cxnSpLocks/>
          </p:cNvCxnSpPr>
          <p:nvPr/>
        </p:nvCxnSpPr>
        <p:spPr>
          <a:xfrm>
            <a:off x="3478697" y="3227117"/>
            <a:ext cx="909794" cy="1608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611B9D1-498B-27F7-2CFC-7C1FC7AB2855}"/>
              </a:ext>
            </a:extLst>
          </p:cNvPr>
          <p:cNvCxnSpPr>
            <a:cxnSpLocks/>
          </p:cNvCxnSpPr>
          <p:nvPr/>
        </p:nvCxnSpPr>
        <p:spPr>
          <a:xfrm>
            <a:off x="3457394" y="3258166"/>
            <a:ext cx="971183" cy="9182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475E4FF-62BE-EDE9-32AD-4327994227B7}"/>
              </a:ext>
            </a:extLst>
          </p:cNvPr>
          <p:cNvCxnSpPr>
            <a:cxnSpLocks/>
          </p:cNvCxnSpPr>
          <p:nvPr/>
        </p:nvCxnSpPr>
        <p:spPr>
          <a:xfrm flipV="1">
            <a:off x="3398160" y="3461041"/>
            <a:ext cx="964831" cy="436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7100764-7D45-F99C-2E34-9D3F9E87C193}"/>
              </a:ext>
            </a:extLst>
          </p:cNvPr>
          <p:cNvCxnSpPr>
            <a:cxnSpLocks/>
          </p:cNvCxnSpPr>
          <p:nvPr/>
        </p:nvCxnSpPr>
        <p:spPr>
          <a:xfrm flipV="1">
            <a:off x="3412602" y="3229036"/>
            <a:ext cx="984937" cy="2320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E15BE68-A8CC-D5F2-CCEF-0088CBEFF078}"/>
              </a:ext>
            </a:extLst>
          </p:cNvPr>
          <p:cNvCxnSpPr>
            <a:cxnSpLocks/>
          </p:cNvCxnSpPr>
          <p:nvPr/>
        </p:nvCxnSpPr>
        <p:spPr>
          <a:xfrm>
            <a:off x="3412602" y="3577715"/>
            <a:ext cx="995181" cy="6569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893D3E4-ABF8-CACE-A57E-1388A9EBC78C}"/>
              </a:ext>
            </a:extLst>
          </p:cNvPr>
          <p:cNvCxnSpPr>
            <a:cxnSpLocks/>
          </p:cNvCxnSpPr>
          <p:nvPr/>
        </p:nvCxnSpPr>
        <p:spPr>
          <a:xfrm>
            <a:off x="3398160" y="4234675"/>
            <a:ext cx="1030417" cy="582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6808CE6-8A48-0D49-B907-8F36CB769544}"/>
              </a:ext>
            </a:extLst>
          </p:cNvPr>
          <p:cNvCxnSpPr>
            <a:cxnSpLocks/>
          </p:cNvCxnSpPr>
          <p:nvPr/>
        </p:nvCxnSpPr>
        <p:spPr>
          <a:xfrm flipV="1">
            <a:off x="3398160" y="3504655"/>
            <a:ext cx="1030417" cy="6569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72C0C58-1BB8-41B2-C5E0-B64167794608}"/>
              </a:ext>
            </a:extLst>
          </p:cNvPr>
          <p:cNvCxnSpPr>
            <a:cxnSpLocks/>
          </p:cNvCxnSpPr>
          <p:nvPr/>
        </p:nvCxnSpPr>
        <p:spPr>
          <a:xfrm flipV="1">
            <a:off x="3343761" y="3274429"/>
            <a:ext cx="1098570" cy="8267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207FB5-08B2-8593-D6FF-76C23806E6D0}"/>
                  </a:ext>
                </a:extLst>
              </p:cNvPr>
              <p:cNvSpPr txBox="1"/>
              <p:nvPr/>
            </p:nvSpPr>
            <p:spPr>
              <a:xfrm>
                <a:off x="6119606" y="4393097"/>
                <a:ext cx="4564959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Source Sans Pro"/>
                    <a:ea typeface="Source Sans Pro"/>
                  </a:rPr>
                  <a:t>Unifying</a:t>
                </a:r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𝑑𝑒𝑐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𝑥</m:t>
                        </m:r>
                        <m:r>
                          <a:rPr lang="en-US" sz="2000" i="1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sz="20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</m:e>
                    </m:d>
                    <m:r>
                      <a:rPr lang="en-US" sz="20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000" dirty="0">
                    <a:latin typeface="Source Sans Pro"/>
                    <a:ea typeface="Source Sans Pro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sz="2000" dirty="0">
                    <a:latin typeface="Source Sans Pro"/>
                    <a:ea typeface="Source Sans Pro"/>
                  </a:rPr>
                  <a:t>modulo E yields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𝑦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↦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𝑚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000" dirty="0">
                    <a:latin typeface="Source Sans Pro"/>
                    <a:ea typeface="Source Sans Pro"/>
                  </a:rPr>
                  <a:t> </a:t>
                </a:r>
                <a:r>
                  <a:rPr lang="en-US" sz="2000" b="1" dirty="0">
                    <a:latin typeface="Source Sans Pro"/>
                    <a:ea typeface="Source Sans Pro"/>
                  </a:rPr>
                  <a:t>and</a:t>
                </a:r>
                <a:r>
                  <a:rPr lang="en-US" sz="2000" dirty="0">
                    <a:latin typeface="Source Sans Pro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{ 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𝑦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↦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𝑑𝑒𝑐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}</m:t>
                    </m:r>
                  </m:oMath>
                </a14:m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</a:p>
              <a:p>
                <a:endParaRPr lang="en-US" sz="2000" dirty="0">
                  <a:latin typeface="Source Sans Pro"/>
                  <a:ea typeface="Source Sans Pro"/>
                </a:endParaRPr>
              </a:p>
              <a:p>
                <a:r>
                  <a:rPr lang="en-US" sz="2000" dirty="0">
                    <a:latin typeface="Source Sans Pro"/>
                    <a:ea typeface="Source Sans Pro"/>
                  </a:rPr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207FB5-08B2-8593-D6FF-76C23806E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606" y="4393097"/>
                <a:ext cx="4564959" cy="1323439"/>
              </a:xfrm>
              <a:prstGeom prst="rect">
                <a:avLst/>
              </a:prstGeom>
              <a:blipFill>
                <a:blip r:embed="rId9"/>
                <a:stretch>
                  <a:fillRect l="-1385" t="-2857" r="-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5D249C6-DB48-BB22-1625-BCAEBC22468B}"/>
              </a:ext>
            </a:extLst>
          </p:cNvPr>
          <p:cNvSpPr txBox="1">
            <a:spLocks/>
          </p:cNvSpPr>
          <p:nvPr/>
        </p:nvSpPr>
        <p:spPr>
          <a:xfrm>
            <a:off x="2676789" y="4523666"/>
            <a:ext cx="2883223" cy="8204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Source Sans Pro"/>
                <a:ea typeface="Source Sans Pro"/>
              </a:rPr>
              <a:t>Pairwise syntactic unification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Source Sans Pro"/>
                <a:ea typeface="Source Sans Pro"/>
              </a:rPr>
              <a:t>Collect all unifiers!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Source Sans Pro"/>
              <a:ea typeface="Source Sans Pro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dirty="0"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15138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981-B140-C98E-A655-DFDD280D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A17B-322A-09FE-4B4C-0AFA6D7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𝐸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has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convergence</a:t>
                </a:r>
                <a:r>
                  <a:rPr lang="en-US" sz="2400" dirty="0">
                    <a:latin typeface="Source Sans Pro"/>
                    <a:ea typeface="Source Sans Pro"/>
                  </a:rPr>
                  <a:t> and the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finite variant property</a:t>
                </a:r>
                <a:r>
                  <a:rPr lang="en-US" sz="2400" dirty="0">
                    <a:latin typeface="Source Sans Pro"/>
                    <a:ea typeface="Source Sans Pro"/>
                  </a:rPr>
                  <a:t>, we are good!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𝐸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⊕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is not convergent…</a:t>
                </a:r>
              </a:p>
              <a:p>
                <a:pPr marL="0" indent="0">
                  <a:buNone/>
                </a:pPr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𝐸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=0, 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⊕0=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𝑦</m:t>
                                  </m:r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⊕</m:t>
                                  </m:r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⊕</m:t>
                                  </m:r>
                                  <m:r>
                                    <a:rPr lang="en-US" sz="2400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𝑧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𝑦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𝑦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24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4ED43B0-8ED7-4691-34DD-D6722F7073D1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453999-6C39-E05F-3593-65A2F8DFDAC2}"/>
              </a:ext>
            </a:extLst>
          </p:cNvPr>
          <p:cNvSpPr/>
          <p:nvPr/>
        </p:nvSpPr>
        <p:spPr>
          <a:xfrm>
            <a:off x="3606800" y="3898900"/>
            <a:ext cx="5765800" cy="355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2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981-B140-C98E-A655-DFDD280D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A17B-322A-09FE-4B4C-0AFA6D7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𝐸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has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convergence</a:t>
                </a:r>
                <a:r>
                  <a:rPr lang="en-US" sz="2400" dirty="0">
                    <a:latin typeface="Source Sans Pro"/>
                    <a:ea typeface="Source Sans Pro"/>
                  </a:rPr>
                  <a:t> and the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finite variant property</a:t>
                </a:r>
                <a:r>
                  <a:rPr lang="en-US" sz="2400" dirty="0">
                    <a:latin typeface="Source Sans Pro"/>
                    <a:ea typeface="Source Sans Pro"/>
                  </a:rPr>
                  <a:t>, we are good!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𝐸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⊕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is not convergent…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Partition it!</a:t>
                </a:r>
              </a:p>
              <a:p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⊕−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𝐴𝐶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=0, </m:t>
                          </m:r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⊕0=</m:t>
                          </m:r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𝐴𝐶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⊕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𝑧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𝑦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𝑦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⊕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⊕−</m:t>
                        </m:r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𝐴𝐶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has convergence and FVP!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Thankfully,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variants modulo AC </a:t>
                </a:r>
                <a:r>
                  <a:rPr lang="en-US" sz="2400" dirty="0">
                    <a:latin typeface="Source Sans Pro"/>
                    <a:ea typeface="Source Sans Pro"/>
                  </a:rPr>
                  <a:t>and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unification modulo AC </a:t>
                </a:r>
                <a:r>
                  <a:rPr lang="en-US" sz="2400" dirty="0">
                    <a:latin typeface="Source Sans Pro"/>
                    <a:ea typeface="Source Sans Pro"/>
                  </a:rPr>
                  <a:t>are already addressed in the literature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Hence, we can lift the previous algo to proceed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⊕−</m:t>
                        </m:r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𝐴𝐶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“modulo AC”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9A992-E5F6-1706-8A28-87A2E4222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4ED43B0-8ED7-4691-34DD-D6722F7073D1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5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981-B140-C98E-A655-DFDD280D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A17B-322A-09FE-4B4C-0AFA6D7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9A992-E5F6-1706-8A28-87A2E4222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40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Source Sans Pro"/>
                <a:ea typeface="Source Sans Pro"/>
              </a:rPr>
              <a:t>In general, how can Tamarin reason about special operators?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Source Sans Pro"/>
                <a:ea typeface="Source Sans Pro"/>
              </a:rPr>
              <a:t>Introduce new function symbols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Source Sans Pro"/>
                <a:ea typeface="Source Sans Pro"/>
              </a:rPr>
              <a:t>Axiomatize via equational theory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Source Sans Pro"/>
                <a:ea typeface="Source Sans Pro"/>
              </a:rPr>
              <a:t>Borrow results from term rewriting literature to make reasoning faster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Source Sans Pro"/>
              <a:ea typeface="Source Sans Pro"/>
            </a:endParaRPr>
          </a:p>
          <a:p>
            <a:pPr marL="0" indent="0">
              <a:buNone/>
            </a:pPr>
            <a:r>
              <a:rPr lang="en-US" sz="2400" b="1" i="1" dirty="0">
                <a:latin typeface="Source Sans Pro"/>
                <a:ea typeface="Source Sans Pro"/>
              </a:rPr>
              <a:t>Q: </a:t>
            </a:r>
            <a:r>
              <a:rPr lang="en-US" sz="2400" dirty="0">
                <a:latin typeface="Source Sans Pro"/>
                <a:ea typeface="Source Sans Pro"/>
              </a:rPr>
              <a:t>How would I apply this recipe to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arithmetic</a:t>
            </a:r>
            <a:r>
              <a:rPr lang="en-US" sz="2400" dirty="0">
                <a:latin typeface="Source Sans Pro"/>
                <a:ea typeface="Source Sans Pro"/>
              </a:rPr>
              <a:t>? </a:t>
            </a:r>
          </a:p>
          <a:p>
            <a:pPr marL="0" indent="0">
              <a:buNone/>
            </a:pPr>
            <a:r>
              <a:rPr lang="en-US" sz="2400" dirty="0">
                <a:latin typeface="Source Sans Pro"/>
                <a:ea typeface="Source Sans Pro"/>
              </a:rPr>
              <a:t>One can encode </a:t>
            </a:r>
            <a:r>
              <a:rPr lang="en-US" sz="2400" dirty="0" err="1">
                <a:latin typeface="Source Sans Pro"/>
                <a:ea typeface="Source Sans Pro"/>
              </a:rPr>
              <a:t>Peano</a:t>
            </a:r>
            <a:r>
              <a:rPr lang="en-US" sz="2400" dirty="0">
                <a:latin typeface="Source Sans Pro"/>
                <a:ea typeface="Source Sans Pro"/>
              </a:rPr>
              <a:t> or </a:t>
            </a:r>
            <a:r>
              <a:rPr lang="en-US" sz="2400" dirty="0" err="1">
                <a:latin typeface="Source Sans Pro"/>
                <a:ea typeface="Source Sans Pro"/>
              </a:rPr>
              <a:t>Presburger</a:t>
            </a:r>
            <a:r>
              <a:rPr lang="en-US" sz="2400" dirty="0">
                <a:latin typeface="Source Sans Pro"/>
                <a:ea typeface="Source Sans Pro"/>
              </a:rPr>
              <a:t> arithmetic... </a:t>
            </a:r>
          </a:p>
          <a:p>
            <a:pPr marL="0" indent="0">
              <a:buNone/>
            </a:pPr>
            <a:r>
              <a:rPr lang="en-US" sz="2400" dirty="0">
                <a:latin typeface="Source Sans Pro"/>
                <a:ea typeface="Source Sans Pro"/>
              </a:rPr>
              <a:t>Does this work? Can we do better?</a:t>
            </a:r>
          </a:p>
          <a:p>
            <a:pPr marL="0" indent="0">
              <a:buNone/>
            </a:pPr>
            <a:endParaRPr lang="en-US" sz="2400" dirty="0">
              <a:latin typeface="Source Sans Pro"/>
              <a:ea typeface="Source Sans Pro"/>
            </a:endParaRPr>
          </a:p>
          <a:p>
            <a:pPr marL="0" indent="0">
              <a:buNone/>
            </a:pPr>
            <a:r>
              <a:rPr lang="en-US" sz="2400" b="1" i="1" dirty="0">
                <a:latin typeface="Source Sans Pro"/>
                <a:ea typeface="Source Sans Pro"/>
              </a:rPr>
              <a:t>Q: </a:t>
            </a:r>
            <a:r>
              <a:rPr lang="en-US" sz="2400" dirty="0">
                <a:latin typeface="Source Sans Pro"/>
                <a:ea typeface="Source Sans Pro"/>
              </a:rPr>
              <a:t>Can we adapt the search strategy to reason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compositionally</a:t>
            </a:r>
            <a:r>
              <a:rPr lang="en-US" sz="2400" dirty="0">
                <a:latin typeface="Source Sans Pro"/>
                <a:ea typeface="Source Sans Pro"/>
              </a:rPr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ED43B0-8ED7-4691-34DD-D6722F7073D1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9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Appendix: Tamarin Property Specification Language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Language syntax and semantics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630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Appendix: CCSA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latin typeface="Source Sans Pro"/>
                <a:ea typeface="Source Sans Pro"/>
              </a:rPr>
              <a:t>C</a:t>
            </a:r>
            <a:r>
              <a:rPr lang="en-US" dirty="0" err="1">
                <a:latin typeface="Source Sans Pro"/>
                <a:ea typeface="Source Sans Pro"/>
              </a:rPr>
              <a:t>omputionally</a:t>
            </a:r>
            <a:r>
              <a:rPr lang="en-US" dirty="0">
                <a:latin typeface="Source Sans Pro"/>
                <a:ea typeface="Source Sans Pro"/>
              </a:rPr>
              <a:t> </a:t>
            </a:r>
            <a:r>
              <a:rPr lang="en-US" b="1" dirty="0">
                <a:latin typeface="Source Sans Pro"/>
                <a:ea typeface="Source Sans Pro"/>
              </a:rPr>
              <a:t>c</a:t>
            </a:r>
            <a:r>
              <a:rPr lang="en-US" dirty="0">
                <a:latin typeface="Source Sans Pro"/>
                <a:ea typeface="Source Sans Pro"/>
              </a:rPr>
              <a:t>omplete </a:t>
            </a:r>
            <a:r>
              <a:rPr lang="en-US" b="1" dirty="0">
                <a:latin typeface="Source Sans Pro"/>
                <a:ea typeface="Source Sans Pro"/>
              </a:rPr>
              <a:t>s</a:t>
            </a:r>
            <a:r>
              <a:rPr lang="en-US" dirty="0">
                <a:latin typeface="Source Sans Pro"/>
                <a:ea typeface="Source Sans Pro"/>
              </a:rPr>
              <a:t>ymbolic </a:t>
            </a:r>
            <a:r>
              <a:rPr lang="en-US" b="1" dirty="0">
                <a:latin typeface="Source Sans Pro"/>
                <a:ea typeface="Source Sans Pro"/>
              </a:rPr>
              <a:t>a</a:t>
            </a:r>
            <a:r>
              <a:rPr lang="en-US" dirty="0">
                <a:latin typeface="Source Sans Pro"/>
                <a:ea typeface="Source Sans Pro"/>
              </a:rPr>
              <a:t>ttacker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CCSA</a:t>
            </a:r>
            <a:r>
              <a:rPr lang="en-US" dirty="0">
                <a:latin typeface="Source Sans Pro"/>
                <a:ea typeface="Source Sans Pro"/>
              </a:rPr>
              <a:t>)</a:t>
            </a:r>
          </a:p>
          <a:p>
            <a:r>
              <a:rPr lang="en-US" dirty="0">
                <a:latin typeface="Source Sans Pro"/>
                <a:ea typeface="Source Sans Pro"/>
              </a:rPr>
              <a:t>Fundamental tradeoffs </a:t>
            </a:r>
          </a:p>
          <a:p>
            <a:pPr lvl="1"/>
            <a:r>
              <a:rPr lang="en-US" dirty="0">
                <a:latin typeface="Source Sans Pro"/>
                <a:ea typeface="Source Sans Pro"/>
              </a:rPr>
              <a:t>You can reason with full precision but lose automation (computational)</a:t>
            </a:r>
          </a:p>
          <a:p>
            <a:pPr lvl="1"/>
            <a:r>
              <a:rPr lang="en-US" dirty="0">
                <a:latin typeface="Source Sans Pro"/>
                <a:ea typeface="Source Sans Pro"/>
              </a:rPr>
              <a:t>You can make simplifying assumptions but lose proof soundness (symbolic)</a:t>
            </a:r>
          </a:p>
          <a:p>
            <a:pPr lvl="1"/>
            <a:r>
              <a:rPr lang="en-US" dirty="0">
                <a:latin typeface="Source Sans Pro"/>
                <a:ea typeface="Source Sans Pro"/>
              </a:rPr>
              <a:t>You can maintain automation and proof soundness but lose attack soundness (CCSA) (proof soundness arguably more important; but sometimes a lower bar is better) </a:t>
            </a:r>
          </a:p>
          <a:p>
            <a:r>
              <a:rPr lang="en-US" dirty="0">
                <a:latin typeface="Source Sans Pro"/>
                <a:ea typeface="Source Sans Pro"/>
              </a:rPr>
              <a:t>BC logic, </a:t>
            </a:r>
            <a:r>
              <a:rPr lang="en-US" dirty="0" err="1">
                <a:latin typeface="Source Sans Pro"/>
                <a:ea typeface="Source Sans Pro"/>
              </a:rPr>
              <a:t>subterm</a:t>
            </a:r>
            <a:r>
              <a:rPr lang="en-US" dirty="0">
                <a:latin typeface="Source Sans Pro"/>
                <a:ea typeface="Source Sans Pro"/>
              </a:rPr>
              <a:t> reasoning/eval predicate and </a:t>
            </a:r>
            <a:r>
              <a:rPr lang="en-US" dirty="0" err="1">
                <a:latin typeface="Source Sans Pro"/>
                <a:ea typeface="Source Sans Pro"/>
              </a:rPr>
              <a:t>axiomation</a:t>
            </a:r>
            <a:r>
              <a:rPr lang="en-US" dirty="0">
                <a:latin typeface="Source Sans Pro"/>
                <a:ea typeface="Source Sans Pro"/>
              </a:rPr>
              <a:t>, cryptographic axioms, and so 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4802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Appendix: BAN Logic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Acronym</a:t>
            </a:r>
          </a:p>
          <a:p>
            <a:r>
              <a:rPr lang="en-US" dirty="0">
                <a:latin typeface="Source Sans Pro"/>
                <a:ea typeface="Source Sans Pro"/>
              </a:rPr>
              <a:t>Missed Needham-Schroeder bug (analysis in paper that introduced the logic!)</a:t>
            </a:r>
          </a:p>
          <a:p>
            <a:r>
              <a:rPr lang="en-US" dirty="0">
                <a:latin typeface="Source Sans Pro"/>
                <a:ea typeface="Source Sans Pro"/>
              </a:rPr>
              <a:t>Relies on manual annotations of assumptions at each protocol step</a:t>
            </a:r>
          </a:p>
          <a:p>
            <a:r>
              <a:rPr lang="en-US" dirty="0">
                <a:latin typeface="Source Sans Pro"/>
                <a:ea typeface="Source Sans Pro"/>
              </a:rPr>
              <a:t>Shifts adversarial reasoning largely from the logic to the user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98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23168</TotalTime>
  <Words>10051</Words>
  <Application>Microsoft Macintosh PowerPoint</Application>
  <PresentationFormat>Widescreen</PresentationFormat>
  <Paragraphs>1266</Paragraphs>
  <Slides>131</Slides>
  <Notes>40</Notes>
  <HiddenSlides>9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131</vt:i4>
      </vt:variant>
    </vt:vector>
  </HeadingPairs>
  <TitlesOfParts>
    <vt:vector size="142" baseType="lpstr">
      <vt:lpstr>Aptos</vt:lpstr>
      <vt:lpstr>Aptos Display</vt:lpstr>
      <vt:lpstr>Arial</vt:lpstr>
      <vt:lpstr>Avenir Next</vt:lpstr>
      <vt:lpstr>Britannic Bold</vt:lpstr>
      <vt:lpstr>Calibri</vt:lpstr>
      <vt:lpstr>Cambria Math</vt:lpstr>
      <vt:lpstr>Courier New</vt:lpstr>
      <vt:lpstr>Source Sans Pro</vt:lpstr>
      <vt:lpstr>Wingdings</vt:lpstr>
      <vt:lpstr>Office Theme</vt:lpstr>
      <vt:lpstr>Automated Reasoning for Security Protocols</vt:lpstr>
      <vt:lpstr>Introduction &amp; Motivation</vt:lpstr>
      <vt:lpstr>Introduction &amp; Motivation</vt:lpstr>
      <vt:lpstr>Introduction &amp; Motivation</vt:lpstr>
      <vt:lpstr>Roadmap</vt:lpstr>
      <vt:lpstr>Talk Objectives</vt:lpstr>
      <vt:lpstr>Roadmap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Security of Primitives</vt:lpstr>
      <vt:lpstr>Mathematical Cryptography: Security of Primitives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Threat Models</vt:lpstr>
      <vt:lpstr>Threat Models</vt:lpstr>
      <vt:lpstr>Threat Models</vt:lpstr>
      <vt:lpstr>Symbolic Model</vt:lpstr>
      <vt:lpstr>Symbolic Model</vt:lpstr>
      <vt:lpstr>Symbolic Model</vt:lpstr>
      <vt:lpstr>Symbolic Model</vt:lpstr>
      <vt:lpstr>Symbolic Model</vt:lpstr>
      <vt:lpstr>Roadmap</vt:lpstr>
      <vt:lpstr>Protocol Reasoning in the 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Needham-Schroeder</vt:lpstr>
      <vt:lpstr>Formalizing Needham-Schroeder</vt:lpstr>
      <vt:lpstr>Formalizing Needham-Schroeder</vt:lpstr>
      <vt:lpstr>Formalizing Needham-Schroeder</vt:lpstr>
      <vt:lpstr>Formalizing Needham-Schroeder</vt:lpstr>
      <vt:lpstr>Formalizing Needham-Schroeder</vt:lpstr>
      <vt:lpstr>Formalizing Security Properties in the Symbolic Model</vt:lpstr>
      <vt:lpstr>Formalizing Security Properties in the Symbolic Model</vt:lpstr>
      <vt:lpstr>Formalizing Security Properties in the Symbolic Model</vt:lpstr>
      <vt:lpstr>Formalizing Security Properties in the Symbolic Model</vt:lpstr>
      <vt:lpstr>Formalizing Security Properties in the Symbolic Model</vt:lpstr>
      <vt:lpstr>Formalizing Security Properties in the Symbolic Model</vt:lpstr>
      <vt:lpstr>Formalizing Security Properties in the Symbolic Model</vt:lpstr>
      <vt:lpstr>Formalizing Security Properties in the Symbolic Model</vt:lpstr>
      <vt:lpstr>Formalizing Security Properties in the Symbolic Model</vt:lpstr>
      <vt:lpstr>Formalizing Security Properties in the Symbolic Model</vt:lpstr>
      <vt:lpstr>Automated Property Satisfaction/Violation</vt:lpstr>
      <vt:lpstr>Automated Property Satisfaction/Violation</vt:lpstr>
      <vt:lpstr>Roadmap</vt:lpstr>
      <vt:lpstr>Needham-Schroeder Public Key Protocol</vt:lpstr>
      <vt:lpstr>Needham-Schroeder Public Key Protocol</vt:lpstr>
      <vt:lpstr>Needham-Schroeder Public Key Protocol</vt:lpstr>
      <vt:lpstr>Needham-Schroeder Public Key Protocol</vt:lpstr>
      <vt:lpstr>Needham-Schroeder Public Key Protocol</vt:lpstr>
      <vt:lpstr>First Attack on Needham-Schroeder</vt:lpstr>
      <vt:lpstr>First Attack on Needham-Schroeder</vt:lpstr>
      <vt:lpstr>First Attack on Needham-Schroeder</vt:lpstr>
      <vt:lpstr>First Attack on Needham-Schroeder</vt:lpstr>
      <vt:lpstr>First Attack on Needham-Schroeder</vt:lpstr>
      <vt:lpstr>Needham-Schroeder Public Key Protocol</vt:lpstr>
      <vt:lpstr>Type Confusion Attack on Needham-Schroeder</vt:lpstr>
      <vt:lpstr>Type Confusion Attack on Needham-Schroeder</vt:lpstr>
      <vt:lpstr>Type Confusion Attack on Needham-Schroeder</vt:lpstr>
      <vt:lpstr>Type Confusion Attack on Needham-Schroeder</vt:lpstr>
      <vt:lpstr>Type Confusion Attack on Needham-Schroeder</vt:lpstr>
      <vt:lpstr>Type Confusion Attack on Needham-Schroeder</vt:lpstr>
      <vt:lpstr>Roadmap</vt:lpstr>
      <vt:lpstr>Making Reasoning Tractable: Strong Typing Assumption</vt:lpstr>
      <vt:lpstr>Making Reasoning Tractable: Strong Typing Assumption</vt:lpstr>
      <vt:lpstr>Making Reasoning Tractable: Strong Typing Assumption</vt:lpstr>
      <vt:lpstr>Making Reasoning Tractable: Strong Typing Assumption</vt:lpstr>
      <vt:lpstr>Making Reasoning Tractable: Strong Typing Assumption</vt:lpstr>
      <vt:lpstr>Making Reasoning Tractable: Strong Typing Assumption</vt:lpstr>
      <vt:lpstr>Making Reasoning Tractable: Strong Typing Assumption</vt:lpstr>
      <vt:lpstr>Making Reasoning Tractable: Strong Typing Assumption</vt:lpstr>
      <vt:lpstr>Making Reasoning Tractable: Strong Typing Assumption</vt:lpstr>
      <vt:lpstr>Making Reasoning Tractable: Strong Typing Assumption</vt:lpstr>
      <vt:lpstr>Making Reasoning Tractable: Other Metatheorems</vt:lpstr>
      <vt:lpstr>Roadmap</vt:lpstr>
      <vt:lpstr>Discussion &amp; Research Questions</vt:lpstr>
      <vt:lpstr>Discussion &amp; Research Questions</vt:lpstr>
      <vt:lpstr>Discussion &amp; Research Questions</vt:lpstr>
      <vt:lpstr>Discussion &amp; Research Questions</vt:lpstr>
      <vt:lpstr>Discussion &amp; Research Questions</vt:lpstr>
      <vt:lpstr>Discussion &amp; Research Questions</vt:lpstr>
      <vt:lpstr>Discussion &amp; Research Questions</vt:lpstr>
      <vt:lpstr>Conclusion</vt:lpstr>
      <vt:lpstr>PowerPoint Presentation</vt:lpstr>
      <vt:lpstr>Formalizing Security Properties in the Symbolic Model</vt:lpstr>
      <vt:lpstr>Formalizing Security Properties in the Symbolic Model</vt:lpstr>
      <vt:lpstr>Formalizing Security Properties in the Symbolic Model</vt:lpstr>
      <vt:lpstr>Formalizing Security Properties in the Symbolic Model</vt:lpstr>
      <vt:lpstr>Formalizing Security Properties in the Symbolic Model</vt:lpstr>
      <vt:lpstr>Automated Property Satisfaction/Violation</vt:lpstr>
      <vt:lpstr>Automated Property Satisfaction/Violation</vt:lpstr>
      <vt:lpstr>Automated Property Satisfaction/Violation</vt:lpstr>
      <vt:lpstr>First Attack on Needham-Schroeder</vt:lpstr>
      <vt:lpstr>Making Reasoning Tractable: Strong Typing Assumption</vt:lpstr>
      <vt:lpstr>Making Reasoning Tractable: Strong Typing Assumption</vt:lpstr>
      <vt:lpstr>Making Reasoning Tractable: Strong Typing Assumption</vt:lpstr>
      <vt:lpstr>Making Reasoning Tractable: Strong Typing Assumption</vt:lpstr>
      <vt:lpstr>Making Reasoning Tractable: Strong Typing Assumption</vt:lpstr>
      <vt:lpstr>Roadmap</vt:lpstr>
      <vt:lpstr>Making Reasoning Expressive</vt:lpstr>
      <vt:lpstr>Making Reasoning Expressive</vt:lpstr>
      <vt:lpstr>Making Reasoning Expressive</vt:lpstr>
      <vt:lpstr>Making Reasoning Expressive</vt:lpstr>
      <vt:lpstr>Making Reasoning Expressive</vt:lpstr>
      <vt:lpstr>Making Reasoning Expressive</vt:lpstr>
      <vt:lpstr>Making Reasoning Expressive</vt:lpstr>
      <vt:lpstr>Making Reasoning Expressive</vt:lpstr>
      <vt:lpstr>Making Reasoning Expressive</vt:lpstr>
      <vt:lpstr>Making Reasoning Expressive</vt:lpstr>
      <vt:lpstr>Making Reasoning Expressive</vt:lpstr>
      <vt:lpstr>Appendix: Tamarin Property Specification Language</vt:lpstr>
      <vt:lpstr>Appendix: CCSA Model</vt:lpstr>
      <vt:lpstr>Appendix: BAN Logic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Reasoning for Security Protocols</dc:title>
  <dc:creator/>
  <cp:lastModifiedBy>Lorch, Robert M</cp:lastModifiedBy>
  <cp:revision>1145</cp:revision>
  <cp:lastPrinted>2026-04-01T18:06:29Z</cp:lastPrinted>
  <dcterms:created xsi:type="dcterms:W3CDTF">2026-03-16T17:02:12Z</dcterms:created>
  <dcterms:modified xsi:type="dcterms:W3CDTF">2026-04-23T17:07:25Z</dcterms:modified>
</cp:coreProperties>
</file>