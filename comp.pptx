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5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44" r:id="rId11"/>
    <p:sldId id="379" r:id="rId12"/>
    <p:sldId id="280" r:id="rId13"/>
    <p:sldId id="393" r:id="rId14"/>
    <p:sldId id="394" r:id="rId15"/>
    <p:sldId id="281" r:id="rId16"/>
    <p:sldId id="309" r:id="rId17"/>
    <p:sldId id="332" r:id="rId18"/>
    <p:sldId id="333" r:id="rId19"/>
    <p:sldId id="282" r:id="rId20"/>
    <p:sldId id="284" r:id="rId21"/>
    <p:sldId id="358" r:id="rId22"/>
    <p:sldId id="283" r:id="rId23"/>
    <p:sldId id="387" r:id="rId24"/>
    <p:sldId id="388" r:id="rId25"/>
    <p:sldId id="389" r:id="rId26"/>
    <p:sldId id="391" r:id="rId27"/>
    <p:sldId id="380" r:id="rId28"/>
    <p:sldId id="263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81" r:id="rId62"/>
    <p:sldId id="304" r:id="rId63"/>
    <p:sldId id="364" r:id="rId64"/>
    <p:sldId id="305" r:id="rId65"/>
    <p:sldId id="337" r:id="rId66"/>
    <p:sldId id="340" r:id="rId67"/>
    <p:sldId id="406" r:id="rId68"/>
    <p:sldId id="409" r:id="rId69"/>
    <p:sldId id="418" r:id="rId70"/>
    <p:sldId id="312" r:id="rId71"/>
    <p:sldId id="262" r:id="rId72"/>
    <p:sldId id="334" r:id="rId73"/>
    <p:sldId id="335" r:id="rId74"/>
    <p:sldId id="336" r:id="rId75"/>
    <p:sldId id="365" r:id="rId76"/>
    <p:sldId id="367" r:id="rId77"/>
    <p:sldId id="368" r:id="rId78"/>
    <p:sldId id="307" r:id="rId79"/>
    <p:sldId id="374" r:id="rId80"/>
    <p:sldId id="308" r:id="rId81"/>
    <p:sldId id="306" r:id="rId82"/>
    <p:sldId id="366" r:id="rId83"/>
    <p:sldId id="310" r:id="rId84"/>
    <p:sldId id="373" r:id="rId85"/>
    <p:sldId id="311" r:id="rId86"/>
    <p:sldId id="410" r:id="rId87"/>
    <p:sldId id="314" r:id="rId88"/>
    <p:sldId id="419" r:id="rId89"/>
    <p:sldId id="382" r:id="rId90"/>
    <p:sldId id="369" r:id="rId91"/>
    <p:sldId id="371" r:id="rId92"/>
    <p:sldId id="370" r:id="rId93"/>
    <p:sldId id="384" r:id="rId94"/>
    <p:sldId id="417" r:id="rId95"/>
    <p:sldId id="372" r:id="rId96"/>
    <p:sldId id="385" r:id="rId97"/>
    <p:sldId id="352" r:id="rId98"/>
    <p:sldId id="272" r:id="rId99"/>
    <p:sldId id="407" r:id="rId100"/>
    <p:sldId id="273" r:id="rId101"/>
    <p:sldId id="414" r:id="rId102"/>
    <p:sldId id="415" r:id="rId103"/>
    <p:sldId id="412" r:id="rId104"/>
    <p:sldId id="413" r:id="rId105"/>
    <p:sldId id="416" r:id="rId106"/>
    <p:sldId id="301" r:id="rId107"/>
    <p:sldId id="300" r:id="rId108"/>
    <p:sldId id="270" r:id="rId109"/>
    <p:sldId id="345" r:id="rId110"/>
    <p:sldId id="346" r:id="rId111"/>
    <p:sldId id="347" r:id="rId112"/>
    <p:sldId id="361" r:id="rId113"/>
    <p:sldId id="378" r:id="rId114"/>
    <p:sldId id="348" r:id="rId115"/>
    <p:sldId id="360" r:id="rId116"/>
    <p:sldId id="363" r:id="rId117"/>
    <p:sldId id="349" r:id="rId118"/>
    <p:sldId id="353" r:id="rId119"/>
    <p:sldId id="355" r:id="rId120"/>
    <p:sldId id="317" r:id="rId121"/>
    <p:sldId id="299" r:id="rId122"/>
    <p:sldId id="316" r:id="rId123"/>
    <p:sldId id="257" r:id="rId1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4" autoAdjust="0"/>
    <p:restoredTop sz="85918"/>
  </p:normalViewPr>
  <p:slideViewPr>
    <p:cSldViewPr snapToGrid="0">
      <p:cViewPr>
        <p:scale>
          <a:sx n="78" d="100"/>
          <a:sy n="78" d="100"/>
        </p:scale>
        <p:origin x="69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990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030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227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609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076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86.png"/><Relationship Id="rId7" Type="http://schemas.openxmlformats.org/officeDocument/2006/relationships/image" Target="../media/image32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88.png"/><Relationship Id="rId10" Type="http://schemas.openxmlformats.org/officeDocument/2006/relationships/image" Target="../media/image89.png"/><Relationship Id="rId4" Type="http://schemas.openxmlformats.org/officeDocument/2006/relationships/image" Target="../media/image87.png"/><Relationship Id="rId9" Type="http://schemas.openxmlformats.org/officeDocument/2006/relationships/image" Target="../media/image35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6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0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5.png"/><Relationship Id="rId4" Type="http://schemas.openxmlformats.org/officeDocument/2006/relationships/image" Target="../media/image112.png"/><Relationship Id="rId9" Type="http://schemas.openxmlformats.org/officeDocument/2006/relationships/image" Target="../media/image10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19.png"/><Relationship Id="rId4" Type="http://schemas.openxmlformats.org/officeDocument/2006/relationships/image" Target="../media/image10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5" Type="http://schemas.openxmlformats.org/officeDocument/2006/relationships/image" Target="../media/image105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7" Type="http://schemas.openxmlformats.org/officeDocument/2006/relationships/image" Target="../media/image1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3" Type="http://schemas.openxmlformats.org/officeDocument/2006/relationships/image" Target="../media/image22.png"/><Relationship Id="rId7" Type="http://schemas.openxmlformats.org/officeDocument/2006/relationships/image" Target="../media/image102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2099864" y="2692117"/>
            <a:ext cx="1458122" cy="1929455"/>
            <a:chOff x="2146300" y="2692117"/>
            <a:chExt cx="1458122" cy="19294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146300" y="3948985"/>
              <a:ext cx="145812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974850" y="4588235"/>
            <a:ext cx="1708150" cy="2051996"/>
            <a:chOff x="1974850" y="4588235"/>
            <a:chExt cx="1708150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974850" y="5967644"/>
              <a:ext cx="170815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9000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511105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E9C1032-4019-C80B-DE37-F98453DD196B}"/>
              </a:ext>
            </a:extLst>
          </p:cNvPr>
          <p:cNvGrpSpPr/>
          <p:nvPr/>
        </p:nvGrpSpPr>
        <p:grpSpPr>
          <a:xfrm>
            <a:off x="619539" y="2559080"/>
            <a:ext cx="6097656" cy="672727"/>
            <a:chOff x="619539" y="2559080"/>
            <a:chExt cx="6097656" cy="6727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03E128-FF21-0FFF-65D7-47E3EE261B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3700" y="2559080"/>
              <a:ext cx="672727" cy="6727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4181EF-049F-5BE0-0683-CADD64C44E03}"/>
                </a:ext>
              </a:extLst>
            </p:cNvPr>
            <p:cNvSpPr txBox="1"/>
            <p:nvPr/>
          </p:nvSpPr>
          <p:spPr>
            <a:xfrm>
              <a:off x="619539" y="2645499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Victories of SOTA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776CD2-5120-4F7D-CD57-F81BE40BAE04}"/>
              </a:ext>
            </a:extLst>
          </p:cNvPr>
          <p:cNvGrpSpPr/>
          <p:nvPr/>
        </p:nvGrpSpPr>
        <p:grpSpPr>
          <a:xfrm>
            <a:off x="6022561" y="2603343"/>
            <a:ext cx="6097656" cy="584200"/>
            <a:chOff x="6022561" y="2603343"/>
            <a:chExt cx="6097656" cy="584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7166B5-00B6-926D-5693-AF2AE90AF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3400" y="2603343"/>
              <a:ext cx="584200" cy="5842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F62373-57FD-30E0-26BA-62CB76D82752}"/>
                </a:ext>
              </a:extLst>
            </p:cNvPr>
            <p:cNvSpPr txBox="1"/>
            <p:nvPr/>
          </p:nvSpPr>
          <p:spPr>
            <a:xfrm>
              <a:off x="6022561" y="2639997"/>
              <a:ext cx="60976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en-US" sz="2400" dirty="0">
                  <a:latin typeface="Britannic Bold" panose="020B0903060703020204" pitchFamily="34" charset="77"/>
                  <a:ea typeface="Source Sans Pro"/>
                </a:rPr>
                <a:t>Drawbacks of SOTA</a:t>
              </a: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(semi)-automated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</a:t>
            </a:r>
            <a:endParaRPr lang="en-US" dirty="0"/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1117600" y="1612583"/>
            <a:ext cx="10525760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1117600" y="3352182"/>
            <a:ext cx="10525760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261143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447823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261143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447823" y="4244849"/>
            <a:ext cx="5195537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51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291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1117600" y="5035191"/>
            <a:ext cx="10525760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1171591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447823" y="5889266"/>
            <a:ext cx="5195537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24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000000"/>
                </a:solidFill>
                <a:ea typeface="Source Sans Pro"/>
              </a:rPr>
              <a:t>Objective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r>
              <a:rPr lang="en-US" dirty="0">
                <a:ea typeface="Source Sans Pro"/>
              </a:rPr>
              <a:t>, 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roles,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primitives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268425-787A-EE67-7AE8-D786A7CA8056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2873C5-2BCB-0426-B2DB-D2A6CC8EC5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565D10D-C2EA-18ED-B065-AAB7CCEE354C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BF34C046-40AB-E97D-1D02-6D4192C08689}"/>
              </a:ext>
            </a:extLst>
          </p:cNvPr>
          <p:cNvSpPr/>
          <p:nvPr/>
        </p:nvSpPr>
        <p:spPr>
          <a:xfrm>
            <a:off x="4922643" y="4006468"/>
            <a:ext cx="608343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68F2D-8948-E3B3-CA50-3245307C249B}"/>
              </a:ext>
            </a:extLst>
          </p:cNvPr>
          <p:cNvSpPr/>
          <p:nvPr/>
        </p:nvSpPr>
        <p:spPr>
          <a:xfrm>
            <a:off x="5473369" y="4683309"/>
            <a:ext cx="913067" cy="29746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076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27358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5273801" y="3492850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5214835" y="3905599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954981" y="3059668"/>
            <a:ext cx="3946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444499" y="3290501"/>
            <a:ext cx="510482" cy="328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85533" y="3290501"/>
            <a:ext cx="569448" cy="741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9E92C4-6F3A-185A-2DDB-FD97B92D29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62" b="133"/>
          <a:stretch>
            <a:fillRect/>
          </a:stretch>
        </p:blipFill>
        <p:spPr>
          <a:xfrm>
            <a:off x="952500" y="2506504"/>
            <a:ext cx="7479352" cy="340981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1649766" y="344749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3264480" y="3860245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6784433" y="6129400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73120" y="6314066"/>
            <a:ext cx="3411313" cy="461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411" y="5794251"/>
            <a:ext cx="1005839" cy="1005839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𝐷𝑒𝑐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𝐸𝑛𝑐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𝐺𝑒𝑛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𝐸𝑛𝑐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𝐷𝑒𝑐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𝑠𝑟</m:t>
                    </m:r>
                    <m:r>
                      <m:rPr>
                        <m:lit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_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238269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717390-3E25-E567-F1C6-AAFD7BA580AD}"/>
              </a:ext>
            </a:extLst>
          </p:cNvPr>
          <p:cNvSpPr/>
          <p:nvPr/>
        </p:nvSpPr>
        <p:spPr>
          <a:xfrm>
            <a:off x="0" y="3084050"/>
            <a:ext cx="12192000" cy="1544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currently too difficult to automate, so we instead use the symbolic threat model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6" grpId="1" animBg="1"/>
      <p:bldP spid="10" grpId="0"/>
      <p:bldP spid="12" grpId="0"/>
      <p:bldP spid="12" grpId="1"/>
      <p:bldP spid="13" grpId="0"/>
      <p:bldP spid="14" grpId="0"/>
      <p:bldP spid="15" grpId="0"/>
      <p:bldP spid="15" grpId="1"/>
      <p:bldP spid="7" grpId="0" animBg="1"/>
      <p:bldP spid="7" grpId="1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𝑑𝑒𝑐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71520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1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1993211" y="1595460"/>
            <a:ext cx="85445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state is a multiset of facts that evolves at each rewrite rule application</a:t>
            </a:r>
          </a:p>
        </p:txBody>
      </p: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The above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791918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900520" cy="646331"/>
              </a:xfrm>
              <a:prstGeom prst="rect">
                <a:avLst/>
              </a:prstGeom>
              <a:blipFill>
                <a:blip r:embed="rId8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𝑆𝑡𝑎𝑡𝑒𝐹𝑎𝑐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843903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𝑒𝑛𝑐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7480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6667" r="-33333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123" y="3331097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213" y="3124336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4059653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25" grpId="0"/>
      <p:bldP spid="26" grpId="0"/>
      <p:bldP spid="27" grpId="0" animBg="1"/>
      <p:bldP spid="18" grpId="0"/>
      <p:bldP spid="20" grpId="0"/>
      <p:bldP spid="21" grpId="0"/>
      <p:bldP spid="35" grpId="0" animBg="1"/>
      <p:bldP spid="38" grpId="0" animBg="1"/>
      <p:bldP spid="40" grpId="0"/>
      <p:bldP spid="41" grpId="0"/>
      <p:bldP spid="42" grpId="0"/>
      <p:bldP spid="4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𝑂𝑢𝑡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a:rPr lang="en-US" sz="18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4788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𝐼𝑛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𝐾𝑒𝑦𝐵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{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𝑀𝑦𝐸𝑛𝑐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}</m:t>
                          </m:r>
                        </m:sup>
                      </m:sSup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652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𝐹𝑟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𝐾𝑒𝑦𝐵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974554-2FD0-1B33-591D-992A645EF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886D1EC-B8A1-3888-792C-9DF368AA63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𝑆𝑡𝐴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1(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4255" y="3242119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815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7024255" y="3545489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1281545" y="3536457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1267690" y="3939090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C9AA63-C42F-C1C6-4DA4-E4EC8715B406}"/>
              </a:ext>
            </a:extLst>
          </p:cNvPr>
          <p:cNvSpPr/>
          <p:nvPr/>
        </p:nvSpPr>
        <p:spPr>
          <a:xfrm>
            <a:off x="1267690" y="313409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F1F48DC-3375-8098-7CF8-B70A5EDD44B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5936675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B593DB-3C18-5F46-883B-7885CD9EF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4" t="2378" r="50" b="125"/>
          <a:stretch>
            <a:fillRect/>
          </a:stretch>
        </p:blipFill>
        <p:spPr>
          <a:xfrm>
            <a:off x="951263" y="2328000"/>
            <a:ext cx="5555351" cy="21913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/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3C93D97-FF3E-D7B5-E2F3-D6F7D3B49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8760774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𝑃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𝑆𝑡𝐴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𝑂𝑢𝑡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8760774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𝑝𝑘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𝐼𝑑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𝐼𝑑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𝑃𝑘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𝑝𝑘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𝑝𝑘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63628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encode properties in a variant of first-order logic</a:t>
            </a:r>
            <a:endParaRPr lang="en-US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3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3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𝑆𝑒𝑐𝑟𝑒𝑡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𝐹𝑟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509067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𝐹𝑟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𝑆𝑒𝑐𝑟𝑒𝑡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53107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𝑂𝑢𝑡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10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905056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𝑆𝑒𝑛𝑡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954107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/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distinct accept with the same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0000"/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endParaRPr lang="en-US" sz="2800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   No replay attacks!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0A7454-35E9-C90B-7F6B-20F832B3C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906" y="3644938"/>
                <a:ext cx="7034201" cy="1384995"/>
              </a:xfrm>
              <a:prstGeom prst="rect">
                <a:avLst/>
              </a:prstGeom>
              <a:blipFill>
                <a:blip r:embed="rId3"/>
                <a:stretch>
                  <a:fillRect b="-11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A338B-A6D9-FF2C-6641-6162DC89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38207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5874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𝐴𝑐𝑐𝑒𝑝𝑡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𝑆𝑒𝑛𝑡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𝐴𝑐𝑐𝑒𝑝𝑡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   Too strong?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500669"/>
              </a:xfrm>
              <a:blipFill>
                <a:blip r:embed="rId2"/>
                <a:stretch>
                  <a:fillRect l="-1206" t="-288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90076" cy="2316606"/>
            <a:chOff x="4062519" y="4419020"/>
            <a:chExt cx="349007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21C949-3379-22B7-A74D-36965B406CB0}"/>
                </a:ext>
              </a:extLst>
            </p:cNvPr>
            <p:cNvSpPr txBox="1"/>
            <p:nvPr/>
          </p:nvSpPr>
          <p:spPr>
            <a:xfrm>
              <a:off x="4140283" y="4419022"/>
              <a:ext cx="11721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Sent by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ECD5AD-35D3-7A88-ECED-33BA0CEDC684}"/>
                </a:ext>
              </a:extLst>
            </p:cNvPr>
            <p:cNvSpPr txBox="1"/>
            <p:nvPr/>
          </p:nvSpPr>
          <p:spPr>
            <a:xfrm>
              <a:off x="5880342" y="4419020"/>
              <a:ext cx="16722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latin typeface=""/>
                  <a:ea typeface="Source Sans Pro"/>
                </a:rPr>
                <a:t>Accepted by B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DAC5EA-6609-CA17-4E7F-09770762D15D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680655" y="5221952"/>
              <a:ext cx="1607579" cy="641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238C3F-FB10-41AF-F1A6-AC4C6D0342E0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 flipV="1">
              <a:off x="4766209" y="5824307"/>
              <a:ext cx="1610264" cy="6756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697" y="5709787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4377" y="5052574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582B76-80D0-C233-A48D-FDEF0CF9A23C}"/>
              </a:ext>
            </a:extLst>
          </p:cNvPr>
          <p:cNvSpPr txBox="1"/>
          <p:nvPr/>
        </p:nvSpPr>
        <p:spPr>
          <a:xfrm>
            <a:off x="7951443" y="4383976"/>
            <a:ext cx="1172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Sent by 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17C6F7-E02E-D396-6F48-EA3FE8518D99}"/>
              </a:ext>
            </a:extLst>
          </p:cNvPr>
          <p:cNvSpPr txBox="1"/>
          <p:nvPr/>
        </p:nvSpPr>
        <p:spPr>
          <a:xfrm>
            <a:off x="9691502" y="4383974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Accepted by B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8753F42-680F-2EE0-AA73-61AC7E3D7335}"/>
              </a:ext>
            </a:extLst>
          </p:cNvPr>
          <p:cNvCxnSpPr>
            <a:cxnSpLocks/>
            <a:stCxn id="65" idx="6"/>
            <a:endCxn id="67" idx="2"/>
          </p:cNvCxnSpPr>
          <p:nvPr/>
        </p:nvCxnSpPr>
        <p:spPr>
          <a:xfrm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ED33E4-E40E-069B-508B-0D50B2D71545}"/>
              </a:ext>
            </a:extLst>
          </p:cNvPr>
          <p:cNvCxnSpPr>
            <a:cxnSpLocks/>
          </p:cNvCxnSpPr>
          <p:nvPr/>
        </p:nvCxnSpPr>
        <p:spPr>
          <a:xfrm flipV="1">
            <a:off x="9442131" y="5789261"/>
            <a:ext cx="745502" cy="35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586" y="5000609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0686" y="5582764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7675" y="5604595"/>
                <a:ext cx="37151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537" y="5017528"/>
                <a:ext cx="37151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643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3848350" y="2252087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 generic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𝐸𝑞𝑢𝑖𝑣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74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67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𝐹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7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5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8" grpId="0" animBg="1"/>
      <p:bldP spid="2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446367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sz="2800" dirty="0">
                <a:latin typeface="Source Sans Pro"/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We have achieved mutual authentication!(?)</a:t>
                </a:r>
              </a:p>
              <a:p>
                <a:pPr algn="ctr"/>
                <a:endParaRPr lang="en-US" sz="18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124436"/>
                <a:ext cx="8503920" cy="1325562"/>
              </a:xfrm>
              <a:prstGeom prst="roundRect">
                <a:avLst/>
              </a:prstGeom>
              <a:blipFill>
                <a:blip r:embed="rId3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4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47098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5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0BB604B-CEF3-9DD0-C974-F6C6E768E9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6692AD-2E6E-6BC5-F961-7F45EFCD9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968B4A1-F00C-A21C-085C-FED648094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412192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3481209"/>
                <a:ext cx="2480801" cy="646331"/>
              </a:xfrm>
              <a:prstGeom prst="rect">
                <a:avLst/>
              </a:prstGeom>
              <a:blipFill>
                <a:blip r:embed="rId4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4229013"/>
                <a:ext cx="2958959" cy="646331"/>
              </a:xfrm>
              <a:prstGeom prst="rect">
                <a:avLst/>
              </a:prstGeom>
              <a:blipFill>
                <a:blip r:embed="rId5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66" y="5005483"/>
                <a:ext cx="2480801" cy="669992"/>
              </a:xfrm>
              <a:prstGeom prst="rect">
                <a:avLst/>
              </a:prstGeom>
              <a:blipFill>
                <a:blip r:embed="rId6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71BAAFE-6D6D-463C-9696-E1F1DA843A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28B22648-123B-FF75-8065-DB7EA9DD3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3AA6AB4-BB1C-76B6-FB51-CE9CC01660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2966489" y="2374490"/>
            <a:ext cx="7497507" cy="3409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3372435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648809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F19821-325D-199F-8A7E-37AD0F7D5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35BCEE0E-1252-CED5-B4C7-EC725FB90C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5F402C0-8D56-01E9-6EBC-58E157A247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𝐹𝑟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𝑃𝑘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𝑝𝑘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𝑅𝑒𝑣𝑒𝑎𝑙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𝑂𝑢𝑡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𝐼𝑑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381130"/>
              </a:xfrm>
              <a:prstGeom prst="rect">
                <a:avLst/>
              </a:prstGeom>
              <a:blipFill>
                <a:blip r:embed="rId5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6164AC2-CDD3-9244-DB30-E82575F60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898BC30-C0E7-0EF5-7641-555851106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EDBAAE39-28A0-EDFF-5B9F-BBB2D30F0E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10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70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1580991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2714072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84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5780833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252720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393246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4767943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4767943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951263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CD3DE54A-AA22-4D64-868B-F7FD96CF23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545D4E14-EA23-5BFD-391C-024A2C31A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72383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 initiation!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47738A-5BD2-2A82-821F-A5A4667A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50EA721E-16C8-3300-AC25-0C425EDDC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A6FB29C-44F8-C3E4-2AD3-AB38FAFC8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5E090C31-A8A4-2C6B-B263-D594BF52846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0488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2812117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817764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2AC43B8-0A3F-1D34-D1E7-6F83D40DA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D0E4918-27FC-A31B-4744-47F07F4B4C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416C248-7663-02AF-CA5F-16C8E37AB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3C0B6612-DC15-CA90-EA96-4EC2594F10AA}"/>
              </a:ext>
            </a:extLst>
          </p:cNvPr>
          <p:cNvSpPr/>
          <p:nvPr/>
        </p:nvSpPr>
        <p:spPr>
          <a:xfrm>
            <a:off x="7037613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𝐼𝑛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6CCC7C4-D8A2-AAE6-51A0-EF613A832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243" y="2311773"/>
                <a:ext cx="10515600" cy="168110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𝐹𝑟</m:t>
                              </m:r>
                            </m:sup>
                          </m:sSub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𝑃𝑢𝑏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907" y="4435864"/>
                <a:ext cx="4179467" cy="505779"/>
              </a:xfrm>
              <a:prstGeom prst="rect">
                <a:avLst/>
              </a:prstGeom>
              <a:blipFill>
                <a:blip r:embed="rId4"/>
                <a:stretch>
                  <a:fillRect b="-1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12080" y="2724316"/>
            <a:ext cx="3515360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D25B05D4-DEEF-C45E-6056-1FD4AAC3C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CB701628-0177-BFA5-A897-5898D74187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74CFE3B9-912F-AE70-B55D-0501F4E08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338112" y="3175000"/>
            <a:ext cx="4287727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7B380F-7AD5-DC68-DD2D-E1AA7779E69F}"/>
              </a:ext>
            </a:extLst>
          </p:cNvPr>
          <p:cNvSpPr/>
          <p:nvPr/>
        </p:nvSpPr>
        <p:spPr>
          <a:xfrm>
            <a:off x="9595912" y="2908989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2" grpId="0" animBg="1"/>
      <p:bldP spid="16" grpId="0" animBg="1"/>
      <p:bldP spid="1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56067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𝑅𝑢𝑙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′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={}→{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𝑂𝑢𝑡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𝑎𝑒𝑛𝑐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𝑃𝑘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280292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dirty="0">
              <a:ea typeface="Source Sans Pro"/>
            </a:endParaRPr>
          </a:p>
          <a:p>
            <a:r>
              <a:rPr lang="en-US" sz="2800" dirty="0">
                <a:ea typeface="Source Sans Pro"/>
              </a:rPr>
              <a:t>Discussion, Open Questions, &amp; Conclusion 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3200" dirty="0">
                <a:ea typeface="Source Sans Pro"/>
              </a:rPr>
              <a:t>Reminder: symbolic model (unbounded)                protocol security is undecidable</a:t>
            </a:r>
            <a:endParaRPr lang="en-US" sz="3200" dirty="0">
              <a:solidFill>
                <a:schemeClr val="accent6">
                  <a:lumMod val="7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3" y="3600067"/>
            <a:ext cx="5769659" cy="247624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974840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974840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04380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I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but gets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𝑡𝑎</m:t>
                    </m:r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𝑔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28826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𝑓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𝑡𝑎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B5DD69B-0DFD-7846-D865-8FBF46138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4FEB67BF-8CC9-6691-F4CC-F45D3BF45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13A496DB-518F-D625-B601-47A965936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3" name="Picture 12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61C6F8A8-9751-0408-87C2-548F82D2C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3304" y="2438600"/>
            <a:ext cx="4344995" cy="343788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1311" y="4219927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246356" y="3450344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/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,⟩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86D69FE0-2BF6-BE3B-DE1C-E0D511FD9C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/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:⟨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𝑡𝑎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E996F16-3066-D07B-0A9C-A5AA4AC0E9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/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"/>
                        </a:rPr>
                        <m:t>3.</m:t>
                      </m:r>
                      <m:r>
                        <a:rPr lang="en-US" i="1">
                          <a:latin typeface="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: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𝑎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_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𝑒𝑛𝑐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⟨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𝑡𝑎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⟩,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𝑃𝑘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675CB76-B7F6-A35A-1BB2-A970B66E9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20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335332" y="4948562"/>
            <a:ext cx="4289566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2620138" y="5843030"/>
            <a:ext cx="3604671" cy="5543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0" y="2756392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4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7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0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2" grpId="0"/>
      <p:bldP spid="14" grpId="0" animBg="1"/>
      <p:bldP spid="15" grpId="0" animBg="1"/>
      <p:bldP spid="19" grpId="0" animBg="1"/>
      <p:bldP spid="21" grpId="0" animBg="1"/>
      <p:bldP spid="21" grpId="1" animBg="1"/>
      <p:bldP spid="22" grpId="0" animBg="1"/>
      <p:bldP spid="22" grpId="1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86465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37279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524000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454401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Source Sans Pro"/>
              </a:rPr>
              <a:t>Objective</a:t>
            </a:r>
          </a:p>
          <a:p>
            <a:r>
              <a:rPr lang="en-US" dirty="0"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ea typeface="Source Sans Pro"/>
              </a:rPr>
              <a:t>Automated reasoning for protocols </a:t>
            </a:r>
          </a:p>
          <a:p>
            <a:r>
              <a:rPr lang="en-US" dirty="0"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ea typeface="Source Sans Pro"/>
              </a:rPr>
              <a:t>Type confusion!</a:t>
            </a:r>
          </a:p>
          <a:p>
            <a:r>
              <a:rPr lang="en-US" dirty="0">
                <a:ea typeface="Source Sans Pro"/>
              </a:rPr>
              <a:t>Making reasoning tractable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Open Questions, &amp; Conclusion</a:t>
            </a:r>
          </a:p>
          <a:p>
            <a:r>
              <a:rPr lang="en-US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2CDD4-A2CB-32B7-F2A2-3F82765ECBCD}"/>
              </a:ext>
            </a:extLst>
          </p:cNvPr>
          <p:cNvGrpSpPr/>
          <p:nvPr/>
        </p:nvGrpSpPr>
        <p:grpSpPr>
          <a:xfrm>
            <a:off x="2570480" y="3820160"/>
            <a:ext cx="6725329" cy="2887043"/>
            <a:chOff x="2487168" y="3440475"/>
            <a:chExt cx="7065264" cy="342117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2F69930-C776-20D9-9B54-216A6A2E91D6}"/>
                </a:ext>
              </a:extLst>
            </p:cNvPr>
            <p:cNvSpPr/>
            <p:nvPr/>
          </p:nvSpPr>
          <p:spPr>
            <a:xfrm>
              <a:off x="2487168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B765F9C-1C59-4D91-07DA-684D125E4978}"/>
                </a:ext>
              </a:extLst>
            </p:cNvPr>
            <p:cNvSpPr/>
            <p:nvPr/>
          </p:nvSpPr>
          <p:spPr>
            <a:xfrm>
              <a:off x="4419600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591F1D5-E183-AA04-E8A2-35920459F27E}"/>
                </a:ext>
              </a:extLst>
            </p:cNvPr>
            <p:cNvSpPr/>
            <p:nvPr/>
          </p:nvSpPr>
          <p:spPr>
            <a:xfrm>
              <a:off x="6352032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06A176-F6D2-0183-B3A1-65B916D475A9}"/>
                </a:ext>
              </a:extLst>
            </p:cNvPr>
            <p:cNvSpPr/>
            <p:nvPr/>
          </p:nvSpPr>
          <p:spPr>
            <a:xfrm>
              <a:off x="8284464" y="4690047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ED7CE68-BBD2-4DE4-ED8A-246528FCF1B5}"/>
                </a:ext>
              </a:extLst>
            </p:cNvPr>
            <p:cNvSpPr/>
            <p:nvPr/>
          </p:nvSpPr>
          <p:spPr>
            <a:xfrm>
              <a:off x="5404104" y="5923915"/>
              <a:ext cx="1267968" cy="9144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13" name="Elbow Connector 12">
              <a:extLst>
                <a:ext uri="{FF2B5EF4-FFF2-40B4-BE49-F238E27FC236}">
                  <a16:creationId xmlns:a16="http://schemas.microsoft.com/office/drawing/2014/main" id="{7F912332-AB1B-C695-5BF6-5CC516A5CCF2}"/>
                </a:ext>
              </a:extLst>
            </p:cNvPr>
            <p:cNvCxnSpPr>
              <a:cxnSpLocks/>
              <a:stCxn id="11" idx="1"/>
              <a:endCxn id="5" idx="2"/>
            </p:cNvCxnSpPr>
            <p:nvPr/>
          </p:nvCxnSpPr>
          <p:spPr>
            <a:xfrm rot="10800000">
              <a:off x="3121152" y="5604447"/>
              <a:ext cx="2282952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lbow Connector 14">
              <a:extLst>
                <a:ext uri="{FF2B5EF4-FFF2-40B4-BE49-F238E27FC236}">
                  <a16:creationId xmlns:a16="http://schemas.microsoft.com/office/drawing/2014/main" id="{478B3F80-9B63-E799-2CC3-9E24F3931DA8}"/>
                </a:ext>
              </a:extLst>
            </p:cNvPr>
            <p:cNvCxnSpPr>
              <a:cxnSpLocks/>
              <a:stCxn id="11" idx="3"/>
              <a:endCxn id="10" idx="2"/>
            </p:cNvCxnSpPr>
            <p:nvPr/>
          </p:nvCxnSpPr>
          <p:spPr>
            <a:xfrm flipV="1">
              <a:off x="6672072" y="5604447"/>
              <a:ext cx="2246376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Elbow Connector 16">
              <a:extLst>
                <a:ext uri="{FF2B5EF4-FFF2-40B4-BE49-F238E27FC236}">
                  <a16:creationId xmlns:a16="http://schemas.microsoft.com/office/drawing/2014/main" id="{ED29170D-C608-5EE6-BCF0-727E7CDC8BF7}"/>
                </a:ext>
              </a:extLst>
            </p:cNvPr>
            <p:cNvCxnSpPr>
              <a:cxnSpLocks/>
              <a:stCxn id="11" idx="1"/>
              <a:endCxn id="8" idx="2"/>
            </p:cNvCxnSpPr>
            <p:nvPr/>
          </p:nvCxnSpPr>
          <p:spPr>
            <a:xfrm rot="10800000">
              <a:off x="5053584" y="5604447"/>
              <a:ext cx="350520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656132C5-635D-C8B6-13A7-0DD6DEC7B299}"/>
                </a:ext>
              </a:extLst>
            </p:cNvPr>
            <p:cNvCxnSpPr>
              <a:cxnSpLocks/>
              <a:stCxn id="11" idx="3"/>
              <a:endCxn id="9" idx="2"/>
            </p:cNvCxnSpPr>
            <p:nvPr/>
          </p:nvCxnSpPr>
          <p:spPr>
            <a:xfrm flipV="1">
              <a:off x="6672072" y="56044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F00FD49-A5B5-E700-9AC7-89275E879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72357" y="5831884"/>
              <a:ext cx="476504" cy="476504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52167E3-17E3-D57A-92A9-70000F3B5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89631" y="5831884"/>
              <a:ext cx="476504" cy="476504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E7C7281-C90E-E0C0-3BE1-20F42FE3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76475" y="5819692"/>
              <a:ext cx="500888" cy="500888"/>
            </a:xfrm>
            <a:prstGeom prst="rect">
              <a:avLst/>
            </a:prstGeom>
          </p:spPr>
        </p:pic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3E319BDC-A2C6-88FE-2039-B0E17E60EA4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16200000" flipH="1">
              <a:off x="5474494" y="5360321"/>
              <a:ext cx="776668" cy="350520"/>
            </a:xfrm>
            <a:prstGeom prst="bentConnector3">
              <a:avLst>
                <a:gd name="adj1" fmla="val -233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>
              <a:extLst>
                <a:ext uri="{FF2B5EF4-FFF2-40B4-BE49-F238E27FC236}">
                  <a16:creationId xmlns:a16="http://schemas.microsoft.com/office/drawing/2014/main" id="{D0680970-AC2F-EB19-AAA9-44A6596F232C}"/>
                </a:ext>
              </a:extLst>
            </p:cNvPr>
            <p:cNvCxnSpPr>
              <a:cxnSpLocks/>
              <a:stCxn id="9" idx="1"/>
              <a:endCxn id="11" idx="0"/>
            </p:cNvCxnSpPr>
            <p:nvPr/>
          </p:nvCxnSpPr>
          <p:spPr>
            <a:xfrm rot="10800000" flipV="1">
              <a:off x="6038088" y="5147247"/>
              <a:ext cx="313944" cy="77666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8CC4BB0-2E84-1437-DAB5-1EFC20F5862C}"/>
                </a:ext>
              </a:extLst>
            </p:cNvPr>
            <p:cNvCxnSpPr>
              <a:cxnSpLocks/>
              <a:stCxn id="10" idx="0"/>
              <a:endCxn id="11" idx="0"/>
            </p:cNvCxnSpPr>
            <p:nvPr/>
          </p:nvCxnSpPr>
          <p:spPr>
            <a:xfrm rot="16200000" flipH="1" flipV="1">
              <a:off x="6861334" y="3866801"/>
              <a:ext cx="1233868" cy="2880360"/>
            </a:xfrm>
            <a:prstGeom prst="bentConnector3">
              <a:avLst>
                <a:gd name="adj1" fmla="val -2927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7CF1E0B4-FDF6-549A-2FA8-9F5808DE46A0}"/>
                </a:ext>
              </a:extLst>
            </p:cNvPr>
            <p:cNvCxnSpPr>
              <a:cxnSpLocks/>
              <a:stCxn id="5" idx="0"/>
              <a:endCxn id="11" idx="0"/>
            </p:cNvCxnSpPr>
            <p:nvPr/>
          </p:nvCxnSpPr>
          <p:spPr>
            <a:xfrm rot="16200000" flipH="1">
              <a:off x="3962686" y="3848513"/>
              <a:ext cx="1233868" cy="2916936"/>
            </a:xfrm>
            <a:prstGeom prst="bentConnector3">
              <a:avLst>
                <a:gd name="adj1" fmla="val -29396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879377B4-E86C-9A19-6778-B1D4CB0B4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5857" y="3725734"/>
              <a:ext cx="476504" cy="476504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5D7FA38-7EC8-8849-E603-5F9027EED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131" y="3725734"/>
              <a:ext cx="476504" cy="476504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6916E8A-D83C-FB78-0F08-6092E202D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86679" y="3713542"/>
              <a:ext cx="500888" cy="500888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F8E46FB4-5505-2D6B-EF28-8CA081830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90686" y="5831884"/>
              <a:ext cx="476504" cy="476504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22143079-FDF6-FED4-DA45-1A3F9AF82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7960" y="5831884"/>
              <a:ext cx="476504" cy="476504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F19D24E6-E3E2-B209-12E5-1F24EA636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4804" y="5819692"/>
              <a:ext cx="500888" cy="500888"/>
            </a:xfrm>
            <a:prstGeom prst="rect">
              <a:avLst/>
            </a:prstGeom>
          </p:spPr>
        </p:pic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5892A11D-D3E4-5DD4-50FB-9C69DE612000}"/>
                </a:ext>
              </a:extLst>
            </p:cNvPr>
            <p:cNvSpPr txBox="1">
              <a:spLocks/>
            </p:cNvSpPr>
            <p:nvPr/>
          </p:nvSpPr>
          <p:spPr>
            <a:xfrm>
              <a:off x="5362914" y="6168407"/>
              <a:ext cx="1341753" cy="46224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Environment multiplexer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2" name="Content Placeholder 2">
              <a:extLst>
                <a:ext uri="{FF2B5EF4-FFF2-40B4-BE49-F238E27FC236}">
                  <a16:creationId xmlns:a16="http://schemas.microsoft.com/office/drawing/2014/main" id="{0017CA83-264C-DD00-6487-142E84330011}"/>
                </a:ext>
              </a:extLst>
            </p:cNvPr>
            <p:cNvSpPr txBox="1">
              <a:spLocks/>
            </p:cNvSpPr>
            <p:nvPr/>
          </p:nvSpPr>
          <p:spPr>
            <a:xfrm>
              <a:off x="2487168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1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3" name="Content Placeholder 2">
              <a:extLst>
                <a:ext uri="{FF2B5EF4-FFF2-40B4-BE49-F238E27FC236}">
                  <a16:creationId xmlns:a16="http://schemas.microsoft.com/office/drawing/2014/main" id="{A8C4C458-982B-4F45-7C89-3694B4C75711}"/>
                </a:ext>
              </a:extLst>
            </p:cNvPr>
            <p:cNvSpPr txBox="1">
              <a:spLocks/>
            </p:cNvSpPr>
            <p:nvPr/>
          </p:nvSpPr>
          <p:spPr>
            <a:xfrm>
              <a:off x="4419600" y="4778390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2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4" name="Content Placeholder 2">
              <a:extLst>
                <a:ext uri="{FF2B5EF4-FFF2-40B4-BE49-F238E27FC236}">
                  <a16:creationId xmlns:a16="http://schemas.microsoft.com/office/drawing/2014/main" id="{3BCA634C-1FE7-DEA4-D14B-44F351577811}"/>
                </a:ext>
              </a:extLst>
            </p:cNvPr>
            <p:cNvSpPr txBox="1">
              <a:spLocks/>
            </p:cNvSpPr>
            <p:nvPr/>
          </p:nvSpPr>
          <p:spPr>
            <a:xfrm>
              <a:off x="6350125" y="4773879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Honest step 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5" name="Content Placeholder 2">
              <a:extLst>
                <a:ext uri="{FF2B5EF4-FFF2-40B4-BE49-F238E27FC236}">
                  <a16:creationId xmlns:a16="http://schemas.microsoft.com/office/drawing/2014/main" id="{B669791E-151B-F769-829A-562105671363}"/>
                </a:ext>
              </a:extLst>
            </p:cNvPr>
            <p:cNvSpPr txBox="1">
              <a:spLocks/>
            </p:cNvSpPr>
            <p:nvPr/>
          </p:nvSpPr>
          <p:spPr>
            <a:xfrm>
              <a:off x="8284464" y="4773372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Adversary step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76" name="Content Placeholder 2">
              <a:extLst>
                <a:ext uri="{FF2B5EF4-FFF2-40B4-BE49-F238E27FC236}">
                  <a16:creationId xmlns:a16="http://schemas.microsoft.com/office/drawing/2014/main" id="{C8C85CB7-E87B-ECC6-32D8-9B795F38D54C}"/>
                </a:ext>
              </a:extLst>
            </p:cNvPr>
            <p:cNvSpPr txBox="1">
              <a:spLocks/>
            </p:cNvSpPr>
            <p:nvPr/>
          </p:nvSpPr>
          <p:spPr>
            <a:xfrm>
              <a:off x="4803139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State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</p:txBody>
        </p:sp>
        <p:sp>
          <p:nvSpPr>
            <p:cNvPr id="77" name="Content Placeholder 2">
              <a:extLst>
                <a:ext uri="{FF2B5EF4-FFF2-40B4-BE49-F238E27FC236}">
                  <a16:creationId xmlns:a16="http://schemas.microsoft.com/office/drawing/2014/main" id="{D28C5D49-86CB-A912-8758-BB5C3745BB48}"/>
                </a:ext>
              </a:extLst>
            </p:cNvPr>
            <p:cNvSpPr txBox="1">
              <a:spLocks/>
            </p:cNvSpPr>
            <p:nvPr/>
          </p:nvSpPr>
          <p:spPr>
            <a:xfrm>
              <a:off x="5650101" y="3457152"/>
              <a:ext cx="2179067" cy="247158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dirty="0">
                  <a:latin typeface=""/>
                  <a:ea typeface="Source Sans Pro"/>
                </a:rPr>
                <a:t>Adversary knowledge</a:t>
              </a:r>
              <a:endParaRPr lang="en-US" sz="15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sp>
          <p:nvSpPr>
            <p:cNvPr id="81" name="Content Placeholder 2">
              <a:extLst>
                <a:ext uri="{FF2B5EF4-FFF2-40B4-BE49-F238E27FC236}">
                  <a16:creationId xmlns:a16="http://schemas.microsoft.com/office/drawing/2014/main" id="{EF5F80CF-A730-78EB-248C-82EEAAF81307}"/>
                </a:ext>
              </a:extLst>
            </p:cNvPr>
            <p:cNvSpPr txBox="1">
              <a:spLocks/>
            </p:cNvSpPr>
            <p:nvPr/>
          </p:nvSpPr>
          <p:spPr>
            <a:xfrm>
              <a:off x="3635500" y="3440475"/>
              <a:ext cx="1267968" cy="28051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400" dirty="0">
                  <a:latin typeface=""/>
                  <a:ea typeface="Source Sans Pro"/>
                </a:rPr>
                <a:t>Session</a:t>
              </a:r>
              <a:endParaRPr lang="en-US" sz="1400" dirty="0">
                <a:solidFill>
                  <a:schemeClr val="accent6">
                    <a:lumMod val="75000"/>
                  </a:schemeClr>
                </a:solidFill>
                <a:latin typeface=""/>
                <a:ea typeface="Source Sans Pro"/>
              </a:endParaRPr>
            </a:p>
            <a:p>
              <a:pPr marL="0" indent="0" algn="ctr">
                <a:buFont typeface="Arial" panose="020B0604020202020204" pitchFamily="34" charset="0"/>
                <a:buNone/>
              </a:pPr>
              <a:endParaRPr lang="en-US" sz="2000" dirty="0">
                <a:latin typeface=""/>
                <a:ea typeface="Source Sans Pro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B821B072-3CEC-08C1-1893-66C3CC681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13818" y="3766436"/>
              <a:ext cx="395100" cy="3951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99A81680-CF40-9278-4FED-C61D1BF9C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59435" y="6460807"/>
              <a:ext cx="395100" cy="395100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83927E5B-17FD-9B1C-5757-4A33E5803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39917" y="6466552"/>
              <a:ext cx="395100" cy="3951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A97808D-5D20-E50B-6CFB-26A3DA2B8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15228" y="5060528"/>
              <a:ext cx="415207" cy="415207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FB6C99A1-416A-687D-1969-1E346632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88903" y="5060528"/>
              <a:ext cx="415207" cy="415207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245BDFF4-ACC7-564E-CB60-4D442D828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6978" y="5060528"/>
              <a:ext cx="415207" cy="415207"/>
            </a:xfrm>
            <a:prstGeom prst="rect">
              <a:avLst/>
            </a:prstGeom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A25CF4D-A406-C119-6859-BA8697F32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15278" y="5060528"/>
              <a:ext cx="415207" cy="415207"/>
            </a:xfrm>
            <a:prstGeom prst="rect">
              <a:avLst/>
            </a:prstGeom>
          </p:spPr>
        </p:pic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1321776" y="2398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1C3B9F-5B98-36F2-E05A-554CE24BDF39}"/>
              </a:ext>
            </a:extLst>
          </p:cNvPr>
          <p:cNvSpPr/>
          <p:nvPr/>
        </p:nvSpPr>
        <p:spPr>
          <a:xfrm>
            <a:off x="4611199" y="2986159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124ACD1-828C-6EDE-1C19-350777C7F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238" y="2420188"/>
            <a:ext cx="467360" cy="46736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389E5A-A31F-DAD0-BB51-3C2EBCCF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76" y="2920393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3185160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20548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92697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99732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control flow with action facts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3114040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3134360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824866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tools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895219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Open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3028436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772779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program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3053862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843132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--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Objective</a:t>
            </a:r>
          </a:p>
          <a:p>
            <a:r>
              <a:rPr lang="en-US" dirty="0">
                <a:latin typeface="Source Sans Pro"/>
                <a:ea typeface="Source Sans Pro"/>
              </a:rPr>
              <a:t>Cryptographic protocol verification background</a:t>
            </a:r>
          </a:p>
          <a:p>
            <a:r>
              <a:rPr lang="en-US" dirty="0">
                <a:latin typeface="Source Sans Pro"/>
                <a:ea typeface="Source Sans Pro"/>
              </a:rPr>
              <a:t>Automated reasoning for protocols </a:t>
            </a:r>
          </a:p>
          <a:p>
            <a:r>
              <a:rPr lang="en-US" dirty="0">
                <a:latin typeface="Source Sans Pro"/>
                <a:ea typeface="Source Sans Pro"/>
              </a:rPr>
              <a:t>Breaking, fixing, and breaking Needham-Schroeder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Key compromise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confusion!</a:t>
            </a:r>
          </a:p>
          <a:p>
            <a:r>
              <a:rPr lang="en-US" dirty="0">
                <a:latin typeface="Source Sans Pro"/>
                <a:ea typeface="Source Sans Pro"/>
              </a:rPr>
              <a:t>Making reasoning tractable</a:t>
            </a:r>
          </a:p>
          <a:p>
            <a:r>
              <a:rPr lang="en-US" dirty="0">
                <a:latin typeface="Source Sans Pro"/>
                <a:ea typeface="Source Sans Pro"/>
              </a:rPr>
              <a:t>Discussion, Open Questions, &amp; Conclusion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628D-B4CD-4C8A-B76A-13155678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ource Sans Pro"/>
                <a:ea typeface="Source Sans Pro"/>
              </a:rPr>
              <a:t>Things to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115ED-9912-DA77-67F5-5CDAA597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>
                <a:latin typeface="Source Sans Pro"/>
                <a:ea typeface="Source Sans Pro"/>
              </a:rPr>
              <a:t>Could also talk about BAN and why it didn't work very well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Requires manual annotations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Doesn't reason about adversarial actions – originally sold as a benefit, but it essentially shifts adversarial reasoning from the logic to the user, which is error-prone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Public key Needham-Schroeder is BAN-secure! (check this, looks like analysis in the original paper)</a:t>
            </a:r>
          </a:p>
          <a:p>
            <a:r>
              <a:rPr lang="en-US" dirty="0">
                <a:latin typeface="Source Sans Pro"/>
                <a:ea typeface="Source Sans Pro"/>
              </a:rPr>
              <a:t>Already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Type confusion attacks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Relationships between semantics</a:t>
            </a:r>
          </a:p>
          <a:p>
            <a:r>
              <a:rPr lang="en-US" dirty="0">
                <a:latin typeface="Source Sans Pro"/>
                <a:ea typeface="Source Sans Pro"/>
              </a:rPr>
              <a:t>Give more details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Strong typing assumption, XOR vs pairing/projection (how can it help you in one case? What about the other?)</a:t>
            </a:r>
            <a:endParaRPr lang="en-US" sz="2200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200" dirty="0">
                <a:latin typeface="Source Sans Pro"/>
                <a:ea typeface="Source Sans Pro"/>
              </a:rPr>
              <a:t>Reveal scenarios (required for Needham-Schroeder attack); give updated security properties</a:t>
            </a:r>
            <a:endParaRPr lang="en-US" dirty="0">
              <a:latin typeface="Source Sans Pro"/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Example(s) where secrecy labels are over conservative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Symbolic model not strictly weaker than computational model</a:t>
            </a:r>
          </a:p>
          <a:p>
            <a:r>
              <a:rPr lang="en-US" dirty="0">
                <a:latin typeface="Source Sans Pro"/>
                <a:ea typeface="Source Sans Pro"/>
              </a:rPr>
              <a:t>Not in report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Protocols involving arithmetic; how Tamarin models arithmetic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latin typeface="Source Sans Pro"/>
                <a:ea typeface="Source Sans Pro"/>
              </a:rPr>
              <a:t>Some tidbits about CCSA – overview of the BC logic, why automated reasoning about it is hard, cryptographic axioms, and spurious counterexamples</a:t>
            </a:r>
          </a:p>
        </p:txBody>
      </p:sp>
    </p:spTree>
    <p:extLst>
      <p:ext uri="{BB962C8B-B14F-4D97-AF65-F5344CB8AC3E}">
        <p14:creationId xmlns:p14="http://schemas.microsoft.com/office/powerpoint/2010/main" val="157282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20602</TotalTime>
  <Words>8158</Words>
  <Application>Microsoft Macintosh PowerPoint</Application>
  <PresentationFormat>Widescreen</PresentationFormat>
  <Paragraphs>1118</Paragraphs>
  <Slides>123</Slides>
  <Notes>28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4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Discussion &amp; Open Questions</vt:lpstr>
      <vt:lpstr>Conclusion</vt:lpstr>
      <vt:lpstr>PowerPoint Presentation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  <vt:lpstr>Things to discuss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1033</cp:revision>
  <cp:lastPrinted>2026-04-01T18:06:29Z</cp:lastPrinted>
  <dcterms:created xsi:type="dcterms:W3CDTF">2026-03-16T17:02:12Z</dcterms:created>
  <dcterms:modified xsi:type="dcterms:W3CDTF">2026-04-21T22:20:37Z</dcterms:modified>
</cp:coreProperties>
</file>