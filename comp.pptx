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31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44" r:id="rId11"/>
    <p:sldId id="379" r:id="rId12"/>
    <p:sldId id="280" r:id="rId13"/>
    <p:sldId id="393" r:id="rId14"/>
    <p:sldId id="394" r:id="rId15"/>
    <p:sldId id="281" r:id="rId16"/>
    <p:sldId id="309" r:id="rId17"/>
    <p:sldId id="332" r:id="rId18"/>
    <p:sldId id="333" r:id="rId19"/>
    <p:sldId id="282" r:id="rId20"/>
    <p:sldId id="284" r:id="rId21"/>
    <p:sldId id="358" r:id="rId22"/>
    <p:sldId id="283" r:id="rId23"/>
    <p:sldId id="387" r:id="rId24"/>
    <p:sldId id="388" r:id="rId25"/>
    <p:sldId id="389" r:id="rId26"/>
    <p:sldId id="391" r:id="rId27"/>
    <p:sldId id="380" r:id="rId28"/>
    <p:sldId id="263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81" r:id="rId62"/>
    <p:sldId id="304" r:id="rId63"/>
    <p:sldId id="364" r:id="rId64"/>
    <p:sldId id="305" r:id="rId65"/>
    <p:sldId id="337" r:id="rId66"/>
    <p:sldId id="340" r:id="rId67"/>
    <p:sldId id="406" r:id="rId68"/>
    <p:sldId id="409" r:id="rId69"/>
    <p:sldId id="418" r:id="rId70"/>
    <p:sldId id="312" r:id="rId71"/>
    <p:sldId id="262" r:id="rId72"/>
    <p:sldId id="334" r:id="rId73"/>
    <p:sldId id="335" r:id="rId74"/>
    <p:sldId id="336" r:id="rId75"/>
    <p:sldId id="365" r:id="rId76"/>
    <p:sldId id="367" r:id="rId77"/>
    <p:sldId id="368" r:id="rId78"/>
    <p:sldId id="307" r:id="rId79"/>
    <p:sldId id="374" r:id="rId80"/>
    <p:sldId id="308" r:id="rId81"/>
    <p:sldId id="306" r:id="rId82"/>
    <p:sldId id="366" r:id="rId83"/>
    <p:sldId id="310" r:id="rId84"/>
    <p:sldId id="373" r:id="rId85"/>
    <p:sldId id="311" r:id="rId86"/>
    <p:sldId id="410" r:id="rId87"/>
    <p:sldId id="314" r:id="rId88"/>
    <p:sldId id="419" r:id="rId89"/>
    <p:sldId id="382" r:id="rId90"/>
    <p:sldId id="369" r:id="rId91"/>
    <p:sldId id="371" r:id="rId92"/>
    <p:sldId id="370" r:id="rId93"/>
    <p:sldId id="384" r:id="rId94"/>
    <p:sldId id="420" r:id="rId95"/>
    <p:sldId id="417" r:id="rId96"/>
    <p:sldId id="423" r:id="rId97"/>
    <p:sldId id="424" r:id="rId98"/>
    <p:sldId id="422" r:id="rId99"/>
    <p:sldId id="372" r:id="rId100"/>
    <p:sldId id="385" r:id="rId101"/>
    <p:sldId id="425" r:id="rId102"/>
    <p:sldId id="426" r:id="rId103"/>
    <p:sldId id="352" r:id="rId104"/>
    <p:sldId id="272" r:id="rId105"/>
    <p:sldId id="407" r:id="rId106"/>
    <p:sldId id="273" r:id="rId107"/>
    <p:sldId id="414" r:id="rId108"/>
    <p:sldId id="415" r:id="rId109"/>
    <p:sldId id="412" r:id="rId110"/>
    <p:sldId id="413" r:id="rId111"/>
    <p:sldId id="416" r:id="rId112"/>
    <p:sldId id="301" r:id="rId113"/>
    <p:sldId id="300" r:id="rId114"/>
    <p:sldId id="270" r:id="rId115"/>
    <p:sldId id="345" r:id="rId116"/>
    <p:sldId id="346" r:id="rId117"/>
    <p:sldId id="347" r:id="rId118"/>
    <p:sldId id="361" r:id="rId119"/>
    <p:sldId id="378" r:id="rId120"/>
    <p:sldId id="348" r:id="rId121"/>
    <p:sldId id="360" r:id="rId122"/>
    <p:sldId id="363" r:id="rId123"/>
    <p:sldId id="349" r:id="rId124"/>
    <p:sldId id="353" r:id="rId125"/>
    <p:sldId id="355" r:id="rId126"/>
    <p:sldId id="317" r:id="rId127"/>
    <p:sldId id="299" r:id="rId128"/>
    <p:sldId id="316" r:id="rId129"/>
    <p:sldId id="257" r:id="rId1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33" autoAdjust="0"/>
    <p:restoredTop sz="85919"/>
  </p:normalViewPr>
  <p:slideViewPr>
    <p:cSldViewPr snapToGrid="0">
      <p:cViewPr>
        <p:scale>
          <a:sx n="78" d="100"/>
          <a:sy n="78" d="100"/>
        </p:scale>
        <p:origin x="1976" y="1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notesMaster" Target="notesMasters/notesMaster1.xml"/><Relationship Id="rId136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18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9901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030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227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590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609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246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3076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2853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0071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0662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5352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9057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49.png"/><Relationship Id="rId5" Type="http://schemas.openxmlformats.org/officeDocument/2006/relationships/image" Target="../media/image44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Relationship Id="rId14" Type="http://schemas.openxmlformats.org/officeDocument/2006/relationships/image" Target="../media/image69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9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88.png"/><Relationship Id="rId7" Type="http://schemas.openxmlformats.org/officeDocument/2006/relationships/image" Target="../media/image340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5" Type="http://schemas.openxmlformats.org/officeDocument/2006/relationships/image" Target="../media/image310.png"/><Relationship Id="rId10" Type="http://schemas.openxmlformats.org/officeDocument/2006/relationships/image" Target="../media/image84.png"/><Relationship Id="rId4" Type="http://schemas.openxmlformats.org/officeDocument/2006/relationships/image" Target="../media/image89.png"/><Relationship Id="rId9" Type="http://schemas.openxmlformats.org/officeDocument/2006/relationships/image" Target="../media/image9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10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9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5.pn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Relationship Id="rId9" Type="http://schemas.openxmlformats.org/officeDocument/2006/relationships/image" Target="../media/image108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10" Type="http://schemas.openxmlformats.org/officeDocument/2006/relationships/image" Target="../media/image108.png"/><Relationship Id="rId4" Type="http://schemas.openxmlformats.org/officeDocument/2006/relationships/image" Target="../media/image113.png"/><Relationship Id="rId9" Type="http://schemas.openxmlformats.org/officeDocument/2006/relationships/image" Target="../media/image107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8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6.png"/><Relationship Id="rId4" Type="http://schemas.openxmlformats.org/officeDocument/2006/relationships/image" Target="../media/image12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6.png"/><Relationship Id="rId4" Type="http://schemas.openxmlformats.org/officeDocument/2006/relationships/image" Target="../media/image12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6.png"/><Relationship Id="rId4" Type="http://schemas.openxmlformats.org/officeDocument/2006/relationships/image" Target="../media/image120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20.png"/><Relationship Id="rId4" Type="http://schemas.openxmlformats.org/officeDocument/2006/relationships/image" Target="../media/image12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30.png"/><Relationship Id="rId4" Type="http://schemas.openxmlformats.org/officeDocument/2006/relationships/image" Target="../media/image129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7" Type="http://schemas.openxmlformats.org/officeDocument/2006/relationships/image" Target="../media/image1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5" Type="http://schemas.openxmlformats.org/officeDocument/2006/relationships/image" Target="../media/image132.png"/><Relationship Id="rId4" Type="http://schemas.openxmlformats.org/officeDocument/2006/relationships/image" Target="../media/image136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7" Type="http://schemas.openxmlformats.org/officeDocument/2006/relationships/image" Target="../media/image1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7" Type="http://schemas.openxmlformats.org/officeDocument/2006/relationships/image" Target="../media/image1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7" Type="http://schemas.openxmlformats.org/officeDocument/2006/relationships/image" Target="../media/image1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6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0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1973678" y="2692117"/>
            <a:ext cx="1692900" cy="1952758"/>
            <a:chOff x="2020114" y="2692117"/>
            <a:chExt cx="1692900" cy="19527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020114" y="3972288"/>
              <a:ext cx="16929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865085" y="4588235"/>
            <a:ext cx="1927679" cy="2051996"/>
            <a:chOff x="1865085" y="4588235"/>
            <a:chExt cx="1927679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865085" y="5967644"/>
              <a:ext cx="1927679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9000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511105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9C1032-4019-C80B-DE37-F98453DD196B}"/>
              </a:ext>
            </a:extLst>
          </p:cNvPr>
          <p:cNvGrpSpPr/>
          <p:nvPr/>
        </p:nvGrpSpPr>
        <p:grpSpPr>
          <a:xfrm>
            <a:off x="619539" y="2559080"/>
            <a:ext cx="6097656" cy="672727"/>
            <a:chOff x="619539" y="2559080"/>
            <a:chExt cx="6097656" cy="67272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E03E128-FF21-0FFF-65D7-47E3EE261B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3700" y="2559080"/>
              <a:ext cx="672727" cy="672727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74181EF-049F-5BE0-0683-CADD64C44E03}"/>
                </a:ext>
              </a:extLst>
            </p:cNvPr>
            <p:cNvSpPr txBox="1"/>
            <p:nvPr/>
          </p:nvSpPr>
          <p:spPr>
            <a:xfrm>
              <a:off x="619539" y="2645499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Victories of SOTA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776CD2-5120-4F7D-CD57-F81BE40BAE04}"/>
              </a:ext>
            </a:extLst>
          </p:cNvPr>
          <p:cNvGrpSpPr/>
          <p:nvPr/>
        </p:nvGrpSpPr>
        <p:grpSpPr>
          <a:xfrm>
            <a:off x="6022561" y="2603343"/>
            <a:ext cx="6097656" cy="584200"/>
            <a:chOff x="6022561" y="2603343"/>
            <a:chExt cx="6097656" cy="584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27166B5-00B6-926D-5693-AF2AE90AF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3400" y="2603343"/>
              <a:ext cx="584200" cy="5842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F62373-57FD-30E0-26BA-62CB76D82752}"/>
                </a:ext>
              </a:extLst>
            </p:cNvPr>
            <p:cNvSpPr txBox="1"/>
            <p:nvPr/>
          </p:nvSpPr>
          <p:spPr>
            <a:xfrm>
              <a:off x="6022561" y="2639997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Drawbacks of SOTA</a:t>
              </a: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(semi-)automated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</a:t>
            </a:r>
            <a:endParaRPr lang="en-US" dirty="0"/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951264" y="1612583"/>
            <a:ext cx="10324766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951264" y="3352182"/>
            <a:ext cx="10324766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032537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235551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032537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235551" y="4244849"/>
            <a:ext cx="5195537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6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676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951264" y="5035191"/>
            <a:ext cx="10324766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942985" y="5889266"/>
            <a:ext cx="5108592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235551" y="5889266"/>
            <a:ext cx="5195537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0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676730-5BE1-0044-739F-3311636C1628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735EF69-6110-6416-D067-99A8BC37A0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A6FC23-29B6-77FA-BC39-6D42412FA23E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A207A1-D389-AFD2-E616-DB6F21734167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09D81E8-B8EA-B26D-E114-0151D08115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787C72-96CE-D33E-64F3-F11F6F50F1E8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r>
              <a:rPr lang="en-US" dirty="0">
                <a:ea typeface="Source Sans Pro"/>
              </a:rPr>
              <a:t>, 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4225824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6911217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roles,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E268425-787A-EE67-7AE8-D786A7CA8056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2873C5-2BCB-0426-B2DB-D2A6CC8EC5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565D10D-C2EA-18ED-B065-AAB7CCEE354C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BF34C046-40AB-E97D-1D02-6D4192C08689}"/>
              </a:ext>
            </a:extLst>
          </p:cNvPr>
          <p:cNvSpPr/>
          <p:nvPr/>
        </p:nvSpPr>
        <p:spPr>
          <a:xfrm>
            <a:off x="4922643" y="4006468"/>
            <a:ext cx="608343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68F2D-8948-E3B3-CA50-3245307C249B}"/>
              </a:ext>
            </a:extLst>
          </p:cNvPr>
          <p:cNvSpPr/>
          <p:nvPr/>
        </p:nvSpPr>
        <p:spPr>
          <a:xfrm>
            <a:off x="5473369" y="4683309"/>
            <a:ext cx="913067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076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20256E3-FB7E-2C9E-3EF9-41BE76066959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93CA980-B60C-BF94-9DD3-7F4A315CF5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A5F2D8-252A-5CA2-50CB-C5DBA620222B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3927358" y="2477643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70030C-47A2-2BDC-1792-9C8F28E19685}"/>
              </a:ext>
            </a:extLst>
          </p:cNvPr>
          <p:cNvSpPr/>
          <p:nvPr/>
        </p:nvSpPr>
        <p:spPr>
          <a:xfrm>
            <a:off x="5045528" y="4211410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954981" y="3059668"/>
            <a:ext cx="3946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444499" y="3290501"/>
            <a:ext cx="510482" cy="328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85533" y="3290501"/>
            <a:ext cx="569448" cy="741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743139F-27EB-8342-44F7-EBBC52120B13}"/>
              </a:ext>
            </a:extLst>
          </p:cNvPr>
          <p:cNvSpPr/>
          <p:nvPr/>
        </p:nvSpPr>
        <p:spPr>
          <a:xfrm>
            <a:off x="5029199" y="4318348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784433" y="6129400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73120" y="6314066"/>
            <a:ext cx="3411313" cy="46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411" y="5794251"/>
            <a:ext cx="1005839" cy="1005839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5918A8-10B3-FBAC-4A0B-D7BE2DF81C57}"/>
              </a:ext>
            </a:extLst>
          </p:cNvPr>
          <p:cNvSpPr/>
          <p:nvPr/>
        </p:nvSpPr>
        <p:spPr>
          <a:xfrm>
            <a:off x="5078776" y="4219854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F3FA281-570D-3EBD-0FE1-4CBC6344F210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DA2BBE4-9124-5F3B-BADB-B655EC8ED7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9292010-C64C-8194-AF51-FE7E9FACE908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4143313" y="2488519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6CD545-38E7-08D8-9288-C22D0A445CE4}"/>
              </a:ext>
            </a:extLst>
          </p:cNvPr>
          <p:cNvSpPr/>
          <p:nvPr/>
        </p:nvSpPr>
        <p:spPr>
          <a:xfrm>
            <a:off x="7382809" y="2473143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DD5C88-B01B-0A4C-7DC6-4D5E270AEE8C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4BFAAF5-BB15-3A56-48F8-70D6A33011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C5788A-DBBC-637E-14F8-B566B3C4E9D5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5770335" y="2496951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14DCA-9ED3-E09B-BB48-13201608C7F5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8" name="Picture 7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01777698-7B5C-C18A-E8C8-5DCEEE8F39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0C3C22A-0D51-E6C8-9A86-B1F0F7095E97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4579972" y="3524361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0BE685-F365-1A46-988C-51F17675427D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15" name="Picture 14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3BCBA9AB-13AD-2E1A-E0AD-0B4F2D37F0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8E062E4-F18D-B937-59A1-4BB056C2C955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4917340" y="394985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z="24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4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Gen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Dec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Adversary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wins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game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negl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cxnSpLocks/>
            <a:stCxn id="6" idx="0"/>
            <a:endCxn id="12" idx="5"/>
          </p:cNvCxnSpPr>
          <p:nvPr/>
        </p:nvCxnSpPr>
        <p:spPr>
          <a:xfrm flipH="1" flipV="1">
            <a:off x="4071700" y="5811759"/>
            <a:ext cx="813013" cy="4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866278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238269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717390-3E25-E567-F1C6-AAFD7BA580AD}"/>
              </a:ext>
            </a:extLst>
          </p:cNvPr>
          <p:cNvSpPr/>
          <p:nvPr/>
        </p:nvSpPr>
        <p:spPr>
          <a:xfrm>
            <a:off x="0" y="2772482"/>
            <a:ext cx="12192000" cy="1868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not amenable to automation, so most automation efforts focus on the symbolic model</a:t>
            </a:r>
          </a:p>
          <a:p>
            <a:endParaRPr lang="en-US" sz="1000" dirty="0">
              <a:latin typeface="Avenir Next" panose="020B0503020202020204" pitchFamily="34" charset="0"/>
            </a:endParaRPr>
          </a:p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Due to this, we focus on the symbolic model in this talk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6" grpId="1" animBg="1"/>
      <p:bldP spid="10" grpId="0"/>
      <p:bldP spid="12" grpId="0"/>
      <p:bldP spid="12" grpId="1"/>
      <p:bldP spid="13" grpId="0"/>
      <p:bldP spid="14" grpId="0"/>
      <p:bldP spid="15" grpId="0"/>
      <p:bldP spid="15" grpId="1"/>
      <p:bldP spid="7" grpId="0" animBg="1"/>
      <p:bldP spid="7" grpId="1" animBg="1"/>
      <p:bldP spid="9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32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71520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7973756" y="3698241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904455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1" animBg="1"/>
      <p:bldP spid="13" grpId="0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1993211" y="1595460"/>
            <a:ext cx="85445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state is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that evolves at each rewrite rule application</a:t>
            </a:r>
          </a:p>
        </p:txBody>
      </p: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224D15FC-8754-98E3-2929-6D4D5E6C4532}"/>
              </a:ext>
            </a:extLst>
          </p:cNvPr>
          <p:cNvSpPr/>
          <p:nvPr/>
        </p:nvSpPr>
        <p:spPr>
          <a:xfrm>
            <a:off x="1993211" y="1595460"/>
            <a:ext cx="85445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state is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that evolves at each rewrite rule application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5638800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The above captures the notion of a protocol trace in the multiset rewriting formalism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blipFill>
                <a:blip r:embed="rId7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blipFill>
                <a:blip r:embed="rId8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blipFill>
                <a:blip r:embed="rId9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 with top-level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fact symbol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0"/>
                <a:stretch>
                  <a:fillRect t="-8333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5000" r="-1875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blipFill>
                <a:blip r:embed="rId13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3996095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1" dur="indefinite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9" grpId="0" animBg="1"/>
      <p:bldP spid="10" grpId="0" animBg="1"/>
      <p:bldP spid="11" grpId="0" animBg="1"/>
      <p:bldP spid="12" grpId="0" animBg="1"/>
      <p:bldP spid="25" grpId="0"/>
      <p:bldP spid="26" grpId="0"/>
      <p:bldP spid="27" grpId="0" animBg="1"/>
      <p:bldP spid="18" grpId="0"/>
      <p:bldP spid="20" grpId="0"/>
      <p:bldP spid="21" grpId="0"/>
      <p:bldP spid="35" grpId="0" animBg="1"/>
      <p:bldP spid="38" grpId="0" animBg="1"/>
      <p:bldP spid="40" grpId="0"/>
      <p:bldP spid="41" grpId="0"/>
      <p:bldP spid="42" grpId="0"/>
      <p:bldP spid="4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, …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In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KeyB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𝑘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MyEnc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𝑎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}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enc</m:t>
                            </m:r>
                            <m:d>
                              <m:d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, </m:t>
                                </m:r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 …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Fr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KeyB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6F0D58-ED3F-D04E-FBBB-7085A83637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7312510-94E4-0C3A-4CC2-5EA1E5D5EC9E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8AD482B-3090-F631-2E95-89176D5E7D73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5839A9-9EBC-A4E9-33E2-7EA10DDA52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F91D5EF-A761-1ECA-3B24-8DEEB769D558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49A07255-D606-7239-F692-60C93E004D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4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2396838" y="3103521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5091052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ECF693-0B40-5ED8-7E8C-F61094845F2D}"/>
              </a:ext>
            </a:extLst>
          </p:cNvPr>
          <p:cNvSpPr/>
          <p:nvPr/>
        </p:nvSpPr>
        <p:spPr>
          <a:xfrm>
            <a:off x="4193606" y="3191960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864AE8A-EC85-7B92-5848-55FA33220943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4B9444F6-D49B-83FB-EA6F-1B2931401535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4B9444F6-D49B-83FB-EA6F-1B29314015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5887688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551459AD-C419-784D-9DF5-8620539A85E3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551459AD-C419-784D-9DF5-8620539A85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A16B1CA-86A8-7E30-961E-619DE19715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2410694" y="351906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2396839" y="3921696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C9AA63-C42F-C1C6-4DA4-E4EC8715B406}"/>
              </a:ext>
            </a:extLst>
          </p:cNvPr>
          <p:cNvSpPr/>
          <p:nvPr/>
        </p:nvSpPr>
        <p:spPr>
          <a:xfrm>
            <a:off x="2396839" y="3116699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DFA841-63B1-DF16-3D1C-D0250782332C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BC79C4EE-7C2A-642F-DB42-7B7FCC8DB268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BC79C4EE-7C2A-642F-DB42-7B7FCC8DB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07B143D6-F9E9-0056-7547-CF113204E5E7}"/>
              </a:ext>
            </a:extLst>
          </p:cNvPr>
          <p:cNvSpPr/>
          <p:nvPr/>
        </p:nvSpPr>
        <p:spPr>
          <a:xfrm>
            <a:off x="5091052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A045959-0577-8799-1CC1-C66D3E5F133C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5887688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5668B37-751A-E7B0-16E5-B696234CFE6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5668B37-751A-E7B0-16E5-B696234CFE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80240D-4905-7F48-4EFD-10FAFD0C2B86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CF94F1-0FCE-5338-22B8-2EBCB4D688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51CAA5-F16A-99A5-2A1E-0B5975685BC1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5B262F1-94CB-B2D0-A2AE-31C37D331D8A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5B262F1-94CB-B2D0-A2AE-31C37D331D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225DEC71-9CD6-1E47-C942-E58A6D71121C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225DEC71-9CD6-1E47-C942-E58A6D7112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i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encode properties in a variant of first-order logic</a:t>
            </a:r>
            <a:endParaRPr lang="en-US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EA50001B-6CF8-92E4-77F6-3BC76BF63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A239A92-9E8C-2613-6693-8DF8141A1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5235C2F-C6FB-FA82-1764-4458D680B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2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74A030D0-962E-D0BC-FB82-6DCC2B8F1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Secret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K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1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32375149-5442-4904-6CCF-A62B94F59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92809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14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Sent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replay attacks!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blipFill>
                <a:blip r:embed="rId2"/>
                <a:stretch>
                  <a:fillRect b="-11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CA338B-A6D9-FF2C-6641-6162DC89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19B46AA-6E45-9240-3B2A-1E0A9B38B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7807C969-84A9-99B5-D970-B5D576B138A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7807C969-84A9-99B5-D970-B5D576B13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3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23820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5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</p:spTree>
    <p:extLst>
      <p:ext uri="{BB962C8B-B14F-4D97-AF65-F5344CB8AC3E}">
        <p14:creationId xmlns:p14="http://schemas.microsoft.com/office/powerpoint/2010/main" val="35865874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582B76-80D0-C233-A48D-FDEF0CF9A23C}"/>
              </a:ext>
            </a:extLst>
          </p:cNvPr>
          <p:cNvSpPr txBox="1"/>
          <p:nvPr/>
        </p:nvSpPr>
        <p:spPr>
          <a:xfrm>
            <a:off x="7951443" y="4383976"/>
            <a:ext cx="1172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Sent by 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17C6F7-E02E-D396-6F48-EA3FE8518D99}"/>
              </a:ext>
            </a:extLst>
          </p:cNvPr>
          <p:cNvSpPr txBox="1"/>
          <p:nvPr/>
        </p:nvSpPr>
        <p:spPr>
          <a:xfrm>
            <a:off x="9691502" y="4383974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Accepted by B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8753F42-680F-2EE0-AA73-61AC7E3D7335}"/>
              </a:ext>
            </a:extLst>
          </p:cNvPr>
          <p:cNvCxnSpPr>
            <a:cxnSpLocks/>
            <a:stCxn id="65" idx="6"/>
            <a:endCxn id="67" idx="2"/>
          </p:cNvCxnSpPr>
          <p:nvPr/>
        </p:nvCxnSpPr>
        <p:spPr>
          <a:xfrm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9ED33E4-E40E-069B-508B-0D50B2D71545}"/>
              </a:ext>
            </a:extLst>
          </p:cNvPr>
          <p:cNvCxnSpPr>
            <a:cxnSpLocks/>
          </p:cNvCxnSpPr>
          <p:nvPr/>
        </p:nvCxnSpPr>
        <p:spPr>
          <a:xfrm flipV="1">
            <a:off x="9442131" y="5789261"/>
            <a:ext cx="745502" cy="350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10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</p:spTree>
    <p:extLst>
      <p:ext uri="{BB962C8B-B14F-4D97-AF65-F5344CB8AC3E}">
        <p14:creationId xmlns:p14="http://schemas.microsoft.com/office/powerpoint/2010/main" val="2640643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3848350" y="2252087"/>
            <a:ext cx="4621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 generic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Equiv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074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</p:spPr>
            <p:txBody>
              <a:bodyPr vert="horz" lIns="91440" tIns="45720" rIns="91440" bIns="45720" rtlCol="0" anchor="t">
                <a:normAutofit fontScale="70000" lnSpcReduction="20000"/>
              </a:bodyPr>
              <a:lstStyle/>
              <a:p>
                <a:pPr marL="0" indent="0" algn="ctr">
                  <a:buNone/>
                </a:pPr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  <a:endParaRPr lang="en-US" dirty="0">
                  <a:solidFill>
                    <a:srgbClr val="C00000"/>
                  </a:solidFill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dirty="0">
                    <a:ea typeface="Source Sans Pro"/>
                  </a:rPr>
                  <a:t>for an attack trace, 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  <a:blipFill>
                <a:blip r:embed="rId3"/>
                <a:stretch>
                  <a:fillRect t="-15000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Tamarin being able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on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67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4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EB0FDC4-B554-EF45-E38E-022FC9E7B04A}"/>
              </a:ext>
            </a:extLst>
          </p:cNvPr>
          <p:cNvSpPr/>
          <p:nvPr/>
        </p:nvSpPr>
        <p:spPr>
          <a:xfrm>
            <a:off x="8072120" y="4677586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the search algo decidable?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976DAC3-C307-C0A2-3B19-F9C19A692F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27" y="4704516"/>
            <a:ext cx="658486" cy="658486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7B1962-F759-DE17-D80B-2DE1ADA2B49E}"/>
              </a:ext>
            </a:extLst>
          </p:cNvPr>
          <p:cNvSpPr/>
          <p:nvPr/>
        </p:nvSpPr>
        <p:spPr>
          <a:xfrm>
            <a:off x="8072120" y="5469684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to cope with undecidability?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5F39F6-F0C1-0F06-76A6-AAA50160D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27" y="5496614"/>
            <a:ext cx="658486" cy="658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C36C857-0C97-D8B0-0CF7-6B5B47A957A9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2C0D052-511B-7598-E979-6292FBD90D05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8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90E1AF1-22DC-48F6-C16A-7C987939678F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3B4D41-8290-91F6-AEB1-24010B8CDF94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3173F87F-9B73-F624-0AA7-FD81E474E274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D0A620D7-909C-C68F-CF98-7800A0432E1D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5182429-18CE-0E62-59E3-A8A8119E2F04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33CE3FE-67FA-BE18-6136-996FA33A0BF7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41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8" grpId="0" animBg="1"/>
      <p:bldP spid="2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446367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9D95884-547B-4A0E-7683-C67B3472E6A5}"/>
              </a:ext>
            </a:extLst>
          </p:cNvPr>
          <p:cNvSpPr txBox="1"/>
          <p:nvPr/>
        </p:nvSpPr>
        <p:spPr>
          <a:xfrm>
            <a:off x="3754927" y="5112167"/>
            <a:ext cx="4681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We have achieved mutual authentication!(?)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I impersonate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blipFill>
                <a:blip r:embed="rId4"/>
                <a:stretch>
                  <a:fillRect l="-1633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799124D-CD90-8700-8D7A-C5CD668B7EBE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47098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blipFill>
                <a:blip r:embed="rId4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blipFill>
                <a:blip r:embed="rId5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blipFill>
                <a:blip r:embed="rId6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7E055EB5-9EB7-C956-241C-87EB70AE71C2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372435" y="4945947"/>
            <a:ext cx="3683479" cy="7731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2A0D0-3255-9599-843E-396BF03508F8}"/>
              </a:ext>
            </a:extLst>
          </p:cNvPr>
          <p:cNvSpPr txBox="1"/>
          <p:nvPr/>
        </p:nvSpPr>
        <p:spPr>
          <a:xfrm>
            <a:off x="648809" y="5015805"/>
            <a:ext cx="2958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The attack succeeds following protocol steps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F14BBF-7CDC-9A4C-C034-D7DF994BBF65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BD3E556-D847-AEAD-036B-9061B4BD1134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BD3E556-D847-AEAD-036B-9061B4BD1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9EAB3A92-6192-32C8-8437-6983341AC521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9EAB3A92-6192-32C8-8437-6983341AC5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C0A75B5-73F4-88AA-E6F4-0FBC0C6DEC8B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C0A75B5-73F4-88AA-E6F4-0FBC0C6DEC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99829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Sk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Reveal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blipFill>
                <a:blip r:embed="rId5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7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700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1580991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2714072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5780833" y="4886054"/>
            <a:ext cx="282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252720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393246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D36F06D-4161-7F52-8709-DCF721DBD495}"/>
              </a:ext>
            </a:extLst>
          </p:cNvPr>
          <p:cNvSpPr/>
          <p:nvPr/>
        </p:nvSpPr>
        <p:spPr>
          <a:xfrm>
            <a:off x="4767943" y="3200400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2BDBA-9C84-7027-4C8F-B6AFC2527999}"/>
              </a:ext>
            </a:extLst>
          </p:cNvPr>
          <p:cNvSpPr/>
          <p:nvPr/>
        </p:nvSpPr>
        <p:spPr>
          <a:xfrm>
            <a:off x="4767943" y="4314879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951263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6096595-3B7A-6F60-13DB-5FF06375C7E3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72383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 initiation!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090C31-A8A4-2C6B-B263-D594BF52846A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817764" y="4954376"/>
            <a:ext cx="1994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Attack succeeds following protocol steps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0B6612-DC15-CA90-EA96-4EC2594F10AA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…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}→{</m:t>
                      </m:r>
                      <m:r>
                        <m:rPr>
                          <m:nor/>
                        </m:rPr>
                        <a:rPr lang="en-US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𝐹𝑟</m:t>
                              </m:r>
                            </m:sup>
                          </m:sSub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𝑃𝑢𝑏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blipFill>
                <a:blip r:embed="rId4"/>
                <a:stretch>
                  <a:fillRect b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33489" y="2738645"/>
            <a:ext cx="3698241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859049" y="3198175"/>
            <a:ext cx="4518772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42B6A13-DE1A-DB78-6469-9C1E3FA96E06}"/>
              </a:ext>
            </a:extLst>
          </p:cNvPr>
          <p:cNvSpPr/>
          <p:nvPr/>
        </p:nvSpPr>
        <p:spPr>
          <a:xfrm>
            <a:off x="9595912" y="2908989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/>
      <p:bldP spid="3" grpId="2"/>
      <p:bldP spid="13" grpId="1" animBg="1"/>
      <p:bldP spid="11" grpId="1" animBg="1"/>
      <p:bldP spid="16" grpId="0" animBg="1"/>
      <p:bldP spid="17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dirty="0">
              <a:ea typeface="Source Sans Pro"/>
            </a:endParaRP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B9CD5F-299D-0F81-DD48-C8D7DDC2167F}"/>
              </a:ext>
            </a:extLst>
          </p:cNvPr>
          <p:cNvSpPr/>
          <p:nvPr/>
        </p:nvSpPr>
        <p:spPr>
          <a:xfrm>
            <a:off x="2283071" y="2775857"/>
            <a:ext cx="7625443" cy="13062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1"/>
                </a:solidFill>
                <a:latin typeface=""/>
                <a:ea typeface="Source Sans Pro"/>
              </a:rPr>
              <a:t>Reminder: Symbolic model (unbounded)                protocol security is undecidable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63A3C-32E2-1038-A8A4-870CAE75A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928" y="2775857"/>
            <a:ext cx="1306286" cy="130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26766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3" y="3600067"/>
            <a:ext cx="5769659" cy="247624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974840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974840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44C939-3ECA-FB5D-9E0A-8A41DE31A9C8}"/>
              </a:ext>
            </a:extLst>
          </p:cNvPr>
          <p:cNvSpPr/>
          <p:nvPr/>
        </p:nvSpPr>
        <p:spPr>
          <a:xfrm>
            <a:off x="4043805" y="4228367"/>
            <a:ext cx="2803917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we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but gets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l="-1832"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28826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8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tag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3D8F2-C9B1-338A-6D41-ABD04E5D0791}"/>
              </a:ext>
            </a:extLst>
          </p:cNvPr>
          <p:cNvSpPr/>
          <p:nvPr/>
        </p:nvSpPr>
        <p:spPr>
          <a:xfrm>
            <a:off x="8655359" y="4607484"/>
            <a:ext cx="3452192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F9A27A3C-5385-7776-D71A-8B6E5C27A26C}"/>
              </a:ext>
            </a:extLst>
          </p:cNvPr>
          <p:cNvSpPr txBox="1"/>
          <p:nvPr/>
        </p:nvSpPr>
        <p:spPr>
          <a:xfrm>
            <a:off x="5217160" y="2611260"/>
            <a:ext cx="3429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  <a:ea typeface="Source Sans Pro"/>
              </a:rPr>
              <a:t>(nested tags omitted for brevity)</a:t>
            </a:r>
          </a:p>
        </p:txBody>
      </p:sp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2" grpId="0" animBg="1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E3E1C6DF-DDD9-6AAE-CF3F-39617B5EE0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911" y="4121253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403067" y="3225298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130334" y="5233536"/>
            <a:ext cx="3604671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3969104" y="5231589"/>
            <a:ext cx="2877329" cy="7467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-207" y="2537554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2" grpId="0"/>
      <p:bldP spid="21" grpId="0" animBg="1"/>
      <p:bldP spid="21" grpId="1" animBg="1"/>
      <p:bldP spid="22" grpId="0" animBg="1"/>
      <p:bldP spid="22" grpId="1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115576038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86465561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56259536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103356608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</a:t>
            </a:r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51113145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8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156322008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29428873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20950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621972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552373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Open Questions, &amp; Conclusion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3BC95E-D326-6B8A-E965-346407DBE29A}"/>
              </a:ext>
            </a:extLst>
          </p:cNvPr>
          <p:cNvSpPr/>
          <p:nvPr/>
        </p:nvSpPr>
        <p:spPr>
          <a:xfrm>
            <a:off x="1242801" y="2917375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BF71FF5-5929-3755-5326-DF6EAAB26D72}"/>
              </a:ext>
            </a:extLst>
          </p:cNvPr>
          <p:cNvSpPr/>
          <p:nvPr/>
        </p:nvSpPr>
        <p:spPr>
          <a:xfrm>
            <a:off x="4532224" y="3505494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2A48EF-0CEE-0C2A-7B69-7BF4B830C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63" y="2939523"/>
            <a:ext cx="467360" cy="46736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C2EE5D-0109-B2E4-4C0F-50266628F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201" y="3439728"/>
            <a:ext cx="599440" cy="599440"/>
          </a:xfrm>
          <a:prstGeom prst="rect">
            <a:avLst/>
          </a:prstGeom>
        </p:spPr>
      </p:pic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0531A96-5101-4505-5434-197A0B668721}"/>
              </a:ext>
            </a:extLst>
          </p:cNvPr>
          <p:cNvSpPr/>
          <p:nvPr/>
        </p:nvSpPr>
        <p:spPr>
          <a:xfrm>
            <a:off x="4532224" y="4248690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engines support assume/guarantee-style compositional reasoning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252598B-7736-0C62-BC63-B9E9BAA88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201" y="418292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0" grpId="0" animBg="1"/>
      <p:bldP spid="21" grpId="0" animBg="1"/>
      <p:bldP spid="24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F69930-C776-20D9-9B54-216A6A2E91D6}"/>
              </a:ext>
            </a:extLst>
          </p:cNvPr>
          <p:cNvSpPr/>
          <p:nvPr/>
        </p:nvSpPr>
        <p:spPr>
          <a:xfrm>
            <a:off x="177720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765F9C-1C59-4D91-07DA-684D125E4978}"/>
              </a:ext>
            </a:extLst>
          </p:cNvPr>
          <p:cNvSpPr/>
          <p:nvPr/>
        </p:nvSpPr>
        <p:spPr>
          <a:xfrm>
            <a:off x="4148503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91F1D5-E183-AA04-E8A2-35920459F27E}"/>
              </a:ext>
            </a:extLst>
          </p:cNvPr>
          <p:cNvSpPr/>
          <p:nvPr/>
        </p:nvSpPr>
        <p:spPr>
          <a:xfrm>
            <a:off x="6519807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06A176-F6D2-0183-B3A1-65B916D475A9}"/>
              </a:ext>
            </a:extLst>
          </p:cNvPr>
          <p:cNvSpPr/>
          <p:nvPr/>
        </p:nvSpPr>
        <p:spPr>
          <a:xfrm>
            <a:off x="889111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D7CE68-BBD2-4DE4-ED8A-246528FCF1B5}"/>
              </a:ext>
            </a:extLst>
          </p:cNvPr>
          <p:cNvSpPr/>
          <p:nvPr/>
        </p:nvSpPr>
        <p:spPr>
          <a:xfrm>
            <a:off x="5356596" y="5456829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F912332-AB1B-C695-5BF6-5CC516A5CCF2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>
            <a:off x="2555167" y="5042455"/>
            <a:ext cx="2801429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78B3F80-9B63-E799-2CC3-9E24F3931DA8}"/>
              </a:ext>
            </a:extLst>
          </p:cNvPr>
          <p:cNvCxnSpPr>
            <a:cxnSpLocks/>
            <a:stCxn id="11" idx="3"/>
            <a:endCxn id="10" idx="2"/>
          </p:cNvCxnSpPr>
          <p:nvPr/>
        </p:nvCxnSpPr>
        <p:spPr>
          <a:xfrm flipV="1">
            <a:off x="6912530" y="5042455"/>
            <a:ext cx="2756547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ED29170D-C608-5EE6-BCF0-727E7CDC8BF7}"/>
              </a:ext>
            </a:extLst>
          </p:cNvPr>
          <p:cNvCxnSpPr>
            <a:cxnSpLocks/>
            <a:stCxn id="11" idx="1"/>
            <a:endCxn id="8" idx="2"/>
          </p:cNvCxnSpPr>
          <p:nvPr/>
        </p:nvCxnSpPr>
        <p:spPr>
          <a:xfrm rot="10800000">
            <a:off x="4926470" y="5042455"/>
            <a:ext cx="430126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656132C5-635D-C8B6-13A7-0DD6DEC7B299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 flipV="1">
            <a:off x="6912530" y="5042455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F00FD49-A5B5-E700-9AC7-89275E87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531" y="5337458"/>
            <a:ext cx="584722" cy="6180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52167E3-17E3-D57A-92A9-70000F3B5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74" y="5337458"/>
            <a:ext cx="584722" cy="61806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E7C7281-C90E-E0C0-3BE1-20F42FE38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5765" y="5321644"/>
            <a:ext cx="614644" cy="649691"/>
          </a:xfrm>
          <a:prstGeom prst="rect">
            <a:avLst/>
          </a:prstGeom>
        </p:spPr>
      </p:pic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3E319BDC-A2C6-88FE-2039-B0E17E60EA42}"/>
              </a:ext>
            </a:extLst>
          </p:cNvPr>
          <p:cNvCxnSpPr>
            <a:cxnSpLocks/>
            <a:endCxn id="11" idx="0"/>
          </p:cNvCxnSpPr>
          <p:nvPr/>
        </p:nvCxnSpPr>
        <p:spPr>
          <a:xfrm rot="16200000" flipH="1">
            <a:off x="5415801" y="4738067"/>
            <a:ext cx="1007399" cy="430126"/>
          </a:xfrm>
          <a:prstGeom prst="bentConnector3">
            <a:avLst>
              <a:gd name="adj1" fmla="val -23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0680970-AC2F-EB19-AAA9-44A6596F232C}"/>
              </a:ext>
            </a:extLst>
          </p:cNvPr>
          <p:cNvCxnSpPr>
            <a:cxnSpLocks/>
            <a:stCxn id="9" idx="1"/>
            <a:endCxn id="11" idx="0"/>
          </p:cNvCxnSpPr>
          <p:nvPr/>
        </p:nvCxnSpPr>
        <p:spPr>
          <a:xfrm rot="10800000" flipV="1">
            <a:off x="6134563" y="4449431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58CC4BB0-2E84-1437-DAB5-1EFC20F5862C}"/>
              </a:ext>
            </a:extLst>
          </p:cNvPr>
          <p:cNvCxnSpPr>
            <a:cxnSpLocks/>
            <a:stCxn id="10" idx="0"/>
            <a:endCxn id="11" idx="0"/>
          </p:cNvCxnSpPr>
          <p:nvPr/>
        </p:nvCxnSpPr>
        <p:spPr>
          <a:xfrm rot="16200000" flipH="1" flipV="1">
            <a:off x="7101609" y="2889361"/>
            <a:ext cx="1600423" cy="3534514"/>
          </a:xfrm>
          <a:prstGeom prst="bentConnector3">
            <a:avLst>
              <a:gd name="adj1" fmla="val -292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7CF1E0B4-FDF6-549A-2FA8-9F5808DE46A0}"/>
              </a:ext>
            </a:extLst>
          </p:cNvPr>
          <p:cNvCxnSpPr>
            <a:cxnSpLocks/>
            <a:stCxn id="5" idx="0"/>
            <a:endCxn id="11" idx="0"/>
          </p:cNvCxnSpPr>
          <p:nvPr/>
        </p:nvCxnSpPr>
        <p:spPr>
          <a:xfrm rot="16200000" flipH="1">
            <a:off x="3544654" y="2866920"/>
            <a:ext cx="1600423" cy="3579396"/>
          </a:xfrm>
          <a:prstGeom prst="bentConnector3">
            <a:avLst>
              <a:gd name="adj1" fmla="val -293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0" name="Picture 59">
            <a:extLst>
              <a:ext uri="{FF2B5EF4-FFF2-40B4-BE49-F238E27FC236}">
                <a16:creationId xmlns:a16="http://schemas.microsoft.com/office/drawing/2014/main" id="{879377B4-E86C-9A19-6778-B1D4CB0B4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073" y="2605618"/>
            <a:ext cx="584722" cy="618063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5D7FA38-7EC8-8849-E603-5F9027EED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715" y="2605618"/>
            <a:ext cx="584722" cy="618063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C6916E8A-D83C-FB78-0F08-6092E202D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9792" y="2589804"/>
            <a:ext cx="614644" cy="64969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F8E46FB4-5505-2D6B-EF28-8CA081830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8745" y="5337458"/>
            <a:ext cx="584722" cy="61806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22143079-FDF6-FED4-DA45-1A3F9AF82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388" y="5337458"/>
            <a:ext cx="584722" cy="618063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F19D24E6-E3E2-B209-12E5-1F24EA6364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979" y="5321644"/>
            <a:ext cx="614644" cy="649691"/>
          </a:xfrm>
          <a:prstGeom prst="rect">
            <a:avLst/>
          </a:prstGeom>
        </p:spPr>
      </p:pic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5892A11D-D3E4-5DD4-50FB-9C69DE612000}"/>
              </a:ext>
            </a:extLst>
          </p:cNvPr>
          <p:cNvSpPr txBox="1">
            <a:spLocks/>
          </p:cNvSpPr>
          <p:nvPr/>
        </p:nvSpPr>
        <p:spPr>
          <a:xfrm>
            <a:off x="5306052" y="5773954"/>
            <a:ext cx="1646476" cy="5995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Environment multiplexer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2" name="Content Placeholder 2">
            <a:extLst>
              <a:ext uri="{FF2B5EF4-FFF2-40B4-BE49-F238E27FC236}">
                <a16:creationId xmlns:a16="http://schemas.microsoft.com/office/drawing/2014/main" id="{0017CA83-264C-DD00-6487-142E84330011}"/>
              </a:ext>
            </a:extLst>
          </p:cNvPr>
          <p:cNvSpPr txBox="1">
            <a:spLocks/>
          </p:cNvSpPr>
          <p:nvPr/>
        </p:nvSpPr>
        <p:spPr>
          <a:xfrm>
            <a:off x="177720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1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A8C4C458-982B-4F45-7C89-3694B4C75711}"/>
              </a:ext>
            </a:extLst>
          </p:cNvPr>
          <p:cNvSpPr txBox="1">
            <a:spLocks/>
          </p:cNvSpPr>
          <p:nvPr/>
        </p:nvSpPr>
        <p:spPr>
          <a:xfrm>
            <a:off x="4148503" y="397099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2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3BCA634C-1FE7-DEA4-D14B-44F351577811}"/>
              </a:ext>
            </a:extLst>
          </p:cNvPr>
          <p:cNvSpPr txBox="1">
            <a:spLocks/>
          </p:cNvSpPr>
          <p:nvPr/>
        </p:nvSpPr>
        <p:spPr>
          <a:xfrm>
            <a:off x="6517467" y="3965143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B669791E-151B-F769-829A-562105671363}"/>
              </a:ext>
            </a:extLst>
          </p:cNvPr>
          <p:cNvSpPr txBox="1">
            <a:spLocks/>
          </p:cNvSpPr>
          <p:nvPr/>
        </p:nvSpPr>
        <p:spPr>
          <a:xfrm>
            <a:off x="889111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Adversary step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8C85CB7-E87B-ECC6-32D8-9B795F38D54C}"/>
              </a:ext>
            </a:extLst>
          </p:cNvPr>
          <p:cNvSpPr txBox="1">
            <a:spLocks/>
          </p:cNvSpPr>
          <p:nvPr/>
        </p:nvSpPr>
        <p:spPr>
          <a:xfrm>
            <a:off x="4619147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State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D28C5D49-86CB-A912-8758-BB5C3745BB48}"/>
              </a:ext>
            </a:extLst>
          </p:cNvPr>
          <p:cNvSpPr txBox="1">
            <a:spLocks/>
          </p:cNvSpPr>
          <p:nvPr/>
        </p:nvSpPr>
        <p:spPr>
          <a:xfrm>
            <a:off x="5658461" y="2257246"/>
            <a:ext cx="2673951" cy="3205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>
                <a:latin typeface=""/>
                <a:ea typeface="Source Sans Pro"/>
              </a:rPr>
              <a:t>Adversary knowledge</a:t>
            </a:r>
            <a:endParaRPr lang="en-US" sz="14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81" name="Content Placeholder 2">
            <a:extLst>
              <a:ext uri="{FF2B5EF4-FFF2-40B4-BE49-F238E27FC236}">
                <a16:creationId xmlns:a16="http://schemas.microsoft.com/office/drawing/2014/main" id="{EF5F80CF-A730-78EB-248C-82EEAAF81307}"/>
              </a:ext>
            </a:extLst>
          </p:cNvPr>
          <p:cNvSpPr txBox="1">
            <a:spLocks/>
          </p:cNvSpPr>
          <p:nvPr/>
        </p:nvSpPr>
        <p:spPr>
          <a:xfrm>
            <a:off x="3186328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Session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B821B072-3CEC-08C1-1893-66C3CC6817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3276" y="2658412"/>
            <a:ext cx="484830" cy="512475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9A81680-CF40-9278-4FED-C61D1BF9CF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1120" y="6153220"/>
            <a:ext cx="484830" cy="512475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83927E5B-17FD-9B1C-5757-4A33E5803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2892" y="6160672"/>
            <a:ext cx="484830" cy="512475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DA97808D-5D20-E50B-6CFB-26A3DA2B8E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5187" y="4336949"/>
            <a:ext cx="509504" cy="538556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FB6C99A1-416A-687D-1969-1E3466320A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389" y="4336949"/>
            <a:ext cx="509504" cy="538556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245BDFF4-ACC7-564E-CB60-4D442D828F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9430" y="4336949"/>
            <a:ext cx="509504" cy="538556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3A25CF4D-A406-C119-6859-BA8697F322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2476" y="4336949"/>
            <a:ext cx="509504" cy="53855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E40AEFB-2627-47DB-74DC-C3C08F04C3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9448" y="3842919"/>
            <a:ext cx="414912" cy="4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68" grpId="0"/>
      <p:bldP spid="76" grpId="0"/>
      <p:bldP spid="77" grpId="0"/>
      <p:bldP spid="8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3185160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20548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92697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99732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control flow with action facts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3114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80" y="313436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824866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support loops with corresponding loop invariants to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895219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3028436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772779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engines can isolate an individual postcondition within an individual function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3053862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843132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</a:t>
            </a:r>
            <a:r>
              <a:rPr lang="en-US" dirty="0">
                <a:solidFill>
                  <a:schemeClr val="tx1"/>
                </a:solidFill>
              </a:rPr>
              <a:t>– </a:t>
            </a: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Discussion, Open Questions, &amp; Conclusion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multiple “MGUs” modulo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628D-B4CD-4C8A-B76A-13155678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ource Sans Pro"/>
                <a:ea typeface="Source Sans Pro"/>
              </a:rPr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115ED-9912-DA77-67F5-5CDAA597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Could also talk about BAN and why it didn't work very well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Requires manual annotations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Doesn't reason about adversarial actions – originally sold as a benefit, but it essentially shifts adversarial reasoning from the logic to the user, which is error-prone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Public key Needham-Schroeder is BAN-secure! (check this, looks like analysis in the original paper)</a:t>
            </a:r>
          </a:p>
          <a:p>
            <a:r>
              <a:rPr lang="en-US" dirty="0">
                <a:latin typeface="Source Sans Pro"/>
                <a:ea typeface="Source Sans Pro"/>
              </a:rPr>
              <a:t>Already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 attacks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Relationships between semantics</a:t>
            </a:r>
          </a:p>
          <a:p>
            <a:r>
              <a:rPr lang="en-US" dirty="0">
                <a:latin typeface="Source Sans Pro"/>
                <a:ea typeface="Source Sans Pro"/>
              </a:rPr>
              <a:t>Give more details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Strong typing assumption, XOR vs pairing/projection (how can it help you in one case? What about the other?)</a:t>
            </a:r>
            <a:endParaRPr lang="en-US" sz="2200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Reveal scenarios (required for Needham-Schroeder attack); give updated security properties</a:t>
            </a:r>
            <a:endParaRPr lang="en-US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Example(s) where secrecy labels are over conservative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Symbolic model not strictly weaker than computational model</a:t>
            </a:r>
          </a:p>
          <a:p>
            <a:r>
              <a:rPr lang="en-US" dirty="0">
                <a:latin typeface="Source Sans Pro"/>
                <a:ea typeface="Source Sans Pro"/>
              </a:rPr>
              <a:t>Not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Protocols involving arithmetic; how Tamarin models arithmetic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Some tidbits about CCSA – overview of the BC logic, why automated reasoning about it is hard, cryptographic axioms, and spurious counterexamples</a:t>
            </a:r>
          </a:p>
        </p:txBody>
      </p:sp>
    </p:spTree>
    <p:extLst>
      <p:ext uri="{BB962C8B-B14F-4D97-AF65-F5344CB8AC3E}">
        <p14:creationId xmlns:p14="http://schemas.microsoft.com/office/powerpoint/2010/main" val="1572822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21759</TotalTime>
  <Words>9471</Words>
  <Application>Microsoft Macintosh PowerPoint</Application>
  <PresentationFormat>Widescreen</PresentationFormat>
  <Paragraphs>1219</Paragraphs>
  <Slides>129</Slides>
  <Notes>35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129</vt:i4>
      </vt:variant>
    </vt:vector>
  </HeadingPairs>
  <TitlesOfParts>
    <vt:vector size="140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Conclusion</vt:lpstr>
      <vt:lpstr>PowerPoint Presentation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  <vt:lpstr>Things to discuss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1068</cp:revision>
  <cp:lastPrinted>2026-04-01T18:06:29Z</cp:lastPrinted>
  <dcterms:created xsi:type="dcterms:W3CDTF">2026-03-16T17:02:12Z</dcterms:created>
  <dcterms:modified xsi:type="dcterms:W3CDTF">2026-04-22T17:38:29Z</dcterms:modified>
</cp:coreProperties>
</file>