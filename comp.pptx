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1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79" r:id="rId11"/>
    <p:sldId id="280" r:id="rId12"/>
    <p:sldId id="393" r:id="rId13"/>
    <p:sldId id="394" r:id="rId14"/>
    <p:sldId id="281" r:id="rId15"/>
    <p:sldId id="309" r:id="rId16"/>
    <p:sldId id="332" r:id="rId17"/>
    <p:sldId id="333" r:id="rId18"/>
    <p:sldId id="282" r:id="rId19"/>
    <p:sldId id="284" r:id="rId20"/>
    <p:sldId id="358" r:id="rId21"/>
    <p:sldId id="283" r:id="rId22"/>
    <p:sldId id="387" r:id="rId23"/>
    <p:sldId id="388" r:id="rId24"/>
    <p:sldId id="389" r:id="rId25"/>
    <p:sldId id="391" r:id="rId26"/>
    <p:sldId id="380" r:id="rId27"/>
    <p:sldId id="263" r:id="rId28"/>
    <p:sldId id="427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37" r:id="rId62"/>
    <p:sldId id="340" r:id="rId63"/>
    <p:sldId id="312" r:id="rId64"/>
    <p:sldId id="262" r:id="rId65"/>
    <p:sldId id="334" r:id="rId66"/>
    <p:sldId id="335" r:id="rId67"/>
    <p:sldId id="336" r:id="rId68"/>
    <p:sldId id="365" r:id="rId69"/>
    <p:sldId id="367" r:id="rId70"/>
    <p:sldId id="368" r:id="rId71"/>
    <p:sldId id="307" r:id="rId72"/>
    <p:sldId id="374" r:id="rId73"/>
    <p:sldId id="306" r:id="rId74"/>
    <p:sldId id="366" r:id="rId75"/>
    <p:sldId id="310" r:id="rId76"/>
    <p:sldId id="373" r:id="rId77"/>
    <p:sldId id="311" r:id="rId78"/>
    <p:sldId id="410" r:id="rId79"/>
    <p:sldId id="314" r:id="rId80"/>
    <p:sldId id="419" r:id="rId81"/>
    <p:sldId id="382" r:id="rId82"/>
    <p:sldId id="369" r:id="rId83"/>
    <p:sldId id="371" r:id="rId84"/>
    <p:sldId id="370" r:id="rId85"/>
    <p:sldId id="384" r:id="rId86"/>
    <p:sldId id="372" r:id="rId87"/>
    <p:sldId id="385" r:id="rId88"/>
    <p:sldId id="425" r:id="rId89"/>
    <p:sldId id="426" r:id="rId90"/>
    <p:sldId id="352" r:id="rId91"/>
    <p:sldId id="272" r:id="rId92"/>
    <p:sldId id="407" r:id="rId93"/>
    <p:sldId id="273" r:id="rId94"/>
    <p:sldId id="414" r:id="rId95"/>
    <p:sldId id="415" r:id="rId96"/>
    <p:sldId id="412" r:id="rId97"/>
    <p:sldId id="413" r:id="rId98"/>
    <p:sldId id="416" r:id="rId99"/>
    <p:sldId id="301" r:id="rId100"/>
    <p:sldId id="300" r:id="rId101"/>
    <p:sldId id="304" r:id="rId102"/>
    <p:sldId id="428" r:id="rId103"/>
    <p:sldId id="364" r:id="rId104"/>
    <p:sldId id="429" r:id="rId105"/>
    <p:sldId id="305" r:id="rId106"/>
    <p:sldId id="418" r:id="rId107"/>
    <p:sldId id="406" r:id="rId108"/>
    <p:sldId id="409" r:id="rId109"/>
    <p:sldId id="308" r:id="rId110"/>
    <p:sldId id="420" r:id="rId111"/>
    <p:sldId id="417" r:id="rId112"/>
    <p:sldId id="423" r:id="rId113"/>
    <p:sldId id="424" r:id="rId114"/>
    <p:sldId id="422" r:id="rId115"/>
    <p:sldId id="270" r:id="rId116"/>
    <p:sldId id="345" r:id="rId117"/>
    <p:sldId id="346" r:id="rId118"/>
    <p:sldId id="347" r:id="rId119"/>
    <p:sldId id="361" r:id="rId120"/>
    <p:sldId id="378" r:id="rId121"/>
    <p:sldId id="348" r:id="rId122"/>
    <p:sldId id="360" r:id="rId123"/>
    <p:sldId id="363" r:id="rId124"/>
    <p:sldId id="349" r:id="rId125"/>
    <p:sldId id="353" r:id="rId126"/>
    <p:sldId id="355" r:id="rId127"/>
    <p:sldId id="317" r:id="rId128"/>
    <p:sldId id="299" r:id="rId129"/>
    <p:sldId id="316" r:id="rId1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62" autoAdjust="0"/>
    <p:restoredTop sz="85940"/>
  </p:normalViewPr>
  <p:slideViewPr>
    <p:cSldViewPr snapToGrid="0">
      <p:cViewPr>
        <p:scale>
          <a:sx n="110" d="100"/>
          <a:sy n="110" d="100"/>
        </p:scale>
        <p:origin x="-26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notesMaster" Target="notesMasters/notesMaster1.xml"/><Relationship Id="rId136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18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279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98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&lt;transition point – formalizing properties (in presentation) &gt;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&lt;connect to previous point&gt;</a:t>
            </a:r>
          </a:p>
          <a:p>
            <a:endParaRPr lang="en-US" dirty="0"/>
          </a:p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352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9057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046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9482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598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164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444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605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9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369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248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1.png"/><Relationship Id="rId7" Type="http://schemas.openxmlformats.org/officeDocument/2006/relationships/image" Target="../media/image6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42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Relationship Id="rId14" Type="http://schemas.openxmlformats.org/officeDocument/2006/relationships/image" Target="../media/image69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5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Relationship Id="rId9" Type="http://schemas.openxmlformats.org/officeDocument/2006/relationships/image" Target="../media/image9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102.png"/><Relationship Id="rId4" Type="http://schemas.openxmlformats.org/officeDocument/2006/relationships/image" Target="../media/image10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8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6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7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7" Type="http://schemas.openxmlformats.org/officeDocument/2006/relationships/image" Target="../media/image84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7" Type="http://schemas.openxmlformats.org/officeDocument/2006/relationships/image" Target="../media/image84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32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12" Type="http://schemas.openxmlformats.org/officeDocument/2006/relationships/image" Target="../media/image131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.png"/><Relationship Id="rId11" Type="http://schemas.openxmlformats.org/officeDocument/2006/relationships/image" Target="../media/image130.png"/><Relationship Id="rId5" Type="http://schemas.openxmlformats.org/officeDocument/2006/relationships/image" Target="../media/image137.png"/><Relationship Id="rId10" Type="http://schemas.openxmlformats.org/officeDocument/2006/relationships/image" Target="../media/image129.png"/><Relationship Id="rId4" Type="http://schemas.openxmlformats.org/officeDocument/2006/relationships/image" Target="../media/image136.png"/><Relationship Id="rId9" Type="http://schemas.openxmlformats.org/officeDocument/2006/relationships/image" Target="../media/image84.png"/><Relationship Id="rId14" Type="http://schemas.openxmlformats.org/officeDocument/2006/relationships/image" Target="../media/image133.png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32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12" Type="http://schemas.openxmlformats.org/officeDocument/2006/relationships/image" Target="../media/image131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.png"/><Relationship Id="rId11" Type="http://schemas.openxmlformats.org/officeDocument/2006/relationships/image" Target="../media/image130.png"/><Relationship Id="rId5" Type="http://schemas.openxmlformats.org/officeDocument/2006/relationships/image" Target="../media/image137.png"/><Relationship Id="rId15" Type="http://schemas.openxmlformats.org/officeDocument/2006/relationships/image" Target="../media/image118.png"/><Relationship Id="rId10" Type="http://schemas.openxmlformats.org/officeDocument/2006/relationships/image" Target="../media/image129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Relationship Id="rId14" Type="http://schemas.openxmlformats.org/officeDocument/2006/relationships/image" Target="../media/image133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6.png"/><Relationship Id="rId7" Type="http://schemas.openxmlformats.org/officeDocument/2006/relationships/image" Target="../media/image1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23.png"/><Relationship Id="rId4" Type="http://schemas.openxmlformats.org/officeDocument/2006/relationships/image" Target="../media/image148.png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15.png"/><Relationship Id="rId7" Type="http://schemas.openxmlformats.org/officeDocument/2006/relationships/image" Target="../media/image15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5" Type="http://schemas.openxmlformats.org/officeDocument/2006/relationships/image" Target="../media/image151.png"/><Relationship Id="rId10" Type="http://schemas.openxmlformats.org/officeDocument/2006/relationships/image" Target="../media/image94.png"/><Relationship Id="rId4" Type="http://schemas.openxmlformats.org/officeDocument/2006/relationships/image" Target="../media/image149.png"/><Relationship Id="rId9" Type="http://schemas.openxmlformats.org/officeDocument/2006/relationships/image" Target="../media/image93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1973678" y="2692117"/>
            <a:ext cx="1692900" cy="1952758"/>
            <a:chOff x="2020114" y="2692117"/>
            <a:chExt cx="1692900" cy="19527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020114" y="3972288"/>
              <a:ext cx="16929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865085" y="4588235"/>
            <a:ext cx="1927679" cy="2051996"/>
            <a:chOff x="1865085" y="4588235"/>
            <a:chExt cx="1927679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865085" y="5967644"/>
              <a:ext cx="1927679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8999"/>
            <a:ext cx="5262880" cy="88275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"/>
              </a:rPr>
              <a:t>in production</a:t>
            </a:r>
            <a:r>
              <a:rPr lang="en-US" sz="2000" dirty="0">
                <a:solidFill>
                  <a:schemeClr val="tx1"/>
                </a:solidFill>
                <a:latin typeface=""/>
              </a:rPr>
              <a:t>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639354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B74181EF-049F-5BE0-0683-CADD64C44E03}"/>
              </a:ext>
            </a:extLst>
          </p:cNvPr>
          <p:cNvSpPr txBox="1"/>
          <p:nvPr/>
        </p:nvSpPr>
        <p:spPr>
          <a:xfrm>
            <a:off x="129119" y="2500537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Victories of SOTA </a:t>
            </a:r>
          </a:p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(automated protocol analysis)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03E128-FF21-0FFF-65D7-47E3EE261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944" y="2336750"/>
            <a:ext cx="672727" cy="6727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F62373-57FD-30E0-26BA-62CB76D82752}"/>
              </a:ext>
            </a:extLst>
          </p:cNvPr>
          <p:cNvSpPr txBox="1"/>
          <p:nvPr/>
        </p:nvSpPr>
        <p:spPr>
          <a:xfrm>
            <a:off x="6022561" y="2498303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Drawbacks of SOTA                      (automated protocol analysis)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(semi-)automated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7166B5-00B6-926D-5693-AF2AE90AF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48" y="2336705"/>
            <a:ext cx="584200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</a:t>
            </a:r>
            <a:endParaRPr lang="en-US" sz="3200" dirty="0"/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Talk 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951264" y="1612583"/>
            <a:ext cx="10324766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951264" y="3352182"/>
            <a:ext cx="10324766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032537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235551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032537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235551" y="4244849"/>
            <a:ext cx="5040479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6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76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951264" y="5035191"/>
            <a:ext cx="10324766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research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942985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235552" y="5889266"/>
            <a:ext cx="5013463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0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99549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1BBC5D7-804A-3AE6-6FD6-32FAD23256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081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70030C-47A2-2BDC-1792-9C8F28E19685}"/>
              </a:ext>
            </a:extLst>
          </p:cNvPr>
          <p:cNvSpPr/>
          <p:nvPr/>
        </p:nvSpPr>
        <p:spPr>
          <a:xfrm>
            <a:off x="7989957" y="4221693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716692C3-EC4D-E369-957F-CC6449C72F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9266974" y="2942118"/>
            <a:ext cx="3946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756492" y="3142173"/>
            <a:ext cx="510482" cy="359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97526" y="3142173"/>
            <a:ext cx="569448" cy="7719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E265B7-DAD3-696F-334D-042ADB816EAC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0E641D-5F21-C7B1-DC91-41B22471A46D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08F29E0-D0BA-CB4C-C141-DA535E396B3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95CC014-64EF-FD9F-A345-DF11D9A4603D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710BF960-7E4C-92E3-55BC-8379DC09C9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7877633" y="6073184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90290" y="6304017"/>
            <a:ext cx="14873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267" y="5800903"/>
            <a:ext cx="1005839" cy="10058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B9D1EE41-B032-2EC2-4C9B-31B3A25B4E1C}"/>
              </a:ext>
            </a:extLst>
          </p:cNvPr>
          <p:cNvSpPr/>
          <p:nvPr/>
        </p:nvSpPr>
        <p:spPr>
          <a:xfrm>
            <a:off x="7928461" y="4156793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z="24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4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Gen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Dec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Adversary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wins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game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negl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  <p:bldP spid="15" grpId="0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A98B96-294C-E39B-A289-9FAC242AD830}"/>
              </a:ext>
            </a:extLst>
          </p:cNvPr>
          <p:cNvSpPr/>
          <p:nvPr/>
        </p:nvSpPr>
        <p:spPr>
          <a:xfrm>
            <a:off x="0" y="2772482"/>
            <a:ext cx="12192000" cy="1868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not currently amenable to automation, so most automation efforts focus on the symbolic model</a:t>
            </a:r>
          </a:p>
          <a:p>
            <a:endParaRPr lang="en-US" sz="1000" dirty="0">
              <a:latin typeface="Avenir Next" panose="020B0503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Due to this, we focus on the symbolic model in this talk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D850-A713-B649-217F-A2AC6F0583E7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</p:spTree>
    <p:extLst>
      <p:ext uri="{BB962C8B-B14F-4D97-AF65-F5344CB8AC3E}">
        <p14:creationId xmlns:p14="http://schemas.microsoft.com/office/powerpoint/2010/main" val="84610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1" animBg="1"/>
      <p:bldP spid="10" grpId="0"/>
      <p:bldP spid="12" grpId="1"/>
      <p:bldP spid="13" grpId="0"/>
      <p:bldP spid="15" grpId="1"/>
      <p:bldP spid="7" grpId="1" animBg="1"/>
      <p:bldP spid="9" grpId="0" animBg="1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95584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1" animBg="1"/>
      <p:bldP spid="13" grpId="0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951263" y="1595460"/>
            <a:ext cx="10289062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Use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to model protocol state that evolves at each rewrite rule application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629BF55-EB7D-5911-6115-49E56D72FEAE}"/>
              </a:ext>
            </a:extLst>
          </p:cNvPr>
          <p:cNvSpPr/>
          <p:nvPr/>
        </p:nvSpPr>
        <p:spPr>
          <a:xfrm>
            <a:off x="3153971" y="3615066"/>
            <a:ext cx="2788604" cy="58721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rewrite rule is a protocol step</a:t>
            </a:r>
            <a:endParaRPr lang="en-US" dirty="0">
              <a:latin typeface="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4470CC6-EE5E-AEA2-07F7-852552F3293A}"/>
              </a:ext>
            </a:extLst>
          </p:cNvPr>
          <p:cNvCxnSpPr>
            <a:stCxn id="33" idx="0"/>
            <a:endCxn id="3" idx="2"/>
          </p:cNvCxnSpPr>
          <p:nvPr/>
        </p:nvCxnSpPr>
        <p:spPr>
          <a:xfrm flipH="1" flipV="1">
            <a:off x="3981320" y="3296871"/>
            <a:ext cx="566953" cy="318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24D15FC-8754-98E3-2929-6D4D5E6C4532}"/>
              </a:ext>
            </a:extLst>
          </p:cNvPr>
          <p:cNvSpPr/>
          <p:nvPr/>
        </p:nvSpPr>
        <p:spPr>
          <a:xfrm>
            <a:off x="951264" y="1595460"/>
            <a:ext cx="102890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Use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to model protocol state that evolves at each rewrite rule application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This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blipFill>
                <a:blip r:embed="rId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blipFill>
                <a:blip r:embed="rId10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 with top-level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fact symbol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1"/>
                <a:stretch>
                  <a:fillRect t="-8333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1875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blipFill>
                <a:blip r:embed="rId13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blipFill>
                <a:blip r:embed="rId14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3996095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4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7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0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3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6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indefinite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49" dur="indefinite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2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5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indefinite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8" dur="indefinite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indefinite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1" dur="indefinite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1" grpId="1" animBg="1"/>
      <p:bldP spid="8" grpId="0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25" grpId="0"/>
      <p:bldP spid="25" grpId="1"/>
      <p:bldP spid="26" grpId="0"/>
      <p:bldP spid="26" grpId="1"/>
      <p:bldP spid="27" grpId="0" animBg="1"/>
      <p:bldP spid="18" grpId="0"/>
      <p:bldP spid="18" grpId="1"/>
      <p:bldP spid="20" grpId="0"/>
      <p:bldP spid="20" grpId="1"/>
      <p:bldP spid="21" grpId="0"/>
      <p:bldP spid="21" grpId="1"/>
      <p:bldP spid="35" grpId="0" animBg="1"/>
      <p:bldP spid="35" grpId="1" animBg="1"/>
      <p:bldP spid="35" grpId="2" animBg="1"/>
      <p:bldP spid="38" grpId="0" animBg="1"/>
      <p:bldP spid="38" grpId="1" animBg="1"/>
      <p:bldP spid="38" grpId="2" animBg="1"/>
      <p:bldP spid="40" grpId="0"/>
      <p:bldP spid="40" grpId="1"/>
      <p:bldP spid="41" grpId="0"/>
      <p:bldP spid="41" grpId="1"/>
      <p:bldP spid="42" grpId="0"/>
      <p:bldP spid="42" grpId="1"/>
      <p:bldP spid="43" grpId="0" animBg="1"/>
      <p:bldP spid="43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 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, …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In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KeyB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MyEnc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}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enc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, </m:t>
                                </m:r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 …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(built-in)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Fr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KeyB</m:t>
                    </m:r>
                    <m:r>
                      <m:rPr>
                        <m:nor/>
                      </m:rPr>
                      <a:rPr lang="en-US" sz="20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(.)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F0D58-ED3F-D04E-FBBB-7085A83637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7312510-94E4-0C3A-4CC2-5EA1E5D5EC9E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AD482B-3090-F631-2E95-89176D5E7D73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5839A9-9EBC-A4E9-33E2-7EA10DDA5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F91D5EF-A761-1ECA-3B24-8DEEB769D558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49A07255-D606-7239-F692-60C93E004D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824980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ECF693-0B40-5ED8-7E8C-F61094845F2D}"/>
              </a:ext>
            </a:extLst>
          </p:cNvPr>
          <p:cNvSpPr/>
          <p:nvPr/>
        </p:nvSpPr>
        <p:spPr>
          <a:xfrm>
            <a:off x="4193606" y="3191960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864AE8A-EC85-7B92-5848-55FA33220943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6621616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16B1CA-86A8-7E30-961E-619DE19715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2410694" y="351906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2396839" y="3921696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DFA841-63B1-DF16-3D1C-D0250782332C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0C81C37B-51F1-5580-614E-8082D3FB2710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55D120-E616-3E16-D214-463F2F266685}"/>
              </a:ext>
            </a:extLst>
          </p:cNvPr>
          <p:cNvSpPr/>
          <p:nvPr/>
        </p:nvSpPr>
        <p:spPr>
          <a:xfrm>
            <a:off x="5824980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42067B7-138F-A9AC-B577-D190A04895E5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6621616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D69D97F8-EAED-E27D-AB59-B0ED3F080B8A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0240D-4905-7F48-4EFD-10FAFD0C2B86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CF94F1-0FCE-5338-22B8-2EBCB4D688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51CAA5-F16A-99A5-2A1E-0B5975685BC1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/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i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2669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600" dirty="0">
                <a:ea typeface="Source Sans Pro"/>
              </a:rPr>
              <a:t>We encode properties in a variant of first-order logic</a:t>
            </a:r>
            <a:endParaRPr lang="en-US" sz="2600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83A8D-E4E4-4A7A-D7CD-A7A51D3B7388}"/>
              </a:ext>
            </a:extLst>
          </p:cNvPr>
          <p:cNvSpPr txBox="1"/>
          <p:nvPr/>
        </p:nvSpPr>
        <p:spPr>
          <a:xfrm>
            <a:off x="951263" y="39188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A3EFF-6145-FE07-AB34-209111743F38}"/>
              </a:ext>
            </a:extLst>
          </p:cNvPr>
          <p:cNvSpPr txBox="1"/>
          <p:nvPr/>
        </p:nvSpPr>
        <p:spPr>
          <a:xfrm>
            <a:off x="3689131" y="42882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A712896-7413-3ECA-709C-B69DE4C5E439}"/>
              </a:ext>
            </a:extLst>
          </p:cNvPr>
          <p:cNvSpPr txBox="1">
            <a:spLocks/>
          </p:cNvSpPr>
          <p:nvPr/>
        </p:nvSpPr>
        <p:spPr>
          <a:xfrm>
            <a:off x="951263" y="1750224"/>
            <a:ext cx="1028906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We can encode protocols, but how do we find security problems?</a:t>
            </a:r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A50001B-6CF8-92E4-77F6-3BC76BF63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A239A92-9E8C-2613-6693-8DF8141A1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5235C2F-C6FB-FA82-1764-4458D680B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2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74A030D0-962E-D0BC-FB82-6DCC2B8F1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Secret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K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32375149-5442-4904-6CCF-A62B94F59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92809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14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Sent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A7454-35E9-C90B-7F6B-20F832B3C3E6}"/>
              </a:ext>
            </a:extLst>
          </p:cNvPr>
          <p:cNvSpPr txBox="1"/>
          <p:nvPr/>
        </p:nvSpPr>
        <p:spPr>
          <a:xfrm>
            <a:off x="3348906" y="3644938"/>
            <a:ext cx="70342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en-US" sz="2800" dirty="0">
              <a:solidFill>
                <a:srgbClr val="000000"/>
              </a:solidFill>
              <a:latin typeface=""/>
              <a:ea typeface="Source Sans Pro"/>
            </a:endParaRP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"/>
                <a:ea typeface="Source Sans Pro"/>
              </a:rPr>
              <a:t>   No replay attacks!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 (non-injective agreement)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9D95884-547B-4A0E-7683-C67B3472E6A5}"/>
              </a:ext>
            </a:extLst>
          </p:cNvPr>
          <p:cNvSpPr txBox="1"/>
          <p:nvPr/>
        </p:nvSpPr>
        <p:spPr>
          <a:xfrm>
            <a:off x="3754927" y="5112167"/>
            <a:ext cx="468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We have achieved mutual authentication!(?)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372187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2187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97591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E07EFD4B-F6BF-5390-B90D-367B28E7003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18B784B-8C82-5363-E017-D1EA2BC6D8E2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blipFill>
                <a:blip r:embed="rId7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blipFill>
                <a:blip r:embed="rId8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blipFill>
                <a:blip r:embed="rId9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4D31A6C9-6F8A-284D-7BCE-C884CA4EE4B0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F14BBF-7CDC-9A4C-C034-D7DF994BBF65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AA266E2B-E4AA-9687-FDD4-1AB4509E051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2896AEF-E1FD-7A31-2C6D-74339D343185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46994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1623368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2182874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3315955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6382716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854603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995129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5369826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5369826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5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214581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5512973A-5467-8C03-AB42-9C717B5B6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1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1535697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initiation!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4145F7-3FC4-B454-40AA-F5E1E95958DA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2C0D0FFA-BF8E-45FC-8FB4-1E8660550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87470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093117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B3039F-4437-4B83-48B4-87B21F37C511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…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}→{</m:t>
                      </m:r>
                      <m:r>
                        <m:rPr>
                          <m:nor/>
                        </m:rPr>
                        <a:rPr lang="en-US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𝐹𝑟</m:t>
                                  </m:r>
                                </m:sup>
                              </m:sSub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𝑃𝑢𝑏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𝑀𝑠𝑔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blipFill>
                <a:blip r:embed="rId4"/>
                <a:stretch>
                  <a:fillRect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33489" y="2738645"/>
            <a:ext cx="3698241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859049" y="3198175"/>
            <a:ext cx="4518772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2B6A13-DE1A-DB78-6469-9C1E3FA96E06}"/>
              </a:ext>
            </a:extLst>
          </p:cNvPr>
          <p:cNvSpPr/>
          <p:nvPr/>
        </p:nvSpPr>
        <p:spPr>
          <a:xfrm>
            <a:off x="10008840" y="2903535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6" grpId="0" animBg="1"/>
      <p:bldP spid="17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sz="3200" dirty="0">
              <a:ea typeface="Source Sans Pro"/>
            </a:endParaRPr>
          </a:p>
          <a:p>
            <a:r>
              <a:rPr lang="en-US" sz="3200" dirty="0">
                <a:ea typeface="Source Sans Pro"/>
              </a:rPr>
              <a:t>Discussion, Research Questions, &amp; Conclusion 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B9CD5F-299D-0F81-DD48-C8D7DDC2167F}"/>
              </a:ext>
            </a:extLst>
          </p:cNvPr>
          <p:cNvSpPr/>
          <p:nvPr/>
        </p:nvSpPr>
        <p:spPr>
          <a:xfrm>
            <a:off x="2283071" y="2775857"/>
            <a:ext cx="7625443" cy="13062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1"/>
                </a:solidFill>
                <a:latin typeface=""/>
                <a:ea typeface="Source Sans Pro"/>
              </a:rPr>
              <a:t>Reminder: Symbolic model (unbounded)                protocol security is undecidable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63A3C-32E2-1038-A8A4-870CAE75A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928" y="2775857"/>
            <a:ext cx="1306286" cy="130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783" y="3600067"/>
            <a:ext cx="5769659" cy="247624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41678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433415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433415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we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but gets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l="-1832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52890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8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tag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E3E1C6DF-DDD9-6AAE-CF3F-39617B5EE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11" y="4121253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403067" y="3225298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130334" y="5233536"/>
            <a:ext cx="3604671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3969104" y="5231589"/>
            <a:ext cx="2877329" cy="7467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-207" y="2537554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6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8" grpId="0"/>
      <p:bldP spid="12" grpId="0"/>
      <p:bldP spid="21" grpId="0" animBg="1"/>
      <p:bldP spid="21" grpId="1" animBg="1"/>
      <p:bldP spid="22" grpId="0" animBg="1"/>
      <p:bldP spid="22" grpId="1" animBg="1"/>
      <p:bldP spid="24" grpId="0" animBg="1"/>
      <p:bldP spid="26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7" grpId="0"/>
      <p:bldP spid="8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156322008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2942887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20950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621972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552373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Research Questions, &amp; Conclusion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3BC95E-D326-6B8A-E965-346407DBE29A}"/>
              </a:ext>
            </a:extLst>
          </p:cNvPr>
          <p:cNvSpPr/>
          <p:nvPr/>
        </p:nvSpPr>
        <p:spPr>
          <a:xfrm>
            <a:off x="1242801" y="2917375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BF71FF5-5929-3755-5326-DF6EAAB26D72}"/>
              </a:ext>
            </a:extLst>
          </p:cNvPr>
          <p:cNvSpPr/>
          <p:nvPr/>
        </p:nvSpPr>
        <p:spPr>
          <a:xfrm>
            <a:off x="4532224" y="3505494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2A48EF-0CEE-0C2A-7B69-7BF4B830C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63" y="2939523"/>
            <a:ext cx="467360" cy="46736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C2EE5D-0109-B2E4-4C0F-50266628F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3521372"/>
            <a:ext cx="599440" cy="599440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0531A96-5101-4505-5434-197A0B668721}"/>
              </a:ext>
            </a:extLst>
          </p:cNvPr>
          <p:cNvSpPr/>
          <p:nvPr/>
        </p:nvSpPr>
        <p:spPr>
          <a:xfrm>
            <a:off x="4532224" y="4248690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support assume/guarantee-style compositional reasoning 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B0F07E4-6FDB-5C76-4C33-A625EF5F9FCC}"/>
              </a:ext>
            </a:extLst>
          </p:cNvPr>
          <p:cNvSpPr/>
          <p:nvPr/>
        </p:nvSpPr>
        <p:spPr>
          <a:xfrm>
            <a:off x="4532223" y="4991886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can often highlight individual failing verification conditions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 animBg="1"/>
      <p:bldP spid="21" grpId="0" animBg="1"/>
      <p:bldP spid="24" grpId="0" animBg="1"/>
      <p:bldP spid="2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9930-C776-20D9-9B54-216A6A2E91D6}"/>
              </a:ext>
            </a:extLst>
          </p:cNvPr>
          <p:cNvSpPr/>
          <p:nvPr/>
        </p:nvSpPr>
        <p:spPr>
          <a:xfrm>
            <a:off x="177720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765F9C-1C59-4D91-07DA-684D125E4978}"/>
              </a:ext>
            </a:extLst>
          </p:cNvPr>
          <p:cNvSpPr/>
          <p:nvPr/>
        </p:nvSpPr>
        <p:spPr>
          <a:xfrm>
            <a:off x="4148503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1F1D5-E183-AA04-E8A2-35920459F27E}"/>
              </a:ext>
            </a:extLst>
          </p:cNvPr>
          <p:cNvSpPr/>
          <p:nvPr/>
        </p:nvSpPr>
        <p:spPr>
          <a:xfrm>
            <a:off x="6519807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06A176-F6D2-0183-B3A1-65B916D475A9}"/>
              </a:ext>
            </a:extLst>
          </p:cNvPr>
          <p:cNvSpPr/>
          <p:nvPr/>
        </p:nvSpPr>
        <p:spPr>
          <a:xfrm>
            <a:off x="889111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7CE68-BBD2-4DE4-ED8A-246528FCF1B5}"/>
              </a:ext>
            </a:extLst>
          </p:cNvPr>
          <p:cNvSpPr/>
          <p:nvPr/>
        </p:nvSpPr>
        <p:spPr>
          <a:xfrm>
            <a:off x="5356596" y="5456829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F912332-AB1B-C695-5BF6-5CC516A5CCF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>
            <a:off x="2555167" y="5042455"/>
            <a:ext cx="2801429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78B3F80-9B63-E799-2CC3-9E24F3931DA8}"/>
              </a:ext>
            </a:extLst>
          </p:cNvPr>
          <p:cNvCxnSpPr>
            <a:cxnSpLocks/>
            <a:stCxn id="11" idx="3"/>
            <a:endCxn id="10" idx="2"/>
          </p:cNvCxnSpPr>
          <p:nvPr/>
        </p:nvCxnSpPr>
        <p:spPr>
          <a:xfrm flipV="1">
            <a:off x="6912530" y="5042455"/>
            <a:ext cx="2756547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ED29170D-C608-5EE6-BCF0-727E7CDC8BF7}"/>
              </a:ext>
            </a:extLst>
          </p:cNvPr>
          <p:cNvCxnSpPr>
            <a:cxnSpLocks/>
            <a:stCxn id="11" idx="1"/>
            <a:endCxn id="8" idx="2"/>
          </p:cNvCxnSpPr>
          <p:nvPr/>
        </p:nvCxnSpPr>
        <p:spPr>
          <a:xfrm rot="10800000">
            <a:off x="4926470" y="5042455"/>
            <a:ext cx="430126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56132C5-635D-C8B6-13A7-0DD6DEC7B299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flipV="1">
            <a:off x="6912530" y="5042455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F00FD49-A5B5-E700-9AC7-89275E87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531" y="5337458"/>
            <a:ext cx="584722" cy="6180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52167E3-17E3-D57A-92A9-70000F3B5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4" y="5337458"/>
            <a:ext cx="584722" cy="618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E7C7281-C90E-E0C0-3BE1-20F42FE3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5765" y="5321644"/>
            <a:ext cx="614644" cy="649691"/>
          </a:xfrm>
          <a:prstGeom prst="rect">
            <a:avLst/>
          </a:prstGeom>
        </p:spPr>
      </p:pic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E319BDC-A2C6-88FE-2039-B0E17E60EA42}"/>
              </a:ext>
            </a:extLst>
          </p:cNvPr>
          <p:cNvCxnSpPr>
            <a:cxnSpLocks/>
            <a:endCxn id="11" idx="0"/>
          </p:cNvCxnSpPr>
          <p:nvPr/>
        </p:nvCxnSpPr>
        <p:spPr>
          <a:xfrm rot="16200000" flipH="1">
            <a:off x="5415801" y="4738067"/>
            <a:ext cx="1007399" cy="430126"/>
          </a:xfrm>
          <a:prstGeom prst="bentConnector3">
            <a:avLst>
              <a:gd name="adj1" fmla="val -2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0680970-AC2F-EB19-AAA9-44A6596F232C}"/>
              </a:ext>
            </a:extLst>
          </p:cNvPr>
          <p:cNvCxnSpPr>
            <a:cxnSpLocks/>
            <a:stCxn id="9" idx="1"/>
            <a:endCxn id="11" idx="0"/>
          </p:cNvCxnSpPr>
          <p:nvPr/>
        </p:nvCxnSpPr>
        <p:spPr>
          <a:xfrm rot="10800000" flipV="1">
            <a:off x="6134563" y="4449431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58CC4BB0-2E84-1437-DAB5-1EFC20F5862C}"/>
              </a:ext>
            </a:extLst>
          </p:cNvPr>
          <p:cNvCxnSpPr>
            <a:cxnSpLocks/>
            <a:stCxn id="10" idx="0"/>
            <a:endCxn id="11" idx="0"/>
          </p:cNvCxnSpPr>
          <p:nvPr/>
        </p:nvCxnSpPr>
        <p:spPr>
          <a:xfrm rot="16200000" flipH="1" flipV="1">
            <a:off x="7101609" y="2889361"/>
            <a:ext cx="1600423" cy="3534514"/>
          </a:xfrm>
          <a:prstGeom prst="bentConnector3">
            <a:avLst>
              <a:gd name="adj1" fmla="val -292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7CF1E0B4-FDF6-549A-2FA8-9F5808DE46A0}"/>
              </a:ext>
            </a:extLst>
          </p:cNvPr>
          <p:cNvCxnSpPr>
            <a:cxnSpLocks/>
            <a:stCxn id="5" idx="0"/>
            <a:endCxn id="11" idx="0"/>
          </p:cNvCxnSpPr>
          <p:nvPr/>
        </p:nvCxnSpPr>
        <p:spPr>
          <a:xfrm rot="16200000" flipH="1">
            <a:off x="3544654" y="2866920"/>
            <a:ext cx="1600423" cy="3579396"/>
          </a:xfrm>
          <a:prstGeom prst="bentConnector3">
            <a:avLst>
              <a:gd name="adj1" fmla="val -293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879377B4-E86C-9A19-6778-B1D4CB0B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073" y="2605618"/>
            <a:ext cx="584722" cy="618063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5D7FA38-7EC8-8849-E603-5F9027EED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715" y="2605618"/>
            <a:ext cx="584722" cy="618063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C6916E8A-D83C-FB78-0F08-6092E202D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9792" y="2589804"/>
            <a:ext cx="614644" cy="64969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8E46FB4-5505-2D6B-EF28-8CA08183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745" y="5337458"/>
            <a:ext cx="584722" cy="61806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22143079-FDF6-FED4-DA45-1A3F9AF8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388" y="5337458"/>
            <a:ext cx="584722" cy="61806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19D24E6-E3E2-B209-12E5-1F24EA6364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979" y="5321644"/>
            <a:ext cx="614644" cy="649691"/>
          </a:xfrm>
          <a:prstGeom prst="rect">
            <a:avLst/>
          </a:prstGeom>
        </p:spPr>
      </p:pic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5892A11D-D3E4-5DD4-50FB-9C69DE612000}"/>
              </a:ext>
            </a:extLst>
          </p:cNvPr>
          <p:cNvSpPr txBox="1">
            <a:spLocks/>
          </p:cNvSpPr>
          <p:nvPr/>
        </p:nvSpPr>
        <p:spPr>
          <a:xfrm>
            <a:off x="5306052" y="5773954"/>
            <a:ext cx="1646476" cy="5995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Environment multiplexer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0017CA83-264C-DD00-6487-142E84330011}"/>
              </a:ext>
            </a:extLst>
          </p:cNvPr>
          <p:cNvSpPr txBox="1">
            <a:spLocks/>
          </p:cNvSpPr>
          <p:nvPr/>
        </p:nvSpPr>
        <p:spPr>
          <a:xfrm>
            <a:off x="177720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1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A8C4C458-982B-4F45-7C89-3694B4C75711}"/>
              </a:ext>
            </a:extLst>
          </p:cNvPr>
          <p:cNvSpPr txBox="1">
            <a:spLocks/>
          </p:cNvSpPr>
          <p:nvPr/>
        </p:nvSpPr>
        <p:spPr>
          <a:xfrm>
            <a:off x="4148503" y="397099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2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3BCA634C-1FE7-DEA4-D14B-44F351577811}"/>
              </a:ext>
            </a:extLst>
          </p:cNvPr>
          <p:cNvSpPr txBox="1">
            <a:spLocks/>
          </p:cNvSpPr>
          <p:nvPr/>
        </p:nvSpPr>
        <p:spPr>
          <a:xfrm>
            <a:off x="6517467" y="3965143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B669791E-151B-F769-829A-562105671363}"/>
              </a:ext>
            </a:extLst>
          </p:cNvPr>
          <p:cNvSpPr txBox="1">
            <a:spLocks/>
          </p:cNvSpPr>
          <p:nvPr/>
        </p:nvSpPr>
        <p:spPr>
          <a:xfrm>
            <a:off x="889111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Adversary step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8C85CB7-E87B-ECC6-32D8-9B795F38D54C}"/>
              </a:ext>
            </a:extLst>
          </p:cNvPr>
          <p:cNvSpPr txBox="1">
            <a:spLocks/>
          </p:cNvSpPr>
          <p:nvPr/>
        </p:nvSpPr>
        <p:spPr>
          <a:xfrm>
            <a:off x="4619147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State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D28C5D49-86CB-A912-8758-BB5C3745BB48}"/>
              </a:ext>
            </a:extLst>
          </p:cNvPr>
          <p:cNvSpPr txBox="1">
            <a:spLocks/>
          </p:cNvSpPr>
          <p:nvPr/>
        </p:nvSpPr>
        <p:spPr>
          <a:xfrm>
            <a:off x="5658461" y="2257246"/>
            <a:ext cx="2673951" cy="3205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"/>
                <a:ea typeface="Source Sans Pro"/>
              </a:rPr>
              <a:t>Adversary knowledge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EF5F80CF-A730-78EB-248C-82EEAAF81307}"/>
              </a:ext>
            </a:extLst>
          </p:cNvPr>
          <p:cNvSpPr txBox="1">
            <a:spLocks/>
          </p:cNvSpPr>
          <p:nvPr/>
        </p:nvSpPr>
        <p:spPr>
          <a:xfrm>
            <a:off x="3186328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Session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21B072-3CEC-08C1-1893-66C3CC681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3276" y="2658412"/>
            <a:ext cx="484830" cy="512475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9A81680-CF40-9278-4FED-C61D1BF9C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120" y="6153220"/>
            <a:ext cx="484830" cy="51247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83927E5B-17FD-9B1C-5757-4A33E5803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2892" y="6160672"/>
            <a:ext cx="484830" cy="512475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DA97808D-5D20-E50B-6CFB-26A3DA2B8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5187" y="4336949"/>
            <a:ext cx="509504" cy="53855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B6C99A1-416A-687D-1969-1E3466320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389" y="4336949"/>
            <a:ext cx="509504" cy="53855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245BDFF4-ACC7-564E-CB60-4D442D828F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9430" y="4336949"/>
            <a:ext cx="509504" cy="53855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3A25CF4D-A406-C119-6859-BA8697F32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2476" y="4336949"/>
            <a:ext cx="509504" cy="53855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E40AEFB-2627-47DB-74DC-C3C08F04C3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448" y="3842919"/>
            <a:ext cx="414912" cy="4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68" grpId="0"/>
      <p:bldP spid="76" grpId="0"/>
      <p:bldP spid="77" grpId="0"/>
      <p:bldP spid="8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2968586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988906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52992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(often)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60027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analysis of looping protocols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2957305"/>
            <a:ext cx="7106120" cy="536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712" y="2978641"/>
            <a:ext cx="514096" cy="514096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560168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typically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630521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2872022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4238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2897448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494209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173638B-0FF0-95B2-C2E2-1E65880C5E37}"/>
              </a:ext>
            </a:extLst>
          </p:cNvPr>
          <p:cNvSpPr/>
          <p:nvPr/>
        </p:nvSpPr>
        <p:spPr>
          <a:xfrm>
            <a:off x="4043680" y="42343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may be embedded in ITPs,      giving an escape hatch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07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90337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9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2"/>
          </p:cNvCxnSpPr>
          <p:nvPr/>
        </p:nvCxnSpPr>
        <p:spPr>
          <a:xfrm flipV="1">
            <a:off x="9466991" y="5780298"/>
            <a:ext cx="712726" cy="4896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8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∃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.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Sent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𝐵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𝐴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𝑡</m:t>
                            </m:r>
                          </m:e>
                        </m:d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@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 &amp;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&lt;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9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ED191A-3995-522A-77CA-3BAB09A7FBA7}"/>
              </a:ext>
            </a:extLst>
          </p:cNvPr>
          <p:cNvCxnSpPr>
            <a:cxnSpLocks/>
            <a:stCxn id="68" idx="2"/>
            <a:endCxn id="65" idx="6"/>
          </p:cNvCxnSpPr>
          <p:nvPr/>
        </p:nvCxnSpPr>
        <p:spPr>
          <a:xfrm flipH="1" flipV="1">
            <a:off x="8491815" y="5186906"/>
            <a:ext cx="1687902" cy="59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5"/>
          </p:cNvCxnSpPr>
          <p:nvPr/>
        </p:nvCxnSpPr>
        <p:spPr>
          <a:xfrm flipV="1">
            <a:off x="9466991" y="5808696"/>
            <a:ext cx="781286" cy="205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9679C9A-349E-A933-AC66-7B2AE49766D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73375" y="5121647"/>
            <a:ext cx="451022" cy="45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79294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2213960" y="2332514"/>
            <a:ext cx="776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Current tools don’t have a generic (hyper)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Equiv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063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96445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09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C36C857-0C97-D8B0-0CF7-6B5B47A957A9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C0D052-511B-7598-E979-6292FBD90D05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8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0E1AF1-22DC-48F6-C16A-7C987939678F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3B4D41-8290-91F6-AEB1-24010B8CDF94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173F87F-9B73-F624-0AA7-FD81E474E274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D0A620D7-909C-C68F-CF98-7800A0432E1D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5182429-18CE-0E62-59E3-A8A8119E2F04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33CE3FE-67FA-BE18-6136-996FA33A0BF7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1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4" dur="indefinite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7" dur="indefinite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34" grpId="0" animBg="1"/>
      <p:bldP spid="9" grpId="0" animBg="1"/>
      <p:bldP spid="11" grpId="0" animBg="1"/>
      <p:bldP spid="18" grpId="0" animBg="1"/>
      <p:bldP spid="2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Sk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Reveal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7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33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45064999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423050724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5278294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6000306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</a:t>
            </a:r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05056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multiple “MGUs” modulo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22072</TotalTime>
  <Words>9541</Words>
  <Application>Microsoft Macintosh PowerPoint</Application>
  <PresentationFormat>Widescreen</PresentationFormat>
  <Paragraphs>1220</Paragraphs>
  <Slides>129</Slides>
  <Notes>37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129</vt:i4>
      </vt:variant>
    </vt:vector>
  </HeadingPairs>
  <TitlesOfParts>
    <vt:vector size="140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Talk 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Conclusion</vt:lpstr>
      <vt:lpstr>PowerPoint Presentation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First Attack on Needham-Schroeder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1138</cp:revision>
  <cp:lastPrinted>2026-04-01T18:06:29Z</cp:lastPrinted>
  <dcterms:created xsi:type="dcterms:W3CDTF">2026-03-16T17:02:12Z</dcterms:created>
  <dcterms:modified xsi:type="dcterms:W3CDTF">2026-04-22T22:51:27Z</dcterms:modified>
</cp:coreProperties>
</file>