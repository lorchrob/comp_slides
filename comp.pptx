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33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79" r:id="rId11"/>
    <p:sldId id="280" r:id="rId12"/>
    <p:sldId id="393" r:id="rId13"/>
    <p:sldId id="394" r:id="rId14"/>
    <p:sldId id="281" r:id="rId15"/>
    <p:sldId id="309" r:id="rId16"/>
    <p:sldId id="332" r:id="rId17"/>
    <p:sldId id="333" r:id="rId18"/>
    <p:sldId id="282" r:id="rId19"/>
    <p:sldId id="284" r:id="rId20"/>
    <p:sldId id="358" r:id="rId21"/>
    <p:sldId id="283" r:id="rId22"/>
    <p:sldId id="387" r:id="rId23"/>
    <p:sldId id="388" r:id="rId24"/>
    <p:sldId id="389" r:id="rId25"/>
    <p:sldId id="391" r:id="rId26"/>
    <p:sldId id="380" r:id="rId27"/>
    <p:sldId id="263" r:id="rId28"/>
    <p:sldId id="427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37" r:id="rId62"/>
    <p:sldId id="340" r:id="rId63"/>
    <p:sldId id="312" r:id="rId64"/>
    <p:sldId id="262" r:id="rId65"/>
    <p:sldId id="334" r:id="rId66"/>
    <p:sldId id="335" r:id="rId67"/>
    <p:sldId id="336" r:id="rId68"/>
    <p:sldId id="365" r:id="rId69"/>
    <p:sldId id="367" r:id="rId70"/>
    <p:sldId id="368" r:id="rId71"/>
    <p:sldId id="430" r:id="rId72"/>
    <p:sldId id="431" r:id="rId73"/>
    <p:sldId id="307" r:id="rId74"/>
    <p:sldId id="306" r:id="rId75"/>
    <p:sldId id="366" r:id="rId76"/>
    <p:sldId id="310" r:id="rId77"/>
    <p:sldId id="373" r:id="rId78"/>
    <p:sldId id="432" r:id="rId79"/>
    <p:sldId id="311" r:id="rId80"/>
    <p:sldId id="410" r:id="rId81"/>
    <p:sldId id="314" r:id="rId82"/>
    <p:sldId id="419" r:id="rId83"/>
    <p:sldId id="382" r:id="rId84"/>
    <p:sldId id="369" r:id="rId85"/>
    <p:sldId id="371" r:id="rId86"/>
    <p:sldId id="370" r:id="rId87"/>
    <p:sldId id="384" r:id="rId88"/>
    <p:sldId id="372" r:id="rId89"/>
    <p:sldId id="385" r:id="rId90"/>
    <p:sldId id="425" r:id="rId91"/>
    <p:sldId id="426" r:id="rId92"/>
    <p:sldId id="352" r:id="rId93"/>
    <p:sldId id="272" r:id="rId94"/>
    <p:sldId id="407" r:id="rId95"/>
    <p:sldId id="273" r:id="rId96"/>
    <p:sldId id="414" r:id="rId97"/>
    <p:sldId id="415" r:id="rId98"/>
    <p:sldId id="412" r:id="rId99"/>
    <p:sldId id="413" r:id="rId100"/>
    <p:sldId id="416" r:id="rId101"/>
    <p:sldId id="301" r:id="rId102"/>
    <p:sldId id="300" r:id="rId103"/>
    <p:sldId id="304" r:id="rId104"/>
    <p:sldId id="428" r:id="rId105"/>
    <p:sldId id="364" r:id="rId106"/>
    <p:sldId id="429" r:id="rId107"/>
    <p:sldId id="305" r:id="rId108"/>
    <p:sldId id="418" r:id="rId109"/>
    <p:sldId id="406" r:id="rId110"/>
    <p:sldId id="409" r:id="rId111"/>
    <p:sldId id="308" r:id="rId112"/>
    <p:sldId id="420" r:id="rId113"/>
    <p:sldId id="417" r:id="rId114"/>
    <p:sldId id="423" r:id="rId115"/>
    <p:sldId id="424" r:id="rId116"/>
    <p:sldId id="422" r:id="rId117"/>
    <p:sldId id="270" r:id="rId118"/>
    <p:sldId id="345" r:id="rId119"/>
    <p:sldId id="346" r:id="rId120"/>
    <p:sldId id="347" r:id="rId121"/>
    <p:sldId id="361" r:id="rId122"/>
    <p:sldId id="378" r:id="rId123"/>
    <p:sldId id="348" r:id="rId124"/>
    <p:sldId id="360" r:id="rId125"/>
    <p:sldId id="363" r:id="rId126"/>
    <p:sldId id="349" r:id="rId127"/>
    <p:sldId id="353" r:id="rId128"/>
    <p:sldId id="355" r:id="rId129"/>
    <p:sldId id="317" r:id="rId130"/>
    <p:sldId id="299" r:id="rId131"/>
    <p:sldId id="316" r:id="rId1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540" autoAdjust="0"/>
    <p:restoredTop sz="85919"/>
  </p:normalViewPr>
  <p:slideViewPr>
    <p:cSldViewPr snapToGrid="0">
      <p:cViewPr>
        <p:scale>
          <a:sx n="110" d="100"/>
          <a:sy n="110" d="100"/>
        </p:scale>
        <p:origin x="768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microsoft.com/office/2016/11/relationships/changesInfo" Target="changesInfos/changesInfo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presProps" Target="presProps.xml"/><Relationship Id="rId139" Type="http://schemas.microsoft.com/office/2015/10/relationships/revisionInfo" Target="revisionInfo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18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279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098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&lt;transition point – formalizing properties (in presentation) &gt;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&lt;connect to previous point&gt;</a:t>
            </a:r>
          </a:p>
          <a:p>
            <a:endParaRPr lang="en-US" dirty="0"/>
          </a:p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295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415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961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impersonating P_2 and replacing the first nonce with their identity I (see step 4)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I. (P_2 encrypts with I’s public key because I is the first component of the encryption, which we smuggled in earlier)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impersonating P_2 and replacing the first nonce with their identity I (see step 4)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I. (P_2 encrypts with I’s public key because I is the first component of the encryption, which we smuggled in earlier)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impersonating P_2 and replacing the first nonce with their identity I (see step 4)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I. (P_2 encrypts with I’s public key because I is the first component of the encryption, which we smuggled in earlier)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impersonating P_2 and replacing the first nonce with their identity I (see step 4)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I. (P_2 encrypts with I’s public key because I is the first component of the encryption, which we smuggled in earlier)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7908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5352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9057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046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9482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8598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164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6444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36056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991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369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248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41.png"/><Relationship Id="rId7" Type="http://schemas.openxmlformats.org/officeDocument/2006/relationships/image" Target="../media/image6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8.pn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42.png"/><Relationship Id="rId9" Type="http://schemas.openxmlformats.org/officeDocument/2006/relationships/image" Target="../media/image46.png"/><Relationship Id="rId14" Type="http://schemas.openxmlformats.org/officeDocument/2006/relationships/image" Target="../media/image5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Relationship Id="rId14" Type="http://schemas.openxmlformats.org/officeDocument/2006/relationships/image" Target="../media/image69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7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2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Relationship Id="rId9" Type="http://schemas.openxmlformats.org/officeDocument/2006/relationships/image" Target="../media/image10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4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104.png"/><Relationship Id="rId4" Type="http://schemas.openxmlformats.org/officeDocument/2006/relationships/image" Target="../media/image108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image" Target="../media/image118.png"/><Relationship Id="rId4" Type="http://schemas.openxmlformats.org/officeDocument/2006/relationships/image" Target="../media/image122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6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30.png"/><Relationship Id="rId4" Type="http://schemas.openxmlformats.org/officeDocument/2006/relationships/image" Target="../media/image129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8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8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137.png"/><Relationship Id="rId3" Type="http://schemas.openxmlformats.org/officeDocument/2006/relationships/image" Target="../media/image139.png"/><Relationship Id="rId7" Type="http://schemas.openxmlformats.org/officeDocument/2006/relationships/image" Target="../media/image143.png"/><Relationship Id="rId12" Type="http://schemas.openxmlformats.org/officeDocument/2006/relationships/image" Target="../media/image136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11" Type="http://schemas.openxmlformats.org/officeDocument/2006/relationships/image" Target="../media/image135.png"/><Relationship Id="rId5" Type="http://schemas.openxmlformats.org/officeDocument/2006/relationships/image" Target="../media/image141.png"/><Relationship Id="rId10" Type="http://schemas.openxmlformats.org/officeDocument/2006/relationships/image" Target="../media/image134.png"/><Relationship Id="rId4" Type="http://schemas.openxmlformats.org/officeDocument/2006/relationships/image" Target="../media/image140.png"/><Relationship Id="rId9" Type="http://schemas.openxmlformats.org/officeDocument/2006/relationships/image" Target="../media/image133.png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13" Type="http://schemas.openxmlformats.org/officeDocument/2006/relationships/image" Target="../media/image137.png"/><Relationship Id="rId3" Type="http://schemas.openxmlformats.org/officeDocument/2006/relationships/image" Target="../media/image139.png"/><Relationship Id="rId7" Type="http://schemas.openxmlformats.org/officeDocument/2006/relationships/image" Target="../media/image143.png"/><Relationship Id="rId12" Type="http://schemas.openxmlformats.org/officeDocument/2006/relationships/image" Target="../media/image136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11" Type="http://schemas.openxmlformats.org/officeDocument/2006/relationships/image" Target="../media/image135.png"/><Relationship Id="rId5" Type="http://schemas.openxmlformats.org/officeDocument/2006/relationships/image" Target="../media/image140.png"/><Relationship Id="rId10" Type="http://schemas.openxmlformats.org/officeDocument/2006/relationships/image" Target="../media/image134.png"/><Relationship Id="rId4" Type="http://schemas.openxmlformats.org/officeDocument/2006/relationships/image" Target="../media/image141.png"/><Relationship Id="rId9" Type="http://schemas.openxmlformats.org/officeDocument/2006/relationships/image" Target="../media/image133.png"/><Relationship Id="rId14" Type="http://schemas.openxmlformats.org/officeDocument/2006/relationships/image" Target="../media/image122.png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7" Type="http://schemas.openxmlformats.org/officeDocument/2006/relationships/image" Target="../media/image15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png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49.png"/><Relationship Id="rId7" Type="http://schemas.openxmlformats.org/officeDocument/2006/relationships/image" Target="../media/image1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6.png"/><Relationship Id="rId5" Type="http://schemas.openxmlformats.org/officeDocument/2006/relationships/image" Target="../media/image127.png"/><Relationship Id="rId4" Type="http://schemas.openxmlformats.org/officeDocument/2006/relationships/image" Target="../media/image152.png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15.png"/><Relationship Id="rId7" Type="http://schemas.openxmlformats.org/officeDocument/2006/relationships/image" Target="../media/image15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png"/><Relationship Id="rId5" Type="http://schemas.openxmlformats.org/officeDocument/2006/relationships/image" Target="../media/image154.png"/><Relationship Id="rId10" Type="http://schemas.openxmlformats.org/officeDocument/2006/relationships/image" Target="../media/image94.png"/><Relationship Id="rId4" Type="http://schemas.openxmlformats.org/officeDocument/2006/relationships/image" Target="../media/image153.png"/><Relationship Id="rId9" Type="http://schemas.openxmlformats.org/officeDocument/2006/relationships/image" Target="../media/image93.png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1973678" y="2692117"/>
            <a:ext cx="1692900" cy="1952758"/>
            <a:chOff x="2020114" y="2692117"/>
            <a:chExt cx="1692900" cy="19527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020114" y="3972288"/>
              <a:ext cx="16929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865085" y="4588235"/>
            <a:ext cx="1927679" cy="2051996"/>
            <a:chOff x="1865085" y="4588235"/>
            <a:chExt cx="1927679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865085" y="5967644"/>
              <a:ext cx="1927679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8999"/>
            <a:ext cx="5262880" cy="88275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"/>
              </a:rPr>
              <a:t>in production</a:t>
            </a:r>
            <a:r>
              <a:rPr lang="en-US" sz="2000" dirty="0">
                <a:solidFill>
                  <a:schemeClr val="tx1"/>
                </a:solidFill>
                <a:latin typeface=""/>
              </a:rPr>
              <a:t>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639354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B74181EF-049F-5BE0-0683-CADD64C44E03}"/>
              </a:ext>
            </a:extLst>
          </p:cNvPr>
          <p:cNvSpPr txBox="1"/>
          <p:nvPr/>
        </p:nvSpPr>
        <p:spPr>
          <a:xfrm>
            <a:off x="129119" y="2500537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Victories of SOTA </a:t>
            </a:r>
          </a:p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(automated protocol analysis)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03E128-FF21-0FFF-65D7-47E3EE261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944" y="2336750"/>
            <a:ext cx="672727" cy="6727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F62373-57FD-30E0-26BA-62CB76D82752}"/>
              </a:ext>
            </a:extLst>
          </p:cNvPr>
          <p:cNvSpPr txBox="1"/>
          <p:nvPr/>
        </p:nvSpPr>
        <p:spPr>
          <a:xfrm>
            <a:off x="6022561" y="2498303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Drawbacks of SOTA                      (automated protocol analysis)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(semi-)automated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7166B5-00B6-926D-5693-AF2AE90AF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48" y="2336705"/>
            <a:ext cx="584200" cy="58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</a:t>
            </a:r>
            <a:endParaRPr lang="en-US" sz="3200" dirty="0"/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Talk 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951264" y="1612583"/>
            <a:ext cx="10324766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951264" y="3352182"/>
            <a:ext cx="10324766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032537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235551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032537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235551" y="4244849"/>
            <a:ext cx="5040479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216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56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951264" y="5035191"/>
            <a:ext cx="10324766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research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942985" y="5889266"/>
            <a:ext cx="5108592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235552" y="5889266"/>
            <a:ext cx="5013463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860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676730-5BE1-0044-739F-3311636C1628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735EF69-6110-6416-D067-99A8BC37A0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A6FC23-29B6-77FA-BC39-6D42412FA23E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A207A1-D389-AFD2-E616-DB6F21734167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09D81E8-B8EA-B26D-E114-0151D08115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787C72-96CE-D33E-64F3-F11F6F50F1E8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4225824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6911217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20256E3-FB7E-2C9E-3EF9-41BE76066959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93CA980-B60C-BF94-9DD3-7F4A315CF5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A5F2D8-252A-5CA2-50CB-C5DBA620222B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3999549" y="2477643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51BBC5D7-804A-3AE6-6FD6-32FAD232560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1081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4594195" y="345777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6208909" y="387052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8254325" y="3503133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8195359" y="3915882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70030C-47A2-2BDC-1792-9C8F28E19685}"/>
              </a:ext>
            </a:extLst>
          </p:cNvPr>
          <p:cNvSpPr/>
          <p:nvPr/>
        </p:nvSpPr>
        <p:spPr>
          <a:xfrm>
            <a:off x="7989957" y="4221693"/>
            <a:ext cx="4202043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716692C3-EC4D-E369-957F-CC6449C72F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9266974" y="2942118"/>
            <a:ext cx="3946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756492" y="3142173"/>
            <a:ext cx="510482" cy="3592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697526" y="3142173"/>
            <a:ext cx="569448" cy="7719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E265B7-DAD3-696F-334D-042ADB816EAC}"/>
              </a:ext>
            </a:extLst>
          </p:cNvPr>
          <p:cNvSpPr/>
          <p:nvPr/>
        </p:nvSpPr>
        <p:spPr>
          <a:xfrm>
            <a:off x="4594195" y="345777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0E641D-5F21-C7B1-DC91-41B22471A46D}"/>
              </a:ext>
            </a:extLst>
          </p:cNvPr>
          <p:cNvSpPr/>
          <p:nvPr/>
        </p:nvSpPr>
        <p:spPr>
          <a:xfrm>
            <a:off x="6208909" y="387052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08F29E0-D0BA-CB4C-C141-DA535E396B3C}"/>
              </a:ext>
            </a:extLst>
          </p:cNvPr>
          <p:cNvSpPr/>
          <p:nvPr/>
        </p:nvSpPr>
        <p:spPr>
          <a:xfrm>
            <a:off x="8254325" y="3503133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95CC014-64EF-FD9F-A345-DF11D9A4603D}"/>
              </a:ext>
            </a:extLst>
          </p:cNvPr>
          <p:cNvSpPr/>
          <p:nvPr/>
        </p:nvSpPr>
        <p:spPr>
          <a:xfrm>
            <a:off x="8195359" y="3915882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3813FD-E2C3-896B-287F-5F18E2A8E826}"/>
              </a:ext>
            </a:extLst>
          </p:cNvPr>
          <p:cNvSpPr/>
          <p:nvPr/>
        </p:nvSpPr>
        <p:spPr>
          <a:xfrm>
            <a:off x="7989957" y="4221693"/>
            <a:ext cx="4202043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710BF960-7E4C-92E3-55BC-8379DC09C9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7877633" y="6073184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90290" y="6304017"/>
            <a:ext cx="14873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9267" y="5800903"/>
            <a:ext cx="1005839" cy="100583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B9D1EE41-B032-2EC2-4C9B-31B3A25B4E1C}"/>
              </a:ext>
            </a:extLst>
          </p:cNvPr>
          <p:cNvSpPr/>
          <p:nvPr/>
        </p:nvSpPr>
        <p:spPr>
          <a:xfrm>
            <a:off x="7928461" y="4156793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F3FA281-570D-3EBD-0FE1-4CBC6344F210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DA2BBE4-9124-5F3B-BADB-B655EC8ED7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9292010-C64C-8194-AF51-FE7E9FACE908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4143313" y="2488519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6CD545-38E7-08D8-9288-C22D0A445CE4}"/>
              </a:ext>
            </a:extLst>
          </p:cNvPr>
          <p:cNvSpPr/>
          <p:nvPr/>
        </p:nvSpPr>
        <p:spPr>
          <a:xfrm>
            <a:off x="7382809" y="2473143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DD5C88-B01B-0A4C-7DC6-4D5E270AEE8C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4BFAAF5-BB15-3A56-48F8-70D6A33011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C5788A-DBBC-637E-14F8-B566B3C4E9D5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5770335" y="2496951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14DCA-9ED3-E09B-BB48-13201608C7F5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8" name="Picture 7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01777698-7B5C-C18A-E8C8-5DCEEE8F39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0C3C22A-0D51-E6C8-9A86-B1F0F7095E97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4579972" y="3524361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0BE685-F365-1A46-988C-51F17675427D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15" name="Picture 14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3BCBA9AB-13AD-2E1A-E0AD-0B4F2D37F0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8E062E4-F18D-B937-59A1-4BB056C2C955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4917340" y="394985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z="24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4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Gen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Dec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Adversary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wins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game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negl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cxnSpLocks/>
            <a:stCxn id="6" idx="0"/>
            <a:endCxn id="12" idx="5"/>
          </p:cNvCxnSpPr>
          <p:nvPr/>
        </p:nvCxnSpPr>
        <p:spPr>
          <a:xfrm flipH="1" flipV="1">
            <a:off x="4129575" y="5811759"/>
            <a:ext cx="755138" cy="4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924153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122521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/>
      <p:bldP spid="15" grpId="0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DD850-A713-B649-217F-A2AC6F0583E7}"/>
              </a:ext>
            </a:extLst>
          </p:cNvPr>
          <p:cNvSpPr txBox="1"/>
          <p:nvPr/>
        </p:nvSpPr>
        <p:spPr>
          <a:xfrm>
            <a:off x="8122521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A98B96-294C-E39B-A289-9FAC242AD830}"/>
              </a:ext>
            </a:extLst>
          </p:cNvPr>
          <p:cNvSpPr/>
          <p:nvPr/>
        </p:nvSpPr>
        <p:spPr>
          <a:xfrm>
            <a:off x="0" y="2772482"/>
            <a:ext cx="12192000" cy="1868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not currently amenable to automation, so most automation efforts focus on the symbolic model</a:t>
            </a:r>
          </a:p>
          <a:p>
            <a:endParaRPr lang="en-US" sz="1000" dirty="0">
              <a:latin typeface="Avenir Next" panose="020B0503020202020204" pitchFamily="34" charset="0"/>
            </a:endParaRPr>
          </a:p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Due to this, we focus on the symbolic model in this talk</a:t>
            </a:r>
          </a:p>
        </p:txBody>
      </p:sp>
    </p:spTree>
    <p:extLst>
      <p:ext uri="{BB962C8B-B14F-4D97-AF65-F5344CB8AC3E}">
        <p14:creationId xmlns:p14="http://schemas.microsoft.com/office/powerpoint/2010/main" val="846108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7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1" animBg="1"/>
      <p:bldP spid="10" grpId="0"/>
      <p:bldP spid="12" grpId="1"/>
      <p:bldP spid="13" grpId="0"/>
      <p:bldP spid="15" grpId="1"/>
      <p:bldP spid="7" grpId="1" animBg="1"/>
      <p:bldP spid="9" grpId="0" animBg="1"/>
      <p:bldP spid="8" grpId="0"/>
      <p:bldP spid="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32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95584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7973756" y="3698241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904455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1" animBg="1"/>
      <p:bldP spid="13" grpId="0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951263" y="1595460"/>
            <a:ext cx="10289062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Model protocol state with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that evolves at each rewrite rule application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629BF55-EB7D-5911-6115-49E56D72FEAE}"/>
              </a:ext>
            </a:extLst>
          </p:cNvPr>
          <p:cNvSpPr/>
          <p:nvPr/>
        </p:nvSpPr>
        <p:spPr>
          <a:xfrm>
            <a:off x="3153971" y="3615066"/>
            <a:ext cx="2788604" cy="58721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rewrite rule is a protocol step</a:t>
            </a:r>
            <a:endParaRPr lang="en-US" dirty="0">
              <a:latin typeface="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4470CC6-EE5E-AEA2-07F7-852552F3293A}"/>
              </a:ext>
            </a:extLst>
          </p:cNvPr>
          <p:cNvCxnSpPr>
            <a:stCxn id="33" idx="0"/>
            <a:endCxn id="3" idx="2"/>
          </p:cNvCxnSpPr>
          <p:nvPr/>
        </p:nvCxnSpPr>
        <p:spPr>
          <a:xfrm flipH="1" flipV="1">
            <a:off x="3981320" y="3296871"/>
            <a:ext cx="566953" cy="318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D35209E-97C5-F52C-2203-535C4E4BB6A7}"/>
              </a:ext>
            </a:extLst>
          </p:cNvPr>
          <p:cNvSpPr txBox="1"/>
          <p:nvPr/>
        </p:nvSpPr>
        <p:spPr>
          <a:xfrm>
            <a:off x="3395849" y="2500398"/>
            <a:ext cx="1128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(Multiset)</a:t>
            </a:r>
          </a:p>
        </p:txBody>
      </p: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  <p:bldP spid="33" grpId="0" animBg="1"/>
      <p:bldP spid="3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224D15FC-8754-98E3-2929-6D4D5E6C4532}"/>
              </a:ext>
            </a:extLst>
          </p:cNvPr>
          <p:cNvSpPr/>
          <p:nvPr/>
        </p:nvSpPr>
        <p:spPr>
          <a:xfrm>
            <a:off x="951264" y="1595460"/>
            <a:ext cx="102890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Model protocol state with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that evolves at each rewrite rule application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blipFill>
                <a:blip r:embed="rId8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blipFill>
                <a:blip r:embed="rId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blipFill>
                <a:blip r:embed="rId10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 with top-level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fact symbol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1"/>
                <a:stretch>
                  <a:fillRect t="-8333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1875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blipFill>
                <a:blip r:embed="rId13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blipFill>
                <a:blip r:embed="rId14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3996095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3428151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This captures the notion of a protocol trace in the multiset rewriting formalism</a:t>
            </a:r>
          </a:p>
        </p:txBody>
      </p: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5" dur="indefinite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4" dur="indefinite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7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4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indefinite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7" dur="indefinite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indefinite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6" dur="indefinite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9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2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5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8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1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4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6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9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2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5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1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4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7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indefinite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0" dur="indefinite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indefinite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3" dur="indefinite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6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indefinite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9" dur="indefinite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2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indefinite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5" dur="indefinite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indefinite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8" dur="indefinite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indefinite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1" dur="indefinite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1" grpId="1" animBg="1"/>
      <p:bldP spid="8" grpId="0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25" grpId="0"/>
      <p:bldP spid="25" grpId="1"/>
      <p:bldP spid="26" grpId="0"/>
      <p:bldP spid="26" grpId="1"/>
      <p:bldP spid="18" grpId="0"/>
      <p:bldP spid="18" grpId="1"/>
      <p:bldP spid="20" grpId="0"/>
      <p:bldP spid="20" grpId="1"/>
      <p:bldP spid="21" grpId="0"/>
      <p:bldP spid="21" grpId="1"/>
      <p:bldP spid="35" grpId="0" animBg="1"/>
      <p:bldP spid="35" grpId="1" animBg="1"/>
      <p:bldP spid="35" grpId="2" animBg="1"/>
      <p:bldP spid="38" grpId="0" animBg="1"/>
      <p:bldP spid="38" grpId="1" animBg="1"/>
      <p:bldP spid="38" grpId="2" animBg="1"/>
      <p:bldP spid="40" grpId="0"/>
      <p:bldP spid="40" grpId="1"/>
      <p:bldP spid="41" grpId="0"/>
      <p:bldP spid="41" grpId="1"/>
      <p:bldP spid="42" grpId="0"/>
      <p:bldP spid="42" grpId="1"/>
      <p:bldP spid="43" grpId="0" animBg="1"/>
      <p:bldP spid="43" grpId="1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295457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 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, …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574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In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KeyB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𝑘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MyEnc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}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enc</m:t>
                            </m:r>
                            <m:d>
                              <m:d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, </m:t>
                                </m:r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 …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180005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(built-in)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Fr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005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KeyB</m:t>
                    </m:r>
                    <m:r>
                      <m:rPr>
                        <m:nor/>
                      </m:rPr>
                      <a:rPr lang="en-US" sz="20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(.)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6F0D58-ED3F-D04E-FBBB-7085A83637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7312510-94E4-0C3A-4CC2-5EA1E5D5EC9E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8AD482B-3090-F631-2E95-89176D5E7D73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5839A9-9EBC-A4E9-33E2-7EA10DDA52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F91D5EF-A761-1ECA-3B24-8DEEB769D558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7A713B26-A9F0-C8E2-F549-3F80E5FA4658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7A713B26-A9F0-C8E2-F549-3F80E5FA46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49A07255-D606-7239-F692-60C93E004D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1090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6096000" y="3253790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2396838" y="3103521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8333209" y="5940122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ECF693-0B40-5ED8-7E8C-F61094845F2D}"/>
              </a:ext>
            </a:extLst>
          </p:cNvPr>
          <p:cNvSpPr/>
          <p:nvPr/>
        </p:nvSpPr>
        <p:spPr>
          <a:xfrm>
            <a:off x="4193606" y="3191960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864AE8A-EC85-7B92-5848-55FA33220943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>
            <a:off x="8090704" y="3623122"/>
            <a:ext cx="1039141" cy="231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24F66A47-95C2-E5D2-5591-983EA2EF10E8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24F66A47-95C2-E5D2-5591-983EA2EF10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A16B1CA-86A8-7E30-961E-619DE19715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2410694" y="351906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2396839" y="3921696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DFA841-63B1-DF16-3D1C-D0250782332C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74990FC-89DE-CB4A-E5E9-ABE487EBB50C}"/>
                  </a:ext>
                </a:extLst>
              </p:cNvPr>
              <p:cNvSpPr txBox="1"/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74990FC-89DE-CB4A-E5E9-ABE487EBB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blipFill>
                <a:blip r:embed="rId4"/>
                <a:stretch>
                  <a:fillRect l="-1090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0C81C37B-51F1-5580-614E-8082D3FB2710}"/>
              </a:ext>
            </a:extLst>
          </p:cNvPr>
          <p:cNvSpPr txBox="1"/>
          <p:nvPr/>
        </p:nvSpPr>
        <p:spPr>
          <a:xfrm>
            <a:off x="6096000" y="3253790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55D120-E616-3E16-D214-463F2F266685}"/>
              </a:ext>
            </a:extLst>
          </p:cNvPr>
          <p:cNvSpPr/>
          <p:nvPr/>
        </p:nvSpPr>
        <p:spPr>
          <a:xfrm>
            <a:off x="5824980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69D97F8-EAED-E27D-AB59-B0ED3F080B8A}"/>
              </a:ext>
            </a:extLst>
          </p:cNvPr>
          <p:cNvSpPr/>
          <p:nvPr/>
        </p:nvSpPr>
        <p:spPr>
          <a:xfrm>
            <a:off x="2396838" y="3103521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9F5F0039-327D-93A4-07F9-9C79FD734039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9F5F0039-327D-93A4-07F9-9C79FD7340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Oval 35">
            <a:extLst>
              <a:ext uri="{FF2B5EF4-FFF2-40B4-BE49-F238E27FC236}">
                <a16:creationId xmlns:a16="http://schemas.microsoft.com/office/drawing/2014/main" id="{047B7FFD-345C-49C9-A806-D36DEC5E10EC}"/>
              </a:ext>
            </a:extLst>
          </p:cNvPr>
          <p:cNvSpPr/>
          <p:nvPr/>
        </p:nvSpPr>
        <p:spPr>
          <a:xfrm>
            <a:off x="8333209" y="5940122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6CECA84-55C9-9281-4504-ADD6E039CE14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8090704" y="3623122"/>
            <a:ext cx="1039141" cy="231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80240D-4905-7F48-4EFD-10FAFD0C2B86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CF94F1-0FCE-5338-22B8-2EBCB4D688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51CAA5-F16A-99A5-2A1E-0B5975685BC1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AEC27BFC-09C0-A383-05D4-083E8A7C81FB}"/>
                  </a:ext>
                </a:extLst>
              </p:cNvPr>
              <p:cNvSpPr/>
              <p:nvPr/>
            </p:nvSpPr>
            <p:spPr>
              <a:xfrm>
                <a:off x="951262" y="4585421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AEC27BFC-09C0-A383-05D4-083E8A7C81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10289060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F9173B6-C185-FE5D-DCBB-3A5F87246FC0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F9173B6-C185-FE5D-DCBB-3A5F87246F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i="1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accent1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02669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600" dirty="0">
                <a:ea typeface="Source Sans Pro"/>
              </a:rPr>
              <a:t>We encode properties in a variant of first-order logic</a:t>
            </a:r>
            <a:endParaRPr lang="en-US" sz="2600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083A8D-E4E4-4A7A-D7CD-A7A51D3B7388}"/>
              </a:ext>
            </a:extLst>
          </p:cNvPr>
          <p:cNvSpPr txBox="1"/>
          <p:nvPr/>
        </p:nvSpPr>
        <p:spPr>
          <a:xfrm>
            <a:off x="951263" y="39188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9A3EFF-6145-FE07-AB34-209111743F38}"/>
              </a:ext>
            </a:extLst>
          </p:cNvPr>
          <p:cNvSpPr txBox="1"/>
          <p:nvPr/>
        </p:nvSpPr>
        <p:spPr>
          <a:xfrm>
            <a:off x="3689131" y="42882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A712896-7413-3ECA-709C-B69DE4C5E439}"/>
              </a:ext>
            </a:extLst>
          </p:cNvPr>
          <p:cNvSpPr txBox="1">
            <a:spLocks/>
          </p:cNvSpPr>
          <p:nvPr/>
        </p:nvSpPr>
        <p:spPr>
          <a:xfrm>
            <a:off x="951263" y="1750224"/>
            <a:ext cx="1028906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We can encode protocols, but how do we find security problems?</a:t>
            </a:r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EA50001B-6CF8-92E4-77F6-3BC76BF63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A239A92-9E8C-2613-6693-8DF8141A1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5235C2F-C6FB-FA82-1764-4458D680B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2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74A030D0-962E-D0BC-FB82-6DCC2B8F1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Secret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K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1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32375149-5442-4904-6CCF-A62B94F59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92809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14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Sent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A7454-35E9-C90B-7F6B-20F832B3C3E6}"/>
              </a:ext>
            </a:extLst>
          </p:cNvPr>
          <p:cNvSpPr txBox="1"/>
          <p:nvPr/>
        </p:nvSpPr>
        <p:spPr>
          <a:xfrm>
            <a:off x="3348906" y="3644938"/>
            <a:ext cx="70342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endParaRPr lang="en-US" sz="2800" dirty="0">
              <a:solidFill>
                <a:srgbClr val="000000"/>
              </a:solidFill>
              <a:latin typeface=""/>
              <a:ea typeface="Source Sans Pro"/>
            </a:endParaRPr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latin typeface=""/>
                <a:ea typeface="Source Sans Pro"/>
              </a:rPr>
              <a:t>   No replay attacks!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17833" y="1575937"/>
                <a:ext cx="8293880" cy="1033115"/>
              </a:xfrm>
            </p:spPr>
            <p:txBody>
              <a:bodyPr vert="horz" lIns="91440" tIns="45720" rIns="91440" bIns="45720" rtlCol="0" anchor="t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  <a:ea typeface="Source Sans Pro"/>
                  </a:rPr>
                  <a:t> (a protocol) and a property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sz="2000" dirty="0">
                    <a:ea typeface="Source Sans Pro"/>
                  </a:rPr>
                  <a:t>for an attack trace, </a:t>
                </a:r>
                <a:r>
                  <a:rPr lang="en-US" sz="2000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17833" y="1575937"/>
                <a:ext cx="8293880" cy="1033115"/>
              </a:xfrm>
              <a:blipFill>
                <a:blip r:embed="rId3"/>
                <a:stretch>
                  <a:fillRect l="-765" t="-6098" r="-1070" b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ability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of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9139590-2B16-B2AB-1487-E85BF8B3F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B1667C7-2B93-BDAE-BD09-DB469D4B932D}"/>
              </a:ext>
            </a:extLst>
          </p:cNvPr>
          <p:cNvSpPr txBox="1">
            <a:spLocks/>
          </p:cNvSpPr>
          <p:nvPr/>
        </p:nvSpPr>
        <p:spPr>
          <a:xfrm>
            <a:off x="1717833" y="1575937"/>
            <a:ext cx="8293880" cy="103311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>
                <a:solidFill>
                  <a:srgbClr val="C00000"/>
                </a:solidFill>
                <a:ea typeface="Source Sans Pro"/>
              </a:rPr>
              <a:t>What kinds of bugs can Tamarin find?</a:t>
            </a:r>
            <a:endParaRPr lang="en-US" sz="200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D985DC5-D976-F855-3A4E-FCCD2DB2D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7833" y="1575937"/>
            <a:ext cx="8293880" cy="103311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C00000"/>
                </a:solidFill>
                <a:ea typeface="Source Sans Pro"/>
              </a:rPr>
              <a:t>What kinds of bugs can Tamarin find?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AC7B9B5-6302-6347-947D-D425F5DDE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7833" y="1575937"/>
            <a:ext cx="8293880" cy="103311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C00000"/>
                </a:solidFill>
                <a:ea typeface="Source Sans Pro"/>
              </a:rPr>
              <a:t>What kinds of bugs can Tamarin find?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CC42F52-EB29-076D-F285-E3031C523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7833" y="1575937"/>
            <a:ext cx="8293880" cy="103311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C00000"/>
                </a:solidFill>
                <a:ea typeface="Source Sans Pro"/>
              </a:rPr>
              <a:t>What kinds of bugs can Tamarin find?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 (non-injective agreement)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9D95884-547B-4A0E-7683-C67B3472E6A5}"/>
              </a:ext>
            </a:extLst>
          </p:cNvPr>
          <p:cNvSpPr txBox="1"/>
          <p:nvPr/>
        </p:nvSpPr>
        <p:spPr>
          <a:xfrm>
            <a:off x="3754927" y="5112167"/>
            <a:ext cx="4681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We have achieved mutual authentication!(?)</a:t>
            </a:r>
          </a:p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229F5DA-A289-D6FB-0485-0891445DC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7833" y="1575937"/>
            <a:ext cx="8293880" cy="103311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C00000"/>
                </a:solidFill>
                <a:ea typeface="Source Sans Pro"/>
              </a:rPr>
              <a:t>What kinds of bugs can Tamarin find?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150484" y="3275975"/>
                <a:ext cx="324710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</m:t>
                    </m:r>
                  </m:oMath>
                </a14:m>
                <a:r>
                  <a:rPr lang="en-US" dirty="0">
                    <a:latin typeface=""/>
                    <a:ea typeface="Source Sans Pro"/>
                  </a:rPr>
                  <a:t> impersonates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0484" y="3275975"/>
                <a:ext cx="3247107" cy="646331"/>
              </a:xfrm>
              <a:prstGeom prst="rect">
                <a:avLst/>
              </a:prstGeom>
              <a:blipFill>
                <a:blip r:embed="rId4"/>
                <a:stretch>
                  <a:fillRect l="-155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799124D-CD90-8700-8D7A-C5CD668B7EBE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97591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2402AA4-B698-AB8E-0F34-B0191705BA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041152D-EE08-C006-756B-8D1F33D5824C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02529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245762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762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8057611" y="3335119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2402AA4-B698-AB8E-0F34-B0191705BA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041152D-EE08-C006-756B-8D1F33D5824C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02529" y="4555804"/>
            <a:ext cx="3683479" cy="111021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333445" y="4787743"/>
                <a:ext cx="292940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responds to the challenge without protest</a:t>
                </a:r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3445" y="4787743"/>
                <a:ext cx="2929406" cy="646331"/>
              </a:xfrm>
              <a:prstGeom prst="rect">
                <a:avLst/>
              </a:prstGeom>
              <a:blipFill>
                <a:blip r:embed="rId4"/>
                <a:stretch>
                  <a:fillRect l="-2165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8057611" y="3335119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7940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2402AA4-B698-AB8E-0F34-B0191705BA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041152D-EE08-C006-756B-8D1F33D5824C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3916982" y="5822458"/>
                <a:ext cx="477032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knows they are communicating with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, but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believes they are communicating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6982" y="5822458"/>
                <a:ext cx="4770324" cy="646331"/>
              </a:xfrm>
              <a:prstGeom prst="rect">
                <a:avLst/>
              </a:prstGeom>
              <a:blipFill>
                <a:blip r:embed="rId4"/>
                <a:stretch>
                  <a:fillRect t="-3846" r="-532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8057611" y="3335119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173988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055EB5-9EB7-C956-241C-87EB70AE71C2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E07EFD4B-F6BF-5390-B90D-367B28E7003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18B784B-8C82-5363-E017-D1EA2BC6D8E2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62799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3481209"/>
                <a:ext cx="2480801" cy="646331"/>
              </a:xfrm>
              <a:prstGeom prst="rect">
                <a:avLst/>
              </a:prstGeom>
              <a:blipFill>
                <a:blip r:embed="rId7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162799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4229013"/>
                <a:ext cx="2958959" cy="646331"/>
              </a:xfrm>
              <a:prstGeom prst="rect">
                <a:avLst/>
              </a:prstGeom>
              <a:blipFill>
                <a:blip r:embed="rId8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162799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5005483"/>
                <a:ext cx="2480801" cy="669992"/>
              </a:xfrm>
              <a:prstGeom prst="rect">
                <a:avLst/>
              </a:prstGeom>
              <a:blipFill>
                <a:blip r:embed="rId9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4D31A6C9-6F8A-284D-7BCE-C884CA4EE4B0}"/>
              </a:ext>
            </a:extLst>
          </p:cNvPr>
          <p:cNvSpPr/>
          <p:nvPr/>
        </p:nvSpPr>
        <p:spPr>
          <a:xfrm>
            <a:off x="4302529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9E4D475-DD46-7C1C-0DBB-11E305F9BF89}"/>
              </a:ext>
            </a:extLst>
          </p:cNvPr>
          <p:cNvSpPr/>
          <p:nvPr/>
        </p:nvSpPr>
        <p:spPr>
          <a:xfrm>
            <a:off x="5001106" y="3364975"/>
            <a:ext cx="508441" cy="20179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0" t="451" r="1260" b="301"/>
          <a:stretch>
            <a:fillRect/>
          </a:stretch>
        </p:blipFill>
        <p:spPr>
          <a:xfrm>
            <a:off x="2182874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3315955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3541167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167" y="5483336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3541167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endParaRPr lang="en-US" b="1" dirty="0">
                  <a:solidFill>
                    <a:schemeClr val="accent6">
                      <a:lumMod val="7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167" y="6163661"/>
                <a:ext cx="4940580" cy="509478"/>
              </a:xfrm>
              <a:prstGeom prst="roundRect">
                <a:avLst/>
              </a:prstGeom>
              <a:blipFill>
                <a:blip r:embed="rId5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6382716" y="4886054"/>
            <a:ext cx="2967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854603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995129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D36F06D-4161-7F52-8709-DCF721DBD495}"/>
              </a:ext>
            </a:extLst>
          </p:cNvPr>
          <p:cNvSpPr/>
          <p:nvPr/>
        </p:nvSpPr>
        <p:spPr>
          <a:xfrm>
            <a:off x="5369826" y="3200400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2BDBA-9C84-7027-4C8F-B6AFC2527999}"/>
              </a:ext>
            </a:extLst>
          </p:cNvPr>
          <p:cNvSpPr/>
          <p:nvPr/>
        </p:nvSpPr>
        <p:spPr>
          <a:xfrm>
            <a:off x="5369826" y="4314879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5AC21A-3D00-4576-7E8B-51C6C4B8E1CB}"/>
              </a:ext>
            </a:extLst>
          </p:cNvPr>
          <p:cNvSpPr txBox="1"/>
          <p:nvPr/>
        </p:nvSpPr>
        <p:spPr>
          <a:xfrm>
            <a:off x="7255747" y="6233734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"/>
              </a:rPr>
              <a:t>Insecure!</a:t>
            </a:r>
          </a:p>
        </p:txBody>
      </p: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  <p:bldP spid="20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75435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214581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6096595-3B7A-6F60-13DB-5FF06375C7E3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diagram of a graph&#10;&#10;Description automatically generated">
            <a:extLst>
              <a:ext uri="{FF2B5EF4-FFF2-40B4-BE49-F238E27FC236}">
                <a16:creationId xmlns:a16="http://schemas.microsoft.com/office/drawing/2014/main" id="{5512973A-5467-8C03-AB42-9C717B5B60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75431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1535697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initiation!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4145F7-3FC4-B454-40AA-F5E1E95958DA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diagram of a graph&#10;&#10;Description automatically generated">
            <a:extLst>
              <a:ext uri="{FF2B5EF4-FFF2-40B4-BE49-F238E27FC236}">
                <a16:creationId xmlns:a16="http://schemas.microsoft.com/office/drawing/2014/main" id="{2C0D0FFA-BF8E-45FC-8FB4-1E8660550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87470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C3DB54-EC6A-EC9B-46EF-2E5E414A27C0}"/>
                  </a:ext>
                </a:extLst>
              </p:cNvPr>
              <p:cNvSpPr txBox="1"/>
              <p:nvPr/>
            </p:nvSpPr>
            <p:spPr>
              <a:xfrm>
                <a:off x="2027801" y="4852390"/>
                <a:ext cx="1994353" cy="12241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"/>
                    <a:ea typeface="Source Sans Pro"/>
                  </a:rPr>
                  <a:t> responds thinking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"/>
                    <a:ea typeface="Source Sans Pro"/>
                  </a:rPr>
                  <a:t>initiated with them, but it leaks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𝑁</m:t>
                        </m:r>
                      </m:e>
                      <m:sub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C3DB54-EC6A-EC9B-46EF-2E5E414A2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801" y="4852390"/>
                <a:ext cx="1994353" cy="1224118"/>
              </a:xfrm>
              <a:prstGeom prst="rect">
                <a:avLst/>
              </a:prstGeom>
              <a:blipFill>
                <a:blip r:embed="rId7"/>
                <a:stretch>
                  <a:fillRect l="-2532" t="-2062" r="-1266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2FB3039F-4437-4B83-48B4-87B21F37C511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diagram of a graph&#10;&#10;Description automatically generated">
            <a:extLst>
              <a:ext uri="{FF2B5EF4-FFF2-40B4-BE49-F238E27FC236}">
                <a16:creationId xmlns:a16="http://schemas.microsoft.com/office/drawing/2014/main" id="{2C0D0FFA-BF8E-45FC-8FB4-1E8660550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2FB3039F-4437-4B83-48B4-87B21F37C511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765C11-C638-2DE4-BF30-34B48FC986F5}"/>
                  </a:ext>
                </a:extLst>
              </p:cNvPr>
              <p:cNvSpPr txBox="1"/>
              <p:nvPr/>
            </p:nvSpPr>
            <p:spPr>
              <a:xfrm>
                <a:off x="4439405" y="6013755"/>
                <a:ext cx="30078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"/>
                  </a:rPr>
                  <a:t> has impersonated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"/>
                  </a:rPr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765C11-C638-2DE4-BF30-34B48FC986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9405" y="6013755"/>
                <a:ext cx="3007875" cy="369332"/>
              </a:xfrm>
              <a:prstGeom prst="rect">
                <a:avLst/>
              </a:prstGeom>
              <a:blipFill>
                <a:blip r:embed="rId7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92548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…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}→{</m:t>
                      </m:r>
                      <m:r>
                        <m:rPr>
                          <m:nor/>
                        </m:rPr>
                        <a:rPr lang="en-US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2457378" y="4300341"/>
                <a:ext cx="7316251" cy="578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𝐹𝑟</m:t>
                                  </m:r>
                                </m:sup>
                              </m:sSub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𝑃𝑢𝑏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𝑀𝑠𝑔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7378" y="4300341"/>
                <a:ext cx="7316251" cy="578941"/>
              </a:xfrm>
              <a:prstGeom prst="rect">
                <a:avLst/>
              </a:prstGeom>
              <a:blipFill>
                <a:blip r:embed="rId4"/>
                <a:stretch>
                  <a:fillRect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33489" y="2738645"/>
            <a:ext cx="3698241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859049" y="3198175"/>
            <a:ext cx="4518772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42B6A13-DE1A-DB78-6469-9C1E3FA96E06}"/>
              </a:ext>
            </a:extLst>
          </p:cNvPr>
          <p:cNvSpPr/>
          <p:nvPr/>
        </p:nvSpPr>
        <p:spPr>
          <a:xfrm>
            <a:off x="10008840" y="2903535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9ABA28-8175-7014-A5D4-0525CDE1DFCB}"/>
              </a:ext>
            </a:extLst>
          </p:cNvPr>
          <p:cNvSpPr txBox="1"/>
          <p:nvPr/>
        </p:nvSpPr>
        <p:spPr>
          <a:xfrm>
            <a:off x="4793193" y="2248475"/>
            <a:ext cx="26052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"/>
              </a:rPr>
              <a:t>What is the problem?</a:t>
            </a:r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" grpId="1"/>
      <p:bldP spid="3" grpId="2"/>
      <p:bldP spid="13" grpId="1" animBg="1"/>
      <p:bldP spid="11" grpId="1" animBg="1"/>
      <p:bldP spid="16" grpId="0" animBg="1"/>
      <p:bldP spid="17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′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sz="3200" dirty="0">
              <a:ea typeface="Source Sans Pro"/>
            </a:endParaRPr>
          </a:p>
          <a:p>
            <a:r>
              <a:rPr lang="en-US" sz="3200" dirty="0">
                <a:ea typeface="Source Sans Pro"/>
              </a:rPr>
              <a:t>Discussion, Research Questions, &amp; Conclusion 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B9CD5F-299D-0F81-DD48-C8D7DDC2167F}"/>
              </a:ext>
            </a:extLst>
          </p:cNvPr>
          <p:cNvSpPr/>
          <p:nvPr/>
        </p:nvSpPr>
        <p:spPr>
          <a:xfrm>
            <a:off x="2283071" y="2775857"/>
            <a:ext cx="7625443" cy="13062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1"/>
                </a:solidFill>
                <a:latin typeface=""/>
                <a:ea typeface="Source Sans Pro"/>
              </a:rPr>
              <a:t>Symbolic model (unbounded)                protocol security is undecidable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63A3C-32E2-1038-A8A4-870CAE75A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928" y="2775857"/>
            <a:ext cx="1306286" cy="13062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7C7B51-92BC-9B5D-6F44-D50DCB2112E5}"/>
              </a:ext>
            </a:extLst>
          </p:cNvPr>
          <p:cNvSpPr txBox="1"/>
          <p:nvPr/>
        </p:nvSpPr>
        <p:spPr>
          <a:xfrm>
            <a:off x="2470440" y="4433104"/>
            <a:ext cx="7250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"/>
              </a:rPr>
              <a:t>How can we use typing information to make reasoning easier?</a:t>
            </a:r>
          </a:p>
        </p:txBody>
      </p:sp>
    </p:spTree>
    <p:extLst>
      <p:ext uri="{BB962C8B-B14F-4D97-AF65-F5344CB8AC3E}">
        <p14:creationId xmlns:p14="http://schemas.microsoft.com/office/powerpoint/2010/main" val="2780267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783" y="3600067"/>
            <a:ext cx="5769659" cy="247624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F44C939-3ECA-FB5D-9E0A-8A41DE31A9C8}"/>
              </a:ext>
            </a:extLst>
          </p:cNvPr>
          <p:cNvSpPr/>
          <p:nvPr/>
        </p:nvSpPr>
        <p:spPr>
          <a:xfrm>
            <a:off x="4416785" y="4228367"/>
            <a:ext cx="2803917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433415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433415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we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but gets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l="-1832"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52890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8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tag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3D8F2-C9B1-338A-6D41-ABD04E5D0791}"/>
              </a:ext>
            </a:extLst>
          </p:cNvPr>
          <p:cNvSpPr/>
          <p:nvPr/>
        </p:nvSpPr>
        <p:spPr>
          <a:xfrm>
            <a:off x="8655359" y="4607484"/>
            <a:ext cx="3452192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E3E1C6DF-DDD9-6AAE-CF3F-39617B5EE0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911" y="4121253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403067" y="3225298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130334" y="5233536"/>
            <a:ext cx="3604671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3969104" y="5231589"/>
            <a:ext cx="2877329" cy="7467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-207" y="2537554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6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9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8" grpId="0"/>
      <p:bldP spid="12" grpId="0"/>
      <p:bldP spid="21" grpId="0" animBg="1"/>
      <p:bldP spid="21" grpId="1" animBg="1"/>
      <p:bldP spid="22" grpId="0" animBg="1"/>
      <p:bldP spid="22" grpId="1" animBg="1"/>
      <p:bldP spid="24" grpId="0" animBg="1"/>
      <p:bldP spid="26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7" grpId="0"/>
      <p:bldP spid="8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156322008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29428873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20950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621972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552373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Research Questions, &amp; Conclusion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3BC95E-D326-6B8A-E965-346407DBE29A}"/>
              </a:ext>
            </a:extLst>
          </p:cNvPr>
          <p:cNvSpPr/>
          <p:nvPr/>
        </p:nvSpPr>
        <p:spPr>
          <a:xfrm>
            <a:off x="1242801" y="2917375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BF71FF5-5929-3755-5326-DF6EAAB26D72}"/>
              </a:ext>
            </a:extLst>
          </p:cNvPr>
          <p:cNvSpPr/>
          <p:nvPr/>
        </p:nvSpPr>
        <p:spPr>
          <a:xfrm>
            <a:off x="4532224" y="3505494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2A48EF-0CEE-0C2A-7B69-7BF4B830C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63" y="2939523"/>
            <a:ext cx="467360" cy="46736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C2EE5D-0109-B2E4-4C0F-50266628F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201" y="3521372"/>
            <a:ext cx="599440" cy="599440"/>
          </a:xfrm>
          <a:prstGeom prst="rect">
            <a:avLst/>
          </a:prstGeom>
        </p:spPr>
      </p:pic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0531A96-5101-4505-5434-197A0B668721}"/>
              </a:ext>
            </a:extLst>
          </p:cNvPr>
          <p:cNvSpPr/>
          <p:nvPr/>
        </p:nvSpPr>
        <p:spPr>
          <a:xfrm>
            <a:off x="4532224" y="4248690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Deductive verification engines support assume/guarantee-style compositional reasoning </a:t>
            </a:r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0" grpId="0" animBg="1"/>
      <p:bldP spid="21" grpId="0" animBg="1"/>
      <p:bldP spid="24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F69930-C776-20D9-9B54-216A6A2E91D6}"/>
              </a:ext>
            </a:extLst>
          </p:cNvPr>
          <p:cNvSpPr/>
          <p:nvPr/>
        </p:nvSpPr>
        <p:spPr>
          <a:xfrm>
            <a:off x="177720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765F9C-1C59-4D91-07DA-684D125E4978}"/>
              </a:ext>
            </a:extLst>
          </p:cNvPr>
          <p:cNvSpPr/>
          <p:nvPr/>
        </p:nvSpPr>
        <p:spPr>
          <a:xfrm>
            <a:off x="4148503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91F1D5-E183-AA04-E8A2-35920459F27E}"/>
              </a:ext>
            </a:extLst>
          </p:cNvPr>
          <p:cNvSpPr/>
          <p:nvPr/>
        </p:nvSpPr>
        <p:spPr>
          <a:xfrm>
            <a:off x="6519807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06A176-F6D2-0183-B3A1-65B916D475A9}"/>
              </a:ext>
            </a:extLst>
          </p:cNvPr>
          <p:cNvSpPr/>
          <p:nvPr/>
        </p:nvSpPr>
        <p:spPr>
          <a:xfrm>
            <a:off x="889111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D7CE68-BBD2-4DE4-ED8A-246528FCF1B5}"/>
              </a:ext>
            </a:extLst>
          </p:cNvPr>
          <p:cNvSpPr/>
          <p:nvPr/>
        </p:nvSpPr>
        <p:spPr>
          <a:xfrm>
            <a:off x="5356596" y="5456829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F912332-AB1B-C695-5BF6-5CC516A5CCF2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>
            <a:off x="2555167" y="5042455"/>
            <a:ext cx="2801429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78B3F80-9B63-E799-2CC3-9E24F3931DA8}"/>
              </a:ext>
            </a:extLst>
          </p:cNvPr>
          <p:cNvCxnSpPr>
            <a:cxnSpLocks/>
            <a:stCxn id="11" idx="3"/>
            <a:endCxn id="10" idx="2"/>
          </p:cNvCxnSpPr>
          <p:nvPr/>
        </p:nvCxnSpPr>
        <p:spPr>
          <a:xfrm flipV="1">
            <a:off x="6912530" y="5042455"/>
            <a:ext cx="2756547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ED29170D-C608-5EE6-BCF0-727E7CDC8BF7}"/>
              </a:ext>
            </a:extLst>
          </p:cNvPr>
          <p:cNvCxnSpPr>
            <a:cxnSpLocks/>
            <a:stCxn id="11" idx="1"/>
            <a:endCxn id="8" idx="2"/>
          </p:cNvCxnSpPr>
          <p:nvPr/>
        </p:nvCxnSpPr>
        <p:spPr>
          <a:xfrm rot="10800000">
            <a:off x="4926470" y="5042455"/>
            <a:ext cx="430126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656132C5-635D-C8B6-13A7-0DD6DEC7B299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 flipV="1">
            <a:off x="6912530" y="5042455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F00FD49-A5B5-E700-9AC7-89275E87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531" y="5337458"/>
            <a:ext cx="584722" cy="6180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52167E3-17E3-D57A-92A9-70000F3B5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74" y="5337458"/>
            <a:ext cx="584722" cy="61806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E7C7281-C90E-E0C0-3BE1-20F42FE38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5765" y="5321644"/>
            <a:ext cx="614644" cy="649691"/>
          </a:xfrm>
          <a:prstGeom prst="rect">
            <a:avLst/>
          </a:prstGeom>
        </p:spPr>
      </p:pic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3E319BDC-A2C6-88FE-2039-B0E17E60EA42}"/>
              </a:ext>
            </a:extLst>
          </p:cNvPr>
          <p:cNvCxnSpPr>
            <a:cxnSpLocks/>
            <a:endCxn id="11" idx="0"/>
          </p:cNvCxnSpPr>
          <p:nvPr/>
        </p:nvCxnSpPr>
        <p:spPr>
          <a:xfrm rot="16200000" flipH="1">
            <a:off x="5415801" y="4738067"/>
            <a:ext cx="1007399" cy="430126"/>
          </a:xfrm>
          <a:prstGeom prst="bentConnector3">
            <a:avLst>
              <a:gd name="adj1" fmla="val -23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0680970-AC2F-EB19-AAA9-44A6596F232C}"/>
              </a:ext>
            </a:extLst>
          </p:cNvPr>
          <p:cNvCxnSpPr>
            <a:cxnSpLocks/>
            <a:stCxn id="9" idx="1"/>
            <a:endCxn id="11" idx="0"/>
          </p:cNvCxnSpPr>
          <p:nvPr/>
        </p:nvCxnSpPr>
        <p:spPr>
          <a:xfrm rot="10800000" flipV="1">
            <a:off x="6134563" y="4449431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58CC4BB0-2E84-1437-DAB5-1EFC20F5862C}"/>
              </a:ext>
            </a:extLst>
          </p:cNvPr>
          <p:cNvCxnSpPr>
            <a:cxnSpLocks/>
            <a:stCxn id="10" idx="0"/>
            <a:endCxn id="11" idx="0"/>
          </p:cNvCxnSpPr>
          <p:nvPr/>
        </p:nvCxnSpPr>
        <p:spPr>
          <a:xfrm rot="16200000" flipH="1" flipV="1">
            <a:off x="7101609" y="2889361"/>
            <a:ext cx="1600423" cy="3534514"/>
          </a:xfrm>
          <a:prstGeom prst="bentConnector3">
            <a:avLst>
              <a:gd name="adj1" fmla="val -292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7CF1E0B4-FDF6-549A-2FA8-9F5808DE46A0}"/>
              </a:ext>
            </a:extLst>
          </p:cNvPr>
          <p:cNvCxnSpPr>
            <a:cxnSpLocks/>
            <a:stCxn id="5" idx="0"/>
            <a:endCxn id="11" idx="0"/>
          </p:cNvCxnSpPr>
          <p:nvPr/>
        </p:nvCxnSpPr>
        <p:spPr>
          <a:xfrm rot="16200000" flipH="1">
            <a:off x="3544654" y="2866920"/>
            <a:ext cx="1600423" cy="3579396"/>
          </a:xfrm>
          <a:prstGeom prst="bentConnector3">
            <a:avLst>
              <a:gd name="adj1" fmla="val -293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0" name="Picture 59">
            <a:extLst>
              <a:ext uri="{FF2B5EF4-FFF2-40B4-BE49-F238E27FC236}">
                <a16:creationId xmlns:a16="http://schemas.microsoft.com/office/drawing/2014/main" id="{879377B4-E86C-9A19-6778-B1D4CB0B4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073" y="2605618"/>
            <a:ext cx="584722" cy="618063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5D7FA38-7EC8-8849-E603-5F9027EED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715" y="2605618"/>
            <a:ext cx="584722" cy="618063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C6916E8A-D83C-FB78-0F08-6092E202D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9792" y="2589804"/>
            <a:ext cx="614644" cy="64969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F8E46FB4-5505-2D6B-EF28-8CA081830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8745" y="5337458"/>
            <a:ext cx="584722" cy="61806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22143079-FDF6-FED4-DA45-1A3F9AF82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388" y="5337458"/>
            <a:ext cx="584722" cy="618063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F19D24E6-E3E2-B209-12E5-1F24EA6364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979" y="5321644"/>
            <a:ext cx="614644" cy="649691"/>
          </a:xfrm>
          <a:prstGeom prst="rect">
            <a:avLst/>
          </a:prstGeom>
        </p:spPr>
      </p:pic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5892A11D-D3E4-5DD4-50FB-9C69DE612000}"/>
              </a:ext>
            </a:extLst>
          </p:cNvPr>
          <p:cNvSpPr txBox="1">
            <a:spLocks/>
          </p:cNvSpPr>
          <p:nvPr/>
        </p:nvSpPr>
        <p:spPr>
          <a:xfrm>
            <a:off x="5306052" y="5773954"/>
            <a:ext cx="1646476" cy="5995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Environment multiplexer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2" name="Content Placeholder 2">
            <a:extLst>
              <a:ext uri="{FF2B5EF4-FFF2-40B4-BE49-F238E27FC236}">
                <a16:creationId xmlns:a16="http://schemas.microsoft.com/office/drawing/2014/main" id="{0017CA83-264C-DD00-6487-142E84330011}"/>
              </a:ext>
            </a:extLst>
          </p:cNvPr>
          <p:cNvSpPr txBox="1">
            <a:spLocks/>
          </p:cNvSpPr>
          <p:nvPr/>
        </p:nvSpPr>
        <p:spPr>
          <a:xfrm>
            <a:off x="177720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1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A8C4C458-982B-4F45-7C89-3694B4C75711}"/>
              </a:ext>
            </a:extLst>
          </p:cNvPr>
          <p:cNvSpPr txBox="1">
            <a:spLocks/>
          </p:cNvSpPr>
          <p:nvPr/>
        </p:nvSpPr>
        <p:spPr>
          <a:xfrm>
            <a:off x="4148503" y="397099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2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3BCA634C-1FE7-DEA4-D14B-44F351577811}"/>
              </a:ext>
            </a:extLst>
          </p:cNvPr>
          <p:cNvSpPr txBox="1">
            <a:spLocks/>
          </p:cNvSpPr>
          <p:nvPr/>
        </p:nvSpPr>
        <p:spPr>
          <a:xfrm>
            <a:off x="6517467" y="3965143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B669791E-151B-F769-829A-562105671363}"/>
              </a:ext>
            </a:extLst>
          </p:cNvPr>
          <p:cNvSpPr txBox="1">
            <a:spLocks/>
          </p:cNvSpPr>
          <p:nvPr/>
        </p:nvSpPr>
        <p:spPr>
          <a:xfrm>
            <a:off x="889111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Adversary step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8C85CB7-E87B-ECC6-32D8-9B795F38D54C}"/>
              </a:ext>
            </a:extLst>
          </p:cNvPr>
          <p:cNvSpPr txBox="1">
            <a:spLocks/>
          </p:cNvSpPr>
          <p:nvPr/>
        </p:nvSpPr>
        <p:spPr>
          <a:xfrm>
            <a:off x="4619147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State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D28C5D49-86CB-A912-8758-BB5C3745BB48}"/>
              </a:ext>
            </a:extLst>
          </p:cNvPr>
          <p:cNvSpPr txBox="1">
            <a:spLocks/>
          </p:cNvSpPr>
          <p:nvPr/>
        </p:nvSpPr>
        <p:spPr>
          <a:xfrm>
            <a:off x="5658461" y="2257246"/>
            <a:ext cx="2673951" cy="3205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>
                <a:latin typeface=""/>
                <a:ea typeface="Source Sans Pro"/>
              </a:rPr>
              <a:t>Adversary knowledge</a:t>
            </a:r>
            <a:endParaRPr lang="en-US" sz="14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81" name="Content Placeholder 2">
            <a:extLst>
              <a:ext uri="{FF2B5EF4-FFF2-40B4-BE49-F238E27FC236}">
                <a16:creationId xmlns:a16="http://schemas.microsoft.com/office/drawing/2014/main" id="{EF5F80CF-A730-78EB-248C-82EEAAF81307}"/>
              </a:ext>
            </a:extLst>
          </p:cNvPr>
          <p:cNvSpPr txBox="1">
            <a:spLocks/>
          </p:cNvSpPr>
          <p:nvPr/>
        </p:nvSpPr>
        <p:spPr>
          <a:xfrm>
            <a:off x="3186328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Session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B821B072-3CEC-08C1-1893-66C3CC6817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3276" y="2658412"/>
            <a:ext cx="484830" cy="512475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9A81680-CF40-9278-4FED-C61D1BF9CF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1120" y="6153220"/>
            <a:ext cx="484830" cy="512475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83927E5B-17FD-9B1C-5757-4A33E5803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2892" y="6160672"/>
            <a:ext cx="484830" cy="512475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DA97808D-5D20-E50B-6CFB-26A3DA2B8E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5187" y="4336949"/>
            <a:ext cx="509504" cy="538556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FB6C99A1-416A-687D-1969-1E3466320A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389" y="4336949"/>
            <a:ext cx="509504" cy="538556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245BDFF4-ACC7-564E-CB60-4D442D828F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9430" y="4336949"/>
            <a:ext cx="509504" cy="538556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3A25CF4D-A406-C119-6859-BA8697F322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2476" y="4336949"/>
            <a:ext cx="509504" cy="53855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E40AEFB-2627-47DB-74DC-C3C08F04C3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9448" y="3842919"/>
            <a:ext cx="414912" cy="4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68" grpId="0"/>
      <p:bldP spid="76" grpId="0"/>
      <p:bldP spid="77" grpId="0"/>
      <p:bldP spid="8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2968586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988906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52992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tools (often)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60027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analysis of looping protocols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2957305"/>
            <a:ext cx="7106120" cy="53644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712" y="2978641"/>
            <a:ext cx="514096" cy="514096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560168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tools natively support loops and use loop invariants to help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630521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2872022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423856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engines can often isolate individual failing postconditions within individual functions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2897448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494209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173638B-0FF0-95B2-C2E2-1E65880C5E37}"/>
              </a:ext>
            </a:extLst>
          </p:cNvPr>
          <p:cNvSpPr/>
          <p:nvPr/>
        </p:nvSpPr>
        <p:spPr>
          <a:xfrm>
            <a:off x="4043680" y="4234356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Deductive verification engines may be embedded in ITPs,      giving an escape hatch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</a:t>
            </a:r>
            <a:r>
              <a:rPr lang="en-US" dirty="0">
                <a:solidFill>
                  <a:schemeClr val="tx1"/>
                </a:solidFill>
              </a:rPr>
              <a:t>– </a:t>
            </a: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7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4FD549D-6CF6-5630-1246-7A55D4F56061}"/>
              </a:ext>
            </a:extLst>
          </p:cNvPr>
          <p:cNvCxnSpPr>
            <a:cxnSpLocks/>
            <a:stCxn id="14" idx="2"/>
            <a:endCxn id="23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60A8220-E0CD-52D8-2699-AE225D276F39}"/>
              </a:ext>
            </a:extLst>
          </p:cNvPr>
          <p:cNvCxnSpPr>
            <a:cxnSpLocks/>
            <a:stCxn id="15" idx="2"/>
            <a:endCxn id="13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07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7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4FD549D-6CF6-5630-1246-7A55D4F56061}"/>
              </a:ext>
            </a:extLst>
          </p:cNvPr>
          <p:cNvCxnSpPr>
            <a:cxnSpLocks/>
            <a:stCxn id="14" idx="2"/>
            <a:endCxn id="23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60A8220-E0CD-52D8-2699-AE225D276F39}"/>
              </a:ext>
            </a:extLst>
          </p:cNvPr>
          <p:cNvCxnSpPr>
            <a:cxnSpLocks/>
            <a:stCxn id="15" idx="2"/>
            <a:endCxn id="13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90337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8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2"/>
          </p:cNvCxnSpPr>
          <p:nvPr/>
        </p:nvCxnSpPr>
        <p:spPr>
          <a:xfrm flipV="1">
            <a:off x="9466991" y="5780298"/>
            <a:ext cx="712726" cy="4896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4AFAD7-73A3-57F1-7BDB-BF4DBCE22B82}"/>
                  </a:ext>
                </a:extLst>
              </p:cNvPr>
              <p:cNvSpPr txBox="1"/>
              <p:nvPr/>
            </p:nvSpPr>
            <p:spPr>
              <a:xfrm>
                <a:off x="8113205" y="499382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4AFAD7-73A3-57F1-7BDB-BF4DBCE22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3205" y="4993823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38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8113205" y="499382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3205" y="4993823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∃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. 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Sent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𝐵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,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𝐴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,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𝑡</m:t>
                            </m:r>
                          </m:e>
                        </m:d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@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 &amp;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&lt;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8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ED191A-3995-522A-77CA-3BAB09A7FBA7}"/>
              </a:ext>
            </a:extLst>
          </p:cNvPr>
          <p:cNvCxnSpPr>
            <a:cxnSpLocks/>
            <a:stCxn id="68" idx="2"/>
            <a:endCxn id="65" idx="6"/>
          </p:cNvCxnSpPr>
          <p:nvPr/>
        </p:nvCxnSpPr>
        <p:spPr>
          <a:xfrm flipH="1" flipV="1">
            <a:off x="8491815" y="5186906"/>
            <a:ext cx="1687902" cy="59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5"/>
          </p:cNvCxnSpPr>
          <p:nvPr/>
        </p:nvCxnSpPr>
        <p:spPr>
          <a:xfrm flipV="1">
            <a:off x="9466991" y="5808696"/>
            <a:ext cx="781286" cy="2056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09679C9A-349E-A933-AC66-7B2AE49766D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3375" y="5121647"/>
            <a:ext cx="451022" cy="45102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7F2EA7-A395-56AD-ED49-6233117E15C6}"/>
              </a:ext>
            </a:extLst>
          </p:cNvPr>
          <p:cNvSpPr txBox="1"/>
          <p:nvPr/>
        </p:nvSpPr>
        <p:spPr>
          <a:xfrm>
            <a:off x="243780" y="5127671"/>
            <a:ext cx="34055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"/>
              </a:rPr>
              <a:t>Every message </a:t>
            </a:r>
            <a:r>
              <a:rPr lang="en-US" sz="2000" b="1" dirty="0">
                <a:latin typeface=""/>
              </a:rPr>
              <a:t>must</a:t>
            </a:r>
            <a:r>
              <a:rPr lang="en-US" sz="2000" dirty="0">
                <a:latin typeface=""/>
              </a:rPr>
              <a:t> incorporate freshness to satisfy injective agreement!</a:t>
            </a:r>
          </a:p>
        </p:txBody>
      </p:sp>
    </p:spTree>
    <p:extLst>
      <p:ext uri="{BB962C8B-B14F-4D97-AF65-F5344CB8AC3E}">
        <p14:creationId xmlns:p14="http://schemas.microsoft.com/office/powerpoint/2010/main" val="213679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2213960" y="2332514"/>
            <a:ext cx="7763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Current tools don’t have a generic (hyper)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Equiv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063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96445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09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𝑃𝐴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4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C36C857-0C97-D8B0-0CF7-6B5B47A957A9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2C0D052-511B-7598-E979-6292FBD90D05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8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90E1AF1-22DC-48F6-C16A-7C987939678F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3B4D41-8290-91F6-AEB1-24010B8CDF94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3173F87F-9B73-F624-0AA7-FD81E474E274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D0A620D7-909C-C68F-CF98-7800A0432E1D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5182429-18CE-0E62-59E3-A8A8119E2F04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33CE3FE-67FA-BE18-6136-996FA33A0BF7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34" grpId="0" animBg="1"/>
      <p:bldP spid="9" grpId="0" animBg="1"/>
      <p:bldP spid="1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Sk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Reveal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blipFill>
                <a:blip r:embed="rId5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7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533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45064999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423050724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55278294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96000306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</a:t>
            </a:r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9050569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multiple “MGUs” modulo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23291</TotalTime>
  <Words>10001</Words>
  <Application>Microsoft Macintosh PowerPoint</Application>
  <PresentationFormat>Widescreen</PresentationFormat>
  <Paragraphs>1265</Paragraphs>
  <Slides>131</Slides>
  <Notes>40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131</vt:i4>
      </vt:variant>
    </vt:vector>
  </HeadingPairs>
  <TitlesOfParts>
    <vt:vector size="142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Talk 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Conclusion</vt:lpstr>
      <vt:lpstr>PowerPoint Presentation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First Attack on Needham-Schroeder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1157</cp:revision>
  <cp:lastPrinted>2026-04-01T18:06:29Z</cp:lastPrinted>
  <dcterms:created xsi:type="dcterms:W3CDTF">2026-03-16T17:02:12Z</dcterms:created>
  <dcterms:modified xsi:type="dcterms:W3CDTF">2026-04-23T19:09:59Z</dcterms:modified>
</cp:coreProperties>
</file>