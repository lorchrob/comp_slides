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32"/>
  </p:notesMasterIdLst>
  <p:sldIdLst>
    <p:sldId id="256" r:id="rId2"/>
    <p:sldId id="357" r:id="rId3"/>
    <p:sldId id="278" r:id="rId4"/>
    <p:sldId id="356" r:id="rId5"/>
    <p:sldId id="291" r:id="rId6"/>
    <p:sldId id="290" r:id="rId7"/>
    <p:sldId id="266" r:id="rId8"/>
    <p:sldId id="395" r:id="rId9"/>
    <p:sldId id="343" r:id="rId10"/>
    <p:sldId id="379" r:id="rId11"/>
    <p:sldId id="280" r:id="rId12"/>
    <p:sldId id="393" r:id="rId13"/>
    <p:sldId id="394" r:id="rId14"/>
    <p:sldId id="281" r:id="rId15"/>
    <p:sldId id="309" r:id="rId16"/>
    <p:sldId id="332" r:id="rId17"/>
    <p:sldId id="333" r:id="rId18"/>
    <p:sldId id="282" r:id="rId19"/>
    <p:sldId id="284" r:id="rId20"/>
    <p:sldId id="358" r:id="rId21"/>
    <p:sldId id="283" r:id="rId22"/>
    <p:sldId id="387" r:id="rId23"/>
    <p:sldId id="388" r:id="rId24"/>
    <p:sldId id="389" r:id="rId25"/>
    <p:sldId id="391" r:id="rId26"/>
    <p:sldId id="380" r:id="rId27"/>
    <p:sldId id="263" r:id="rId28"/>
    <p:sldId id="427" r:id="rId29"/>
    <p:sldId id="289" r:id="rId30"/>
    <p:sldId id="292" r:id="rId31"/>
    <p:sldId id="293" r:id="rId32"/>
    <p:sldId id="294" r:id="rId33"/>
    <p:sldId id="298" r:id="rId34"/>
    <p:sldId id="338" r:id="rId35"/>
    <p:sldId id="325" r:id="rId36"/>
    <p:sldId id="397" r:id="rId37"/>
    <p:sldId id="398" r:id="rId38"/>
    <p:sldId id="275" r:id="rId39"/>
    <p:sldId id="318" r:id="rId40"/>
    <p:sldId id="319" r:id="rId41"/>
    <p:sldId id="320" r:id="rId42"/>
    <p:sldId id="322" r:id="rId43"/>
    <p:sldId id="321" r:id="rId44"/>
    <p:sldId id="324" r:id="rId45"/>
    <p:sldId id="323" r:id="rId46"/>
    <p:sldId id="376" r:id="rId47"/>
    <p:sldId id="326" r:id="rId48"/>
    <p:sldId id="400" r:id="rId49"/>
    <p:sldId id="399" r:id="rId50"/>
    <p:sldId id="329" r:id="rId51"/>
    <p:sldId id="302" r:id="rId52"/>
    <p:sldId id="331" r:id="rId53"/>
    <p:sldId id="276" r:id="rId54"/>
    <p:sldId id="401" r:id="rId55"/>
    <p:sldId id="405" r:id="rId56"/>
    <p:sldId id="403" r:id="rId57"/>
    <p:sldId id="404" r:id="rId58"/>
    <p:sldId id="402" r:id="rId59"/>
    <p:sldId id="303" r:id="rId60"/>
    <p:sldId id="330" r:id="rId61"/>
    <p:sldId id="337" r:id="rId62"/>
    <p:sldId id="340" r:id="rId63"/>
    <p:sldId id="312" r:id="rId64"/>
    <p:sldId id="262" r:id="rId65"/>
    <p:sldId id="334" r:id="rId66"/>
    <p:sldId id="335" r:id="rId67"/>
    <p:sldId id="336" r:id="rId68"/>
    <p:sldId id="365" r:id="rId69"/>
    <p:sldId id="367" r:id="rId70"/>
    <p:sldId id="368" r:id="rId71"/>
    <p:sldId id="307" r:id="rId72"/>
    <p:sldId id="374" r:id="rId73"/>
    <p:sldId id="306" r:id="rId74"/>
    <p:sldId id="366" r:id="rId75"/>
    <p:sldId id="310" r:id="rId76"/>
    <p:sldId id="373" r:id="rId77"/>
    <p:sldId id="311" r:id="rId78"/>
    <p:sldId id="410" r:id="rId79"/>
    <p:sldId id="314" r:id="rId80"/>
    <p:sldId id="419" r:id="rId81"/>
    <p:sldId id="382" r:id="rId82"/>
    <p:sldId id="369" r:id="rId83"/>
    <p:sldId id="371" r:id="rId84"/>
    <p:sldId id="370" r:id="rId85"/>
    <p:sldId id="384" r:id="rId86"/>
    <p:sldId id="372" r:id="rId87"/>
    <p:sldId id="385" r:id="rId88"/>
    <p:sldId id="425" r:id="rId89"/>
    <p:sldId id="426" r:id="rId90"/>
    <p:sldId id="352" r:id="rId91"/>
    <p:sldId id="272" r:id="rId92"/>
    <p:sldId id="407" r:id="rId93"/>
    <p:sldId id="273" r:id="rId94"/>
    <p:sldId id="414" r:id="rId95"/>
    <p:sldId id="415" r:id="rId96"/>
    <p:sldId id="412" r:id="rId97"/>
    <p:sldId id="413" r:id="rId98"/>
    <p:sldId id="416" r:id="rId99"/>
    <p:sldId id="301" r:id="rId100"/>
    <p:sldId id="300" r:id="rId101"/>
    <p:sldId id="430" r:id="rId102"/>
    <p:sldId id="304" r:id="rId103"/>
    <p:sldId id="428" r:id="rId104"/>
    <p:sldId id="364" r:id="rId105"/>
    <p:sldId id="429" r:id="rId106"/>
    <p:sldId id="305" r:id="rId107"/>
    <p:sldId id="418" r:id="rId108"/>
    <p:sldId id="406" r:id="rId109"/>
    <p:sldId id="409" r:id="rId110"/>
    <p:sldId id="308" r:id="rId111"/>
    <p:sldId id="420" r:id="rId112"/>
    <p:sldId id="417" r:id="rId113"/>
    <p:sldId id="423" r:id="rId114"/>
    <p:sldId id="424" r:id="rId115"/>
    <p:sldId id="422" r:id="rId116"/>
    <p:sldId id="270" r:id="rId117"/>
    <p:sldId id="345" r:id="rId118"/>
    <p:sldId id="346" r:id="rId119"/>
    <p:sldId id="347" r:id="rId120"/>
    <p:sldId id="361" r:id="rId121"/>
    <p:sldId id="378" r:id="rId122"/>
    <p:sldId id="348" r:id="rId123"/>
    <p:sldId id="360" r:id="rId124"/>
    <p:sldId id="363" r:id="rId125"/>
    <p:sldId id="349" r:id="rId126"/>
    <p:sldId id="353" r:id="rId127"/>
    <p:sldId id="355" r:id="rId128"/>
    <p:sldId id="317" r:id="rId129"/>
    <p:sldId id="299" r:id="rId130"/>
    <p:sldId id="316" r:id="rId1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862" autoAdjust="0"/>
    <p:restoredTop sz="85919"/>
  </p:normalViewPr>
  <p:slideViewPr>
    <p:cSldViewPr snapToGrid="0">
      <p:cViewPr>
        <p:scale>
          <a:sx n="110" d="100"/>
          <a:sy n="110" d="100"/>
        </p:scale>
        <p:origin x="768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microsoft.com/office/2015/10/relationships/revisionInfo" Target="revisionInfo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918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279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&lt;transition point – formalizing properties (in presentation) &gt;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&lt;connect to previous point&gt;</a:t>
            </a:r>
          </a:p>
          <a:p>
            <a:endParaRPr lang="en-US" dirty="0"/>
          </a:p>
          <a:p>
            <a:r>
              <a:rPr lang="en-US" dirty="0"/>
              <a:t>Order-sorted FOL (many-sorted FOL with </a:t>
            </a:r>
            <a:r>
              <a:rPr lang="en-US" dirty="0" err="1"/>
              <a:t>subsorting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6794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6438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013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10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7642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1104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A starts a session with I</a:t>
            </a:r>
          </a:p>
          <a:p>
            <a:pPr marL="228600" indent="-228600">
              <a:buAutoNum type="arabicPeriod"/>
            </a:pPr>
            <a:r>
              <a:rPr lang="en-US" dirty="0"/>
              <a:t>I starts a session with B, impersonating A</a:t>
            </a:r>
          </a:p>
          <a:p>
            <a:pPr marL="228600" indent="-228600">
              <a:buAutoNum type="arabicPeriod"/>
            </a:pPr>
            <a:r>
              <a:rPr lang="en-US" dirty="0"/>
              <a:t>B authenticates to I (and I is impersonating A)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A</a:t>
            </a:r>
          </a:p>
          <a:p>
            <a:pPr marL="228600" indent="-228600">
              <a:buAutoNum type="arabicPeriod"/>
            </a:pPr>
            <a:r>
              <a:rPr lang="en-US" dirty="0"/>
              <a:t>A authenticates to I</a:t>
            </a:r>
          </a:p>
          <a:p>
            <a:pPr marL="228600" indent="-228600">
              <a:buAutoNum type="arabicPeriod"/>
            </a:pPr>
            <a:r>
              <a:rPr lang="en-US" dirty="0"/>
              <a:t>I authenticates to B, impersonating 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59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 (see step 4)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I. (P_2 encrypts with I’s public key because I is the first component of the encryption, which we smuggled in earlier)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1354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951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I initiates, replacing the first nonce with their identity I</a:t>
            </a:r>
          </a:p>
          <a:p>
            <a:pPr marL="228600" indent="-228600">
              <a:buAutoNum type="arabicPeriod"/>
            </a:pPr>
            <a:r>
              <a:rPr lang="en-US" dirty="0"/>
              <a:t>P_1 responds as expected</a:t>
            </a:r>
          </a:p>
          <a:p>
            <a:pPr marL="228600" indent="-228600">
              <a:buAutoNum type="arabicPeriod"/>
            </a:pPr>
            <a:r>
              <a:rPr lang="en-US" dirty="0"/>
              <a:t>I forwards the response to P_2 unchanged</a:t>
            </a:r>
          </a:p>
          <a:p>
            <a:pPr marL="228600" indent="-228600">
              <a:buAutoNum type="arabicPeriod"/>
            </a:pPr>
            <a:r>
              <a:rPr lang="en-US" dirty="0"/>
              <a:t>P_2 took the previous message as an initiation, confusing &lt;N_P1, P1&gt; with a nonce! P_2 responds, leaking N_P1 to I</a:t>
            </a:r>
          </a:p>
          <a:p>
            <a:pPr marL="228600" indent="-228600">
              <a:buAutoNum type="arabicPeriod"/>
            </a:pPr>
            <a:r>
              <a:rPr lang="en-US" dirty="0"/>
              <a:t>I has successfully impersonated P_2!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449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382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  <a:p>
            <a:r>
              <a:rPr lang="en-US" dirty="0"/>
              <a:t>For </a:t>
            </a:r>
            <a:r>
              <a:rPr lang="en-US" dirty="0" err="1"/>
              <a:t>sortedness</a:t>
            </a:r>
            <a:r>
              <a:rPr lang="en-US" dirty="0"/>
              <a:t> – more formally, function inputs should be contravariant (we can accept the same sort or a </a:t>
            </a:r>
            <a:r>
              <a:rPr lang="en-US" dirty="0" err="1"/>
              <a:t>subsort</a:t>
            </a:r>
            <a:r>
              <a:rPr lang="en-US" dirty="0"/>
              <a:t>; we don’t know how to handle a more general sort)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8388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intruder could modify the tag, then one could have a successful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6839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8193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5241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1016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2596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5352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9057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944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2046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9482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598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“B authenticates to I (impersonating A)” step, B is also issuing a challenge. I steals that challenge and has A do it for him. A won’t notice because he doesn’t see an identity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81648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6444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36056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91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3694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What’s the point of type confusion? If a principal (who gets confused, like P2) actually tries to destruct, then the attack will fail. </a:t>
            </a:r>
            <a:br>
              <a:rPr lang="en-US" dirty="0"/>
            </a:br>
            <a:r>
              <a:rPr lang="en-US" dirty="0"/>
              <a:t>But if the principal tries to forward, some other participant may act insecurely. </a:t>
            </a:r>
            <a:br>
              <a:rPr lang="en-US" dirty="0"/>
            </a:br>
            <a:r>
              <a:rPr lang="en-US" dirty="0"/>
              <a:t>But if no cryptographic protection, then we can do the same attack without type confusion at the forwarding step!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24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2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b="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𝑡_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1 =_𝐸 𝑡_2  </a:t>
                </a:r>
                <a:r>
                  <a:rPr lang="en-US" sz="1200" dirty="0">
                    <a:latin typeface="Source Sans Pro"/>
                    <a:ea typeface="Source Sans Pro"/>
                  </a:rPr>
                  <a:t>means that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(𝑡_1, 𝑡_2)</a:t>
                </a:r>
                <a:r>
                  <a:rPr lang="en-US" sz="1200" dirty="0">
                    <a:latin typeface="Source Sans Pro"/>
                    <a:ea typeface="Source Sans Pro"/>
                  </a:rPr>
                  <a:t> is in the smallest congruence relation containing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𝐸</a:t>
                </a:r>
                <a:r>
                  <a:rPr lang="en-US" sz="1200" dirty="0">
                    <a:latin typeface="Source Sans Pro"/>
                    <a:ea typeface="Source Sans Pro"/>
                  </a:rPr>
                  <a:t> that is closed under substitutions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0272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38396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9022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4175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on the LHS of the equation there is normalization arrow, on the RHS there is no normalization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613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Avenir Next" panose="020B0503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"/>
              </a:defRPr>
            </a:lvl1pPr>
            <a:lvl2pPr>
              <a:defRPr>
                <a:latin typeface=""/>
              </a:defRPr>
            </a:lvl2pPr>
            <a:lvl3pPr>
              <a:defRPr>
                <a:latin typeface=""/>
              </a:defRPr>
            </a:lvl3pPr>
            <a:lvl4pPr>
              <a:defRPr>
                <a:latin typeface=""/>
              </a:defRPr>
            </a:lvl4pPr>
            <a:lvl5pPr>
              <a:defRPr>
                <a:latin typeface="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0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1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0.png"/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230.png"/><Relationship Id="rId4" Type="http://schemas.openxmlformats.org/officeDocument/2006/relationships/image" Target="../media/image220.png"/><Relationship Id="rId9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49.png"/><Relationship Id="rId5" Type="http://schemas.openxmlformats.org/officeDocument/2006/relationships/image" Target="../media/image44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7" Type="http://schemas.openxmlformats.org/officeDocument/2006/relationships/image" Target="../media/image35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0.png"/><Relationship Id="rId5" Type="http://schemas.openxmlformats.org/officeDocument/2006/relationships/image" Target="../media/image330.png"/><Relationship Id="rId4" Type="http://schemas.openxmlformats.org/officeDocument/2006/relationships/image" Target="../media/image310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13" Type="http://schemas.openxmlformats.org/officeDocument/2006/relationships/image" Target="../media/image82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80.png"/><Relationship Id="rId5" Type="http://schemas.openxmlformats.org/officeDocument/2006/relationships/image" Target="../media/image74.png"/><Relationship Id="rId10" Type="http://schemas.openxmlformats.org/officeDocument/2006/relationships/image" Target="../media/image79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Relationship Id="rId14" Type="http://schemas.openxmlformats.org/officeDocument/2006/relationships/image" Target="../media/image69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5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92.pn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Relationship Id="rId9" Type="http://schemas.openxmlformats.org/officeDocument/2006/relationships/image" Target="../media/image9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2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2.png"/><Relationship Id="rId4" Type="http://schemas.openxmlformats.org/officeDocument/2006/relationships/image" Target="../media/image102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9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102.png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6.png"/><Relationship Id="rId4" Type="http://schemas.openxmlformats.org/officeDocument/2006/relationships/image" Target="../media/image115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18.png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6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7.png"/><Relationship Id="rId5" Type="http://schemas.openxmlformats.org/officeDocument/2006/relationships/image" Target="../media/image126.png"/><Relationship Id="rId4" Type="http://schemas.openxmlformats.org/officeDocument/2006/relationships/image" Target="../media/image125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40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12" Type="http://schemas.openxmlformats.org/officeDocument/2006/relationships/image" Target="../media/image139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image" Target="../media/image138.png"/><Relationship Id="rId5" Type="http://schemas.openxmlformats.org/officeDocument/2006/relationships/image" Target="../media/image132.png"/><Relationship Id="rId15" Type="http://schemas.openxmlformats.org/officeDocument/2006/relationships/image" Target="../media/image118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Relationship Id="rId14" Type="http://schemas.openxmlformats.org/officeDocument/2006/relationships/image" Target="../media/image14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7" Type="http://schemas.openxmlformats.org/officeDocument/2006/relationships/image" Target="../media/image84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7" Type="http://schemas.openxmlformats.org/officeDocument/2006/relationships/image" Target="../media/image84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10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40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12" Type="http://schemas.openxmlformats.org/officeDocument/2006/relationships/image" Target="../media/image139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image" Target="../media/image138.png"/><Relationship Id="rId5" Type="http://schemas.openxmlformats.org/officeDocument/2006/relationships/image" Target="../media/image13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84.png"/><Relationship Id="rId14" Type="http://schemas.openxmlformats.org/officeDocument/2006/relationships/image" Target="../media/image141.png"/></Relationships>
</file>

<file path=ppt/slides/_rels/slide10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40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12" Type="http://schemas.openxmlformats.org/officeDocument/2006/relationships/image" Target="../media/image139.png"/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image" Target="../media/image138.png"/><Relationship Id="rId5" Type="http://schemas.openxmlformats.org/officeDocument/2006/relationships/image" Target="../media/image132.png"/><Relationship Id="rId15" Type="http://schemas.openxmlformats.org/officeDocument/2006/relationships/image" Target="../media/image118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Relationship Id="rId14" Type="http://schemas.openxmlformats.org/officeDocument/2006/relationships/image" Target="../media/image141.png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7" Type="http://schemas.openxmlformats.org/officeDocument/2006/relationships/image" Target="../media/image14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6.png"/><Relationship Id="rId5" Type="http://schemas.openxmlformats.org/officeDocument/2006/relationships/image" Target="../media/image145.png"/><Relationship Id="rId4" Type="http://schemas.openxmlformats.org/officeDocument/2006/relationships/image" Target="../media/image144.png"/></Relationships>
</file>

<file path=ppt/slides/_rels/slide10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6.png"/><Relationship Id="rId7" Type="http://schemas.openxmlformats.org/officeDocument/2006/relationships/image" Target="../media/image1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23.png"/><Relationship Id="rId4" Type="http://schemas.openxmlformats.org/officeDocument/2006/relationships/image" Target="../media/image148.png"/></Relationships>
</file>

<file path=ppt/slides/_rels/slide1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15.png"/><Relationship Id="rId7" Type="http://schemas.openxmlformats.org/officeDocument/2006/relationships/image" Target="../media/image15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2.png"/><Relationship Id="rId5" Type="http://schemas.openxmlformats.org/officeDocument/2006/relationships/image" Target="../media/image151.png"/><Relationship Id="rId10" Type="http://schemas.openxmlformats.org/officeDocument/2006/relationships/image" Target="../media/image94.png"/><Relationship Id="rId4" Type="http://schemas.openxmlformats.org/officeDocument/2006/relationships/image" Target="../media/image149.png"/><Relationship Id="rId9" Type="http://schemas.openxmlformats.org/officeDocument/2006/relationships/image" Target="../media/image93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3" Type="http://schemas.openxmlformats.org/officeDocument/2006/relationships/image" Target="../media/image900.png"/><Relationship Id="rId7" Type="http://schemas.openxmlformats.org/officeDocument/2006/relationships/image" Target="../media/image9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0.png"/><Relationship Id="rId5" Type="http://schemas.openxmlformats.org/officeDocument/2006/relationships/image" Target="../media/image920.png"/><Relationship Id="rId4" Type="http://schemas.openxmlformats.org/officeDocument/2006/relationships/image" Target="../media/image910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0.png"/><Relationship Id="rId2" Type="http://schemas.openxmlformats.org/officeDocument/2006/relationships/image" Target="../media/image5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60.png"/><Relationship Id="rId4" Type="http://schemas.openxmlformats.org/officeDocument/2006/relationships/image" Target="../media/image580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0.png"/><Relationship Id="rId3" Type="http://schemas.openxmlformats.org/officeDocument/2006/relationships/image" Target="../media/image980.png"/><Relationship Id="rId7" Type="http://schemas.openxmlformats.org/officeDocument/2006/relationships/image" Target="../media/image102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0.png"/><Relationship Id="rId5" Type="http://schemas.openxmlformats.org/officeDocument/2006/relationships/image" Target="../media/image1000.png"/><Relationship Id="rId4" Type="http://schemas.openxmlformats.org/officeDocument/2006/relationships/image" Target="../media/image990.png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0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0.png"/><Relationship Id="rId3" Type="http://schemas.openxmlformats.org/officeDocument/2006/relationships/image" Target="../media/image1050.png"/><Relationship Id="rId7" Type="http://schemas.openxmlformats.org/officeDocument/2006/relationships/image" Target="../media/image1090.png"/><Relationship Id="rId12" Type="http://schemas.openxmlformats.org/officeDocument/2006/relationships/image" Target="../media/image11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0.png"/><Relationship Id="rId11" Type="http://schemas.openxmlformats.org/officeDocument/2006/relationships/image" Target="../media/image16.png"/><Relationship Id="rId5" Type="http://schemas.openxmlformats.org/officeDocument/2006/relationships/image" Target="../media/image1070.png"/><Relationship Id="rId10" Type="http://schemas.openxmlformats.org/officeDocument/2006/relationships/image" Target="../media/image1120.png"/><Relationship Id="rId4" Type="http://schemas.openxmlformats.org/officeDocument/2006/relationships/image" Target="../media/image1060.png"/><Relationship Id="rId9" Type="http://schemas.openxmlformats.org/officeDocument/2006/relationships/image" Target="../media/image1110.png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0.png"/><Relationship Id="rId3" Type="http://schemas.openxmlformats.org/officeDocument/2006/relationships/image" Target="../media/image1140.png"/><Relationship Id="rId7" Type="http://schemas.openxmlformats.org/officeDocument/2006/relationships/image" Target="../media/image117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160.png"/><Relationship Id="rId4" Type="http://schemas.openxmlformats.org/officeDocument/2006/relationships/image" Target="../media/image1150.png"/><Relationship Id="rId9" Type="http://schemas.openxmlformats.org/officeDocument/2006/relationships/image" Target="../media/image1190.png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0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Automated Reasoning for Security Protocols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Rob Lorch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"/>
                <a:ea typeface="Source Sans Pro"/>
              </a:rPr>
              <a:t>4/23/26</a:t>
            </a:r>
            <a:endParaRPr lang="en-US" dirty="0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C5C56-34AF-1672-AA9A-65E7A4D3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E951D-1B73-58A4-4D65-EEC266C2E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3750E-F487-A549-7A81-AEE104966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258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Most of the Internet </a:t>
            </a:r>
            <a:r>
              <a:rPr lang="en-US" dirty="0">
                <a:ea typeface="Source Sans Pro"/>
              </a:rPr>
              <a:t>runs on layers of security protocols</a:t>
            </a: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  <a:p>
            <a:pPr marL="457200" indent="-457200"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B8BC3C-5CD4-B017-228A-84FACB86DDB4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A1D63E8-ACF7-03C1-666B-F6A3E8655631}"/>
              </a:ext>
            </a:extLst>
          </p:cNvPr>
          <p:cNvGrpSpPr/>
          <p:nvPr/>
        </p:nvGrpSpPr>
        <p:grpSpPr>
          <a:xfrm>
            <a:off x="1973678" y="2692117"/>
            <a:ext cx="1692900" cy="1952758"/>
            <a:chOff x="2020114" y="2692117"/>
            <a:chExt cx="1692900" cy="195275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711B14A-3B98-7A7D-DD01-83DF8AD2D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2911" y="2692117"/>
              <a:ext cx="1104900" cy="1104900"/>
            </a:xfrm>
            <a:prstGeom prst="rect">
              <a:avLst/>
            </a:prstGeom>
          </p:spPr>
        </p:pic>
        <p:sp>
          <p:nvSpPr>
            <p:cNvPr id="6" name="Content Placeholder 2">
              <a:extLst>
                <a:ext uri="{FF2B5EF4-FFF2-40B4-BE49-F238E27FC236}">
                  <a16:creationId xmlns:a16="http://schemas.microsoft.com/office/drawing/2014/main" id="{6218C238-ECB7-0556-76B6-39A90486B980}"/>
                </a:ext>
              </a:extLst>
            </p:cNvPr>
            <p:cNvSpPr txBox="1">
              <a:spLocks/>
            </p:cNvSpPr>
            <p:nvPr/>
          </p:nvSpPr>
          <p:spPr>
            <a:xfrm>
              <a:off x="2020114" y="3972288"/>
              <a:ext cx="16929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DNSSEC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5A47E08-EC15-749D-7F56-27BD256E18ED}"/>
              </a:ext>
            </a:extLst>
          </p:cNvPr>
          <p:cNvGrpSpPr/>
          <p:nvPr/>
        </p:nvGrpSpPr>
        <p:grpSpPr>
          <a:xfrm>
            <a:off x="5294744" y="2581786"/>
            <a:ext cx="1325563" cy="2039786"/>
            <a:chOff x="5433011" y="2581786"/>
            <a:chExt cx="1325563" cy="203978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9749D97-77D6-60F3-15A4-6B57FA90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33011" y="2581786"/>
              <a:ext cx="1325563" cy="1325563"/>
            </a:xfrm>
            <a:prstGeom prst="rect">
              <a:avLst/>
            </a:prstGeom>
          </p:spPr>
        </p:pic>
        <p:sp>
          <p:nvSpPr>
            <p:cNvPr id="9" name="Content Placeholder 2">
              <a:extLst>
                <a:ext uri="{FF2B5EF4-FFF2-40B4-BE49-F238E27FC236}">
                  <a16:creationId xmlns:a16="http://schemas.microsoft.com/office/drawing/2014/main" id="{37527191-08E4-3EF9-563F-1CF0ED1D0A84}"/>
                </a:ext>
              </a:extLst>
            </p:cNvPr>
            <p:cNvSpPr txBox="1">
              <a:spLocks/>
            </p:cNvSpPr>
            <p:nvPr/>
          </p:nvSpPr>
          <p:spPr>
            <a:xfrm>
              <a:off x="5672701" y="3948985"/>
              <a:ext cx="846182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TLS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C7A1465-1C6F-2D6D-50FA-AF77494BD5FF}"/>
              </a:ext>
            </a:extLst>
          </p:cNvPr>
          <p:cNvGrpSpPr/>
          <p:nvPr/>
        </p:nvGrpSpPr>
        <p:grpSpPr>
          <a:xfrm>
            <a:off x="8347868" y="2514317"/>
            <a:ext cx="1536700" cy="2107255"/>
            <a:chOff x="8356600" y="2514317"/>
            <a:chExt cx="1536700" cy="2107255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7243C4A9-7D87-8CF5-75C5-E02885E60FB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4700" y="2514317"/>
              <a:ext cx="1460500" cy="1460500"/>
            </a:xfrm>
            <a:prstGeom prst="rect">
              <a:avLst/>
            </a:prstGeom>
          </p:spPr>
        </p:pic>
        <p:sp>
          <p:nvSpPr>
            <p:cNvPr id="11" name="Content Placeholder 2">
              <a:extLst>
                <a:ext uri="{FF2B5EF4-FFF2-40B4-BE49-F238E27FC236}">
                  <a16:creationId xmlns:a16="http://schemas.microsoft.com/office/drawing/2014/main" id="{E4FB1A73-21B4-FF66-06B4-F0360E25F11E}"/>
                </a:ext>
              </a:extLst>
            </p:cNvPr>
            <p:cNvSpPr txBox="1">
              <a:spLocks/>
            </p:cNvSpPr>
            <p:nvPr/>
          </p:nvSpPr>
          <p:spPr>
            <a:xfrm>
              <a:off x="8356600" y="3948985"/>
              <a:ext cx="15367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X.509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2881211-8FDC-E7C8-B906-0A4B302E6C57}"/>
              </a:ext>
            </a:extLst>
          </p:cNvPr>
          <p:cNvGrpSpPr/>
          <p:nvPr/>
        </p:nvGrpSpPr>
        <p:grpSpPr>
          <a:xfrm>
            <a:off x="1865085" y="4588235"/>
            <a:ext cx="1927679" cy="2051996"/>
            <a:chOff x="1865085" y="4588235"/>
            <a:chExt cx="1927679" cy="2051996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657AE62-675E-8847-5E95-0FFEB05B0F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166144" y="4588235"/>
              <a:ext cx="1325563" cy="1325563"/>
            </a:xfrm>
            <a:prstGeom prst="rect">
              <a:avLst/>
            </a:prstGeom>
          </p:spPr>
        </p:pic>
        <p:sp>
          <p:nvSpPr>
            <p:cNvPr id="13" name="Content Placeholder 2">
              <a:extLst>
                <a:ext uri="{FF2B5EF4-FFF2-40B4-BE49-F238E27FC236}">
                  <a16:creationId xmlns:a16="http://schemas.microsoft.com/office/drawing/2014/main" id="{3C3759EF-153B-2582-E217-183168FFE981}"/>
                </a:ext>
              </a:extLst>
            </p:cNvPr>
            <p:cNvSpPr txBox="1">
              <a:spLocks/>
            </p:cNvSpPr>
            <p:nvPr/>
          </p:nvSpPr>
          <p:spPr>
            <a:xfrm>
              <a:off x="1865085" y="5967644"/>
              <a:ext cx="1927679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4G LTE/5G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9ADC705-E6C6-D102-1BD6-177AB5B668FE}"/>
              </a:ext>
            </a:extLst>
          </p:cNvPr>
          <p:cNvGrpSpPr/>
          <p:nvPr/>
        </p:nvGrpSpPr>
        <p:grpSpPr>
          <a:xfrm>
            <a:off x="5294744" y="4588235"/>
            <a:ext cx="1325563" cy="2051996"/>
            <a:chOff x="5271758" y="4588235"/>
            <a:chExt cx="1325563" cy="2051996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B53710E-2000-A714-BCDE-075020287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1758" y="4588235"/>
              <a:ext cx="1325563" cy="1325563"/>
            </a:xfrm>
            <a:prstGeom prst="rect">
              <a:avLst/>
            </a:prstGeom>
          </p:spPr>
        </p:pic>
        <p:sp>
          <p:nvSpPr>
            <p:cNvPr id="15" name="Content Placeholder 2">
              <a:extLst>
                <a:ext uri="{FF2B5EF4-FFF2-40B4-BE49-F238E27FC236}">
                  <a16:creationId xmlns:a16="http://schemas.microsoft.com/office/drawing/2014/main" id="{A5564162-1EE0-C143-2287-2AC2E3E70F7D}"/>
                </a:ext>
              </a:extLst>
            </p:cNvPr>
            <p:cNvSpPr txBox="1">
              <a:spLocks/>
            </p:cNvSpPr>
            <p:nvPr/>
          </p:nvSpPr>
          <p:spPr>
            <a:xfrm>
              <a:off x="5332213" y="5967644"/>
              <a:ext cx="1265107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 fontScale="925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Uptane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78C70D3-47E0-ECCE-161B-EA5820C60774}"/>
              </a:ext>
            </a:extLst>
          </p:cNvPr>
          <p:cNvGrpSpPr/>
          <p:nvPr/>
        </p:nvGrpSpPr>
        <p:grpSpPr>
          <a:xfrm>
            <a:off x="8453437" y="4588235"/>
            <a:ext cx="1325563" cy="2051996"/>
            <a:chOff x="8339137" y="4588235"/>
            <a:chExt cx="1325563" cy="205199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793A1BB-D35F-A767-60AA-4F4D8C83F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339137" y="4588235"/>
              <a:ext cx="1325563" cy="1325563"/>
            </a:xfrm>
            <a:prstGeom prst="rect">
              <a:avLst/>
            </a:prstGeom>
          </p:spPr>
        </p:pic>
        <p:sp>
          <p:nvSpPr>
            <p:cNvPr id="17" name="Content Placeholder 2">
              <a:extLst>
                <a:ext uri="{FF2B5EF4-FFF2-40B4-BE49-F238E27FC236}">
                  <a16:creationId xmlns:a16="http://schemas.microsoft.com/office/drawing/2014/main" id="{78436A5C-1B76-A31A-DEEC-2FE01B9CF33A}"/>
                </a:ext>
              </a:extLst>
            </p:cNvPr>
            <p:cNvSpPr txBox="1">
              <a:spLocks/>
            </p:cNvSpPr>
            <p:nvPr/>
          </p:nvSpPr>
          <p:spPr>
            <a:xfrm>
              <a:off x="8500268" y="5967644"/>
              <a:ext cx="1003300" cy="672587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None/>
              </a:pPr>
              <a:r>
                <a:rPr lang="en-US" dirty="0">
                  <a:latin typeface=""/>
                  <a:ea typeface="Source Sans Pro"/>
                </a:rPr>
                <a:t>More</a:t>
              </a: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  <a:p>
              <a:pPr marL="457200" indent="-457200" algn="ctr"/>
              <a:endParaRPr lang="en-US" dirty="0">
                <a:latin typeface=""/>
                <a:ea typeface="Source Sans Pr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2967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95CDF-283F-6DAB-88F2-6E0AFFAA9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EEDF7-A7B3-688E-86C2-C8CF92F771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AA9FF-9E9C-D585-7639-BD2ADE435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5906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i="1" dirty="0">
                <a:ea typeface="Source Sans Pro"/>
              </a:rPr>
              <a:t>Security protocols are 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hard to get right</a:t>
            </a: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1ACC05-EC25-CDC9-272B-12DD48F853D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4F264D-0BAD-E1FE-CF19-8575F2BBE2D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60" t="452" r="58098" b="301"/>
          <a:stretch/>
        </p:blipFill>
        <p:spPr>
          <a:xfrm>
            <a:off x="1008268" y="3289586"/>
            <a:ext cx="3310133" cy="320328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B01B9A-7C9F-77EC-2A61-B78628FA24C9}"/>
              </a:ext>
            </a:extLst>
          </p:cNvPr>
          <p:cNvSpPr/>
          <p:nvPr/>
        </p:nvSpPr>
        <p:spPr>
          <a:xfrm>
            <a:off x="4136866" y="4425536"/>
            <a:ext cx="477079" cy="20673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7248ED-3C71-CEBD-3CC6-15DBDB4594C9}"/>
              </a:ext>
            </a:extLst>
          </p:cNvPr>
          <p:cNvSpPr/>
          <p:nvPr/>
        </p:nvSpPr>
        <p:spPr>
          <a:xfrm>
            <a:off x="5821680" y="3428999"/>
            <a:ext cx="5262880" cy="88275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Undiscovered vulnerability </a:t>
            </a:r>
            <a:r>
              <a:rPr lang="en-US" sz="2000" b="1" dirty="0">
                <a:solidFill>
                  <a:schemeClr val="accent6">
                    <a:lumMod val="75000"/>
                  </a:schemeClr>
                </a:solidFill>
                <a:latin typeface=""/>
              </a:rPr>
              <a:t>in production</a:t>
            </a:r>
            <a:r>
              <a:rPr lang="en-US" sz="2000" dirty="0">
                <a:solidFill>
                  <a:schemeClr val="tx1"/>
                </a:solidFill>
                <a:latin typeface=""/>
              </a:rPr>
              <a:t> for 17 years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548C16A-6943-8301-61D4-074BAD151A8E}"/>
              </a:ext>
            </a:extLst>
          </p:cNvPr>
          <p:cNvSpPr/>
          <p:nvPr/>
        </p:nvSpPr>
        <p:spPr>
          <a:xfrm>
            <a:off x="5821680" y="4770822"/>
            <a:ext cx="5262880" cy="57912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</a:rPr>
              <a:t>Discovered with automated reasoning tools!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556A18-6692-BC34-2C2F-D86BB8D50428}"/>
              </a:ext>
            </a:extLst>
          </p:cNvPr>
          <p:cNvSpPr txBox="1"/>
          <p:nvPr/>
        </p:nvSpPr>
        <p:spPr>
          <a:xfrm>
            <a:off x="951263" y="2368007"/>
            <a:ext cx="38475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"/>
                <a:ea typeface="Source Sans Pro"/>
              </a:rPr>
              <a:t>Needham-Schroeder public key </a:t>
            </a:r>
          </a:p>
          <a:p>
            <a:r>
              <a:rPr lang="en-US" sz="2000" dirty="0">
                <a:latin typeface=""/>
                <a:ea typeface="Source Sans Pro"/>
              </a:rPr>
              <a:t>mutual authentication protocol</a:t>
            </a:r>
          </a:p>
          <a:p>
            <a:endParaRPr lang="en-US" sz="2000" dirty="0">
              <a:latin typeface="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904D08-EA03-ABF9-AB0A-69C4F2544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480" y="3639354"/>
            <a:ext cx="497840" cy="4978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45252-7707-00EF-A5A9-2E10EE0F7B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840" y="4818118"/>
            <a:ext cx="579120" cy="57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3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A5078-A6A6-7052-10F7-D025B5E87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B74181EF-049F-5BE0-0683-CADD64C44E03}"/>
              </a:ext>
            </a:extLst>
          </p:cNvPr>
          <p:cNvSpPr txBox="1"/>
          <p:nvPr/>
        </p:nvSpPr>
        <p:spPr>
          <a:xfrm>
            <a:off x="129119" y="2500537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Victories of SOTA </a:t>
            </a:r>
          </a:p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(automated protocol analysis)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4FA475-E857-22DA-A9D0-3CC1DE784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Introduction &amp; Motivation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69A3B-1AD2-7DE9-BA3C-9D6741CF1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1808873"/>
            <a:ext cx="10515600" cy="117650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Modern protocols are 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orders of magnitude more complicated!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CECE3B-C7E3-6DD0-1BA3-E94895F2879A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CD991F-396C-9EC0-19B7-2DCD9AD14B4A}"/>
              </a:ext>
            </a:extLst>
          </p:cNvPr>
          <p:cNvSpPr txBox="1">
            <a:spLocks/>
          </p:cNvSpPr>
          <p:nvPr/>
        </p:nvSpPr>
        <p:spPr>
          <a:xfrm>
            <a:off x="1122017" y="3231807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9157960-9B91-BAAA-4643-E25994BD02B7}"/>
              </a:ext>
            </a:extLst>
          </p:cNvPr>
          <p:cNvSpPr txBox="1">
            <a:spLocks/>
          </p:cNvSpPr>
          <p:nvPr/>
        </p:nvSpPr>
        <p:spPr>
          <a:xfrm>
            <a:off x="6525039" y="3232524"/>
            <a:ext cx="5092700" cy="33011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AutoNum type="arabicPeriod"/>
            </a:pP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03E128-FF21-0FFF-65D7-47E3EE261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944" y="2336750"/>
            <a:ext cx="672727" cy="67272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F62373-57FD-30E0-26BA-62CB76D82752}"/>
              </a:ext>
            </a:extLst>
          </p:cNvPr>
          <p:cNvSpPr txBox="1"/>
          <p:nvPr/>
        </p:nvSpPr>
        <p:spPr>
          <a:xfrm>
            <a:off x="6022561" y="2498303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Britannic Bold" panose="020B0903060703020204" pitchFamily="34" charset="77"/>
                <a:ea typeface="Source Sans Pro"/>
              </a:rPr>
              <a:t>Drawbacks of SOTA                      (automated protocol analysis)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7C020C-4192-B40B-5BF3-2515BD0F6AF9}"/>
              </a:ext>
            </a:extLst>
          </p:cNvPr>
          <p:cNvSpPr/>
          <p:nvPr/>
        </p:nvSpPr>
        <p:spPr>
          <a:xfrm>
            <a:off x="951263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Needham-Schroeder analysis with full automation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1752F8C-EE2B-7020-27B1-E32C41B0763A}"/>
              </a:ext>
            </a:extLst>
          </p:cNvPr>
          <p:cNvSpPr/>
          <p:nvPr/>
        </p:nvSpPr>
        <p:spPr>
          <a:xfrm>
            <a:off x="898744" y="4650323"/>
            <a:ext cx="5092700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Properties of </a:t>
            </a:r>
            <a:r>
              <a:rPr lang="en-US" sz="2000" dirty="0" err="1">
                <a:solidFill>
                  <a:schemeClr val="tx1"/>
                </a:solidFill>
                <a:latin typeface=""/>
                <a:ea typeface="Source Sans Pro"/>
              </a:rPr>
              <a:t>WireGuard</a:t>
            </a: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, SSH, Signal, and TLS formally verified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C93226-6C79-09D7-9A7F-2636E5D74F80}"/>
              </a:ext>
            </a:extLst>
          </p:cNvPr>
          <p:cNvSpPr/>
          <p:nvPr/>
        </p:nvSpPr>
        <p:spPr>
          <a:xfrm>
            <a:off x="6577558" y="3396607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Nontrivial protocols require knowledge of internal workings of tools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66E5CE7-CBA9-2AA6-D0F2-EAB005091AF4}"/>
              </a:ext>
            </a:extLst>
          </p:cNvPr>
          <p:cNvSpPr/>
          <p:nvPr/>
        </p:nvSpPr>
        <p:spPr>
          <a:xfrm>
            <a:off x="6630077" y="4650322"/>
            <a:ext cx="4987662" cy="9642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Certain classes of protocols are still not amenable to (semi-)automated analysis</a:t>
            </a:r>
            <a:endParaRPr lang="en-US" sz="2000" dirty="0">
              <a:solidFill>
                <a:schemeClr val="tx1"/>
              </a:solidFill>
              <a:latin typeface="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27166B5-00B6-926D-5693-AF2AE90AF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9248" y="2336705"/>
            <a:ext cx="584200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272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0" grpId="0" animBg="1"/>
      <p:bldP spid="12" grpId="0" animBg="1"/>
      <p:bldP spid="1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</a:t>
            </a:r>
            <a:endParaRPr lang="en-US" sz="3200" dirty="0"/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798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Talk Objectives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941B0F-7E23-56C7-6262-EF4EADE1740C}"/>
              </a:ext>
            </a:extLst>
          </p:cNvPr>
          <p:cNvSpPr/>
          <p:nvPr/>
        </p:nvSpPr>
        <p:spPr>
          <a:xfrm>
            <a:off x="951264" y="1612583"/>
            <a:ext cx="10324766" cy="88677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Mechanize &amp; automate reasoning about                                   cryptographic protocol security 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AC7BBF2-27B7-0688-0A4A-7AEDD4CFD2F5}"/>
              </a:ext>
            </a:extLst>
          </p:cNvPr>
          <p:cNvSpPr/>
          <p:nvPr/>
        </p:nvSpPr>
        <p:spPr>
          <a:xfrm>
            <a:off x="951264" y="3352182"/>
            <a:ext cx="10324766" cy="81130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Reason expressively!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55977C5-30F3-F7D5-C66E-CD6581538F61}"/>
              </a:ext>
            </a:extLst>
          </p:cNvPr>
          <p:cNvSpPr/>
          <p:nvPr/>
        </p:nvSpPr>
        <p:spPr>
          <a:xfrm>
            <a:off x="1032537" y="2565774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Proofs of security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86B6AA-33D9-2734-BA66-20D38C53E891}"/>
              </a:ext>
            </a:extLst>
          </p:cNvPr>
          <p:cNvSpPr/>
          <p:nvPr/>
        </p:nvSpPr>
        <p:spPr>
          <a:xfrm>
            <a:off x="6235551" y="2556181"/>
            <a:ext cx="5019040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Attack traces for insecurity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496784-D2CE-D262-CBF6-20CF722B9EE0}"/>
              </a:ext>
            </a:extLst>
          </p:cNvPr>
          <p:cNvSpPr/>
          <p:nvPr/>
        </p:nvSpPr>
        <p:spPr>
          <a:xfrm>
            <a:off x="1032537" y="4244849"/>
            <a:ext cx="5019040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Unbounded setting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6859DFD-C6B3-40BE-0535-267DC83ACE1F}"/>
              </a:ext>
            </a:extLst>
          </p:cNvPr>
          <p:cNvSpPr/>
          <p:nvPr/>
        </p:nvSpPr>
        <p:spPr>
          <a:xfrm>
            <a:off x="6235551" y="4244849"/>
            <a:ext cx="5040479" cy="442794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Protocol features (primitives, control flow, …)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F0A77C-3EA4-898F-BEC5-443646CAA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6" y="1747044"/>
            <a:ext cx="624840" cy="62484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00FBC5-C212-A30B-C9C1-1A5E270C4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76" y="3462717"/>
            <a:ext cx="593761" cy="593761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084050F-E8B5-512D-BD23-64DD5C115CA0}"/>
              </a:ext>
            </a:extLst>
          </p:cNvPr>
          <p:cNvSpPr/>
          <p:nvPr/>
        </p:nvSpPr>
        <p:spPr>
          <a:xfrm>
            <a:off x="951264" y="5035191"/>
            <a:ext cx="10324766" cy="73755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bg1"/>
                </a:solidFill>
                <a:latin typeface=""/>
                <a:ea typeface="Source Sans Pro"/>
              </a:rPr>
              <a:t>Identify open research questions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79E784C-13B0-9C1F-C187-521DB7CD609B}"/>
              </a:ext>
            </a:extLst>
          </p:cNvPr>
          <p:cNvSpPr/>
          <p:nvPr/>
        </p:nvSpPr>
        <p:spPr>
          <a:xfrm>
            <a:off x="942985" y="5889266"/>
            <a:ext cx="5108592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Compositional reasoning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BCCA455-A4B1-0E8A-34E6-78FB425F23CB}"/>
              </a:ext>
            </a:extLst>
          </p:cNvPr>
          <p:cNvSpPr/>
          <p:nvPr/>
        </p:nvSpPr>
        <p:spPr>
          <a:xfrm>
            <a:off x="6235552" y="5889266"/>
            <a:ext cx="5013463" cy="40254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More expressivity, e.g. theory reasoning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339769C-5FD9-AB01-BC9F-B0DD4A906C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80" y="5058838"/>
            <a:ext cx="737552" cy="73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441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3199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Alice-Bob notation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676730-5BE1-0044-739F-3311636C1628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735EF69-6110-6416-D067-99A8BC37A0D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A6FC23-29B6-77FA-BC39-6D42412FA23E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02815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969D4-3B0B-411E-C3CD-62798E61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91A207A1-D389-AFD2-E616-DB6F21734167}"/>
              </a:ext>
            </a:extLst>
          </p:cNvPr>
          <p:cNvGrpSpPr/>
          <p:nvPr/>
        </p:nvGrpSpPr>
        <p:grpSpPr>
          <a:xfrm>
            <a:off x="4225824" y="2565773"/>
            <a:ext cx="3904624" cy="3531510"/>
            <a:chOff x="4225824" y="2565773"/>
            <a:chExt cx="3904624" cy="353151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09D81E8-B8EA-B26D-E114-0151D08115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4" t="2377" r="57470" b="125"/>
            <a:stretch/>
          </p:blipFill>
          <p:spPr>
            <a:xfrm>
              <a:off x="4225824" y="2565773"/>
              <a:ext cx="3739937" cy="3531510"/>
            </a:xfrm>
            <a:prstGeom prst="rect">
              <a:avLst/>
            </a:prstGeom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787C72-96CE-D33E-64F3-F11F6F50F1E8}"/>
                </a:ext>
              </a:extLst>
            </p:cNvPr>
            <p:cNvSpPr/>
            <p:nvPr/>
          </p:nvSpPr>
          <p:spPr>
            <a:xfrm>
              <a:off x="7667740" y="3855904"/>
              <a:ext cx="462708" cy="20160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192FB49-4862-A0D7-FAD6-F2105BC2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5CADC4-C336-F3FF-CB42-A10E1EA908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roles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368CFF-7915-DFE4-A835-3B6E528F45FC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174532-6BFF-5AF0-1BFF-056A8486674F}"/>
              </a:ext>
            </a:extLst>
          </p:cNvPr>
          <p:cNvSpPr/>
          <p:nvPr/>
        </p:nvSpPr>
        <p:spPr>
          <a:xfrm>
            <a:off x="4225824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ACFA8A-A214-BB2B-3487-AF54F3E38282}"/>
              </a:ext>
            </a:extLst>
          </p:cNvPr>
          <p:cNvSpPr/>
          <p:nvPr/>
        </p:nvSpPr>
        <p:spPr>
          <a:xfrm>
            <a:off x="6911217" y="2430836"/>
            <a:ext cx="1056213" cy="118766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0787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trace</a:t>
            </a:r>
            <a:r>
              <a:rPr lang="en-US" dirty="0">
                <a:ea typeface="Source Sans Pro"/>
              </a:rPr>
              <a:t>, session,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C784C2F-D2B3-CD81-1954-5FCBCCC02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20256E3-FB7E-2C9E-3EF9-41BE76066959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93CA980-B60C-BF94-9DD3-7F4A315CF5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FA5F2D8-252A-5CA2-50CB-C5DBA620222B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AB924EE5-5ED0-0004-8638-EA6DBBBA879D}"/>
              </a:ext>
            </a:extLst>
          </p:cNvPr>
          <p:cNvSpPr/>
          <p:nvPr/>
        </p:nvSpPr>
        <p:spPr>
          <a:xfrm>
            <a:off x="3999549" y="2477643"/>
            <a:ext cx="4336869" cy="33116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8837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1BBC5D7-804A-3AE6-6FD6-32FAD232560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1081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A188B3-2C76-1245-5117-08DDC482597B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834DC1-C074-A677-509A-E515F324237E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B50925-B04A-7DE8-B6C5-384D761DDAB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E95B5E-2141-3EB1-D16B-6463926F0EFB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7A844D5-357A-33D1-2EC2-8F13D4F30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70030C-47A2-2BDC-1792-9C8F28E19685}"/>
              </a:ext>
            </a:extLst>
          </p:cNvPr>
          <p:cNvSpPr/>
          <p:nvPr/>
        </p:nvSpPr>
        <p:spPr>
          <a:xfrm>
            <a:off x="7989957" y="4221693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094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716692C3-EC4D-E369-957F-CC6449C72F8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9266974" y="2942118"/>
            <a:ext cx="3946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"/>
              </a:rPr>
              <a:t>Parallel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756492" y="3142173"/>
            <a:ext cx="510482" cy="3592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DAEAB10-85A1-43AC-ECCD-F6586A2542B7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8697526" y="3142173"/>
            <a:ext cx="569448" cy="7719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itle 1">
            <a:extLst>
              <a:ext uri="{FF2B5EF4-FFF2-40B4-BE49-F238E27FC236}">
                <a16:creationId xmlns:a16="http://schemas.microsoft.com/office/drawing/2014/main" id="{6C32267B-703B-AA4B-97D2-E693CC47A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E265B7-DAD3-696F-334D-042ADB816EAC}"/>
              </a:ext>
            </a:extLst>
          </p:cNvPr>
          <p:cNvSpPr/>
          <p:nvPr/>
        </p:nvSpPr>
        <p:spPr>
          <a:xfrm>
            <a:off x="4594195" y="345777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0E641D-5F21-C7B1-DC91-41B22471A46D}"/>
              </a:ext>
            </a:extLst>
          </p:cNvPr>
          <p:cNvSpPr/>
          <p:nvPr/>
        </p:nvSpPr>
        <p:spPr>
          <a:xfrm>
            <a:off x="6208909" y="3870528"/>
            <a:ext cx="1501805" cy="28852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08F29E0-D0BA-CB4C-C141-DA535E396B3C}"/>
              </a:ext>
            </a:extLst>
          </p:cNvPr>
          <p:cNvSpPr/>
          <p:nvPr/>
        </p:nvSpPr>
        <p:spPr>
          <a:xfrm>
            <a:off x="8254325" y="3503133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95CC014-64EF-FD9F-A345-DF11D9A4603D}"/>
              </a:ext>
            </a:extLst>
          </p:cNvPr>
          <p:cNvSpPr/>
          <p:nvPr/>
        </p:nvSpPr>
        <p:spPr>
          <a:xfrm>
            <a:off x="8195359" y="3915882"/>
            <a:ext cx="1170698" cy="25223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746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C45DB-C9C3-C84F-1364-768F7C48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710BF960-7E4C-92E3-55BC-8379DC09C9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3165" b="133"/>
          <a:stretch/>
        </p:blipFill>
        <p:spPr>
          <a:xfrm>
            <a:off x="3927358" y="2496951"/>
            <a:ext cx="7312966" cy="340981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FCCB9-084E-F500-EA8B-C6F0A361EE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785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session</a:t>
            </a:r>
            <a:r>
              <a:rPr lang="en-US" dirty="0">
                <a:ea typeface="Source Sans Pro"/>
              </a:rPr>
              <a:t>, principal, adversary</a:t>
            </a:r>
          </a:p>
          <a:p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000000"/>
              </a:solidFill>
              <a:ea typeface="Source Sans Pro"/>
            </a:endParaRP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B97FDA-D9C1-91D7-3BAC-B1EEC7F89A3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E78537-41E0-6DA3-5530-69A93387D1B1}"/>
              </a:ext>
            </a:extLst>
          </p:cNvPr>
          <p:cNvSpPr txBox="1"/>
          <p:nvPr/>
        </p:nvSpPr>
        <p:spPr>
          <a:xfrm>
            <a:off x="7877633" y="6073184"/>
            <a:ext cx="29258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Sequential sessions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8EB9C8-644F-ADC0-265D-A025FEAE1133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6390290" y="6304017"/>
            <a:ext cx="148734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itle 1">
            <a:extLst>
              <a:ext uri="{FF2B5EF4-FFF2-40B4-BE49-F238E27FC236}">
                <a16:creationId xmlns:a16="http://schemas.microsoft.com/office/drawing/2014/main" id="{7B95CC3C-28FD-7A29-9BCD-444E3E574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845E46-D715-CBD5-090D-1ED68E98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9267" y="5800903"/>
            <a:ext cx="1005839" cy="1005839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B9D1EE41-B032-2EC2-4C9B-31B3A25B4E1C}"/>
              </a:ext>
            </a:extLst>
          </p:cNvPr>
          <p:cNvSpPr/>
          <p:nvPr/>
        </p:nvSpPr>
        <p:spPr>
          <a:xfrm>
            <a:off x="7928461" y="4156793"/>
            <a:ext cx="4261758" cy="19163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553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principal</a:t>
            </a:r>
            <a:r>
              <a:rPr lang="en-US" dirty="0">
                <a:ea typeface="Source Sans Pro"/>
              </a:rPr>
              <a:t>, 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1763DE3F-9992-8D6E-01C0-757C28803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F3FA281-570D-3EBD-0FE1-4CBC6344F210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DA2BBE4-9124-5F3B-BADB-B655EC8ED7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9292010-C64C-8194-AF51-FE7E9FACE908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42EB38B-D705-3AD0-B2E8-03518DDA6930}"/>
              </a:ext>
            </a:extLst>
          </p:cNvPr>
          <p:cNvSpPr/>
          <p:nvPr/>
        </p:nvSpPr>
        <p:spPr>
          <a:xfrm>
            <a:off x="4143313" y="2488519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46CD545-38E7-08D8-9288-C22D0A445CE4}"/>
              </a:ext>
            </a:extLst>
          </p:cNvPr>
          <p:cNvSpPr/>
          <p:nvPr/>
        </p:nvSpPr>
        <p:spPr>
          <a:xfrm>
            <a:off x="7382809" y="2473143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2039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Example protocol: trace, session, principal,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adversary</a:t>
            </a: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9FBCAAB-9FA9-465C-5B43-6DD1EF4B3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DD5C88-B01B-0A4C-7DC6-4D5E270AEE8C}"/>
              </a:ext>
            </a:extLst>
          </p:cNvPr>
          <p:cNvGrpSpPr/>
          <p:nvPr/>
        </p:nvGrpSpPr>
        <p:grpSpPr>
          <a:xfrm>
            <a:off x="3927358" y="2496951"/>
            <a:ext cx="4568223" cy="3409813"/>
            <a:chOff x="3927358" y="2496951"/>
            <a:chExt cx="4568223" cy="3409813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BFAAF5-BB15-3A56-48F8-70D6A330110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-1" r="42573" b="133"/>
            <a:stretch/>
          </p:blipFill>
          <p:spPr>
            <a:xfrm>
              <a:off x="3927358" y="2496951"/>
              <a:ext cx="4336869" cy="3409813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DC5788A-DBBC-637E-14F8-B566B3C4E9D5}"/>
                </a:ext>
              </a:extLst>
            </p:cNvPr>
            <p:cNvSpPr/>
            <p:nvPr/>
          </p:nvSpPr>
          <p:spPr>
            <a:xfrm>
              <a:off x="8032873" y="3428831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6EDF1E44-930F-C054-671A-8D2C45F25187}"/>
              </a:ext>
            </a:extLst>
          </p:cNvPr>
          <p:cNvSpPr/>
          <p:nvPr/>
        </p:nvSpPr>
        <p:spPr>
          <a:xfrm>
            <a:off x="5770335" y="2496951"/>
            <a:ext cx="841664" cy="787414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896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23C352E-69E5-5227-2AC8-1D0B9A0027FB}"/>
              </a:ext>
            </a:extLst>
          </p:cNvPr>
          <p:cNvSpPr/>
          <p:nvPr/>
        </p:nvSpPr>
        <p:spPr>
          <a:xfrm>
            <a:off x="5425517" y="1738095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EE30-8EEA-FA24-AB59-38AD03B14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14DCA-9ED3-E09B-BB48-13201608C7F5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8" name="Picture 7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01777698-7B5C-C18A-E8C8-5DCEEE8F396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0C3C22A-0D51-E6C8-9A86-B1F0F7095E97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FCB50893-1FA2-A152-0DFC-B9F634816B13}"/>
              </a:ext>
            </a:extLst>
          </p:cNvPr>
          <p:cNvSpPr/>
          <p:nvPr/>
        </p:nvSpPr>
        <p:spPr>
          <a:xfrm>
            <a:off x="4579972" y="3524361"/>
            <a:ext cx="3075710" cy="2465330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830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FB3F9-54FA-4CF4-1F36-4477E8CF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F93952-35F0-AF2E-6FA0-F11415240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ea typeface="Source Sans Pro"/>
              </a:rPr>
              <a:t>Cryptographic </a:t>
            </a:r>
            <a:r>
              <a:rPr lang="en-US" dirty="0">
                <a:ea typeface="Source Sans Pro"/>
              </a:rPr>
              <a:t>protocol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 </a:t>
            </a:r>
            <a:r>
              <a:rPr lang="en-US" dirty="0">
                <a:solidFill>
                  <a:srgbClr val="000000"/>
                </a:solidFill>
                <a:ea typeface="Source Sans Pro"/>
              </a:rPr>
              <a:t>vs 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marL="0" indent="0" algn="ctr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000000"/>
              </a:solidFill>
              <a:ea typeface="Source Sans Pro"/>
            </a:endParaRPr>
          </a:p>
          <a:p>
            <a:pPr algn="ctr"/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650FD-C6C8-724E-FA70-57F6E762D1D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29F6157-F0B8-23B0-B18B-E8AB7BAFEEEF}"/>
              </a:ext>
            </a:extLst>
          </p:cNvPr>
          <p:cNvSpPr/>
          <p:nvPr/>
        </p:nvSpPr>
        <p:spPr>
          <a:xfrm>
            <a:off x="7319052" y="1750359"/>
            <a:ext cx="1712422" cy="64357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DECCA11-FEF6-66DB-0BFD-1A1D818BF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0BE685-F365-1A46-988C-51F17675427D}"/>
              </a:ext>
            </a:extLst>
          </p:cNvPr>
          <p:cNvGrpSpPr/>
          <p:nvPr/>
        </p:nvGrpSpPr>
        <p:grpSpPr>
          <a:xfrm>
            <a:off x="4256809" y="2516605"/>
            <a:ext cx="3953390" cy="3712241"/>
            <a:chOff x="4917821" y="2314649"/>
            <a:chExt cx="3953390" cy="3712241"/>
          </a:xfrm>
        </p:grpSpPr>
        <p:pic>
          <p:nvPicPr>
            <p:cNvPr id="15" name="Picture 14" descr="A screenshot of a cell phone&#10;&#10;AI-generated content may be incorrect.">
              <a:extLst>
                <a:ext uri="{FF2B5EF4-FFF2-40B4-BE49-F238E27FC236}">
                  <a16:creationId xmlns:a16="http://schemas.microsoft.com/office/drawing/2014/main" id="{3BCBA9AB-13AD-2E1A-E0AD-0B4F2D37F0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333" t="2377" r="58153" b="125"/>
            <a:stretch/>
          </p:blipFill>
          <p:spPr>
            <a:xfrm>
              <a:off x="4917821" y="2314649"/>
              <a:ext cx="3677968" cy="3531510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8E062E4-F18D-B937-59A1-4BB056C2C955}"/>
                </a:ext>
              </a:extLst>
            </p:cNvPr>
            <p:cNvSpPr/>
            <p:nvPr/>
          </p:nvSpPr>
          <p:spPr>
            <a:xfrm>
              <a:off x="8408503" y="3647105"/>
              <a:ext cx="462708" cy="2379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B42255E8-217D-1456-14A6-3D8B7908A019}"/>
              </a:ext>
            </a:extLst>
          </p:cNvPr>
          <p:cNvSpPr/>
          <p:nvPr/>
        </p:nvSpPr>
        <p:spPr>
          <a:xfrm>
            <a:off x="4917340" y="3949851"/>
            <a:ext cx="723207" cy="332509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490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3DA93-DD83-7928-B4DD-5FA1B9A81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BA38A-6F1B-F268-C2CE-A682BBAF90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9577"/>
            <a:ext cx="10515600" cy="6767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primitive</a:t>
            </a:r>
            <a:r>
              <a:rPr lang="en-US" dirty="0">
                <a:ea typeface="Source Sans Pro"/>
              </a:rPr>
              <a:t>?</a:t>
            </a:r>
          </a:p>
          <a:p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3E1E5C-BA57-5432-EDDA-1C53BCEDED97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/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400" i="1" dirty="0">
                    <a:solidFill>
                      <a:srgbClr val="000000"/>
                    </a:solidFill>
                    <a:latin typeface=""/>
                    <a:ea typeface="Source Sans Pro"/>
                  </a:rPr>
                  <a:t>Well-formedness requirement:</a:t>
                </a:r>
                <a:r>
                  <a:rPr lang="en-US" sz="2400" dirty="0">
                    <a:solidFill>
                      <a:srgbClr val="000000"/>
                    </a:solidFill>
                    <a:latin typeface=""/>
                    <a:ea typeface="Source Sans Pro"/>
                  </a:rPr>
                  <a:t> </a:t>
                </a:r>
                <a:endParaRPr lang="en-US" sz="2400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𝑀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𝑘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z="24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4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CB8A59A-A848-AAC1-B64E-10218245C8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836160"/>
                <a:ext cx="10581640" cy="1475740"/>
              </a:xfrm>
              <a:prstGeom prst="rect">
                <a:avLst/>
              </a:prstGeom>
              <a:blipFill>
                <a:blip r:embed="rId2"/>
                <a:stretch>
                  <a:fillRect l="-8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BDB836FD-5B50-E470-3675-B13E1EEA7880}"/>
              </a:ext>
            </a:extLst>
          </p:cNvPr>
          <p:cNvGrpSpPr/>
          <p:nvPr/>
        </p:nvGrpSpPr>
        <p:grpSpPr>
          <a:xfrm>
            <a:off x="828040" y="2306320"/>
            <a:ext cx="10591800" cy="2418080"/>
            <a:chOff x="828040" y="2306320"/>
            <a:chExt cx="10591800" cy="241808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498D42-F0FF-59C1-8212-5270F8941211}"/>
                </a:ext>
              </a:extLst>
            </p:cNvPr>
            <p:cNvSpPr txBox="1"/>
            <p:nvPr/>
          </p:nvSpPr>
          <p:spPr>
            <a:xfrm>
              <a:off x="4810553" y="3861604"/>
              <a:ext cx="25442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"/>
                  <a:ea typeface="Source Sans Pro"/>
                </a:rPr>
                <a:t>Sets of bit strings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/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Gen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 </m:t>
                        </m:r>
                        <m:r>
                          <m:rPr>
                            <m:lit/>
                          </m:r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ℕ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5" name="Rounded Rectangle 4">
                  <a:extLst>
                    <a:ext uri="{FF2B5EF4-FFF2-40B4-BE49-F238E27FC236}">
                      <a16:creationId xmlns:a16="http://schemas.microsoft.com/office/drawing/2014/main" id="{33D951C1-037E-EBB2-6FC7-C84C7CBB3B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3746" y="2996870"/>
                  <a:ext cx="2570480" cy="553720"/>
                </a:xfrm>
                <a:prstGeom prst="roundRect">
                  <a:avLst/>
                </a:prstGeom>
                <a:blipFill>
                  <a:blip r:embed="rId3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/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96098C7A-8E24-85E9-E07B-56569186B4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0553" y="3001950"/>
                  <a:ext cx="2570480" cy="553720"/>
                </a:xfrm>
                <a:prstGeom prst="roundRect">
                  <a:avLst/>
                </a:prstGeom>
                <a:blipFill>
                  <a:blip r:embed="rId4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/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24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Dec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: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𝐶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 × 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𝐾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𝑀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63F71A6E-9A3D-620D-36F0-D212A19C5E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774" y="2996870"/>
                  <a:ext cx="2570480" cy="553720"/>
                </a:xfrm>
                <a:prstGeom prst="round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7C5FBFF-E7FE-D862-D744-5AB38054EEAF}"/>
                </a:ext>
              </a:extLst>
            </p:cNvPr>
            <p:cNvCxnSpPr/>
            <p:nvPr/>
          </p:nvCxnSpPr>
          <p:spPr>
            <a:xfrm flipH="1" flipV="1">
              <a:off x="5842000" y="3429000"/>
              <a:ext cx="253793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42792A3-C288-CDFF-23C9-5579CAFC2F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29000"/>
              <a:ext cx="294847" cy="42164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25C90-E7D9-4069-9F8F-36F1EAF39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95793" y="3439964"/>
              <a:ext cx="1031447" cy="41067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6B94A5B-C8A7-5441-7DA6-CF430BF1E15D}"/>
                </a:ext>
              </a:extLst>
            </p:cNvPr>
            <p:cNvSpPr/>
            <p:nvPr/>
          </p:nvSpPr>
          <p:spPr>
            <a:xfrm>
              <a:off x="828040" y="2306320"/>
              <a:ext cx="10591800" cy="241808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C674AB4-B694-CEC8-B3DC-11ECAA71F03D}"/>
                </a:ext>
              </a:extLst>
            </p:cNvPr>
            <p:cNvSpPr txBox="1"/>
            <p:nvPr/>
          </p:nvSpPr>
          <p:spPr>
            <a:xfrm>
              <a:off x="828247" y="2418081"/>
              <a:ext cx="7083991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000000"/>
                  </a:solidFill>
                  <a:latin typeface=""/>
                  <a:ea typeface="Source Sans Pro"/>
                </a:rPr>
                <a:t>Consider symmetric key encryption and decryption</a:t>
              </a:r>
            </a:p>
            <a:p>
              <a:endParaRPr lang="en-US" sz="2400" dirty="0">
                <a:latin typeface=""/>
              </a:endParaRPr>
            </a:p>
          </p:txBody>
        </p: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A51A69F4-D6AF-A0F1-7CD6-E4D1F575D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95412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Mathematical Cryptography: Security of Primitives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</a:t>
                </a:r>
                <a:r>
                  <a:rPr lang="en-US" sz="2400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 play a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cryptographic game </a:t>
                </a:r>
                <a:r>
                  <a:rPr lang="en-US" sz="2400" dirty="0">
                    <a:latin typeface="Source Sans Pro"/>
                    <a:ea typeface="Source Sans Pro"/>
                  </a:rPr>
                  <a:t>between a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challenger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an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adversary</a:t>
                </a:r>
                <a:endParaRPr lang="en-US" sz="2400" dirty="0">
                  <a:solidFill>
                    <a:schemeClr val="accent6">
                      <a:lumMod val="76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IND-CPA secure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iff</a:t>
                </a:r>
                <a:r>
                  <a:rPr lang="en-US" sz="2400" dirty="0">
                    <a:latin typeface="Source Sans Pro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𝐴𝑑𝑣𝑒𝑟𝑠𝑎𝑟𝑦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𝑤𝑖𝑛𝑠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𝑔𝑎𝑚𝑒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𝑛𝑒𝑔𝑙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30B31-7B36-0E59-A9F1-9E72792BE1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62879"/>
              </a:xfrm>
              <a:blipFill>
                <a:blip r:embed="rId2"/>
                <a:stretch>
                  <a:fillRect l="-965" t="-20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3F433041-9C36-340E-B73B-6C2AEC2DBD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3" y="2400978"/>
            <a:ext cx="7772400" cy="318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722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8EF8-F2F8-0E05-E44F-BE0AD161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CA72D-3DB6-EEEC-F530-38F354DB2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Security of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030B31-7B36-0E59-A9F1-9E72792BE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6"/>
            <a:ext cx="10515600" cy="74014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ea typeface="Source Sans Pro"/>
              </a:rPr>
              <a:t>We</a:t>
            </a:r>
            <a:r>
              <a:rPr lang="en-US" sz="2400" dirty="0">
                <a:solidFill>
                  <a:srgbClr val="000000"/>
                </a:solidFill>
                <a:ea typeface="Source Sans Pro"/>
              </a:rPr>
              <a:t> play a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cryptographic game </a:t>
            </a:r>
            <a:r>
              <a:rPr lang="en-US" sz="2400" dirty="0">
                <a:ea typeface="Source Sans Pro"/>
              </a:rPr>
              <a:t>between a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challenger </a:t>
            </a:r>
            <a:r>
              <a:rPr lang="en-US" sz="2400" dirty="0">
                <a:ea typeface="Source Sans Pro"/>
              </a:rPr>
              <a:t>and an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 adversary</a:t>
            </a:r>
            <a:endParaRPr lang="en-US" sz="2400" dirty="0">
              <a:solidFill>
                <a:schemeClr val="accent6">
                  <a:lumMod val="76000"/>
                </a:schemeClr>
              </a:solidFill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  <a:p>
            <a:pPr algn="ctr"/>
            <a:endParaRPr lang="en-US" sz="2400" dirty="0">
              <a:solidFill>
                <a:schemeClr val="accent6">
                  <a:lumMod val="76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2176BA-DE49-43A6-5D70-FD569C8FA64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8E6E4A-EF7F-1704-C074-11D951D7B6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4247" y="3043084"/>
            <a:ext cx="1367245" cy="13672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60BFFD-4C08-40C3-6FCA-C444BEFB9E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074" y="2877983"/>
            <a:ext cx="1697446" cy="16974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067410-DB04-5129-762E-C28EF2561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9432" y="3217255"/>
            <a:ext cx="1018903" cy="10189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4356D5-58E9-1DD5-849D-2F710B8ADA4A}"/>
              </a:ext>
            </a:extLst>
          </p:cNvPr>
          <p:cNvSpPr txBox="1"/>
          <p:nvPr/>
        </p:nvSpPr>
        <p:spPr>
          <a:xfrm>
            <a:off x="2753360" y="6249206"/>
            <a:ext cx="4262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Notion of security depends on the game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/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Scheme is 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"/>
                    <a:ea typeface="Source Sans Pro"/>
                  </a:rPr>
                  <a:t>IND-CPA secure</a:t>
                </a:r>
                <a:r>
                  <a:rPr lang="en-US" sz="2400" dirty="0">
                    <a:latin typeface=""/>
                    <a:ea typeface="Source Sans Pro"/>
                  </a:rPr>
                  <a:t> </a:t>
                </a:r>
                <a:r>
                  <a:rPr lang="en-US" sz="2400" dirty="0" err="1">
                    <a:solidFill>
                      <a:schemeClr val="tx1"/>
                    </a:solidFill>
                    <a:latin typeface=""/>
                    <a:ea typeface="Source Sans Pro"/>
                  </a:rPr>
                  <a:t>iff</a:t>
                </a:r>
                <a:r>
                  <a:rPr lang="en-US" sz="2400" dirty="0">
                    <a:latin typeface=""/>
                    <a:ea typeface="Source Sans Pro"/>
                  </a:rPr>
                  <a:t> 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Adversary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wins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 </m:t>
                            </m:r>
                            <m:r>
                              <m:rPr>
                                <m:nor/>
                              </m:rPr>
                              <a:rPr lang="en-US" sz="24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game</m:t>
                            </m:r>
                          </m:e>
                        </m:d>
                      </m:e>
                    </m:func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≤</m:t>
                    </m:r>
                    <m:f>
                      <m:f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fPr>
                      <m:num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+</m:t>
                    </m:r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negl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𝜆</m:t>
                        </m:r>
                      </m:e>
                    </m:d>
                  </m:oMath>
                </a14:m>
                <a:endParaRPr lang="en-US" sz="2400" dirty="0">
                  <a:latin typeface=""/>
                </a:endParaRPr>
              </a:p>
            </p:txBody>
          </p:sp>
        </mc:Choice>
        <mc:Fallback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81045E1-7D8A-4CAA-D45C-D1F6E1DD79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5226910"/>
                <a:ext cx="10515600" cy="7401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2B0276-FEDD-29E2-29AE-BA1E3D9E0C48}"/>
              </a:ext>
            </a:extLst>
          </p:cNvPr>
          <p:cNvCxnSpPr>
            <a:cxnSpLocks/>
            <a:stCxn id="6" idx="0"/>
            <a:endCxn id="12" idx="5"/>
          </p:cNvCxnSpPr>
          <p:nvPr/>
        </p:nvCxnSpPr>
        <p:spPr>
          <a:xfrm flipH="1" flipV="1">
            <a:off x="4071700" y="5811759"/>
            <a:ext cx="813013" cy="4374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BDFBD3FD-EA0C-D6B5-913E-7DD395F3AADC}"/>
              </a:ext>
            </a:extLst>
          </p:cNvPr>
          <p:cNvSpPr/>
          <p:nvPr/>
        </p:nvSpPr>
        <p:spPr>
          <a:xfrm>
            <a:off x="2866278" y="5320926"/>
            <a:ext cx="1412240" cy="57504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31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1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𝑠𝑟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𝑒𝑛𝑐</m:t>
                    </m:r>
                    <m:r>
                      <a:rPr lang="en-US" i="1" dirty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9B00B24-A548-CA62-2449-5C73710185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itle 1">
            <a:extLst>
              <a:ext uri="{FF2B5EF4-FFF2-40B4-BE49-F238E27FC236}">
                <a16:creationId xmlns:a16="http://schemas.microsoft.com/office/drawing/2014/main" id="{B32D6E00-806E-551D-3DF0-BA48CF774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57831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3. (b) Assume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10000"/>
                            <a:lumOff val="90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4880D14-F5E4-D310-61C2-1FBECE40E5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2C1AAD5B-D372-16AC-955E-C6409BD8D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32812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2">
                        <a:lumMod val="10000"/>
                        <a:lumOff val="90000"/>
                      </a:schemeClr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F34B84E5-6E40-FFC6-A3AF-F6F277E6B5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393C6FD9-DDAE-47CF-C16F-59DE7B2BC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5780626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F56D4A9F-7ADD-49F4-EFC9-B795F81F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itle 1">
            <a:extLst>
              <a:ext uri="{FF2B5EF4-FFF2-40B4-BE49-F238E27FC236}">
                <a16:creationId xmlns:a16="http://schemas.microsoft.com/office/drawing/2014/main" id="{5D5CF19E-8059-223C-B041-35CF25873E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0988586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23C1A-8686-9E62-A82A-AEDA56F5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/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1. (a) Define security game for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lit/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𝑚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𝐼𝑉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h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𝑚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2. (b) Assume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sr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_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(.,.,.)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is IND-CPA secure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3. (b) Assume 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Cambria Math" panose="02040503050406030204" pitchFamily="18" charset="0"/>
                      </a:rPr>
                      <m:t>(.)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collision-resistant &amp; one-way function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4. Adversary can count how many times each message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     is sent!</a:t>
                </a:r>
                <a:endParaRPr lang="en-US" sz="2400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575AE9E2-F575-DEC7-EB62-76213D49DE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3108" y="4001294"/>
                <a:ext cx="6446012" cy="200425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E72D8-3650-8C68-6BCA-AD446BEAB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How to define security for a cryptographic </a:t>
            </a:r>
            <a:r>
              <a:rPr lang="en-US" dirty="0">
                <a:solidFill>
                  <a:schemeClr val="accent6">
                    <a:lumMod val="76000"/>
                  </a:schemeClr>
                </a:solidFill>
                <a:ea typeface="Source Sans Pro"/>
              </a:rPr>
              <a:t>protocol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000000"/>
              </a:solidFill>
              <a:ea typeface="Source Sans Pro"/>
            </a:endParaRPr>
          </a:p>
          <a:p>
            <a:pPr>
              <a:buAutoNum type="arabicPeriod"/>
            </a:pPr>
            <a:endParaRPr lang="en-US" dirty="0">
              <a:solidFill>
                <a:srgbClr val="3B7F23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8CD242-EBA7-D0B3-0D29-D6228ACD89D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8" name="Picture 7" descr="A diagram of a mathematical equation&#10;&#10;Description automatically generated">
            <a:extLst>
              <a:ext uri="{FF2B5EF4-FFF2-40B4-BE49-F238E27FC236}">
                <a16:creationId xmlns:a16="http://schemas.microsoft.com/office/drawing/2014/main" id="{EE8558CB-545E-4FE0-26CF-F1EE36A09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543" y="3556843"/>
            <a:ext cx="4336222" cy="262012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635869-6972-A227-9EDB-2E275553974F}"/>
              </a:ext>
            </a:extLst>
          </p:cNvPr>
          <p:cNvSpPr/>
          <p:nvPr/>
        </p:nvSpPr>
        <p:spPr>
          <a:xfrm>
            <a:off x="1377332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(a) Define a protocol-level game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A82250-B316-7EB4-CE29-8D96AD8E7592}"/>
              </a:ext>
            </a:extLst>
          </p:cNvPr>
          <p:cNvSpPr/>
          <p:nvPr/>
        </p:nvSpPr>
        <p:spPr>
          <a:xfrm>
            <a:off x="6244623" y="2527596"/>
            <a:ext cx="4328160" cy="741680"/>
          </a:xfrm>
          <a:prstGeom prst="roundRect">
            <a:avLst/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"/>
                <a:ea typeface="Source Sans Pro"/>
              </a:rPr>
              <a:t>(b) Assume primitives are secure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748A8-E7AC-A6B7-00B2-785618A61F6A}"/>
              </a:ext>
            </a:extLst>
          </p:cNvPr>
          <p:cNvSpPr/>
          <p:nvPr/>
        </p:nvSpPr>
        <p:spPr>
          <a:xfrm>
            <a:off x="0" y="160622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Secure primitives do not necessarily imply a secure protocol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863B75-1BF0-35A7-0824-B20D5A04A316}"/>
              </a:ext>
            </a:extLst>
          </p:cNvPr>
          <p:cNvSpPr/>
          <p:nvPr/>
        </p:nvSpPr>
        <p:spPr>
          <a:xfrm>
            <a:off x="0" y="3264954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We assume primitives are secure and                                            focus on protocol verification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BE610-B6C3-C46E-BC24-94CB64054DC5}"/>
              </a:ext>
            </a:extLst>
          </p:cNvPr>
          <p:cNvSpPr/>
          <p:nvPr/>
        </p:nvSpPr>
        <p:spPr>
          <a:xfrm>
            <a:off x="-207" y="4923679"/>
            <a:ext cx="12192000" cy="12271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Primitives can always be analyzed separately</a:t>
            </a: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109B1537-5F72-0325-C32B-985E9F9A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Mathematical Cryptography: Primitives &amp; Protocols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446529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" grpId="0" build="p"/>
      <p:bldP spid="4" grpId="0" animBg="1"/>
      <p:bldP spid="5" grpId="0" animBg="1"/>
      <p:bldP spid="6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978E5BC-73C4-50D6-41E2-D4F1C8CF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20775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We use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threat models </a:t>
            </a:r>
            <a:r>
              <a:rPr lang="en-US" dirty="0">
                <a:ea typeface="Source Sans Pro"/>
              </a:rPr>
              <a:t>to classify protocol analysis techniques          (i.e., sets of assumptions about adversarial capabilities)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9767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C07F0B-9DC7-A826-4A31-EDC532A8A345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</p:spTree>
    <p:extLst>
      <p:ext uri="{BB962C8B-B14F-4D97-AF65-F5344CB8AC3E}">
        <p14:creationId xmlns:p14="http://schemas.microsoft.com/office/powerpoint/2010/main" val="1846142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2" grpId="0"/>
      <p:bldP spid="15" grpId="0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Threat Models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02B98C7-9CF4-3217-442C-C55D76638FD3}"/>
              </a:ext>
            </a:extLst>
          </p:cNvPr>
          <p:cNvSpPr/>
          <p:nvPr/>
        </p:nvSpPr>
        <p:spPr>
          <a:xfrm>
            <a:off x="7625302" y="1825625"/>
            <a:ext cx="2934031" cy="3883176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B2E921B-0AA1-30A8-E553-99657D44271F}"/>
              </a:ext>
            </a:extLst>
          </p:cNvPr>
          <p:cNvSpPr/>
          <p:nvPr/>
        </p:nvSpPr>
        <p:spPr>
          <a:xfrm>
            <a:off x="8187859" y="3236181"/>
            <a:ext cx="2530501" cy="3256694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30F4C-1659-B088-ED09-1112EA069C75}"/>
              </a:ext>
            </a:extLst>
          </p:cNvPr>
          <p:cNvSpPr txBox="1"/>
          <p:nvPr/>
        </p:nvSpPr>
        <p:spPr>
          <a:xfrm>
            <a:off x="6949440" y="1492674"/>
            <a:ext cx="3954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Computational adversary capabilities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FB221-2806-2B7A-FD6B-4CCC46E52571}"/>
              </a:ext>
            </a:extLst>
          </p:cNvPr>
          <p:cNvSpPr txBox="1"/>
          <p:nvPr/>
        </p:nvSpPr>
        <p:spPr>
          <a:xfrm>
            <a:off x="8120222" y="6454467"/>
            <a:ext cx="3403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Symbolic adversary capabilities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F83583-4237-62C6-A3FE-E95CD4C8D5F5}"/>
              </a:ext>
            </a:extLst>
          </p:cNvPr>
          <p:cNvSpPr txBox="1"/>
          <p:nvPr/>
        </p:nvSpPr>
        <p:spPr>
          <a:xfrm>
            <a:off x="7850920" y="2583819"/>
            <a:ext cx="2512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weaknesses of primitives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6FCDD-E243-2B9C-6A0C-A25ADBE402AB}"/>
              </a:ext>
            </a:extLst>
          </p:cNvPr>
          <p:cNvSpPr txBox="1"/>
          <p:nvPr/>
        </p:nvSpPr>
        <p:spPr>
          <a:xfrm>
            <a:off x="8281029" y="5660671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Non-polynomial computation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690C6D-8D6B-0EEC-556B-96880DF326A3}"/>
              </a:ext>
            </a:extLst>
          </p:cNvPr>
          <p:cNvSpPr/>
          <p:nvPr/>
        </p:nvSpPr>
        <p:spPr>
          <a:xfrm>
            <a:off x="838200" y="4305012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Symbolic model (a.k.a. </a:t>
            </a:r>
            <a:r>
              <a:rPr lang="en-US" sz="2400" dirty="0" err="1">
                <a:solidFill>
                  <a:schemeClr val="tx1"/>
                </a:solidFill>
                <a:latin typeface=""/>
                <a:ea typeface="Source Sans Pro"/>
              </a:rPr>
              <a:t>Dolev</a:t>
            </a:r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-Yao model)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Assumes primitives are perfectly secure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Considers non-probabilistic (often weaker) security properties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CEF433D-2D9D-2EE0-3A63-7D10D10A1B42}"/>
              </a:ext>
            </a:extLst>
          </p:cNvPr>
          <p:cNvSpPr/>
          <p:nvPr/>
        </p:nvSpPr>
        <p:spPr>
          <a:xfrm>
            <a:off x="828813" y="1991345"/>
            <a:ext cx="6243320" cy="198786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"/>
                <a:ea typeface="Source Sans Pro"/>
              </a:rPr>
              <a:t>Computational model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Closely follows mathematical cryptography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latin typeface=""/>
                <a:ea typeface="Source Sans Pro"/>
              </a:rPr>
              <a:t>Adversaries are probabilistic polynomial time (PPT) Turing machines (limiting computational power)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A98B96-294C-E39B-A289-9FAC242AD830}"/>
              </a:ext>
            </a:extLst>
          </p:cNvPr>
          <p:cNvSpPr/>
          <p:nvPr/>
        </p:nvSpPr>
        <p:spPr>
          <a:xfrm>
            <a:off x="0" y="2772482"/>
            <a:ext cx="12192000" cy="18686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Computational model reasoning (with PPT TMs and cryptographic games) is not currently amenable to automation, so most automation efforts focus on the symbolic model</a:t>
            </a:r>
          </a:p>
          <a:p>
            <a:endParaRPr lang="en-US" sz="1000" dirty="0">
              <a:latin typeface="Avenir Next" panose="020B0503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r>
              <a:rPr lang="en-US" sz="2400" dirty="0">
                <a:latin typeface="Avenir Next" panose="020B0503020202020204" pitchFamily="34" charset="0"/>
              </a:rPr>
              <a:t>Due to this, we focus on the symbolic model in this talk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D850-A713-B649-217F-A2AC6F0583E7}"/>
              </a:ext>
            </a:extLst>
          </p:cNvPr>
          <p:cNvSpPr txBox="1"/>
          <p:nvPr/>
        </p:nvSpPr>
        <p:spPr>
          <a:xfrm>
            <a:off x="8122521" y="4305012"/>
            <a:ext cx="23714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dirty="0">
                <a:latin typeface=""/>
                <a:ea typeface="Source Sans Pro"/>
              </a:rPr>
              <a:t>Exploiting protocol weaknesses</a:t>
            </a:r>
          </a:p>
        </p:txBody>
      </p:sp>
    </p:spTree>
    <p:extLst>
      <p:ext uri="{BB962C8B-B14F-4D97-AF65-F5344CB8AC3E}">
        <p14:creationId xmlns:p14="http://schemas.microsoft.com/office/powerpoint/2010/main" val="846108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1" animBg="1"/>
      <p:bldP spid="10" grpId="0"/>
      <p:bldP spid="12" grpId="1"/>
      <p:bldP spid="13" grpId="0"/>
      <p:bldP spid="15" grpId="1"/>
      <p:bldP spid="7" grpId="1" animBg="1"/>
      <p:bldP spid="9" grpId="0" animBg="1"/>
      <p:bldP spid="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8F8D-41CB-3795-3829-9EC13AAB8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41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Principals communicate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symbolic terms </a:t>
            </a:r>
            <a:r>
              <a:rPr lang="en-US" dirty="0">
                <a:ea typeface="Source Sans Pro"/>
              </a:rPr>
              <a:t>rather than bit strings (as in computational model)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/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sz="3200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dec</m:t>
                      </m:r>
                      <m:d>
                        <m:dPr>
                          <m:ctrlP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3200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𝑛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𝑎</m:t>
                                  </m:r>
                                </m:sub>
                              </m:sSub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32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32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32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…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  <a:p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3D80D69-2222-CC93-D351-2C6EBC46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149819"/>
                <a:ext cx="12191999" cy="107721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CEDC1BA-45D9-7115-3E8C-5C4398502A38}"/>
              </a:ext>
            </a:extLst>
          </p:cNvPr>
          <p:cNvSpPr txBox="1"/>
          <p:nvPr/>
        </p:nvSpPr>
        <p:spPr>
          <a:xfrm>
            <a:off x="838200" y="4727303"/>
            <a:ext cx="78341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Just a syntactic symbol; no computational interpretation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1E9E15E-BFA5-0D8E-970A-A6C840F54379}"/>
              </a:ext>
            </a:extLst>
          </p:cNvPr>
          <p:cNvCxnSpPr>
            <a:cxnSpLocks/>
          </p:cNvCxnSpPr>
          <p:nvPr/>
        </p:nvCxnSpPr>
        <p:spPr>
          <a:xfrm flipV="1">
            <a:off x="3779520" y="3667760"/>
            <a:ext cx="0" cy="1051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8EB5A0B-7B6E-3DE5-47DF-5B0AA9BD7976}"/>
              </a:ext>
            </a:extLst>
          </p:cNvPr>
          <p:cNvSpPr/>
          <p:nvPr/>
        </p:nvSpPr>
        <p:spPr>
          <a:xfrm>
            <a:off x="3295584" y="3284756"/>
            <a:ext cx="690880" cy="38300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81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1"/>
      <p:bldP spid="6" grpId="0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678F8D-41CB-3795-3829-9EC13AAB8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2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is marked public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922199" y="3842999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764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"/>
                    <a:ea typeface="Source Sans Pro"/>
                  </a:rPr>
                  <a:t> was sent on the network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377076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 t="-7895" b="-26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" y="3887950"/>
                <a:ext cx="12192000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4404852" y="3842998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424129-DDAC-A5B0-5335-F918F11BE4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5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76522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48BD60-3484-79FA-3B30-3B0ADB96A3BC}"/>
              </a:ext>
            </a:extLst>
          </p:cNvPr>
          <p:cNvSpPr txBox="1"/>
          <p:nvPr/>
        </p:nvSpPr>
        <p:spPr>
          <a:xfrm>
            <a:off x="2949934" y="485029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290523" y="3341595"/>
                <a:ext cx="12192000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𝑘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34326" y="3852469"/>
                <a:ext cx="12192000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377076"/>
                <a:ext cx="3392129" cy="461665"/>
              </a:xfrm>
              <a:prstGeom prst="rect">
                <a:avLst/>
              </a:prstGeom>
              <a:blipFill>
                <a:blip r:embed="rId4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2699" y="3861286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6422699" y="3852142"/>
            <a:ext cx="339212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E6C3F1-10B3-0134-1F52-0A3295B65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6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33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6331F-C23A-203D-29CE-425308E02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39B0F-70D7-34B6-60AC-1068790DD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Symbolic Model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E6C2EE-856D-A3BB-DBAA-302F9B8031C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/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70732B8-3A2A-8C88-6EE2-A5ABE76AB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5" y="3341595"/>
                <a:ext cx="2334008" cy="461665"/>
              </a:xfrm>
              <a:prstGeom prst="rect">
                <a:avLst/>
              </a:prstGeom>
              <a:blipFill>
                <a:blip r:embed="rId3"/>
                <a:stretch>
                  <a:fillRect b="-2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/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E95618-05EF-3143-95CB-DAC906200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1676" y="3852469"/>
                <a:ext cx="2334009" cy="461665"/>
              </a:xfrm>
              <a:prstGeom prst="rect">
                <a:avLst/>
              </a:prstGeom>
              <a:blipFill>
                <a:blip r:embed="rId4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41C2AE46-0C8E-5281-2529-03B793ECBC86}"/>
              </a:ext>
            </a:extLst>
          </p:cNvPr>
          <p:cNvSpPr/>
          <p:nvPr/>
        </p:nvSpPr>
        <p:spPr>
          <a:xfrm>
            <a:off x="1631676" y="3807518"/>
            <a:ext cx="2334009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/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02C5FD2-683D-B87E-3730-F2224B24B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349001"/>
                <a:ext cx="3392129" cy="461665"/>
              </a:xfrm>
              <a:prstGeom prst="rect">
                <a:avLst/>
              </a:prstGeom>
              <a:blipFill>
                <a:blip r:embed="rId5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/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AAEF414-092B-5E69-422E-EB8781B46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1915" y="3833211"/>
                <a:ext cx="3392129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FED48841-6151-01CF-D1A0-B680841AA209}"/>
              </a:ext>
            </a:extLst>
          </p:cNvPr>
          <p:cNvSpPr/>
          <p:nvPr/>
        </p:nvSpPr>
        <p:spPr>
          <a:xfrm>
            <a:off x="5172889" y="3824066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/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⟩∈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3CCB91D-F1A5-392F-115C-266E2196C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323123"/>
                <a:ext cx="3392129" cy="461665"/>
              </a:xfrm>
              <a:prstGeom prst="rect">
                <a:avLst/>
              </a:prstGeom>
              <a:blipFill>
                <a:blip r:embed="rId7"/>
                <a:stretch>
                  <a:fillRect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/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12A8550-8B4F-5108-F14D-AB39FF45F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7697" y="3807333"/>
                <a:ext cx="3392129" cy="461665"/>
              </a:xfrm>
              <a:prstGeom prst="rect">
                <a:avLst/>
              </a:prstGeom>
              <a:blipFill>
                <a:blip r:embed="rId8"/>
                <a:stretch>
                  <a:fillRect b="-2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21D8EBB-616F-A69E-6C34-66B454F3FFD6}"/>
              </a:ext>
            </a:extLst>
          </p:cNvPr>
          <p:cNvSpPr/>
          <p:nvPr/>
        </p:nvSpPr>
        <p:spPr>
          <a:xfrm>
            <a:off x="7848671" y="3798188"/>
            <a:ext cx="1487056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2400" dirty="0">
                    <a:ea typeface="Source Sans Pro"/>
                  </a:rPr>
                  <a:t>We can inductively define the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𝐾</m:t>
                    </m:r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ea typeface="Source Sans Pro"/>
                  </a:rPr>
                  <a:t>of terms in the adversary’s knowledge</a:t>
                </a:r>
              </a:p>
              <a:p>
                <a:pPr marL="0" indent="0"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sz="2400" dirty="0">
                  <a:ea typeface="Source Sans Pro"/>
                </a:endParaRP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E1AB4A-E62B-2708-4688-254F93349D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1603374"/>
              </a:xfrm>
              <a:blipFill>
                <a:blip r:embed="rId9"/>
                <a:stretch>
                  <a:fillRect t="-5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5210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B4BBA-AEEF-F02E-2A0A-27B08706D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04503-9F41-4A11-446B-56A49286A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FE3CC-B3C1-2EB5-2B26-CEE053F6D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CEFFD2-B460-F9F6-EA13-A58AA167383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3486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Protocol Reasoning in the Symbolic Model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A79CE97-AB04-843F-4790-DA5EF039DBCE}"/>
              </a:ext>
            </a:extLst>
          </p:cNvPr>
          <p:cNvSpPr/>
          <p:nvPr/>
        </p:nvSpPr>
        <p:spPr>
          <a:xfrm>
            <a:off x="1432560" y="2061047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protocols (language &amp; semantics)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58A199D-1FDD-5BB5-F596-B62ECB23B603}"/>
              </a:ext>
            </a:extLst>
          </p:cNvPr>
          <p:cNvSpPr/>
          <p:nvPr/>
        </p:nvSpPr>
        <p:spPr>
          <a:xfrm>
            <a:off x="6959600" y="2052180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Way to formalize properties (language &amp; semantics)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4FE350-7929-68D2-4D64-2D22730714CC}"/>
              </a:ext>
            </a:extLst>
          </p:cNvPr>
          <p:cNvSpPr/>
          <p:nvPr/>
        </p:nvSpPr>
        <p:spPr>
          <a:xfrm>
            <a:off x="143256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Threat model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22FFF0-3375-09BA-7A58-317B5A42223F}"/>
              </a:ext>
            </a:extLst>
          </p:cNvPr>
          <p:cNvSpPr/>
          <p:nvPr/>
        </p:nvSpPr>
        <p:spPr>
          <a:xfrm>
            <a:off x="6959600" y="4474869"/>
            <a:ext cx="3799840" cy="102718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Algorithm to search for attacks against (or proofs of) properties in given threat model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98716C-977E-2CDF-D9E1-92218C7AB60E}"/>
              </a:ext>
            </a:extLst>
          </p:cNvPr>
          <p:cNvSpPr/>
          <p:nvPr/>
        </p:nvSpPr>
        <p:spPr>
          <a:xfrm>
            <a:off x="1855588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Multiset rewriting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/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Applied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"/>
                      </a:rPr>
                      <m:t>𝜋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-calculus</a:t>
                </a: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422195F8-4A11-1C5C-843E-146B817451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068" y="3088231"/>
                <a:ext cx="1300480" cy="610010"/>
              </a:xfrm>
              <a:prstGeom prst="roundRect">
                <a:avLst/>
              </a:prstGeom>
              <a:blipFill>
                <a:blip r:embed="rId2"/>
                <a:stretch>
                  <a:fillRect l="-962" t="-392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AF5F28-4949-B652-DC0E-613B33761EF0}"/>
              </a:ext>
            </a:extLst>
          </p:cNvPr>
          <p:cNvSpPr/>
          <p:nvPr/>
        </p:nvSpPr>
        <p:spPr>
          <a:xfrm>
            <a:off x="1806635" y="5502052"/>
            <a:ext cx="12192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Symbolic model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596CA2-4109-01A7-E677-525CFBADE6B0}"/>
              </a:ext>
            </a:extLst>
          </p:cNvPr>
          <p:cNvSpPr/>
          <p:nvPr/>
        </p:nvSpPr>
        <p:spPr>
          <a:xfrm>
            <a:off x="3025835" y="5502052"/>
            <a:ext cx="18186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Computational model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781E6B-0650-70D5-3BE0-101DBFD54D18}"/>
              </a:ext>
            </a:extLst>
          </p:cNvPr>
          <p:cNvSpPr/>
          <p:nvPr/>
        </p:nvSpPr>
        <p:spPr>
          <a:xfrm>
            <a:off x="2558475" y="6112062"/>
            <a:ext cx="100584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CCSA model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E2F9FA0-2632-A8A7-2491-69E523EC4580}"/>
              </a:ext>
            </a:extLst>
          </p:cNvPr>
          <p:cNvSpPr/>
          <p:nvPr/>
        </p:nvSpPr>
        <p:spPr>
          <a:xfrm>
            <a:off x="7486076" y="308823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Fixed set of props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63CB04F-4E28-3712-DEC1-4B83D80A7DC1}"/>
              </a:ext>
            </a:extLst>
          </p:cNvPr>
          <p:cNvSpPr/>
          <p:nvPr/>
        </p:nvSpPr>
        <p:spPr>
          <a:xfrm>
            <a:off x="8786556" y="3079363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Variant of FOL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6736617-8507-5017-0668-6BE9928C1F66}"/>
              </a:ext>
            </a:extLst>
          </p:cNvPr>
          <p:cNvSpPr/>
          <p:nvPr/>
        </p:nvSpPr>
        <p:spPr>
          <a:xfrm>
            <a:off x="7973756" y="3698241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Equivalences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1F1B89-3923-9627-B23D-C587BE6C8C39}"/>
              </a:ext>
            </a:extLst>
          </p:cNvPr>
          <p:cNvSpPr/>
          <p:nvPr/>
        </p:nvSpPr>
        <p:spPr>
          <a:xfrm>
            <a:off x="73253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Backwards search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40D513E-8E3D-2158-C4EC-C7DBE6A7D4C3}"/>
              </a:ext>
            </a:extLst>
          </p:cNvPr>
          <p:cNvSpPr/>
          <p:nvPr/>
        </p:nvSpPr>
        <p:spPr>
          <a:xfrm>
            <a:off x="8950960" y="551350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Resolution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9BB428-903C-20B9-1C71-416165BA17CC}"/>
              </a:ext>
            </a:extLst>
          </p:cNvPr>
          <p:cNvSpPr/>
          <p:nvPr/>
        </p:nvSpPr>
        <p:spPr>
          <a:xfrm>
            <a:off x="765048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Type checking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22ADE09-FDBA-5206-08F8-D729FD718CE1}"/>
              </a:ext>
            </a:extLst>
          </p:cNvPr>
          <p:cNvSpPr/>
          <p:nvPr/>
        </p:nvSpPr>
        <p:spPr>
          <a:xfrm>
            <a:off x="9286240" y="6123515"/>
            <a:ext cx="162560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Induction on traces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6DEE5EF-C8CA-8FB8-51BC-EE8EFCB3ED88}"/>
              </a:ext>
            </a:extLst>
          </p:cNvPr>
          <p:cNvSpPr/>
          <p:nvPr/>
        </p:nvSpPr>
        <p:spPr>
          <a:xfrm>
            <a:off x="2495668" y="3698241"/>
            <a:ext cx="1300480" cy="6100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Programs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FB97873-2A72-B950-318A-1A4D8B38F26D}"/>
              </a:ext>
            </a:extLst>
          </p:cNvPr>
          <p:cNvSpPr/>
          <p:nvPr/>
        </p:nvSpPr>
        <p:spPr>
          <a:xfrm>
            <a:off x="0" y="2904455"/>
            <a:ext cx="12192000" cy="1645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venir Next" panose="020B0503020202020204" pitchFamily="34" charset="0"/>
              </a:rPr>
              <a:t>We focus on Tamarin’s formal foundations for ease of presentation, but will still seek to learn general lessons about symbolic model verification</a:t>
            </a:r>
          </a:p>
        </p:txBody>
      </p:sp>
    </p:spTree>
    <p:extLst>
      <p:ext uri="{BB962C8B-B14F-4D97-AF65-F5344CB8AC3E}">
        <p14:creationId xmlns:p14="http://schemas.microsoft.com/office/powerpoint/2010/main" val="798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8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4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57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63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3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6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9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2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88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1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4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6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indefinit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9" dur="indefinite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2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1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1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4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6" grpId="1" animBg="1"/>
      <p:bldP spid="7" grpId="0" animBg="1"/>
      <p:bldP spid="7" grpId="1" animBg="1"/>
      <p:bldP spid="8" grpId="0" animBg="1"/>
      <p:bldP spid="8" grpId="1" animBg="1"/>
      <p:bldP spid="11" grpId="0" animBg="1"/>
      <p:bldP spid="11" grpId="1" animBg="1"/>
      <p:bldP spid="12" grpId="1" animBg="1"/>
      <p:bldP spid="13" grpId="0" animBg="1"/>
      <p:bldP spid="13" grpId="2" animBg="1"/>
      <p:bldP spid="14" grpId="0" animBg="1"/>
      <p:bldP spid="14" grpId="1" animBg="1"/>
      <p:bldP spid="15" grpId="0" animBg="1"/>
      <p:bldP spid="15" grpId="1" animBg="1"/>
      <p:bldP spid="15" grpId="2" animBg="1"/>
      <p:bldP spid="16" grpId="0" animBg="1"/>
      <p:bldP spid="16" grpId="1" animBg="1"/>
      <p:bldP spid="16" grpId="2" animBg="1"/>
      <p:bldP spid="17" grpId="0" animBg="1"/>
      <p:bldP spid="17" grpId="1" animBg="1"/>
      <p:bldP spid="17" grpId="2" animBg="1"/>
      <p:bldP spid="18" grpId="0" animBg="1"/>
      <p:bldP spid="18" grpId="1" animBg="1"/>
      <p:bldP spid="19" grpId="0" animBg="1"/>
      <p:bldP spid="19" grpId="1" animBg="1"/>
      <p:bldP spid="19" grpId="2" animBg="1"/>
      <p:bldP spid="20" grpId="0" animBg="1"/>
      <p:bldP spid="20" grpId="1" animBg="1"/>
      <p:bldP spid="21" grpId="0" animBg="1"/>
      <p:bldP spid="21" grpId="1" animBg="1"/>
      <p:bldP spid="21" grpId="2" animBg="1"/>
      <p:bldP spid="22" grpId="0" animBg="1"/>
      <p:bldP spid="22" grpId="1" animBg="1"/>
      <p:bldP spid="22" grpId="2" animBg="1"/>
      <p:bldP spid="23" grpId="0" animBg="1"/>
      <p:bldP spid="23" grpId="1" animBg="1"/>
      <p:bldP spid="23" grpId="2" animBg="1"/>
      <p:bldP spid="24" grpId="0" animBg="1"/>
      <p:bldP spid="24" grpId="2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5ADC5FC-79AF-C211-EC0A-F4CFCE5622B8}"/>
              </a:ext>
            </a:extLst>
          </p:cNvPr>
          <p:cNvSpPr/>
          <p:nvPr/>
        </p:nvSpPr>
        <p:spPr>
          <a:xfrm>
            <a:off x="1178560" y="227584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Initial state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7B8427-65C1-21E3-6336-43264169579A}"/>
              </a:ext>
            </a:extLst>
          </p:cNvPr>
          <p:cNvSpPr/>
          <p:nvPr/>
        </p:nvSpPr>
        <p:spPr>
          <a:xfrm>
            <a:off x="461264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816AEAD-BE7A-BAE3-EA06-7E7870C8BDB0}"/>
              </a:ext>
            </a:extLst>
          </p:cNvPr>
          <p:cNvSpPr/>
          <p:nvPr/>
        </p:nvSpPr>
        <p:spPr>
          <a:xfrm>
            <a:off x="8046720" y="2271285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C39E2B-7AAB-1016-37AC-D37B41B2D89C}"/>
              </a:ext>
            </a:extLst>
          </p:cNvPr>
          <p:cNvSpPr/>
          <p:nvPr/>
        </p:nvSpPr>
        <p:spPr>
          <a:xfrm>
            <a:off x="804672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3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E3E9B88-7E18-891A-CC44-638FB1158F23}"/>
              </a:ext>
            </a:extLst>
          </p:cNvPr>
          <p:cNvSpPr txBox="1"/>
          <p:nvPr/>
        </p:nvSpPr>
        <p:spPr>
          <a:xfrm>
            <a:off x="3271734" y="292753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F19D7E-AAD8-2DFC-C06A-467440748A9F}"/>
              </a:ext>
            </a:extLst>
          </p:cNvPr>
          <p:cNvSpPr txBox="1"/>
          <p:nvPr/>
        </p:nvSpPr>
        <p:spPr>
          <a:xfrm>
            <a:off x="6691975" y="292241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4E0F6A-2B26-454C-818E-BD0FECE93BDD}"/>
              </a:ext>
            </a:extLst>
          </p:cNvPr>
          <p:cNvSpPr txBox="1"/>
          <p:nvPr/>
        </p:nvSpPr>
        <p:spPr>
          <a:xfrm>
            <a:off x="9118600" y="3643069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0652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F43AAB2F-DB08-AAD6-7933-961EA6B773EA}"/>
              </a:ext>
            </a:extLst>
          </p:cNvPr>
          <p:cNvSpPr/>
          <p:nvPr/>
        </p:nvSpPr>
        <p:spPr>
          <a:xfrm>
            <a:off x="951263" y="1595460"/>
            <a:ext cx="10289062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Use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to model protocol state that evolves at each rewrite rule application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629BF55-EB7D-5911-6115-49E56D72FEAE}"/>
              </a:ext>
            </a:extLst>
          </p:cNvPr>
          <p:cNvSpPr/>
          <p:nvPr/>
        </p:nvSpPr>
        <p:spPr>
          <a:xfrm>
            <a:off x="3153971" y="3615066"/>
            <a:ext cx="2788604" cy="58721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rewrite rule is a protocol step</a:t>
            </a:r>
            <a:endParaRPr lang="en-US" dirty="0">
              <a:latin typeface="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4470CC6-EE5E-AEA2-07F7-852552F3293A}"/>
              </a:ext>
            </a:extLst>
          </p:cNvPr>
          <p:cNvCxnSpPr>
            <a:stCxn id="33" idx="0"/>
            <a:endCxn id="3" idx="2"/>
          </p:cNvCxnSpPr>
          <p:nvPr/>
        </p:nvCxnSpPr>
        <p:spPr>
          <a:xfrm flipH="1" flipV="1">
            <a:off x="3981320" y="3296871"/>
            <a:ext cx="566953" cy="3181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2751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3" grpId="0"/>
      <p:bldP spid="19" grpId="0"/>
      <p:bldP spid="24" grpId="0"/>
      <p:bldP spid="25" grpId="0"/>
      <p:bldP spid="26" grpId="0"/>
      <p:bldP spid="3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224D15FC-8754-98E3-2929-6D4D5E6C4532}"/>
              </a:ext>
            </a:extLst>
          </p:cNvPr>
          <p:cNvSpPr/>
          <p:nvPr/>
        </p:nvSpPr>
        <p:spPr>
          <a:xfrm>
            <a:off x="951264" y="1595460"/>
            <a:ext cx="10289060" cy="552342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Use a multiset of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facts</a:t>
            </a:r>
            <a:r>
              <a:rPr lang="en-US" dirty="0">
                <a:solidFill>
                  <a:schemeClr val="tx1"/>
                </a:solidFill>
                <a:latin typeface=""/>
              </a:rPr>
              <a:t> to model protocol state that evolves at each rewrite rule application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/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5ADC5FC-79AF-C211-EC0A-F4CFCE5622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8560" y="2275840"/>
                <a:ext cx="2143760" cy="1223608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/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77B8427-65C1-21E3-6336-4326416957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2640" y="2271285"/>
                <a:ext cx="2143760" cy="1223608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/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"/>
                        </a:rPr>
                        <m:t>,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A816AEAD-BE7A-BAE3-EA06-7E7870C8B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2271285"/>
                <a:ext cx="2143760" cy="1223608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/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10000"/>
                              <a:lumOff val="90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10000"/>
                                  <a:lumOff val="90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b="0" i="1" dirty="0">
                  <a:solidFill>
                    <a:schemeClr val="tx2">
                      <a:lumMod val="10000"/>
                      <a:lumOff val="90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BC39E2B-7AAB-1016-37AC-D37B41B2D8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4166650"/>
                <a:ext cx="2143760" cy="1223608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val 11">
            <a:extLst>
              <a:ext uri="{FF2B5EF4-FFF2-40B4-BE49-F238E27FC236}">
                <a16:creationId xmlns:a16="http://schemas.microsoft.com/office/drawing/2014/main" id="{639474FB-243A-9A9F-22D9-5F4C2D3A84DC}"/>
              </a:ext>
            </a:extLst>
          </p:cNvPr>
          <p:cNvSpPr/>
          <p:nvPr/>
        </p:nvSpPr>
        <p:spPr>
          <a:xfrm>
            <a:off x="1178560" y="4166650"/>
            <a:ext cx="2143760" cy="122360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State n (attack!)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ABE38A2-04C0-E1E8-4C30-39BE78A238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818" y="4140959"/>
            <a:ext cx="1274990" cy="1274990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A29A44-2B2E-515F-B653-75C461A496C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3322320" y="2883089"/>
            <a:ext cx="1290320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54D86D2-DCA3-38D3-4BFE-2FDA02BBF8B8}"/>
              </a:ext>
            </a:extLst>
          </p:cNvPr>
          <p:cNvCxnSpPr>
            <a:cxnSpLocks/>
            <a:stCxn id="9" idx="6"/>
          </p:cNvCxnSpPr>
          <p:nvPr/>
        </p:nvCxnSpPr>
        <p:spPr>
          <a:xfrm flipV="1">
            <a:off x="6756400" y="2878534"/>
            <a:ext cx="1297285" cy="45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EC6C51D-61CB-0540-4258-50D3A67D7CD9}"/>
              </a:ext>
            </a:extLst>
          </p:cNvPr>
          <p:cNvCxnSpPr>
            <a:cxnSpLocks/>
            <a:stCxn id="10" idx="4"/>
            <a:endCxn id="11" idx="0"/>
          </p:cNvCxnSpPr>
          <p:nvPr/>
        </p:nvCxnSpPr>
        <p:spPr>
          <a:xfrm>
            <a:off x="9118600" y="3494893"/>
            <a:ext cx="0" cy="6717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E437AB-756E-7261-27F8-F9EC0C5FCC46}"/>
              </a:ext>
            </a:extLst>
          </p:cNvPr>
          <p:cNvCxnSpPr>
            <a:cxnSpLocks/>
            <a:stCxn id="11" idx="2"/>
            <a:endCxn id="13" idx="3"/>
          </p:cNvCxnSpPr>
          <p:nvPr/>
        </p:nvCxnSpPr>
        <p:spPr>
          <a:xfrm flipH="1">
            <a:off x="6448808" y="4778454"/>
            <a:ext cx="15979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D0D8E2C-F54B-3291-5F85-FB7D3A9ECCD7}"/>
              </a:ext>
            </a:extLst>
          </p:cNvPr>
          <p:cNvCxnSpPr>
            <a:cxnSpLocks/>
            <a:stCxn id="13" idx="1"/>
            <a:endCxn id="12" idx="6"/>
          </p:cNvCxnSpPr>
          <p:nvPr/>
        </p:nvCxnSpPr>
        <p:spPr>
          <a:xfrm flipH="1">
            <a:off x="3322320" y="4778454"/>
            <a:ext cx="18514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AC1FA43C-2139-F921-A177-482FFCD1DB62}"/>
              </a:ext>
            </a:extLst>
          </p:cNvPr>
          <p:cNvSpPr txBox="1"/>
          <p:nvPr/>
        </p:nvSpPr>
        <p:spPr>
          <a:xfrm>
            <a:off x="6627549" y="484138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F22EE-853B-5A5E-99E9-FEF95FDEFBE5}"/>
              </a:ext>
            </a:extLst>
          </p:cNvPr>
          <p:cNvSpPr txBox="1"/>
          <p:nvPr/>
        </p:nvSpPr>
        <p:spPr>
          <a:xfrm>
            <a:off x="3538483" y="4836260"/>
            <a:ext cx="1419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Rewrite rule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EBCBCEB-4869-B00D-A57E-46B76ABBCCE7}"/>
              </a:ext>
            </a:extLst>
          </p:cNvPr>
          <p:cNvSpPr/>
          <p:nvPr/>
        </p:nvSpPr>
        <p:spPr>
          <a:xfrm>
            <a:off x="0" y="5638800"/>
            <a:ext cx="12192000" cy="79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</a:rPr>
              <a:t>This captures the notion of a protocol trace in the multiset rewriting formalism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83189D-E886-7AF2-0143-2656AF03997C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5576174" y="3262836"/>
            <a:ext cx="199878" cy="605233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/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,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500DAD6-5E6F-2D1E-6A5D-A743B3616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4309" y="3097104"/>
                <a:ext cx="2635530" cy="646331"/>
              </a:xfrm>
              <a:prstGeom prst="rect">
                <a:avLst/>
              </a:prstGeom>
              <a:blipFill>
                <a:blip r:embed="rId7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/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 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9940A9D-B962-C533-BDDA-46B3C8F5C7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949" y="3231680"/>
                <a:ext cx="1803635" cy="646331"/>
              </a:xfrm>
              <a:prstGeom prst="rect">
                <a:avLst/>
              </a:prstGeom>
              <a:blipFill>
                <a:blip r:embed="rId8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/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{</m:t>
                      </m:r>
                      <m:r>
                        <m:rPr>
                          <m:nor/>
                        </m:rPr>
                        <a:rPr lang="en-US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StateFac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lit/>
                        </m:rP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→</m:t>
                      </m:r>
                    </m:oMath>
                  </m:oMathPara>
                </a14:m>
                <a:endParaRPr lang="en-US" b="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</a:rPr>
                        <m:t>∅</m:t>
                      </m:r>
                    </m:oMath>
                  </m:oMathPara>
                </a14:m>
                <a:endParaRPr lang="en-US" b="0" i="1" dirty="0">
                  <a:latin typeface=""/>
                </a:endParaRPr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8A56F04-EDEC-7D7A-8373-52F882DFF9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5517" y="3469597"/>
                <a:ext cx="1689309" cy="646331"/>
              </a:xfrm>
              <a:prstGeom prst="rect">
                <a:avLst/>
              </a:prstGeom>
              <a:blipFill>
                <a:blip r:embed="rId9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A1941CF-7564-BBA1-1938-9EE1FE429E42}"/>
              </a:ext>
            </a:extLst>
          </p:cNvPr>
          <p:cNvCxnSpPr>
            <a:cxnSpLocks/>
            <a:endCxn id="9" idx="0"/>
          </p:cNvCxnSpPr>
          <p:nvPr/>
        </p:nvCxnSpPr>
        <p:spPr>
          <a:xfrm flipH="1">
            <a:off x="5684520" y="1854254"/>
            <a:ext cx="673876" cy="417031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/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State facts are symbolic terms with top-level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fact symbol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, e.g.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1</m:t>
                        </m:r>
                      </m:sub>
                    </m:sSub>
                    <m:r>
                      <a:rPr lang="en-US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enc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𝑚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, </m:t>
                        </m:r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𝑘</m:t>
                        </m:r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DC8DA377-52A5-AE21-46C8-4CE69CA8A7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0184" y="3868069"/>
                <a:ext cx="5091736" cy="587218"/>
              </a:xfrm>
              <a:prstGeom prst="roundRect">
                <a:avLst/>
              </a:prstGeom>
              <a:blipFill>
                <a:blip r:embed="rId10"/>
                <a:stretch>
                  <a:fillRect t="-8333" b="-1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DB32A44-44F5-D86D-BA8B-DD81C19558A8}"/>
              </a:ext>
            </a:extLst>
          </p:cNvPr>
          <p:cNvSpPr/>
          <p:nvPr/>
        </p:nvSpPr>
        <p:spPr>
          <a:xfrm>
            <a:off x="6358396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Every principal’s state is recorded in the global protocol state at each step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/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29BA3BD-49B8-3268-0435-4D5521DE3A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3922" y="2985837"/>
                <a:ext cx="184345" cy="276999"/>
              </a:xfrm>
              <a:prstGeom prst="rect">
                <a:avLst/>
              </a:prstGeom>
              <a:blipFill>
                <a:blip r:embed="rId11"/>
                <a:stretch>
                  <a:fillRect l="-25000" r="-1875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/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342E8AC-6F57-5EEA-705D-8619186B27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7771" y="3346114"/>
                <a:ext cx="184345" cy="276999"/>
              </a:xfrm>
              <a:prstGeom prst="rect">
                <a:avLst/>
              </a:prstGeom>
              <a:blipFill>
                <a:blip r:embed="rId12"/>
                <a:stretch>
                  <a:fillRect l="-25000" r="-25000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/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ℓ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1366B6B-4070-1BA0-BD18-6F9864950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9340" y="3124336"/>
                <a:ext cx="184345" cy="276999"/>
              </a:xfrm>
              <a:prstGeom prst="rect">
                <a:avLst/>
              </a:prstGeom>
              <a:blipFill>
                <a:blip r:embed="rId13"/>
                <a:stretch>
                  <a:fillRect l="-25000" r="-25000"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EE4AFC8-6B0E-2046-B53F-382C434653B9}"/>
              </a:ext>
            </a:extLst>
          </p:cNvPr>
          <p:cNvSpPr/>
          <p:nvPr/>
        </p:nvSpPr>
        <p:spPr>
          <a:xfrm>
            <a:off x="305745" y="1537886"/>
            <a:ext cx="4868073" cy="68929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Each rule also has a multiset of labels referenced later when specifying properties 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D3F756C-76D4-435E-45E3-2ACDB6609233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3996095" y="2227185"/>
            <a:ext cx="225258" cy="758652"/>
          </a:xfrm>
          <a:prstGeom prst="straightConnector1">
            <a:avLst/>
          </a:prstGeom>
          <a:ln>
            <a:solidFill>
              <a:schemeClr val="tx2">
                <a:lumMod val="25000"/>
                <a:lumOff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81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5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1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indefinite"/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0" dur="indefinite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6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9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2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5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8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1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4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7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0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3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6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19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2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indefinite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5" dur="indefinite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indefinit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8" dur="indefinite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1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4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indefinite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7" dur="indefinite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0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indefinite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3" dur="indefinite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6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9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2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5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51" grpId="1" animBg="1"/>
      <p:bldP spid="8" grpId="0" animBg="1"/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25" grpId="0"/>
      <p:bldP spid="25" grpId="1"/>
      <p:bldP spid="26" grpId="0"/>
      <p:bldP spid="26" grpId="1"/>
      <p:bldP spid="27" grpId="0" animBg="1"/>
      <p:bldP spid="18" grpId="0"/>
      <p:bldP spid="18" grpId="1"/>
      <p:bldP spid="20" grpId="0"/>
      <p:bldP spid="20" grpId="1"/>
      <p:bldP spid="21" grpId="0"/>
      <p:bldP spid="21" grpId="1"/>
      <p:bldP spid="35" grpId="0" animBg="1"/>
      <p:bldP spid="35" grpId="1" animBg="1"/>
      <p:bldP spid="35" grpId="2" animBg="1"/>
      <p:bldP spid="38" grpId="0" animBg="1"/>
      <p:bldP spid="38" grpId="1" animBg="1"/>
      <p:bldP spid="38" grpId="2" animBg="1"/>
      <p:bldP spid="40" grpId="0"/>
      <p:bldP spid="40" grpId="1"/>
      <p:bldP spid="41" grpId="0"/>
      <p:bldP spid="41" grpId="1"/>
      <p:bldP spid="42" grpId="0"/>
      <p:bldP spid="42" grpId="1"/>
      <p:bldP spid="43" grpId="0" animBg="1"/>
      <p:bldP spid="43" grpId="1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In general, the two main approaches are based on </a:t>
                </a:r>
                <a:r>
                  <a:rPr lang="en-US" dirty="0">
                    <a:latin typeface="Source Sans Pro"/>
                    <a:ea typeface="Source Sans Pro"/>
                    <a:cs typeface="+mn-lt"/>
                  </a:rPr>
                  <a:t>the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  <a:cs typeface="+mn-lt"/>
                  </a:rPr>
                  <a:t>applied 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Aptos"/>
                    <a:ea typeface="Source Sans Pro"/>
                  </a:rPr>
                  <a:t>π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-calculus </a:t>
                </a:r>
                <a:r>
                  <a:rPr lang="en-US" dirty="0">
                    <a:latin typeface="Source Sans Pro"/>
                    <a:ea typeface="Source Sans Pro"/>
                  </a:rPr>
                  <a:t>and </a:t>
                </a:r>
                <a:r>
                  <a:rPr lang="en-US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multiset rewriting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latin typeface="Source Sans Pro"/>
                    <a:ea typeface="Source Sans Pro"/>
                  </a:rPr>
                  <a:t>We can view a protocol as a set of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multiset rewriting rules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Each rule intuitively denotes a protocol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state or mode transition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We rewrite multisets of facts, each fact a term of the form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b="0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</m:oMath>
                </a14:m>
                <a:r>
                  <a:rPr lang="en-US" b="0" dirty="0">
                    <a:latin typeface="Source Sans Pro"/>
                    <a:ea typeface="Source Sans Pro"/>
                  </a:rPr>
                  <a:t> is a </a:t>
                </a:r>
                <a:r>
                  <a:rPr lang="en-US" b="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fact symbol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Terms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through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cannot contain fact symbols</a:t>
                </a:r>
              </a:p>
              <a:p>
                <a:endParaRPr lang="en-US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87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Protocols in the Symbolic Model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62D15-35BC-BCF6-BE0F-8854AFE97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endParaRPr lang="en-US" sz="2400" dirty="0">
              <a:solidFill>
                <a:schemeClr val="accent6">
                  <a:lumMod val="76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/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𝑥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)}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1800" dirty="0">
                    <a:latin typeface="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!</m:t>
                        </m:r>
                        <m:r>
                          <m:rPr>
                            <m:nor/>
                          </m:rPr>
                          <a:rPr lang="en-US" sz="1800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d>
                          <m:dPr>
                            <m:ctrlPr>
                              <a:rPr lang="en-US" sz="18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 </m:t>
                    </m:r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d>
                      <m:d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sz="18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enc</m:t>
                        </m:r>
                        <m:d>
                          <m:d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18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}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, … </a:t>
                </a:r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4DE7EC5-A10B-0BC8-60F1-FC1EED7FFE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2954574"/>
                <a:ext cx="10519888" cy="997094"/>
              </a:xfrm>
              <a:prstGeom prst="roundRect">
                <a:avLst/>
              </a:prstGeom>
              <a:blipFill>
                <a:blip r:embed="rId2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/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In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!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KeyB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𝑘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MyEnc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}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i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Out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enc</m:t>
                            </m:r>
                            <m:d>
                              <m:dPr>
                                <m:ctrlP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𝑁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chemeClr val="tx2">
                                            <a:lumMod val="75000"/>
                                            <a:lumOff val="25000"/>
                                          </a:schemeClr>
                                        </a:solidFill>
                                        <a:latin typeface=""/>
                                        <a:ea typeface="Source Sans Pro"/>
                                      </a:rPr>
                                      <m:t>𝐴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, </m:t>
                                </m:r>
                                <m:r>
                                  <a:rPr lang="en-US" i="1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</m:e>
                        </m:d>
                      </m:e>
                    </m:d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 …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30212C8B-8AC5-B060-DD02-0FA301F483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4109094"/>
                <a:ext cx="10519888" cy="997094"/>
              </a:xfrm>
              <a:prstGeom prst="roundRect">
                <a:avLst/>
              </a:prstGeom>
              <a:blipFill>
                <a:blip r:embed="rId3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/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Distinguished (built-in) fact symbols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In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Fr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,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</a:t>
                </a:r>
                <a:r>
                  <a:rPr lang="en-US" sz="2000" dirty="0">
                    <a:latin typeface="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(built-in adversary modeling)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EFBFD0D9-1FDB-218B-4C73-AAC3C29672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1800054"/>
                <a:ext cx="10519888" cy="997094"/>
              </a:xfrm>
              <a:prstGeom prst="roundRect">
                <a:avLst/>
              </a:prstGeom>
              <a:blipFill>
                <a:blip r:embed="rId4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/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20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Protocol-specific (user) fact symbols</a:t>
                </a:r>
              </a:p>
              <a:p>
                <a:pPr marL="0" indent="0" algn="ctr">
                  <a:buNone/>
                </a:pP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!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00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KeyB</m:t>
                    </m:r>
                    <m:r>
                      <m:rPr>
                        <m:nor/>
                      </m:rPr>
                      <a:rPr lang="en-US" sz="20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(.)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C86970A3-DF9D-BB57-191F-615258FFC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911" y="5263536"/>
                <a:ext cx="10519888" cy="997094"/>
              </a:xfrm>
              <a:prstGeom prst="roundRect">
                <a:avLst/>
              </a:prstGeom>
              <a:blipFill>
                <a:blip r:embed="rId5"/>
                <a:stretch>
                  <a:fillRect l="-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046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14294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1800" dirty="0">
                    <a:latin typeface="Source Sans Pro"/>
                    <a:ea typeface="Source Sans Pro"/>
                  </a:rPr>
                  <a:t>is a ground instance of one of the rewrite rules </a:t>
                </a:r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4110640" y="2463069"/>
            <a:ext cx="2817024" cy="70814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661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5">
            <a:extLst>
              <a:ext uri="{FF2B5EF4-FFF2-40B4-BE49-F238E27FC236}">
                <a16:creationId xmlns:a16="http://schemas.microsoft.com/office/drawing/2014/main" id="{B11E1C1A-D555-2170-A6F4-458A7CFC749C}"/>
              </a:ext>
            </a:extLst>
          </p:cNvPr>
          <p:cNvSpPr/>
          <p:nvPr/>
        </p:nvSpPr>
        <p:spPr>
          <a:xfrm>
            <a:off x="6882937" y="2536673"/>
            <a:ext cx="1263535" cy="60482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919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54A4F1A-08B2-D710-566E-A6FC1894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6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/>
                <a:ea typeface="Source Sans Pro"/>
              </a:rPr>
              <a:t>Update global state by removing l and introducing r</a:t>
            </a:r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A515F5B-8A9F-11E8-2FC6-22B93BB403E9}"/>
              </a:ext>
            </a:extLst>
          </p:cNvPr>
          <p:cNvSpPr/>
          <p:nvPr/>
        </p:nvSpPr>
        <p:spPr>
          <a:xfrm>
            <a:off x="4419393" y="2950225"/>
            <a:ext cx="3186752" cy="72500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51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Protocols in the Symbolic Model</a:t>
            </a:r>
            <a:endParaRPr lang="en-US" sz="40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can define a labeled transition relation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AB62D15-35BC-BCF6-BE0F-8854AFE972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6"/>
                <a:ext cx="10515600" cy="428053"/>
              </a:xfrm>
              <a:blipFill>
                <a:blip r:embed="rId2"/>
                <a:stretch>
                  <a:fillRect l="-965" t="-20000" b="-3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7EF8A5-4E6D-A5B6-ADC5-D4EEE0F855E9}"/>
              </a:ext>
            </a:extLst>
          </p:cNvPr>
          <p:cNvSpPr/>
          <p:nvPr/>
        </p:nvSpPr>
        <p:spPr>
          <a:xfrm>
            <a:off x="4257107" y="3058899"/>
            <a:ext cx="3693934" cy="1828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/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bSup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𝑆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 \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#</m:t>
                              </m:r>
                            </m:sup>
                          </m:s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𝑙</m:t>
                          </m:r>
                        </m:e>
                      </m:d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∪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4683638-6FF1-0E7C-658D-1A134AB1FB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058899"/>
                <a:ext cx="12191999" cy="8785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/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𝛼</m:t>
                          </m:r>
                        </m:sup>
                      </m:sSup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𝑟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∈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𝑔𝑖𝑛𝑠𝑡𝑠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𝑅</m:t>
                      </m:r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</m:t>
                      </m:r>
                      <m:r>
                        <m:rPr>
                          <m:nor/>
                        </m:rPr>
                        <a:rPr lang="en-US" sz="240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/>
                          <a:ea typeface="Source Sans Pro"/>
                        </a:rPr>
                        <m:t>     </m:t>
                      </m:r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𝑙</m:t>
                      </m:r>
                      <m:sSup>
                        <m:sSupPr>
                          <m:ctrlP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⊆</m:t>
                          </m:r>
                        </m:e>
                        <m:sup>
                          <m:r>
                            <a:rPr lang="en-US" sz="24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#</m:t>
                          </m:r>
                        </m:sup>
                      </m:sSup>
                      <m:r>
                        <a:rPr lang="en-US" sz="24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6F809F1-6DC9-0403-9427-D2E64904C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07" y="2575383"/>
                <a:ext cx="12191999" cy="837665"/>
              </a:xfrm>
              <a:prstGeom prst="rect">
                <a:avLst/>
              </a:prstGeom>
              <a:blipFill>
                <a:blip r:embed="rId4"/>
                <a:stretch>
                  <a:fillRect t="-4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/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  <m:sSup>
                      <m:sSupPr>
                        <m:ctrlP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sz="1800" b="0" i="1" smtClean="0">
                            <a:solidFill>
                              <a:schemeClr val="bg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p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𝑟</m:t>
                    </m:r>
                  </m:oMath>
                </a14:m>
                <a:r>
                  <a:rPr lang="en-US" sz="1800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is a ground instance of one of the rewrite rules </a:t>
                </a:r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BFE0CBE-8CB4-22CE-AE05-BB8D2ADCA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1229" y="2292389"/>
                <a:ext cx="2959331" cy="646331"/>
              </a:xfrm>
              <a:prstGeom prst="rect">
                <a:avLst/>
              </a:prstGeom>
              <a:blipFill>
                <a:blip r:embed="rId5"/>
                <a:stretch>
                  <a:fillRect l="-2146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EC5728C-5725-B938-438A-BCD65E614992}"/>
              </a:ext>
            </a:extLst>
          </p:cNvPr>
          <p:cNvSpPr txBox="1"/>
          <p:nvPr/>
        </p:nvSpPr>
        <p:spPr>
          <a:xfrm>
            <a:off x="4419393" y="3702960"/>
            <a:ext cx="3785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2">
                    <a:lumMod val="75000"/>
                  </a:schemeClr>
                </a:solidFill>
                <a:latin typeface="Source Sans Pro"/>
                <a:ea typeface="Source Sans Pro"/>
              </a:rPr>
              <a:t>Update global state by removing l and introducing r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trace</a:t>
                </a:r>
                <a:r>
                  <a:rPr lang="en-US" sz="2400" dirty="0">
                    <a:latin typeface="Source Sans Pro"/>
                    <a:ea typeface="Source Sans Pro"/>
                  </a:rPr>
                  <a:t>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a sequence of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…, </m:t>
                    </m:r>
                    <m:sSub>
                      <m:sSubPr>
                        <m:ctrlP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err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that:</a:t>
                </a: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0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=∅ 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sub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𝛼</m:t>
                        </m:r>
                      </m:sup>
                    </m:sSubSup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+1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for all</a:t>
                </a:r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Fresh rule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{}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𝐹𝑟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)}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76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used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 most once </a:t>
                </a:r>
                <a:r>
                  <a:rPr lang="en-US" sz="2400" dirty="0">
                    <a:latin typeface="Source Sans Pro"/>
                    <a:ea typeface="Source Sans Pro"/>
                  </a:rPr>
                  <a:t>for each instantiation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6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ABB4E92A-B347-FD3D-540E-9FD07FAD58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4538346"/>
                <a:ext cx="10515600" cy="1854141"/>
              </a:xfrm>
              <a:prstGeom prst="rect">
                <a:avLst/>
              </a:prstGeom>
              <a:blipFill>
                <a:blip r:embed="rId6"/>
                <a:stretch>
                  <a:fillRect l="-844" t="-4762" b="-34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/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The current state contains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chemeClr val="bg2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𝑙</m:t>
                    </m:r>
                  </m:oMath>
                </a14:m>
                <a:endParaRPr lang="en-US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77C3B0-2BC1-6672-751F-F50F5D9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1549" y="2381107"/>
                <a:ext cx="2959331" cy="369332"/>
              </a:xfrm>
              <a:prstGeom prst="rect">
                <a:avLst/>
              </a:prstGeom>
              <a:blipFill>
                <a:blip r:embed="rId7"/>
                <a:stretch>
                  <a:fillRect l="-170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4314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2A0C7B-D397-72BC-601A-52680DE79D39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6F0D58-ED3F-D04E-FBBB-7085A83637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7312510-94E4-0C3A-4CC2-5EA1E5D5EC9E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781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ED805D-D6D3-88BF-7AA6-7B00E9E553B4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F983DC-4E67-ED63-3328-05C2C47C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8AD482B-3090-F631-2E95-89176D5E7D73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F5839A9-9EBC-A4E9-33E2-7EA10DDA523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F91D5EF-A761-1ECA-3B24-8DEEB769D558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237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8" name="Rounded Rectangle 27">
                <a:extLst>
                  <a:ext uri="{FF2B5EF4-FFF2-40B4-BE49-F238E27FC236}">
                    <a16:creationId xmlns:a16="http://schemas.microsoft.com/office/drawing/2014/main" id="{7A713B26-A9F0-C8E2-F549-3F80E5FA46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Picture 23">
            <a:extLst>
              <a:ext uri="{FF2B5EF4-FFF2-40B4-BE49-F238E27FC236}">
                <a16:creationId xmlns:a16="http://schemas.microsoft.com/office/drawing/2014/main" id="{49A07255-D606-7239-F692-60C93E004D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7ED143A-4C96-2B5F-062D-183338ED0A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66FB430-7212-41DB-9F81-825F26D70E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B124D15C-2680-075A-8441-18F27F407CF5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55CA73E-3B45-28E8-ED9B-15142615C5EF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E65C77E-8D4D-8066-501A-096C0CA2F5DC}"/>
              </a:ext>
            </a:extLst>
          </p:cNvPr>
          <p:cNvSpPr/>
          <p:nvPr/>
        </p:nvSpPr>
        <p:spPr>
          <a:xfrm>
            <a:off x="5824980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ECF693-0B40-5ED8-7E8C-F61094845F2D}"/>
              </a:ext>
            </a:extLst>
          </p:cNvPr>
          <p:cNvSpPr/>
          <p:nvPr/>
        </p:nvSpPr>
        <p:spPr>
          <a:xfrm>
            <a:off x="4193606" y="3191960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864AE8A-EC85-7B92-5848-55FA33220943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339419C-8048-AB19-EE80-110581EC3607}"/>
              </a:ext>
            </a:extLst>
          </p:cNvPr>
          <p:cNvCxnSpPr>
            <a:cxnSpLocks/>
            <a:endCxn id="22" idx="0"/>
          </p:cNvCxnSpPr>
          <p:nvPr/>
        </p:nvCxnSpPr>
        <p:spPr>
          <a:xfrm flipH="1">
            <a:off x="6621616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068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2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/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9" name="Rounded Rectangle 28">
                <a:extLst>
                  <a:ext uri="{FF2B5EF4-FFF2-40B4-BE49-F238E27FC236}">
                    <a16:creationId xmlns:a16="http://schemas.microsoft.com/office/drawing/2014/main" id="{24F66A47-95C2-E5D2-5591-983EA2EF10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1" y="4585421"/>
                <a:ext cx="10289061" cy="859497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11E4A6-5EE3-697E-1851-1C0E4A547384}"/>
              </a:ext>
            </a:extLst>
          </p:cNvPr>
          <p:cNvSpPr/>
          <p:nvPr/>
        </p:nvSpPr>
        <p:spPr>
          <a:xfrm>
            <a:off x="5140039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A16B1CA-86A8-7E30-961E-619DE19715A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59705268-951F-6AE5-56EA-E669DA5067F2}"/>
              </a:ext>
            </a:extLst>
          </p:cNvPr>
          <p:cNvSpPr/>
          <p:nvPr/>
        </p:nvSpPr>
        <p:spPr>
          <a:xfrm>
            <a:off x="2410694" y="3519063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E302869-62F2-F192-5B78-B9A02645A3C3}"/>
              </a:ext>
            </a:extLst>
          </p:cNvPr>
          <p:cNvSpPr/>
          <p:nvPr/>
        </p:nvSpPr>
        <p:spPr>
          <a:xfrm>
            <a:off x="2396839" y="3921696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DFA841-63B1-DF16-3D1C-D0250782332C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BC79C4EE-7C2A-642F-DB42-7B7FCC8DB2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/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Next step takes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StA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)</m:t>
                    </m:r>
                  </m:oMath>
                </a14:m>
                <a:r>
                  <a:rPr lang="en-US" dirty="0">
                    <a:latin typeface=""/>
                  </a:rPr>
                  <a:t> as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"/>
                  </a:rPr>
                  <a:t>premise</a:t>
                </a:r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74990FC-89DE-CB4A-E5E9-ABE487EBB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2950420"/>
                <a:ext cx="4651145" cy="369332"/>
              </a:xfrm>
              <a:prstGeom prst="rect">
                <a:avLst/>
              </a:prstGeom>
              <a:blipFill>
                <a:blip r:embed="rId5"/>
                <a:stretch>
                  <a:fillRect l="-1090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C81C37B-51F1-5580-614E-8082D3FB2710}"/>
              </a:ext>
            </a:extLst>
          </p:cNvPr>
          <p:cNvSpPr txBox="1"/>
          <p:nvPr/>
        </p:nvSpPr>
        <p:spPr>
          <a:xfrm>
            <a:off x="6096000" y="3253790"/>
            <a:ext cx="3390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Enforces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ordering constraint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355D120-E616-3E16-D214-463F2F266685}"/>
              </a:ext>
            </a:extLst>
          </p:cNvPr>
          <p:cNvSpPr/>
          <p:nvPr/>
        </p:nvSpPr>
        <p:spPr>
          <a:xfrm>
            <a:off x="5824980" y="5944707"/>
            <a:ext cx="1593272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42067B7-138F-A9AC-B577-D190A04895E5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6621616" y="3611451"/>
            <a:ext cx="1087580" cy="2333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D69D97F8-EAED-E27D-AB59-B0ED3F080B8A}"/>
              </a:ext>
            </a:extLst>
          </p:cNvPr>
          <p:cNvSpPr/>
          <p:nvPr/>
        </p:nvSpPr>
        <p:spPr>
          <a:xfrm>
            <a:off x="2396838" y="3103521"/>
            <a:ext cx="1704110" cy="36933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75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A15A2C-FB87-F720-7F75-D41659803363}"/>
              </a:ext>
            </a:extLst>
          </p:cNvPr>
          <p:cNvSpPr txBox="1"/>
          <p:nvPr/>
        </p:nvSpPr>
        <p:spPr>
          <a:xfrm>
            <a:off x="809106" y="5439881"/>
            <a:ext cx="11928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 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A0104-CA52-1A7F-FF5D-3FD9F795B22A}"/>
              </a:ext>
            </a:extLst>
          </p:cNvPr>
          <p:cNvSpPr txBox="1"/>
          <p:nvPr/>
        </p:nvSpPr>
        <p:spPr>
          <a:xfrm>
            <a:off x="951262" y="1690688"/>
            <a:ext cx="102890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</a:rPr>
              <a:t>How to formalize a protocol in a set of multiset rewriting rules?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6FB430-7212-41DB-9F81-825F26D70E1E}"/>
              </a:ext>
            </a:extLst>
          </p:cNvPr>
          <p:cNvSpPr txBox="1"/>
          <p:nvPr/>
        </p:nvSpPr>
        <p:spPr>
          <a:xfrm>
            <a:off x="7024255" y="3242119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Adversary rules built in!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80240D-4905-7F48-4EFD-10FAFD0C2B86}"/>
              </a:ext>
            </a:extLst>
          </p:cNvPr>
          <p:cNvSpPr/>
          <p:nvPr/>
        </p:nvSpPr>
        <p:spPr>
          <a:xfrm>
            <a:off x="3069771" y="3151414"/>
            <a:ext cx="473529" cy="12083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8CF94F1-0FCE-5338-22B8-2EBCB4D688C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4" t="2377" r="56712" b="125"/>
          <a:stretch/>
        </p:blipFill>
        <p:spPr>
          <a:xfrm>
            <a:off x="2067175" y="2298680"/>
            <a:ext cx="2363437" cy="21913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051CAA5-F16A-99A5-2A1E-0B5975685BC1}"/>
              </a:ext>
            </a:extLst>
          </p:cNvPr>
          <p:cNvSpPr/>
          <p:nvPr/>
        </p:nvSpPr>
        <p:spPr>
          <a:xfrm>
            <a:off x="4212771" y="3135086"/>
            <a:ext cx="489858" cy="13549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/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 rule for each honest step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𝑝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,!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→{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StA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(⟨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𝑁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𝐴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⟩,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))}</m:t>
                      </m:r>
                    </m:oMath>
                  </m:oMathPara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225DEC71-9CD6-1E47-C942-E58A6D7112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5556457"/>
                <a:ext cx="10289060" cy="85949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/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First, a means of key generation (implicit in Alice-Bob notation)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</a:p>
              <a:p>
                <a:pPr algn="ctr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!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AEC27BFC-09C0-A383-05D4-083E8A7C81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2" y="4585421"/>
                <a:ext cx="10289060" cy="85949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71253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69C57-D330-64B9-5244-08AAE52CB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6837E-A714-7106-AF8E-5FEAA148D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C7B3C8-A769-A755-7C15-1954EF358D4D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DA54B0-3EF1-2DEF-5B65-08E237603372}"/>
              </a:ext>
            </a:extLst>
          </p:cNvPr>
          <p:cNvSpPr txBox="1"/>
          <p:nvPr/>
        </p:nvSpPr>
        <p:spPr>
          <a:xfrm>
            <a:off x="951263" y="1549599"/>
            <a:ext cx="108247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C00000"/>
                </a:solidFill>
                <a:latin typeface=""/>
                <a:ea typeface="Source Sans Pro"/>
              </a:rPr>
              <a:t>How to generate a trace?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/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50A41A1-7E32-09E0-694D-A26191A317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53" y="4768315"/>
                <a:ext cx="919101" cy="707886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/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5A659475-4D21-AEDE-DD7D-34A6FCF718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4326" y="4768314"/>
                <a:ext cx="1370676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/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i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)}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66709557-B838-D6F6-50AE-C13748D262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0067" y="5709207"/>
                <a:ext cx="4202629" cy="1023231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/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Pk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6774E60-C8CC-1490-F2EE-831F2B9124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7763" y="4637635"/>
                <a:ext cx="4202629" cy="1023231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/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𝑠𝑘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𝑠𝑘</m:t>
                              </m:r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𝑖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𝑑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𝑠𝑘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𝑑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"/>
                                          <a:ea typeface="Source Sans Pro"/>
                                        </a:rPr>
                                        <m:t>𝑠𝑘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EBC9A867-E143-60D8-4096-30C6791A01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2029432"/>
                <a:ext cx="8760774" cy="1022040"/>
              </a:xfrm>
              <a:prstGeom prst="roundRect">
                <a:avLst/>
              </a:prstGeom>
              <a:blipFill>
                <a:blip r:embed="rId6"/>
                <a:stretch>
                  <a:fillRect b="-3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/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Built-in rules </a:t>
                </a:r>
                <a:endParaRPr lang="en-US" i="1" dirty="0">
                  <a:solidFill>
                    <a:schemeClr val="tx1"/>
                  </a:solidFill>
                  <a:latin typeface=""/>
                  <a:ea typeface="Source Sans Pro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∅→{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algn="ctr"/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…</a:t>
                </a:r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19FF9733-1B8A-41AE-708B-3EAF1FED29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556" y="3146706"/>
                <a:ext cx="8760774" cy="1022040"/>
              </a:xfrm>
              <a:prstGeom prst="roundRect">
                <a:avLst/>
              </a:prstGeom>
              <a:blipFill>
                <a:blip r:embed="rId7"/>
                <a:stretch>
                  <a:fillRect b="-2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96E3FF0-C888-08BF-839A-B80C814E3858}"/>
              </a:ext>
            </a:extLst>
          </p:cNvPr>
          <p:cNvCxnSpPr>
            <a:stCxn id="9" idx="6"/>
            <a:endCxn id="12" idx="2"/>
          </p:cNvCxnSpPr>
          <p:nvPr/>
        </p:nvCxnSpPr>
        <p:spPr>
          <a:xfrm flipV="1">
            <a:off x="1537854" y="5122257"/>
            <a:ext cx="129647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/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E32DD8-8369-F724-B8B8-2CD0F59F2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5741" y="5291534"/>
                <a:ext cx="172592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/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!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Pk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pk</m:t>
                              </m:r>
                              <m:d>
                                <m:d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i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Source Sans Pro" panose="020B0503030403020204" pitchFamily="34" charset="0"/>
                                      <a:ea typeface="Source Sans Pro" panose="020B0503030403020204" pitchFamily="34" charset="0"/>
                                    </a:rPr>
                                    <m:t>pk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𝑠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𝑘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chemeClr val="tx2">
                                                  <a:lumMod val="75000"/>
                                                  <a:lumOff val="2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  <a:ea typeface="Source Sans Pro"/>
                                            </a:rPr>
                                            <m:t>𝐴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884A0B0-F9D4-DFEC-DE68-C981A59058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2542" y="4268774"/>
                <a:ext cx="6580835" cy="404983"/>
              </a:xfrm>
              <a:prstGeom prst="rect">
                <a:avLst/>
              </a:prstGeom>
              <a:blipFill>
                <a:blip r:embed="rId9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BD046B7-58A5-0837-3999-81B965405199}"/>
              </a:ext>
            </a:extLst>
          </p:cNvPr>
          <p:cNvCxnSpPr>
            <a:cxnSpLocks/>
            <a:stCxn id="12" idx="6"/>
            <a:endCxn id="16" idx="2"/>
          </p:cNvCxnSpPr>
          <p:nvPr/>
        </p:nvCxnSpPr>
        <p:spPr>
          <a:xfrm>
            <a:off x="4205002" y="5122257"/>
            <a:ext cx="3532761" cy="269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/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2BA2086-6015-59D4-6266-C5C70A4DF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4795" y="5940844"/>
                <a:ext cx="1570302" cy="369332"/>
              </a:xfrm>
              <a:prstGeom prst="rect">
                <a:avLst/>
              </a:prstGeom>
              <a:blipFill>
                <a:blip r:embed="rId10"/>
                <a:stretch>
                  <a:fillRect b="-17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FA0CC77-C6EE-8C73-7535-C3D154760496}"/>
              </a:ext>
            </a:extLst>
          </p:cNvPr>
          <p:cNvCxnSpPr>
            <a:cxnSpLocks/>
            <a:stCxn id="16" idx="4"/>
            <a:endCxn id="15" idx="6"/>
          </p:cNvCxnSpPr>
          <p:nvPr/>
        </p:nvCxnSpPr>
        <p:spPr>
          <a:xfrm flipH="1">
            <a:off x="8072696" y="5660866"/>
            <a:ext cx="1766382" cy="559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310EA40-8021-1B58-1B3A-346337892847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2812542" y="6220823"/>
            <a:ext cx="10575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6C4B60D0-FAEA-BC92-218A-36ACB32FB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556" y="5780693"/>
            <a:ext cx="880257" cy="88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71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4" grpId="0"/>
      <p:bldP spid="27" grpId="0"/>
      <p:bldP spid="3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Formalizing Security Properties in the Symbolic Model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Security properties can be partitioned into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trace properties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hyper properties</a:t>
            </a:r>
          </a:p>
          <a:p>
            <a:r>
              <a:rPr lang="en-US" dirty="0">
                <a:latin typeface="Source Sans Pro"/>
                <a:ea typeface="Source Sans Pro"/>
              </a:rPr>
              <a:t>Typical security properties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safety </a:t>
            </a:r>
            <a:r>
              <a:rPr lang="en-US" dirty="0">
                <a:latin typeface="Source Sans Pro"/>
                <a:ea typeface="Source Sans Pro"/>
              </a:rPr>
              <a:t>(“something bad never happens”), not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liveness </a:t>
            </a:r>
            <a:r>
              <a:rPr lang="en-US" dirty="0">
                <a:latin typeface="Source Sans Pro"/>
                <a:ea typeface="Source Sans Pro"/>
              </a:rPr>
              <a:t>(“something good eventually happens”)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324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F22A8-9E30-F8AE-5C33-7B0640938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2669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600" dirty="0">
                <a:ea typeface="Source Sans Pro"/>
              </a:rPr>
              <a:t>We encode properties in a variant of first-order logic</a:t>
            </a:r>
            <a:endParaRPr lang="en-US" sz="2600" b="0" dirty="0">
              <a:solidFill>
                <a:schemeClr val="tx2">
                  <a:lumMod val="75000"/>
                  <a:lumOff val="25000"/>
                </a:schemeClr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083A8D-E4E4-4A7A-D7CD-A7A51D3B7388}"/>
              </a:ext>
            </a:extLst>
          </p:cNvPr>
          <p:cNvSpPr txBox="1"/>
          <p:nvPr/>
        </p:nvSpPr>
        <p:spPr>
          <a:xfrm>
            <a:off x="951263" y="39188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9A3EFF-6145-FE07-AB34-209111743F38}"/>
              </a:ext>
            </a:extLst>
          </p:cNvPr>
          <p:cNvSpPr txBox="1"/>
          <p:nvPr/>
        </p:nvSpPr>
        <p:spPr>
          <a:xfrm>
            <a:off x="3689131" y="428822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A712896-7413-3ECA-709C-B69DE4C5E439}"/>
              </a:ext>
            </a:extLst>
          </p:cNvPr>
          <p:cNvSpPr txBox="1">
            <a:spLocks/>
          </p:cNvSpPr>
          <p:nvPr/>
        </p:nvSpPr>
        <p:spPr>
          <a:xfrm>
            <a:off x="951263" y="1750224"/>
            <a:ext cx="1028906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We can encode protocols, but how do we find security problems?</a:t>
            </a:r>
          </a:p>
        </p:txBody>
      </p:sp>
    </p:spTree>
    <p:extLst>
      <p:ext uri="{BB962C8B-B14F-4D97-AF65-F5344CB8AC3E}">
        <p14:creationId xmlns:p14="http://schemas.microsoft.com/office/powerpoint/2010/main" val="13641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818131"/>
              </a:xfr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158836" y="3547032"/>
            <a:ext cx="651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Predicate symbols refer to fact symbols in protocol description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B9A1B-3E0C-A6F7-35C1-0D2699104AB9}"/>
              </a:ext>
            </a:extLst>
          </p:cNvPr>
          <p:cNvCxnSpPr>
            <a:cxnSpLocks/>
          </p:cNvCxnSpPr>
          <p:nvPr/>
        </p:nvCxnSpPr>
        <p:spPr>
          <a:xfrm flipV="1">
            <a:off x="4696691" y="3144624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>
            <a:extLst>
              <a:ext uri="{FF2B5EF4-FFF2-40B4-BE49-F238E27FC236}">
                <a16:creationId xmlns:a16="http://schemas.microsoft.com/office/drawing/2014/main" id="{1C0A4EA4-5CAB-33EE-9AED-F2BBFE46E38A}"/>
              </a:ext>
            </a:extLst>
          </p:cNvPr>
          <p:cNvSpPr/>
          <p:nvPr/>
        </p:nvSpPr>
        <p:spPr>
          <a:xfrm>
            <a:off x="4038600" y="2750547"/>
            <a:ext cx="131618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107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3057502" y="3484420"/>
            <a:ext cx="8105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We include an additional argument to each predicate representing a timepoint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6026725" y="3151551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5805054" y="2756598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EA50001B-6CF8-92E4-77F6-3BC76BF637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7" name="Content Placeholder 2">
                <a:extLst>
                  <a:ext uri="{FF2B5EF4-FFF2-40B4-BE49-F238E27FC236}">
                    <a16:creationId xmlns:a16="http://schemas.microsoft.com/office/drawing/2014/main" id="{3373647F-0D59-8572-F899-B39BF211C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533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latin typeface=""/>
                  </a:rPr>
                  <a:t> is secret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6864" y="3622194"/>
                <a:ext cx="2140201" cy="369332"/>
              </a:xfrm>
              <a:prstGeom prst="rect">
                <a:avLst/>
              </a:prstGeom>
              <a:blipFill>
                <a:blip r:embed="rId2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5119253" y="323580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4031674" y="2635048"/>
            <a:ext cx="2202872" cy="60075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07ED4-51B1-EECD-F8E1-97395AD1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A239A92-9E8C-2613-6693-8DF8141A1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1EB697D3-4DD5-DD93-B143-E6ED8B7F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3825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454993-A266-5D66-99F7-BB6BF4580CE9}"/>
              </a:ext>
            </a:extLst>
          </p:cNvPr>
          <p:cNvSpPr txBox="1"/>
          <p:nvPr/>
        </p:nvSpPr>
        <p:spPr>
          <a:xfrm>
            <a:off x="5948565" y="3594027"/>
            <a:ext cx="42114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Built-in capturing adversary knowledge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5BB62A-13C4-F78B-9555-01CC70B321FD}"/>
              </a:ext>
            </a:extLst>
          </p:cNvPr>
          <p:cNvCxnSpPr>
            <a:cxnSpLocks/>
          </p:cNvCxnSpPr>
          <p:nvPr/>
        </p:nvCxnSpPr>
        <p:spPr>
          <a:xfrm flipV="1">
            <a:off x="7619997" y="3123577"/>
            <a:ext cx="0" cy="4024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5EAE4324-2671-9960-5780-6E1C35B8D6A1}"/>
              </a:ext>
            </a:extLst>
          </p:cNvPr>
          <p:cNvSpPr/>
          <p:nvPr/>
        </p:nvSpPr>
        <p:spPr>
          <a:xfrm>
            <a:off x="7405251" y="2735193"/>
            <a:ext cx="429491" cy="40993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F76DEE6-1F11-B169-8CD8-32F107AC2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5235C2F-C6FB-FA82-1764-4458D680B6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450461D0-59F0-5BF8-CDB4-E9CD2CF56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2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46625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/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"/>
                  </a:rPr>
                  <a:t>If a term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latin typeface=""/>
                  </a:rPr>
                  <a:t>is secret at any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𝑖</m:t>
                    </m:r>
                  </m:oMath>
                </a14:m>
                <a:r>
                  <a:rPr lang="en-US" dirty="0">
                    <a:latin typeface=""/>
                  </a:rPr>
                  <a:t>, then it is never in the adversary knowledge base</a:t>
                </a:r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B454993-A266-5D66-99F7-BB6BF4580C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0379" y="3778693"/>
                <a:ext cx="8552213" cy="369332"/>
              </a:xfrm>
              <a:prstGeom prst="rect">
                <a:avLst/>
              </a:prstGeom>
              <a:blipFill>
                <a:blip r:embed="rId2"/>
                <a:stretch>
                  <a:fillRect l="-74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30443D4F-B4F1-1CB7-ADB1-FA7F968D2FAF}"/>
              </a:ext>
            </a:extLst>
          </p:cNvPr>
          <p:cNvSpPr/>
          <p:nvPr/>
        </p:nvSpPr>
        <p:spPr>
          <a:xfrm>
            <a:off x="3034145" y="2510353"/>
            <a:ext cx="6456219" cy="96713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1EA0BA1-4698-2472-8AFD-611C242D8C3C}"/>
              </a:ext>
            </a:extLst>
          </p:cNvPr>
          <p:cNvCxnSpPr>
            <a:cxnSpLocks/>
            <a:stCxn id="26" idx="0"/>
            <a:endCxn id="5" idx="4"/>
          </p:cNvCxnSpPr>
          <p:nvPr/>
        </p:nvCxnSpPr>
        <p:spPr>
          <a:xfrm flipH="1" flipV="1">
            <a:off x="6262255" y="3477489"/>
            <a:ext cx="224231" cy="3012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89AA1FB5-CDD5-E553-B880-9C070A689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74A030D0-962E-D0BC-FB82-6DCC2B8F14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34BD141D-C8E7-CF37-B75B-CE84F8D045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3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081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/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0FEB469-5570-0B1E-CEDC-9E19215660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87" y="4592629"/>
                <a:ext cx="919101" cy="707886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/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A24C58C8-2959-807B-1262-D88880445E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0295" y="4592629"/>
                <a:ext cx="1454604" cy="707886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/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E87A498-6A0E-AA10-DAE2-7FA9E522D7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583" y="4592629"/>
                <a:ext cx="1454604" cy="707886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E195A13-0746-F299-2684-D909699D08E2}"/>
              </a:ext>
            </a:extLst>
          </p:cNvPr>
          <p:cNvCxnSpPr>
            <a:cxnSpLocks/>
            <a:stCxn id="7" idx="6"/>
            <a:endCxn id="13" idx="2"/>
          </p:cNvCxnSpPr>
          <p:nvPr/>
        </p:nvCxnSpPr>
        <p:spPr>
          <a:xfrm>
            <a:off x="1648688" y="4946572"/>
            <a:ext cx="9100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/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1A51D03-3E76-6651-11A1-FC50CDE4A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8736" y="4592629"/>
                <a:ext cx="1454604" cy="707886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2E09624-7510-DE1B-AFE0-51EB1F819AB1}"/>
              </a:ext>
            </a:extLst>
          </p:cNvPr>
          <p:cNvCxnSpPr>
            <a:cxnSpLocks/>
            <a:stCxn id="13" idx="6"/>
            <a:endCxn id="8" idx="2"/>
          </p:cNvCxnSpPr>
          <p:nvPr/>
        </p:nvCxnSpPr>
        <p:spPr>
          <a:xfrm>
            <a:off x="4013340" y="4946572"/>
            <a:ext cx="6469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29BFE3D-C06C-E3BB-174E-294946999645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114899" y="4946572"/>
            <a:ext cx="15556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7D36FD-047B-44E4-451C-C8310C2CAB05}"/>
              </a:ext>
            </a:extLst>
          </p:cNvPr>
          <p:cNvSpPr txBox="1"/>
          <p:nvPr/>
        </p:nvSpPr>
        <p:spPr>
          <a:xfrm>
            <a:off x="3900145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361374-A71A-9719-9230-710B0FDAEF29}"/>
              </a:ext>
            </a:extLst>
          </p:cNvPr>
          <p:cNvSpPr txBox="1"/>
          <p:nvPr/>
        </p:nvSpPr>
        <p:spPr>
          <a:xfrm>
            <a:off x="1698569" y="4980808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DE0EFF-89BE-0291-09C0-12003109B886}"/>
              </a:ext>
            </a:extLst>
          </p:cNvPr>
          <p:cNvSpPr txBox="1"/>
          <p:nvPr/>
        </p:nvSpPr>
        <p:spPr>
          <a:xfrm>
            <a:off x="6472179" y="5000855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/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∅→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Fr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4B53ED-59B2-B1FD-97AC-1A64A2980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909" y="4199543"/>
                <a:ext cx="1443087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/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Fr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Secret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5317B9C-2CE4-1848-C2B4-4C32AC7E5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4479" y="4201833"/>
                <a:ext cx="2412968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/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Out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CC5C86F-E022-BB57-FA0A-9E1A44839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541" y="4201369"/>
                <a:ext cx="2661498" cy="369332"/>
              </a:xfrm>
              <a:prstGeom prst="rect">
                <a:avLst/>
              </a:prstGeom>
              <a:blipFill>
                <a:blip r:embed="rId9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/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b="0" i="0" smtClean="0"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F79C01B6-F6C7-60BA-FF61-A39DA9587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7568" y="4609345"/>
                <a:ext cx="1454604" cy="707886"/>
              </a:xfrm>
              <a:prstGeom prst="ellipse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/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K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C3ED001-8725-231D-444B-CB93716A3C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2676" y="4196474"/>
                <a:ext cx="2169120" cy="369332"/>
              </a:xfrm>
              <a:prstGeom prst="rect">
                <a:avLst/>
              </a:prstGeom>
              <a:blipFill>
                <a:blip r:embed="rId11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589997B-0C1E-A035-F666-91E38ED6D989}"/>
              </a:ext>
            </a:extLst>
          </p:cNvPr>
          <p:cNvCxnSpPr>
            <a:cxnSpLocks/>
            <a:stCxn id="9" idx="6"/>
            <a:endCxn id="23" idx="2"/>
          </p:cNvCxnSpPr>
          <p:nvPr/>
        </p:nvCxnSpPr>
        <p:spPr>
          <a:xfrm>
            <a:off x="9125187" y="4946572"/>
            <a:ext cx="742381" cy="16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/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2BBDDF-AFFA-60A6-4A60-8482A2D37B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990" y="3850928"/>
                <a:ext cx="1397434" cy="369332"/>
              </a:xfrm>
              <a:prstGeom prst="rect">
                <a:avLst/>
              </a:prstGeom>
              <a:blipFill>
                <a:blip r:embed="rId12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/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A403E7B-FBB3-E97A-7883-6EBA39EDE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187" y="3842531"/>
                <a:ext cx="869212" cy="369332"/>
              </a:xfrm>
              <a:prstGeom prst="rect">
                <a:avLst/>
              </a:prstGeom>
              <a:blipFill>
                <a:blip r:embed="rId1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4242EDD1-31E6-338B-6D99-B0C93FB80BD7}"/>
              </a:ext>
            </a:extLst>
          </p:cNvPr>
          <p:cNvSpPr txBox="1"/>
          <p:nvPr/>
        </p:nvSpPr>
        <p:spPr>
          <a:xfrm>
            <a:off x="9036262" y="5027361"/>
            <a:ext cx="851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Step 3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1BD50F-3A4F-1FF2-F3D3-426748F116FC}"/>
              </a:ext>
            </a:extLst>
          </p:cNvPr>
          <p:cNvSpPr/>
          <p:nvPr/>
        </p:nvSpPr>
        <p:spPr>
          <a:xfrm>
            <a:off x="3230618" y="3799200"/>
            <a:ext cx="1614211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79F480A-D028-2E72-4004-1BFA159D3DFB}"/>
              </a:ext>
            </a:extLst>
          </p:cNvPr>
          <p:cNvSpPr/>
          <p:nvPr/>
        </p:nvSpPr>
        <p:spPr>
          <a:xfrm>
            <a:off x="9057282" y="3799200"/>
            <a:ext cx="1111952" cy="47811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7884B-F461-9C7A-F6FF-909209394C11}"/>
              </a:ext>
            </a:extLst>
          </p:cNvPr>
          <p:cNvSpPr/>
          <p:nvPr/>
        </p:nvSpPr>
        <p:spPr>
          <a:xfrm>
            <a:off x="4429169" y="5008518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DC35DCA-C1F5-8EFA-FE0E-42C5D1D82A4A}"/>
              </a:ext>
            </a:extLst>
          </p:cNvPr>
          <p:cNvSpPr/>
          <p:nvPr/>
        </p:nvSpPr>
        <p:spPr>
          <a:xfrm>
            <a:off x="9575983" y="5036309"/>
            <a:ext cx="295904" cy="33641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35380111-C773-7FDC-DC6A-FC310CE71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5" name="Content Placeholder 34">
            <a:extLst>
              <a:ext uri="{FF2B5EF4-FFF2-40B4-BE49-F238E27FC236}">
                <a16:creationId xmlns:a16="http://schemas.microsoft.com/office/drawing/2014/main" id="{32375149-5442-4904-6CCF-A62B94F59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92809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Weak secrecy</a:t>
                </a:r>
                <a:r>
                  <a:rPr lang="en-US" dirty="0">
                    <a:ea typeface="Source Sans Pro"/>
                  </a:rPr>
                  <a:t>: The adversary never learns secret terms</a:t>
                </a: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𝑥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⇒¬(∃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𝑥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6" name="Content Placeholder 2">
                <a:extLst>
                  <a:ext uri="{FF2B5EF4-FFF2-40B4-BE49-F238E27FC236}">
                    <a16:creationId xmlns:a16="http://schemas.microsoft.com/office/drawing/2014/main" id="{58580732-B0C2-BD70-8D4C-0758DC73DE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1818131"/>
              </a:xfrm>
              <a:prstGeom prst="rect">
                <a:avLst/>
              </a:prstGeom>
              <a:blipFill>
                <a:blip r:embed="rId14"/>
                <a:stretch>
                  <a:fillRect t="-55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815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10" grpId="0"/>
      <p:bldP spid="12" grpId="0"/>
      <p:bldP spid="14" grpId="0"/>
      <p:bldP spid="17" grpId="0"/>
      <p:bldP spid="19" grpId="0"/>
      <p:bldP spid="20" grpId="0"/>
      <p:bldP spid="23" grpId="0" animBg="1"/>
      <p:bldP spid="24" grpId="0"/>
      <p:bldP spid="32" grpId="0"/>
      <p:bldP spid="33" grpId="0"/>
      <p:bldP spid="34" grpId="0"/>
      <p:bldP spid="5" grpId="0" animBg="1"/>
      <p:bldP spid="6" grpId="0" animBg="1"/>
      <p:bldP spid="22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Non-injective agreement</a:t>
                </a:r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: If principal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accepted data item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, then previously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sent data item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rgbClr val="000000"/>
                    </a:solidFill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∀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𝑡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⇒(∃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Sent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 &amp;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𝑗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&lt;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97CAF92-1AF4-D245-A61E-D6C83AD2FD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0532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920232"/>
              </a:xfrm>
              <a:blipFill>
                <a:blip r:embed="rId2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A7454-35E9-C90B-7F6B-20F832B3C3E6}"/>
              </a:ext>
            </a:extLst>
          </p:cNvPr>
          <p:cNvSpPr txBox="1"/>
          <p:nvPr/>
        </p:nvSpPr>
        <p:spPr>
          <a:xfrm>
            <a:off x="3348906" y="3644938"/>
            <a:ext cx="70342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endParaRPr lang="en-US" sz="2800" dirty="0">
              <a:solidFill>
                <a:srgbClr val="000000"/>
              </a:solidFill>
              <a:latin typeface=""/>
              <a:ea typeface="Source Sans Pro"/>
            </a:endParaRPr>
          </a:p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  <a:latin typeface=""/>
                <a:ea typeface="Source Sans Pro"/>
              </a:rPr>
              <a:t>   No replay attacks!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41B44E-DC59-1A98-41D0-8C1AF7F493A7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404239F7-2C60-C53D-97A6-F36B05972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1040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Given a rewrite system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𝑅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𝜑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?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Automated reasoning </a:t>
                </a:r>
                <a:r>
                  <a:rPr lang="en-US" sz="2400" dirty="0">
                    <a:latin typeface="Source Sans Pro"/>
                    <a:ea typeface="Source Sans Pro"/>
                  </a:rPr>
                  <a:t>tool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Tamarin</a:t>
                </a:r>
                <a:r>
                  <a:rPr lang="en-US" sz="2400" dirty="0">
                    <a:latin typeface="Source Sans Pro"/>
                    <a:ea typeface="Source Sans Pro"/>
                  </a:rPr>
                  <a:t> implements a constraint solving algorithm for security protocols in the MSR formalism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From protocol and property, Tamarin creates a set of constraints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⊆℧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Define a core calculus of constraint solving rules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⊆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p>
                    </m:sSup>
                  </m:oMath>
                </a14:m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Iteratively apply rules from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⇝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until the constraint set is trivially satisfiable or unsatisfiable</a:t>
                </a:r>
              </a:p>
              <a:p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Constraint solving algo 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sound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sound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, but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attack complete </a:t>
                </a:r>
                <a:r>
                  <a:rPr lang="en-US" sz="2400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proof complete</a:t>
                </a:r>
              </a:p>
              <a:p>
                <a:endParaRPr lang="en-US" sz="2400" dirty="0">
                  <a:solidFill>
                    <a:schemeClr val="tx1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402124" cy="4667250"/>
              </a:xfrm>
              <a:blipFill>
                <a:blip r:embed="rId2"/>
                <a:stretch>
                  <a:fillRect l="-976" t="-1897" r="-8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149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</p:spPr>
            <p:txBody>
              <a:bodyPr vert="horz" lIns="91440" tIns="45720" rIns="91440" bIns="45720" rtlCol="0" anchor="t">
                <a:normAutofit fontScale="70000" lnSpcReduction="20000"/>
              </a:bodyPr>
              <a:lstStyle/>
              <a:p>
                <a:pPr marL="0" indent="0" algn="ctr">
                  <a:buNone/>
                </a:pPr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Given a set of rewrite rules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and a property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, how to tell if some trace of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𝑅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 violates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r>
                  <a:rPr lang="en-US" sz="2800" dirty="0">
                    <a:solidFill>
                      <a:srgbClr val="C00000"/>
                    </a:solidFill>
                    <a:ea typeface="Source Sans Pro"/>
                  </a:rPr>
                  <a:t>?</a:t>
                </a:r>
                <a:endParaRPr lang="en-US" dirty="0">
                  <a:solidFill>
                    <a:srgbClr val="C00000"/>
                  </a:solidFill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Search backward </a:t>
                </a:r>
                <a:r>
                  <a:rPr lang="en-US" dirty="0">
                    <a:ea typeface="Source Sans Pro"/>
                  </a:rPr>
                  <a:t>for an attack trace, </a:t>
                </a:r>
                <a:r>
                  <a:rPr lang="en-US" dirty="0">
                    <a:solidFill>
                      <a:schemeClr val="tx1"/>
                    </a:solidFill>
                    <a:ea typeface="Source Sans Pro"/>
                  </a:rPr>
                  <a:t>starting from a state that violates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𝜑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tx1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EF22A8-9E30-F8AE-5C33-7B06409382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5428"/>
                <a:ext cx="10515600" cy="755530"/>
              </a:xfrm>
              <a:blipFill>
                <a:blip r:embed="rId3"/>
                <a:stretch>
                  <a:fillRect t="-15000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6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703179" y="2738645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5" name="Content Placeholder 2">
            <a:extLst>
              <a:ext uri="{FF2B5EF4-FFF2-40B4-BE49-F238E27FC236}">
                <a16:creationId xmlns:a16="http://schemas.microsoft.com/office/drawing/2014/main" id="{84F12B45-7602-A7A8-CF87-0203BC1C1549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642086" y="4415317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/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Algo relies on Tamarin being able to perform </a:t>
                </a: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unification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on facts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800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=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E5CE0407-9CD9-21C7-45F8-37BDE5C332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4369" y="5032581"/>
                <a:ext cx="4073237" cy="1602102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513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 animBg="1"/>
      <p:bldP spid="13" grpId="0" animBg="1"/>
      <p:bldP spid="20" grpId="0"/>
      <p:bldP spid="21" grpId="0"/>
      <p:bldP spid="25" grpId="0"/>
      <p:bldP spid="27" grpId="0" animBg="1"/>
      <p:bldP spid="28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2285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9A1240F-85BA-DE99-2BB6-4339BCB17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037073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6A37253-F224-73AA-F3B4-3C32957D214F}"/>
              </a:ext>
            </a:extLst>
          </p:cNvPr>
          <p:cNvSpPr/>
          <p:nvPr/>
        </p:nvSpPr>
        <p:spPr>
          <a:xfrm>
            <a:off x="1313411" y="3158836"/>
            <a:ext cx="6616931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F64D54A-E01E-683A-EAAF-775E8BE66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43706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E8B3E3-12A8-E950-F70E-303225F743E0}"/>
              </a:ext>
            </a:extLst>
          </p:cNvPr>
          <p:cNvSpPr/>
          <p:nvPr/>
        </p:nvSpPr>
        <p:spPr>
          <a:xfrm>
            <a:off x="1313411" y="3715788"/>
            <a:ext cx="7697585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CF6864-E960-85B9-7DBC-94DF0A36E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5038973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88BC4-257F-1823-A8E7-84F65AB2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8345100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BC5273-9AFC-BCAC-886F-652F4C391F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951263" y="1921147"/>
            <a:ext cx="7905563" cy="32032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B74D3-D865-0CBA-495A-B88EB1554617}"/>
              </a:ext>
            </a:extLst>
          </p:cNvPr>
          <p:cNvSpPr/>
          <p:nvPr/>
        </p:nvSpPr>
        <p:spPr>
          <a:xfrm>
            <a:off x="1288473" y="4322617"/>
            <a:ext cx="6276109" cy="46551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/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Reminder: 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accepts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, </m:t>
                    </m:r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3), then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𝑁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 (in step 2)</a:t>
                </a:r>
              </a:p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</a:rPr>
                  <a:t>(and vice versa) (non-injective agreement)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3622C7C-F4EA-AEA2-5438-82C39E39CB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4720" y="5608205"/>
                <a:ext cx="8503920" cy="88467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C9D95884-547B-4A0E-7683-C67B3472E6A5}"/>
              </a:ext>
            </a:extLst>
          </p:cNvPr>
          <p:cNvSpPr txBox="1"/>
          <p:nvPr/>
        </p:nvSpPr>
        <p:spPr>
          <a:xfrm>
            <a:off x="3754927" y="5112167"/>
            <a:ext cx="46817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We have achieved mutual authentication!(?)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264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372187" y="3275975"/>
                <a:ext cx="31003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initiates with me,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And I impersonate them to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187" y="3275975"/>
                <a:ext cx="3100336" cy="646331"/>
              </a:xfrm>
              <a:prstGeom prst="rect">
                <a:avLst/>
              </a:prstGeom>
              <a:blipFill>
                <a:blip r:embed="rId4"/>
                <a:stretch>
                  <a:fillRect l="-1633" t="-3846" b="-13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6B6711BC-147F-023A-0FD5-55E41291FD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67F7AF2-0B3B-4FB2-5103-70E7B7A4D7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AE3BBFF1-CC1F-9DE4-A224-38729BBCFC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E799124D-CD90-8700-8D7A-C5CD668B7EBE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97591" y="3260748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2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2402AA4-B698-AB8E-0F34-B0191705BA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041152D-EE08-C006-756B-8D1F33D5824C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sends me a challenge, </a:t>
                </a:r>
              </a:p>
              <a:p>
                <a:r>
                  <a:rPr lang="en-US" dirty="0">
                    <a:latin typeface=""/>
                    <a:ea typeface="Source Sans Pro"/>
                  </a:rPr>
                  <a:t>But I just send it along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762" y="4257260"/>
                <a:ext cx="2923236" cy="646331"/>
              </a:xfrm>
              <a:prstGeom prst="rect">
                <a:avLst/>
              </a:prstGeom>
              <a:blipFill>
                <a:blip r:embed="rId4"/>
                <a:stretch>
                  <a:fillRect l="-1293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C9D37ECC-8D94-9D30-B058-7296E107CD7E}"/>
              </a:ext>
            </a:extLst>
          </p:cNvPr>
          <p:cNvSpPr/>
          <p:nvPr/>
        </p:nvSpPr>
        <p:spPr>
          <a:xfrm>
            <a:off x="8057611" y="3335119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E184515-6008-1B28-6316-6DE05E964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573FBDE9-107C-2FD8-E841-10880797DA0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642C9BAF-9D22-EEBA-F8FE-3802CAA1E2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131253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055EB5-9EB7-C956-241C-87EB70AE71C2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6348B262-FFCF-CD5F-2620-5F72AF4E5E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6B491E1-FA81-96AA-02D3-8D77462F29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2DF229C0-7550-F3DE-647D-A84DAB8734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E07EFD4B-F6BF-5390-B90D-367B28E7003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618B784B-8C82-5363-E017-D1EA2BC6D8E2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/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Impersonation should be noticed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!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A6EA-F05D-52D5-D6F8-D280300E7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3481209"/>
                <a:ext cx="2480801" cy="646331"/>
              </a:xfrm>
              <a:prstGeom prst="rect">
                <a:avLst/>
              </a:prstGeom>
              <a:blipFill>
                <a:blip r:embed="rId7"/>
                <a:stretch>
                  <a:fillRect l="-2041" t="-3922" b="-156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/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The message should be bound 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’s identity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E1F0314-B726-C865-6B5C-8F6BF8FF6D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4229013"/>
                <a:ext cx="2958959" cy="646331"/>
              </a:xfrm>
              <a:prstGeom prst="rect">
                <a:avLst/>
              </a:prstGeom>
              <a:blipFill>
                <a:blip r:embed="rId8"/>
                <a:stretch>
                  <a:fillRect l="-1717" t="-5882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/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Using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latin typeface=""/>
                    <a:ea typeface="Source Sans Pro"/>
                  </a:rPr>
                  <a:t>prevents the attack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A922CB7-FD51-B189-3F23-0A5A3B06FE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7996" y="5005483"/>
                <a:ext cx="2480801" cy="669992"/>
              </a:xfrm>
              <a:prstGeom prst="rect">
                <a:avLst/>
              </a:prstGeom>
              <a:blipFill>
                <a:blip r:embed="rId9"/>
                <a:stretch>
                  <a:fillRect l="-2041" t="-3774" b="-13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4D31A6C9-6F8A-284D-7BCE-C884CA4EE4B0}"/>
              </a:ext>
            </a:extLst>
          </p:cNvPr>
          <p:cNvSpPr/>
          <p:nvPr/>
        </p:nvSpPr>
        <p:spPr>
          <a:xfrm>
            <a:off x="4302529" y="4127540"/>
            <a:ext cx="3683479" cy="905773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4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F14BBF-7CDC-9A4C-C034-D7DF994BBF65}"/>
              </a:ext>
            </a:extLst>
          </p:cNvPr>
          <p:cNvSpPr/>
          <p:nvPr/>
        </p:nvSpPr>
        <p:spPr>
          <a:xfrm>
            <a:off x="7130577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9BD3E556-D847-AEAD-036B-9061B4BD11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9EAB3A92-6192-32C8-8437-6983341AC5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5C0A75B5-73F4-88AA-E6F4-0FBC0C6DEC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AA266E2B-E4AA-9687-FDD4-1AB4509E051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1" b="133"/>
          <a:stretch>
            <a:fillRect/>
          </a:stretch>
        </p:blipFill>
        <p:spPr>
          <a:xfrm>
            <a:off x="3916982" y="2374490"/>
            <a:ext cx="7497507" cy="340981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2896AEF-E1FD-7A31-2C6D-74339D343185}"/>
              </a:ext>
            </a:extLst>
          </p:cNvPr>
          <p:cNvSpPr/>
          <p:nvPr/>
        </p:nvSpPr>
        <p:spPr>
          <a:xfrm>
            <a:off x="8057611" y="3275975"/>
            <a:ext cx="3776909" cy="23900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E5C6E-BCA9-2F33-5E43-B52735B19EFF}"/>
              </a:ext>
            </a:extLst>
          </p:cNvPr>
          <p:cNvSpPr/>
          <p:nvPr/>
        </p:nvSpPr>
        <p:spPr>
          <a:xfrm>
            <a:off x="4346994" y="4945947"/>
            <a:ext cx="3683479" cy="77316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F2A0D0-3255-9599-843E-396BF03508F8}"/>
              </a:ext>
            </a:extLst>
          </p:cNvPr>
          <p:cNvSpPr txBox="1"/>
          <p:nvPr/>
        </p:nvSpPr>
        <p:spPr>
          <a:xfrm>
            <a:off x="1623368" y="5015805"/>
            <a:ext cx="2958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The attack succeeds following protocol steps</a:t>
            </a:r>
          </a:p>
        </p:txBody>
      </p:sp>
    </p:spTree>
    <p:extLst>
      <p:ext uri="{BB962C8B-B14F-4D97-AF65-F5344CB8AC3E}">
        <p14:creationId xmlns:p14="http://schemas.microsoft.com/office/powerpoint/2010/main" val="1929982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6B134-327B-0941-EFA2-626FD1C1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Needham-Schroeder Public Key Protocol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6B429F-7074-2761-2461-E28DCEBCCC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" t="451" r="1260" b="301"/>
          <a:stretch>
            <a:fillRect/>
          </a:stretch>
        </p:blipFill>
        <p:spPr>
          <a:xfrm>
            <a:off x="2182874" y="1966673"/>
            <a:ext cx="7905563" cy="3203289"/>
          </a:xfrm>
          <a:prstGeom prst="rect">
            <a:avLst/>
          </a:prstGeom>
          <a:ln>
            <a:noFill/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EF90065-7AAE-0B0A-B959-AA669B120547}"/>
              </a:ext>
            </a:extLst>
          </p:cNvPr>
          <p:cNvSpPr/>
          <p:nvPr/>
        </p:nvSpPr>
        <p:spPr>
          <a:xfrm>
            <a:off x="3315955" y="3868102"/>
            <a:ext cx="840011" cy="350216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/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Using a triple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p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𝐴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"/>
                                    <a:ea typeface="Source Sans Pro"/>
                                  </a:rPr>
                                  <m:t>𝐵</m:t>
                                </m:r>
                              </m:sub>
                            </m:s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, </m:t>
                            </m:r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  <m:sup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p>
                    </m:sSup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prevents the attack.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D5D8792B-348B-7118-E779-82A64458F6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5483336"/>
                <a:ext cx="4940580" cy="509478"/>
              </a:xfrm>
              <a:prstGeom prst="roundRect">
                <a:avLst/>
              </a:prstGeom>
              <a:blipFill>
                <a:blip r:embed="rId3"/>
                <a:stretch>
                  <a:fillRect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/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⟨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𝐴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𝑁</m:t>
                        </m:r>
                      </m:e>
                      <m:sub>
                        <m:r>
                          <a:rPr lang="en-US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𝐵</m:t>
                        </m:r>
                      </m:sub>
                    </m:sSub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⟩⟩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?</a:t>
                </a:r>
                <a:r>
                  <a:rPr lang="en-US" dirty="0">
                    <a:latin typeface=""/>
                    <a:ea typeface="Source Sans Pro"/>
                  </a:rPr>
                  <a:t>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Insecure!</a:t>
                </a:r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B2CE4F6B-AAEC-820D-12D9-1F65669DF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1167" y="6163661"/>
                <a:ext cx="4940580" cy="509478"/>
              </a:xfrm>
              <a:prstGeom prst="round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BEDBE90-DE91-072D-8166-75C57F6DAC62}"/>
              </a:ext>
            </a:extLst>
          </p:cNvPr>
          <p:cNvSpPr txBox="1"/>
          <p:nvPr/>
        </p:nvSpPr>
        <p:spPr>
          <a:xfrm>
            <a:off x="6382716" y="4886054"/>
            <a:ext cx="282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Bind message to sender ID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01E7CBE-AFAA-F245-8DF8-7C9B5B4B1461}"/>
              </a:ext>
            </a:extLst>
          </p:cNvPr>
          <p:cNvSpPr/>
          <p:nvPr/>
        </p:nvSpPr>
        <p:spPr>
          <a:xfrm>
            <a:off x="5854603" y="5588000"/>
            <a:ext cx="281052" cy="305572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A7397EB-652A-735D-C702-BAAE6CCBF594}"/>
              </a:ext>
            </a:extLst>
          </p:cNvPr>
          <p:cNvCxnSpPr>
            <a:cxnSpLocks/>
            <a:stCxn id="9" idx="1"/>
            <a:endCxn id="10" idx="0"/>
          </p:cNvCxnSpPr>
          <p:nvPr/>
        </p:nvCxnSpPr>
        <p:spPr>
          <a:xfrm flipH="1">
            <a:off x="5995129" y="5070720"/>
            <a:ext cx="387587" cy="5172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0D36F06D-4161-7F52-8709-DCF721DBD495}"/>
              </a:ext>
            </a:extLst>
          </p:cNvPr>
          <p:cNvSpPr/>
          <p:nvPr/>
        </p:nvSpPr>
        <p:spPr>
          <a:xfrm>
            <a:off x="5369826" y="3200400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52BDBA-9C84-7027-4C8F-B6AFC2527999}"/>
              </a:ext>
            </a:extLst>
          </p:cNvPr>
          <p:cNvSpPr/>
          <p:nvPr/>
        </p:nvSpPr>
        <p:spPr>
          <a:xfrm>
            <a:off x="5369826" y="4314879"/>
            <a:ext cx="3841293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427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A diagram of a graph&#10;&#10;Description automatically generated">
            <a:extLst>
              <a:ext uri="{FF2B5EF4-FFF2-40B4-BE49-F238E27FC236}">
                <a16:creationId xmlns:a16="http://schemas.microsoft.com/office/drawing/2014/main" id="{00C21EE1-30BD-07A2-3ECD-A230832170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5" y="337707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214581" y="3631962"/>
            <a:ext cx="2539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Intruder initiates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ABA4D8CC-0C61-502F-308E-5143155435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 16">
            <a:extLst>
              <a:ext uri="{FF2B5EF4-FFF2-40B4-BE49-F238E27FC236}">
                <a16:creationId xmlns:a16="http://schemas.microsoft.com/office/drawing/2014/main" id="{76096595-3B7A-6F60-13DB-5FF06375C7E3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34C8B001-C58E-BF9C-5A00-C6ACEE5BE5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69293631-5D53-5AE9-772B-74F7CE62AD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94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5512973A-5467-8C03-AB42-9C717B5B6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D08E0167-012F-D41A-5BB4-CCCDD5B1C3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16F1F1F9-A25A-C9D6-2600-5943393577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22C1D7F-1E9F-10FF-2837-A8EDAEDF0D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75431" y="3783852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1535697" y="3783852"/>
            <a:ext cx="25397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Response is confused as an initiation!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4145F7-3FC4-B454-40AA-F5E1E95958DA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8101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diagram of a graph&#10;&#10;Description automatically generated">
            <a:extLst>
              <a:ext uri="{FF2B5EF4-FFF2-40B4-BE49-F238E27FC236}">
                <a16:creationId xmlns:a16="http://schemas.microsoft.com/office/drawing/2014/main" id="{2C0D0FFA-BF8E-45FC-8FB4-1E8660550D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3806" y="2260677"/>
            <a:ext cx="8744674" cy="3753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Rounded Rectangle 14">
                <a:extLst>
                  <a:ext uri="{FF2B5EF4-FFF2-40B4-BE49-F238E27FC236}">
                    <a16:creationId xmlns:a16="http://schemas.microsoft.com/office/drawing/2014/main" id="{38C7FF64-D2CF-15D0-0E69-3B0F966DDA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FB98A3CD-5B49-B0C0-FD1A-CA64B45C15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1F6DAD-D5F8-14A3-5C5E-C1BB47E2BF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4279A4-74A9-BC0C-2536-FCBE23E16BE3}"/>
              </a:ext>
            </a:extLst>
          </p:cNvPr>
          <p:cNvSpPr/>
          <p:nvPr/>
        </p:nvSpPr>
        <p:spPr>
          <a:xfrm>
            <a:off x="4087470" y="4896631"/>
            <a:ext cx="4055408" cy="98107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C3DB54-EC6A-EC9B-46EF-2E5E414A27C0}"/>
              </a:ext>
            </a:extLst>
          </p:cNvPr>
          <p:cNvSpPr txBox="1"/>
          <p:nvPr/>
        </p:nvSpPr>
        <p:spPr>
          <a:xfrm>
            <a:off x="2093117" y="4954376"/>
            <a:ext cx="19943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Attack succeeds following protocol steps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FB3039F-4437-4B83-48B4-87B21F37C511}"/>
              </a:ext>
            </a:extLst>
          </p:cNvPr>
          <p:cNvSpPr/>
          <p:nvPr/>
        </p:nvSpPr>
        <p:spPr>
          <a:xfrm>
            <a:off x="8300931" y="3249386"/>
            <a:ext cx="4012233" cy="26452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5788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…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}→{</m:t>
                      </m:r>
                      <m:r>
                        <m:rPr>
                          <m:nor/>
                        </m:rPr>
                        <a:rPr lang="en-US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…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Out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3" name="Content Placeholder 2">
                <a:extLst>
                  <a:ext uri="{FF2B5EF4-FFF2-40B4-BE49-F238E27FC236}">
                    <a16:creationId xmlns:a16="http://schemas.microsoft.com/office/drawing/2014/main" id="{1E4EA248-AB8D-433B-1855-C467EEB55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243" y="2311773"/>
                <a:ext cx="10515600" cy="16811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/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sSubSup>
                        <m:sSub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𝐹𝑟</m:t>
                          </m:r>
                        </m:sup>
                      </m:sSub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↦</m:t>
                      </m:r>
                      <m:sSup>
                        <m:sSup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𝐹𝑟</m:t>
                                  </m:r>
                                </m:sup>
                              </m:sSubSup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𝑃𝑢𝑏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𝑀𝑠𝑔</m:t>
                          </m:r>
                        </m:sup>
                      </m:sSup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…}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1DDF645-5129-B9D2-A764-38644C29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7378" y="4300341"/>
                <a:ext cx="7316251" cy="578941"/>
              </a:xfrm>
              <a:prstGeom prst="rect">
                <a:avLst/>
              </a:prstGeom>
              <a:blipFill>
                <a:blip r:embed="rId4"/>
                <a:stretch>
                  <a:fillRect b="-10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952C69CE-C26E-C631-C49C-5895D81623D5}"/>
              </a:ext>
            </a:extLst>
          </p:cNvPr>
          <p:cNvSpPr/>
          <p:nvPr/>
        </p:nvSpPr>
        <p:spPr>
          <a:xfrm>
            <a:off x="5233489" y="2738645"/>
            <a:ext cx="3698241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64F116-F5DE-9395-6309-6AF64AB8EB90}"/>
              </a:ext>
            </a:extLst>
          </p:cNvPr>
          <p:cNvSpPr/>
          <p:nvPr/>
        </p:nvSpPr>
        <p:spPr>
          <a:xfrm>
            <a:off x="4859049" y="3198175"/>
            <a:ext cx="4518772" cy="4506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45BAE93-272E-51BB-928F-C98DD6251EE9}"/>
              </a:ext>
            </a:extLst>
          </p:cNvPr>
          <p:cNvSpPr/>
          <p:nvPr/>
        </p:nvSpPr>
        <p:spPr>
          <a:xfrm>
            <a:off x="2820530" y="5010621"/>
            <a:ext cx="6589949" cy="81185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dirty="0">
                <a:latin typeface=""/>
                <a:ea typeface="Source Sans Pro"/>
              </a:rPr>
              <a:t>With more sort information, the unifier is not </a:t>
            </a:r>
            <a:r>
              <a:rPr lang="en-US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  <a:ea typeface="Source Sans Pro"/>
              </a:rPr>
              <a:t>well-sorted</a:t>
            </a:r>
            <a:r>
              <a:rPr lang="en-US" dirty="0">
                <a:latin typeface=""/>
                <a:ea typeface="Source Sans Pro"/>
              </a:rPr>
              <a:t>           (step 2 expects a fresh atomic value and gets a pair message)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4B9807-E1A8-D9CF-8DBE-8C7E3B014596}"/>
              </a:ext>
            </a:extLst>
          </p:cNvPr>
          <p:cNvSpPr/>
          <p:nvPr/>
        </p:nvSpPr>
        <p:spPr>
          <a:xfrm>
            <a:off x="2468880" y="4168927"/>
            <a:ext cx="7316251" cy="186611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/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⟨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80FF3E4B-0FEC-C016-2923-B3ACB0E508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816" y="1652753"/>
                <a:ext cx="4095379" cy="56896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CDE7F1C5-9282-31A3-0019-E4F453ADA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EED4DC6F-3A06-4A4D-9322-EC56F6579E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42B6A13-DE1A-DB78-6469-9C1E3FA96E06}"/>
              </a:ext>
            </a:extLst>
          </p:cNvPr>
          <p:cNvSpPr/>
          <p:nvPr/>
        </p:nvSpPr>
        <p:spPr>
          <a:xfrm>
            <a:off x="10008840" y="2903535"/>
            <a:ext cx="1793014" cy="5892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Unifiable!</a:t>
            </a:r>
          </a:p>
        </p:txBody>
      </p:sp>
    </p:spTree>
    <p:extLst>
      <p:ext uri="{BB962C8B-B14F-4D97-AF65-F5344CB8AC3E}">
        <p14:creationId xmlns:p14="http://schemas.microsoft.com/office/powerpoint/2010/main" val="2939348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/>
      <p:bldP spid="3" grpId="2"/>
      <p:bldP spid="13" grpId="1" animBg="1"/>
      <p:bldP spid="11" grpId="1" animBg="1"/>
      <p:bldP spid="16" grpId="0" animBg="1"/>
      <p:bldP spid="17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Type Confusion Attack on Needham-Schroeder</a:t>
            </a:r>
            <a:endParaRPr lang="en-US" sz="4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23DD4E-6041-0067-4BBA-A27F6D68D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319" y="1638080"/>
            <a:ext cx="10515600" cy="740148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Is this a design-level bug or a parsing bug?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389C09-AAAC-32EE-8A95-930FDB2F6F2D}"/>
              </a:ext>
            </a:extLst>
          </p:cNvPr>
          <p:cNvSpPr txBox="1"/>
          <p:nvPr/>
        </p:nvSpPr>
        <p:spPr>
          <a:xfrm>
            <a:off x="3907823" y="5577840"/>
            <a:ext cx="3390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Tamarin leaves it up to the user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DC0DBAA-8E23-EF50-0164-AD47EBB91B30}"/>
              </a:ext>
            </a:extLst>
          </p:cNvPr>
          <p:cNvSpPr/>
          <p:nvPr/>
        </p:nvSpPr>
        <p:spPr>
          <a:xfrm>
            <a:off x="1407161" y="2370318"/>
            <a:ext cx="4289566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Design-level bug!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F9696CC7-9151-BEF2-9855-0697B91C7A07}"/>
              </a:ext>
            </a:extLst>
          </p:cNvPr>
          <p:cNvSpPr/>
          <p:nvPr/>
        </p:nvSpPr>
        <p:spPr>
          <a:xfrm>
            <a:off x="6424155" y="2366020"/>
            <a:ext cx="4268364" cy="5299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Parsing bug!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/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𝐵</m:t>
                                  </m:r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2A981D6-D16C-EEF1-5AF5-CA041D2BE4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560" y="5890330"/>
                <a:ext cx="4767202" cy="404983"/>
              </a:xfrm>
              <a:prstGeom prst="rect">
                <a:avLst/>
              </a:prstGeom>
              <a:blipFill>
                <a:blip r:embed="rId3"/>
                <a:stretch>
                  <a:fillRect b="-12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/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Rule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In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a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i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enc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⟨"/>
                                  <m:endChr m:val="⟩"/>
                                  <m:ctrlP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𝐴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⟨</m:t>
                                  </m:r>
                                  <m:sSubSup>
                                    <m:sSub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𝑭𝒓</m:t>
                                      </m:r>
                                    </m:sup>
                                  </m:sSub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 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𝐵</m:t>
                                      </m:r>
                                    </m:e>
                                    <m:sup>
                                      <m:r>
                                        <a:rPr lang="en-US" b="1" i="1" smtClean="0">
                                          <a:solidFill>
                                            <a:schemeClr val="tx2">
                                              <a:lumMod val="75000"/>
                                              <a:lumOff val="2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  <a:ea typeface="Source Sans Pro"/>
                                        </a:rPr>
                                        <m:t>𝑷𝒖𝒃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⟩</m:t>
                                  </m:r>
                                </m:e>
                              </m:d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p</m:t>
                              </m:r>
                              <m:r>
                                <m:rPr>
                                  <m:nor/>
                                </m:rPr>
                                <a:rPr lang="en-US" i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k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(</m:t>
                              </m:r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𝑠</m:t>
                              </m:r>
                              <m:sSubSup>
                                <m:sSubSupPr>
                                  <m:ctrlP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en-US" b="1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𝑭𝒓</m:t>
                                  </m:r>
                                </m:sup>
                              </m:sSubSup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)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,…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D0FFB11-F6F3-499B-017A-BE14BF21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3620" y="6240281"/>
                <a:ext cx="5532477" cy="50687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29">
            <a:extLst>
              <a:ext uri="{FF2B5EF4-FFF2-40B4-BE49-F238E27FC236}">
                <a16:creationId xmlns:a16="http://schemas.microsoft.com/office/drawing/2014/main" id="{1C98E74A-6904-22D1-BAAD-BB289AF17225}"/>
              </a:ext>
            </a:extLst>
          </p:cNvPr>
          <p:cNvSpPr/>
          <p:nvPr/>
        </p:nvSpPr>
        <p:spPr>
          <a:xfrm>
            <a:off x="3774440" y="5577840"/>
            <a:ext cx="5556943" cy="116931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0250795-9026-AEEB-3B09-A25FE78856D9}"/>
              </a:ext>
            </a:extLst>
          </p:cNvPr>
          <p:cNvSpPr/>
          <p:nvPr/>
        </p:nvSpPr>
        <p:spPr>
          <a:xfrm>
            <a:off x="1407161" y="2912388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Detectable in an abstract model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DC6C33EA-1022-9119-0899-1B4A33A54C2D}"/>
              </a:ext>
            </a:extLst>
          </p:cNvPr>
          <p:cNvSpPr/>
          <p:nvPr/>
        </p:nvSpPr>
        <p:spPr>
          <a:xfrm>
            <a:off x="1407161" y="3772800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Should not assume parsers </a:t>
            </a:r>
          </a:p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are implemented well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921D106-436F-E26B-E832-FC010785B7CD}"/>
              </a:ext>
            </a:extLst>
          </p:cNvPr>
          <p:cNvSpPr/>
          <p:nvPr/>
        </p:nvSpPr>
        <p:spPr>
          <a:xfrm>
            <a:off x="6439536" y="289593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Does not affect all implementations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BD0B7C12-4F66-4892-7645-C69E75F06F5B}"/>
              </a:ext>
            </a:extLst>
          </p:cNvPr>
          <p:cNvSpPr/>
          <p:nvPr/>
        </p:nvSpPr>
        <p:spPr>
          <a:xfrm>
            <a:off x="6439536" y="3746196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No reasonable parser is affected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BC0159C6-7D14-415A-9CFD-7A25C6115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641" y="2356929"/>
            <a:ext cx="497840" cy="49784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467C824D-CBC1-2CF6-7E64-61A956F81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4111" y="2360172"/>
            <a:ext cx="558800" cy="558800"/>
          </a:xfrm>
          <a:prstGeom prst="rect">
            <a:avLst/>
          </a:prstGeom>
        </p:spPr>
      </p:pic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07004691-8A4C-BA5E-7CBD-578838AABB79}"/>
              </a:ext>
            </a:extLst>
          </p:cNvPr>
          <p:cNvSpPr/>
          <p:nvPr/>
        </p:nvSpPr>
        <p:spPr>
          <a:xfrm>
            <a:off x="1426599" y="4632279"/>
            <a:ext cx="4270128" cy="8432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"/>
              </a:rPr>
              <a:t>Compact binary formats do not include explicit type information</a:t>
            </a:r>
          </a:p>
        </p:txBody>
      </p:sp>
    </p:spTree>
    <p:extLst>
      <p:ext uri="{BB962C8B-B14F-4D97-AF65-F5344CB8AC3E}">
        <p14:creationId xmlns:p14="http://schemas.microsoft.com/office/powerpoint/2010/main" val="4130819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3" grpId="0" animBg="1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D35E0-BEEA-EB4D-28A6-402771B8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C0EAD-0D27-1C7F-A0A8-F961B4064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5B88B1-2267-9A92-9381-94A9E59DC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Making reasoning tractable</a:t>
            </a:r>
            <a:endParaRPr lang="en-US" sz="3200" dirty="0">
              <a:ea typeface="Source Sans Pro"/>
            </a:endParaRPr>
          </a:p>
          <a:p>
            <a:r>
              <a:rPr lang="en-US" sz="3200" dirty="0">
                <a:ea typeface="Source Sans Pro"/>
              </a:rPr>
              <a:t>Discussion, Research Questions, &amp; Conclusion  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F013BD-B792-7885-524D-3E34C6C84D3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32709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B9CD5F-299D-0F81-DD48-C8D7DDC2167F}"/>
              </a:ext>
            </a:extLst>
          </p:cNvPr>
          <p:cNvSpPr/>
          <p:nvPr/>
        </p:nvSpPr>
        <p:spPr>
          <a:xfrm>
            <a:off x="2283071" y="2775857"/>
            <a:ext cx="7625443" cy="13062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tx1"/>
                </a:solidFill>
                <a:latin typeface=""/>
                <a:ea typeface="Source Sans Pro"/>
              </a:rPr>
              <a:t>Reminder: Symbolic model (unbounded)                protocol security is undecidable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63A3C-32E2-1038-A8A4-870CAE75A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928" y="2775857"/>
            <a:ext cx="1306286" cy="130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2676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One can heuristically cut the search space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 </a:t>
            </a:r>
            <a:r>
              <a:rPr lang="en-US" dirty="0">
                <a:ea typeface="Source Sans Pro"/>
              </a:rPr>
              <a:t>only considering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well-typed</a:t>
            </a:r>
            <a:r>
              <a:rPr lang="en-US" dirty="0">
                <a:ea typeface="Source Sans Pro"/>
              </a:rPr>
              <a:t> attacks… this is called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strong typing assumption</a:t>
            </a:r>
          </a:p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When is the strong typing assumption sound?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29E9BA44-F852-68E7-FB36-F455C086D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783" y="3600067"/>
            <a:ext cx="5769659" cy="247624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F44C939-3ECA-FB5D-9E0A-8A41DE31A9C8}"/>
              </a:ext>
            </a:extLst>
          </p:cNvPr>
          <p:cNvSpPr/>
          <p:nvPr/>
        </p:nvSpPr>
        <p:spPr>
          <a:xfrm>
            <a:off x="4416785" y="4228367"/>
            <a:ext cx="2803917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F99FFE-3B47-207F-EE7E-197E25093DE0}"/>
              </a:ext>
            </a:extLst>
          </p:cNvPr>
          <p:cNvSpPr/>
          <p:nvPr/>
        </p:nvSpPr>
        <p:spPr>
          <a:xfrm>
            <a:off x="6433415" y="3649121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Maybe you don’t care about soundness… fair enough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AA58E69-D6A7-DA55-D23B-99F35BB1F4EC}"/>
              </a:ext>
            </a:extLst>
          </p:cNvPr>
          <p:cNvSpPr/>
          <p:nvPr/>
        </p:nvSpPr>
        <p:spPr>
          <a:xfrm>
            <a:off x="6433415" y="4802089"/>
            <a:ext cx="4378960" cy="101803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But definitely not always!</a:t>
            </a:r>
          </a:p>
        </p:txBody>
      </p:sp>
    </p:spTree>
    <p:extLst>
      <p:ext uri="{BB962C8B-B14F-4D97-AF65-F5344CB8AC3E}">
        <p14:creationId xmlns:p14="http://schemas.microsoft.com/office/powerpoint/2010/main" val="178692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Can we guarantee the absence of type confusion attacks?</a:t>
            </a:r>
            <a:endParaRPr lang="en-US" sz="2400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𝑃</m:t>
                        </m:r>
                      </m:e>
                      <m: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expends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but gets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0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200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tag</m:t>
                        </m:r>
                      </m:e>
                      <m:sub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 panose="020B0503030403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 (attack fails)</a:t>
                </a: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CBED7B1-FD00-4797-4DF2-6D8ABDDC5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4607484"/>
                <a:ext cx="3452192" cy="978210"/>
              </a:xfrm>
              <a:prstGeom prst="rect">
                <a:avLst/>
              </a:prstGeom>
              <a:blipFill>
                <a:blip r:embed="rId3"/>
                <a:stretch>
                  <a:fillRect l="-1832" t="-5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"/>
                    <a:ea typeface="Source Sans Pro"/>
                  </a:rPr>
                  <a:t>cannot alter the tag due to encryption… </a:t>
                </a:r>
              </a:p>
              <a:p>
                <a:pPr marL="0" indent="0">
                  <a:buNone/>
                </a:pPr>
                <a:endParaRPr lang="en-US" sz="20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9" name="Content Placeholder 2">
                <a:extLst>
                  <a:ext uri="{FF2B5EF4-FFF2-40B4-BE49-F238E27FC236}">
                    <a16:creationId xmlns:a16="http://schemas.microsoft.com/office/drawing/2014/main" id="{16C67BE9-BB5A-E697-5DD2-E953CF6CB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44" y="5269461"/>
                <a:ext cx="3452192" cy="743709"/>
              </a:xfrm>
              <a:prstGeom prst="rect">
                <a:avLst/>
              </a:prstGeom>
              <a:blipFill>
                <a:blip r:embed="rId4"/>
                <a:stretch>
                  <a:fillRect l="-1832" t="-6667" b="-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person&#10;&#10;Description automatically generated">
            <a:extLst>
              <a:ext uri="{FF2B5EF4-FFF2-40B4-BE49-F238E27FC236}">
                <a16:creationId xmlns:a16="http://schemas.microsoft.com/office/drawing/2014/main" id="{50E78C67-D625-181E-6730-6A1DCFD381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5835" y="3776870"/>
            <a:ext cx="8238583" cy="240009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381B804-8850-898A-60E0-66F3163C77FE}"/>
              </a:ext>
            </a:extLst>
          </p:cNvPr>
          <p:cNvSpPr/>
          <p:nvPr/>
        </p:nvSpPr>
        <p:spPr>
          <a:xfrm>
            <a:off x="4552890" y="5329099"/>
            <a:ext cx="3810104" cy="74370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/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None/>
                </a:pPr>
                <a:r>
                  <a:rPr lang="en-US" sz="1800" dirty="0">
                    <a:solidFill>
                      <a:schemeClr val="accent6">
                        <a:lumMod val="75000"/>
                      </a:schemeClr>
                    </a:solidFill>
                    <a:latin typeface=""/>
                    <a:ea typeface="Source Sans Pro"/>
                  </a:rPr>
                  <a:t>Tagging scheme: </a:t>
                </a:r>
                <a:r>
                  <a:rPr lang="en-US" sz="1800" dirty="0">
                    <a:latin typeface=""/>
                    <a:ea typeface="Source Sans Pro"/>
                  </a:rPr>
                  <a:t>	</a:t>
                </a:r>
              </a:p>
              <a:p>
                <a:pPr marL="0" indent="0" algn="ctr"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Update each term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18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f</m:t>
                    </m:r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⟨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800" b="0" i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tag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⟩,…, 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𝑛</m:t>
                        </m:r>
                      </m:sub>
                    </m:sSub>
                    <m:r>
                      <a:rPr lang="en-US" sz="1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r>
                  <a:rPr lang="en-US" sz="1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and have participants check tags</a:t>
                </a: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49F0880-4EEE-05CF-D542-D8B04D13F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2273" y="2348430"/>
                <a:ext cx="5527040" cy="115824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4BEE50F-6686-703C-0058-66344BAE5C3D}"/>
              </a:ext>
            </a:extLst>
          </p:cNvPr>
          <p:cNvSpPr txBox="1"/>
          <p:nvPr/>
        </p:nvSpPr>
        <p:spPr>
          <a:xfrm>
            <a:off x="493644" y="5942731"/>
            <a:ext cx="35423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But what if they could? </a:t>
            </a:r>
          </a:p>
          <a:p>
            <a:r>
              <a:rPr lang="en-US" sz="1800" dirty="0">
                <a:latin typeface=""/>
                <a:ea typeface="Source Sans Pro"/>
              </a:rPr>
              <a:t>Type confusion even with tagging?</a:t>
            </a:r>
            <a:endParaRPr lang="en-US" dirty="0">
              <a:latin typeface="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63D8F2-C9B1-338A-6D41-ABD04E5D0791}"/>
              </a:ext>
            </a:extLst>
          </p:cNvPr>
          <p:cNvSpPr/>
          <p:nvPr/>
        </p:nvSpPr>
        <p:spPr>
          <a:xfrm>
            <a:off x="8655359" y="4607484"/>
            <a:ext cx="3452192" cy="1828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37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 animBg="1"/>
      <p:bldP spid="5" grpId="0" animBg="1"/>
      <p:bldP spid="6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Does tagging prevent type confusion?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346C7E-490F-E2ED-BF64-82C8C9E5D79D}"/>
              </a:ext>
            </a:extLst>
          </p:cNvPr>
          <p:cNvSpPr/>
          <p:nvPr/>
        </p:nvSpPr>
        <p:spPr>
          <a:xfrm>
            <a:off x="0" y="5271760"/>
            <a:ext cx="12192000" cy="10377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The protocol becomes obviously insecure, but we’re targeting a deeper question: </a:t>
            </a:r>
          </a:p>
          <a:p>
            <a:pPr algn="ctr"/>
            <a:r>
              <a:rPr lang="en-US" sz="2400" dirty="0">
                <a:latin typeface="Avenir Next" panose="020B0503020202020204" pitchFamily="34" charset="0"/>
                <a:ea typeface="Source Sans Pro"/>
              </a:rPr>
              <a:t>Does tagging prevent type confusion?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9792AE-A49B-3874-6E8F-AD310FFD24AE}"/>
              </a:ext>
            </a:extLst>
          </p:cNvPr>
          <p:cNvSpPr txBox="1"/>
          <p:nvPr/>
        </p:nvSpPr>
        <p:spPr>
          <a:xfrm>
            <a:off x="5217160" y="3321058"/>
            <a:ext cx="5237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What if the tag is not cryptographically protected?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9AA93D6-07D6-F69D-37F5-159D89EFEA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3AE0CE70-125B-3588-4ECB-A5A8364867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3DD61D08-8532-6C61-DF2A-9120D1E1DE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1159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2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6800525" y="5696950"/>
            <a:ext cx="4799274" cy="167034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The type confusion attack works again, despite tagging…</a:t>
            </a:r>
          </a:p>
        </p:txBody>
      </p:sp>
      <p:pic>
        <p:nvPicPr>
          <p:cNvPr id="12" name="Picture 11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4F81EC09-EF33-21B8-3CF6-5B78BA6336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40B950B-F96D-3118-3194-3B68AC371249}"/>
              </a:ext>
            </a:extLst>
          </p:cNvPr>
          <p:cNvSpPr/>
          <p:nvPr/>
        </p:nvSpPr>
        <p:spPr>
          <a:xfrm>
            <a:off x="7324776" y="3306030"/>
            <a:ext cx="3383864" cy="120059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34F6924-A046-227E-8112-18334CD59751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D39F0F27-5E48-5B76-80DA-CFCEE3E158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C651A7C0-D351-1776-FDA1-DA3DBD6F7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B742E25-275F-DEE2-2676-6DE8E1825E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68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diagram of a person's relationship&#10;&#10;Description automatically generated">
            <a:extLst>
              <a:ext uri="{FF2B5EF4-FFF2-40B4-BE49-F238E27FC236}">
                <a16:creationId xmlns:a16="http://schemas.microsoft.com/office/drawing/2014/main" id="{E3E1C6DF-DDD9-6AAE-CF3F-39617B5EE0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525" y="2266771"/>
            <a:ext cx="4344995" cy="34378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6C67BE9-BB5A-E697-5DD2-E953CF6CB43B}"/>
              </a:ext>
            </a:extLst>
          </p:cNvPr>
          <p:cNvSpPr txBox="1">
            <a:spLocks/>
          </p:cNvSpPr>
          <p:nvPr/>
        </p:nvSpPr>
        <p:spPr>
          <a:xfrm>
            <a:off x="335332" y="5522484"/>
            <a:ext cx="3604671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727CCEF-A7B9-B99C-AC40-16CF9074A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911" y="4121253"/>
            <a:ext cx="993593" cy="99359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567F335-E8C5-AE0D-B1E9-D5E066428ABE}"/>
              </a:ext>
            </a:extLst>
          </p:cNvPr>
          <p:cNvSpPr/>
          <p:nvPr/>
        </p:nvSpPr>
        <p:spPr>
          <a:xfrm>
            <a:off x="7403067" y="3225298"/>
            <a:ext cx="1639957" cy="2237859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7F53572-86BE-94DD-E18D-2ECFC6F125C9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740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>
                <a:solidFill>
                  <a:srgbClr val="C00000"/>
                </a:solidFill>
                <a:latin typeface=""/>
                <a:ea typeface="Source Sans Pro"/>
              </a:rPr>
              <a:t>Does tagging prevent type confusion?</a:t>
            </a:r>
            <a:endParaRPr lang="en-US" dirty="0">
              <a:solidFill>
                <a:srgbClr val="C00000"/>
              </a:solidFill>
              <a:latin typeface=""/>
              <a:ea typeface="Source Sans Pro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FAE2581-CEFC-090C-0DF5-239FDAC4CB22}"/>
              </a:ext>
            </a:extLst>
          </p:cNvPr>
          <p:cNvSpPr/>
          <p:nvPr/>
        </p:nvSpPr>
        <p:spPr>
          <a:xfrm>
            <a:off x="130334" y="5233536"/>
            <a:ext cx="3604671" cy="74679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000" dirty="0">
                <a:latin typeface=""/>
                <a:ea typeface="Source Sans Pro"/>
              </a:rPr>
              <a:t>We can find another attack without type confusion!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30A5485-C8CC-32A8-76ED-0C5861316E08}"/>
              </a:ext>
            </a:extLst>
          </p:cNvPr>
          <p:cNvSpPr/>
          <p:nvPr/>
        </p:nvSpPr>
        <p:spPr>
          <a:xfrm>
            <a:off x="3969104" y="5231589"/>
            <a:ext cx="2877329" cy="74679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"/>
                <a:ea typeface="Source Sans Pro"/>
              </a:rPr>
              <a:t>And it’s always possible!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/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2534AC34-CDE2-47EC-B1A2-C473995BA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2437036"/>
                <a:ext cx="4378960" cy="667127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/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:⟨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tag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 panose="020B0503030403020204" pitchFamily="34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⟩</m:t>
                          </m:r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0B3B84-0A72-EE2D-70A0-170C61F79C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211376"/>
                <a:ext cx="4378960" cy="66712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/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⟨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Source Sans Pro" panose="020B0503030403020204" pitchFamily="34" charset="0"/>
                                  <a:ea typeface="Source Sans Pro" panose="020B0503030403020204" pitchFamily="34" charset="0"/>
                                </a:rPr>
                                <m:t>tag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 panose="020B0503030403020204" pitchFamily="34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57BC55B3-7BF9-F897-0349-CE4A3EA5A2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566" y="3985716"/>
                <a:ext cx="4378960" cy="667127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ectangle 22">
            <a:extLst>
              <a:ext uri="{FF2B5EF4-FFF2-40B4-BE49-F238E27FC236}">
                <a16:creationId xmlns:a16="http://schemas.microsoft.com/office/drawing/2014/main" id="{240ECD97-599B-0650-8DCC-2681396E5244}"/>
              </a:ext>
            </a:extLst>
          </p:cNvPr>
          <p:cNvSpPr/>
          <p:nvPr/>
        </p:nvSpPr>
        <p:spPr>
          <a:xfrm>
            <a:off x="-207" y="2537554"/>
            <a:ext cx="12192000" cy="17828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  <a:ea typeface="Source Sans Pro"/>
              </a:rPr>
              <a:t>With this tagging scheme, type confusion attacks imply existence of well-typed attacks [Heather et al.]</a:t>
            </a:r>
          </a:p>
        </p:txBody>
      </p:sp>
    </p:spTree>
    <p:extLst>
      <p:ext uri="{BB962C8B-B14F-4D97-AF65-F5344CB8AC3E}">
        <p14:creationId xmlns:p14="http://schemas.microsoft.com/office/powerpoint/2010/main" val="1082778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2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5" dur="indefinite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8" dur="indefinite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1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6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9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17" grpId="0" animBg="1"/>
      <p:bldP spid="18" grpId="0"/>
      <p:bldP spid="12" grpId="0"/>
      <p:bldP spid="21" grpId="0" animBg="1"/>
      <p:bldP spid="21" grpId="1" animBg="1"/>
      <p:bldP spid="22" grpId="0" animBg="1"/>
      <p:bldP spid="22" grpId="1" animBg="1"/>
      <p:bldP spid="24" grpId="0" animBg="1"/>
      <p:bldP spid="26" grpId="0" animBg="1"/>
      <p:bldP spid="23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B174CBC-2AA8-A1CF-35E9-3B15D1CE1D2A}"/>
              </a:ext>
            </a:extLst>
          </p:cNvPr>
          <p:cNvSpPr/>
          <p:nvPr/>
        </p:nvSpPr>
        <p:spPr>
          <a:xfrm>
            <a:off x="893207" y="2639377"/>
            <a:ext cx="10515600" cy="129032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Generalization: one can soundly discount type confusion attacks if </a:t>
            </a:r>
            <a:r>
              <a:rPr lang="en-US" sz="2800" dirty="0">
                <a:solidFill>
                  <a:schemeClr val="accent6">
                    <a:lumMod val="75000"/>
                  </a:schemeClr>
                </a:solidFill>
                <a:latin typeface="Avenir Next" panose="020B0503020202020204" pitchFamily="34" charset="0"/>
                <a:ea typeface="Source Sans Pro"/>
              </a:rPr>
              <a:t>opaque subterms are not unifiable </a:t>
            </a:r>
            <a:r>
              <a:rPr lang="en-US" sz="28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[Chrétien et al.]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397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to learn from this if our protocol doesn’t have tagging?</a:t>
            </a:r>
          </a:p>
          <a:p>
            <a:pPr marL="457200" lvl="1" indent="0" algn="ctr">
              <a:buNone/>
            </a:pPr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21.1 (2019): 1-52.</a:t>
            </a: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6A48A-CB56-F871-F51E-6724C317BFCC}"/>
              </a:ext>
            </a:extLst>
          </p:cNvPr>
          <p:cNvSpPr txBox="1"/>
          <p:nvPr/>
        </p:nvSpPr>
        <p:spPr>
          <a:xfrm>
            <a:off x="2723023" y="4558783"/>
            <a:ext cx="51597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latin typeface=""/>
                <a:ea typeface="Source Sans Pro"/>
              </a:rPr>
              <a:t>Intuitively, this has the same effect as tagging!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26202-D5FF-A45D-15F9-090303D9A0E4}"/>
              </a:ext>
            </a:extLst>
          </p:cNvPr>
          <p:cNvCxnSpPr>
            <a:cxnSpLocks/>
          </p:cNvCxnSpPr>
          <p:nvPr/>
        </p:nvCxnSpPr>
        <p:spPr>
          <a:xfrm flipV="1">
            <a:off x="5090057" y="3749041"/>
            <a:ext cx="0" cy="8503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DDC01F8-5313-ADFE-34DE-0CDEE59A6802}"/>
              </a:ext>
            </a:extLst>
          </p:cNvPr>
          <p:cNvCxnSpPr>
            <a:cxnSpLocks/>
          </p:cNvCxnSpPr>
          <p:nvPr/>
        </p:nvCxnSpPr>
        <p:spPr>
          <a:xfrm>
            <a:off x="2859164" y="3735728"/>
            <a:ext cx="5549112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5902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7" grpId="0"/>
      <p:bldP spid="8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709147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8" grpId="0"/>
      <p:bldP spid="20" grpId="0" animBg="1"/>
      <p:bldP spid="6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156322008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7986" y="1703810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How does the strong typing assumption help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E671F49-832C-1E2E-B7EB-97E5B7B6D4CD}"/>
              </a:ext>
            </a:extLst>
          </p:cNvPr>
          <p:cNvSpPr txBox="1">
            <a:spLocks/>
          </p:cNvSpPr>
          <p:nvPr/>
        </p:nvSpPr>
        <p:spPr>
          <a:xfrm>
            <a:off x="280702" y="6480683"/>
            <a:ext cx="11740610" cy="4809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Chrétien, Rémy, et al. "Typing messages for free in security protocols." </a:t>
            </a:r>
            <a:r>
              <a:rPr lang="en-US" sz="1400" b="0" i="1" dirty="0">
                <a:solidFill>
                  <a:srgbClr val="222222"/>
                </a:solidFill>
                <a:effectLst/>
                <a:latin typeface=""/>
              </a:rPr>
              <a:t>ACM Transactions On Computational Logic (TOCL)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"/>
              </a:rPr>
              <a:t> 21.1 (2019): 1-52.</a:t>
            </a:r>
            <a:endParaRPr lang="en-US" sz="2000" dirty="0">
              <a:latin typeface=""/>
              <a:ea typeface="Source Sans Pro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3FD4F1-471D-1E9F-CFF1-602CF269A329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2717899" y="5232807"/>
            <a:ext cx="965826" cy="3254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/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4227CA3-FF57-8502-360D-BE75D7F591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4415517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34EBD4-34D0-8D37-8969-7AE55A73707F}"/>
              </a:ext>
            </a:extLst>
          </p:cNvPr>
          <p:cNvCxnSpPr>
            <a:cxnSpLocks/>
            <a:stCxn id="20" idx="2"/>
            <a:endCxn id="9" idx="0"/>
          </p:cNvCxnSpPr>
          <p:nvPr/>
        </p:nvCxnSpPr>
        <p:spPr>
          <a:xfrm>
            <a:off x="2717899" y="4069613"/>
            <a:ext cx="0" cy="34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{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endParaRPr lang="en-US" dirty="0"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B41B1EF8-D65A-6936-50DA-223A8373E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39205" y="5558208"/>
                <a:ext cx="10515600" cy="704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/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destructed from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(⟨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3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⟩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2D91BBA-D9AA-757C-B7E7-99B40C4A91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582" y="3252323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4527934-9B27-809A-5385-83738C40B82A}"/>
              </a:ext>
            </a:extLst>
          </p:cNvPr>
          <p:cNvCxnSpPr>
            <a:cxnSpLocks/>
          </p:cNvCxnSpPr>
          <p:nvPr/>
        </p:nvCxnSpPr>
        <p:spPr>
          <a:xfrm>
            <a:off x="2705662" y="2827180"/>
            <a:ext cx="0" cy="4251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C57154C5-3973-F55E-3145-4B08BDBAA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7640" y="2458920"/>
            <a:ext cx="256044" cy="2560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EC28E52-A97E-41D4-F784-8573AEA02D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8034" y="2405349"/>
            <a:ext cx="993593" cy="1572765"/>
          </a:xfrm>
          <a:prstGeom prst="rect">
            <a:avLst/>
          </a:prstGeom>
        </p:spPr>
      </p:pic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5DE1200-CBF9-FBC1-8552-7E1AA03D7C36}"/>
              </a:ext>
            </a:extLst>
          </p:cNvPr>
          <p:cNvSpPr txBox="1">
            <a:spLocks/>
          </p:cNvSpPr>
          <p:nvPr/>
        </p:nvSpPr>
        <p:spPr>
          <a:xfrm>
            <a:off x="5144324" y="2891174"/>
            <a:ext cx="6209476" cy="217388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1A08D1-CAF5-887D-C995-1065A7518203}"/>
              </a:ext>
            </a:extLst>
          </p:cNvPr>
          <p:cNvSpPr/>
          <p:nvPr/>
        </p:nvSpPr>
        <p:spPr>
          <a:xfrm>
            <a:off x="4924129" y="3274678"/>
            <a:ext cx="7097181" cy="166078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Meta-level argument: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Nested pairs will be rejected by honest participants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Adversary does not learn “new”  knowledge from nested pairs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800" dirty="0">
                <a:solidFill>
                  <a:schemeClr val="tx1"/>
                </a:solidFill>
                <a:latin typeface=""/>
                <a:ea typeface="Source Sans Pro"/>
              </a:rPr>
              <a:t>Therefore, nested pairs need not be considered</a:t>
            </a:r>
          </a:p>
        </p:txBody>
      </p:sp>
    </p:spTree>
    <p:extLst>
      <p:ext uri="{BB962C8B-B14F-4D97-AF65-F5344CB8AC3E}">
        <p14:creationId xmlns:p14="http://schemas.microsoft.com/office/powerpoint/2010/main" val="229428873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Other </a:t>
            </a:r>
            <a:r>
              <a:rPr lang="en-US" sz="3200" dirty="0" err="1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Metatheorems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D266E0-3AE2-538B-2897-FC68DF25BF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740149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 algn="ctr">
              <a:buNone/>
            </a:pPr>
            <a:r>
              <a:rPr lang="en-US" dirty="0">
                <a:ea typeface="Source Sans Pro"/>
              </a:rPr>
              <a:t>There are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four general strategies </a:t>
            </a:r>
            <a:r>
              <a:rPr lang="en-US" dirty="0">
                <a:ea typeface="Source Sans Pro"/>
              </a:rPr>
              <a:t>to make reasoning more tractable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9DDECC-C671-4B0A-0C1D-36886DFAFF6E}"/>
              </a:ext>
            </a:extLst>
          </p:cNvPr>
          <p:cNvSpPr/>
          <p:nvPr/>
        </p:nvSpPr>
        <p:spPr>
          <a:xfrm>
            <a:off x="1564692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Heuristically cut search space (no guarantees)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3CC9203-A0EE-01BD-EF77-247D3F657201}"/>
              </a:ext>
            </a:extLst>
          </p:cNvPr>
          <p:cNvSpPr/>
          <p:nvPr/>
        </p:nvSpPr>
        <p:spPr>
          <a:xfrm>
            <a:off x="6868160" y="2510213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completeness for decidability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3B828D0-F406-BA03-02B6-4C83A9EBE1A3}"/>
              </a:ext>
            </a:extLst>
          </p:cNvPr>
          <p:cNvSpPr/>
          <p:nvPr/>
        </p:nvSpPr>
        <p:spPr>
          <a:xfrm>
            <a:off x="6868160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Syntactically restrict protocols for decidability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EB35FE-A6F5-AD01-BFBE-748DE094FBFA}"/>
              </a:ext>
            </a:extLst>
          </p:cNvPr>
          <p:cNvSpPr/>
          <p:nvPr/>
        </p:nvSpPr>
        <p:spPr>
          <a:xfrm>
            <a:off x="1564692" y="4859972"/>
            <a:ext cx="3830320" cy="11067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latin typeface=""/>
                <a:ea typeface="Source Sans Pro"/>
              </a:rPr>
              <a:t>Sacrifice soundness for termination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8EFB1D-9143-716A-312E-8884D1437D84}"/>
              </a:ext>
            </a:extLst>
          </p:cNvPr>
          <p:cNvSpPr/>
          <p:nvPr/>
        </p:nvSpPr>
        <p:spPr>
          <a:xfrm>
            <a:off x="2032000" y="362241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Typing for free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99AF043-A4F0-8F7C-C72F-651CB6DF7DD6}"/>
              </a:ext>
            </a:extLst>
          </p:cNvPr>
          <p:cNvSpPr/>
          <p:nvPr/>
        </p:nvSpPr>
        <p:spPr>
          <a:xfrm>
            <a:off x="6868160" y="3632571"/>
            <a:ext cx="193040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sessions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EC9C87-1653-18E7-C232-19B2911C99F5}"/>
              </a:ext>
            </a:extLst>
          </p:cNvPr>
          <p:cNvSpPr/>
          <p:nvPr/>
        </p:nvSpPr>
        <p:spPr>
          <a:xfrm>
            <a:off x="8798560" y="3620950"/>
            <a:ext cx="2121688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term depth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9C1979D-6337-2A61-12BD-C00FA51C45CC}"/>
              </a:ext>
            </a:extLst>
          </p:cNvPr>
          <p:cNvSpPr/>
          <p:nvPr/>
        </p:nvSpPr>
        <p:spPr>
          <a:xfrm>
            <a:off x="7779595" y="4135120"/>
            <a:ext cx="2037930" cy="50254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Bound nonce set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C1CF3EB-9BBE-66D0-D6A3-1E639201A8F9}"/>
              </a:ext>
            </a:extLst>
          </p:cNvPr>
          <p:cNvSpPr/>
          <p:nvPr/>
        </p:nvSpPr>
        <p:spPr>
          <a:xfrm>
            <a:off x="1621972" y="5966720"/>
            <a:ext cx="193040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Information flow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9AA9749-7D87-9245-4416-92BA29D5D690}"/>
              </a:ext>
            </a:extLst>
          </p:cNvPr>
          <p:cNvSpPr/>
          <p:nvPr/>
        </p:nvSpPr>
        <p:spPr>
          <a:xfrm>
            <a:off x="3552373" y="5966720"/>
            <a:ext cx="1818640" cy="61696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Abstract interpretation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9EE144D-175A-F8CE-8451-E8F22AA81AAE}"/>
              </a:ext>
            </a:extLst>
          </p:cNvPr>
          <p:cNvSpPr/>
          <p:nvPr/>
        </p:nvSpPr>
        <p:spPr>
          <a:xfrm>
            <a:off x="6898692" y="5966719"/>
            <a:ext cx="197098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Ping-pong protocols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C33D8F-E77A-2FB2-2FED-364CABD31F25}"/>
              </a:ext>
            </a:extLst>
          </p:cNvPr>
          <p:cNvSpPr/>
          <p:nvPr/>
        </p:nvSpPr>
        <p:spPr>
          <a:xfrm>
            <a:off x="8879944" y="5966719"/>
            <a:ext cx="1828748" cy="616961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Depth-bounded protocols</a:t>
            </a:r>
          </a:p>
        </p:txBody>
      </p:sp>
    </p:spTree>
    <p:extLst>
      <p:ext uri="{BB962C8B-B14F-4D97-AF65-F5344CB8AC3E}">
        <p14:creationId xmlns:p14="http://schemas.microsoft.com/office/powerpoint/2010/main" val="130599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F7AC4-7B65-E57D-B591-306357933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02FA7-CDA5-A73A-A21C-73483A4A0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8AD0F-4517-B249-7CE9-91AC65371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Discussion, Research Questions, &amp; Conclusion</a:t>
            </a:r>
          </a:p>
          <a:p>
            <a:r>
              <a:rPr lang="en-US" sz="3200" dirty="0">
                <a:ea typeface="Source Sans Pro"/>
              </a:rPr>
              <a:t>Appendix: Making reasoning expressive </a:t>
            </a:r>
          </a:p>
          <a:p>
            <a:pPr marL="0" indent="0">
              <a:buNone/>
            </a:pPr>
            <a:endParaRPr lang="en-US" sz="3200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A939B8-2E69-9CDC-CE8A-344679948D9E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79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0001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Source Sans Pro"/>
              </a:rPr>
              <a:t>RQ1.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compositional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RQ2.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dedicated theory reasoning</a:t>
            </a:r>
            <a:r>
              <a:rPr lang="en-US" dirty="0">
                <a:ea typeface="Source Sans Pro"/>
              </a:rPr>
              <a:t>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RQ3. How to reason about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control flow </a:t>
            </a:r>
            <a:r>
              <a:rPr lang="en-US" dirty="0">
                <a:ea typeface="Source Sans Pro"/>
              </a:rPr>
              <a:t>beyond Alice-Bob?</a:t>
            </a:r>
          </a:p>
          <a:p>
            <a:pPr marL="0" indent="0">
              <a:buNone/>
            </a:pPr>
            <a:r>
              <a:rPr lang="en-US" dirty="0">
                <a:ea typeface="Source Sans Pro"/>
              </a:rPr>
              <a:t>RQ4. How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gracefully recover interactivity </a:t>
            </a:r>
            <a:r>
              <a:rPr lang="en-US" dirty="0">
                <a:ea typeface="Source Sans Pro"/>
              </a:rPr>
              <a:t>if automation fails?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2B5111-8C98-30D0-9E1F-8D9DF971C949}"/>
              </a:ext>
            </a:extLst>
          </p:cNvPr>
          <p:cNvSpPr/>
          <p:nvPr/>
        </p:nvSpPr>
        <p:spPr>
          <a:xfrm>
            <a:off x="1870368" y="4717508"/>
            <a:ext cx="9462654" cy="928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"/>
              </a:rPr>
              <a:t>Idea: Frame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protocol</a:t>
            </a:r>
            <a:r>
              <a:rPr lang="en-US" sz="2800" dirty="0">
                <a:latin typeface=""/>
              </a:rPr>
              <a:t> verification as </a:t>
            </a:r>
            <a:r>
              <a:rPr lang="en-US" sz="2800" dirty="0">
                <a:solidFill>
                  <a:schemeClr val="accent6">
                    <a:lumMod val="40000"/>
                    <a:lumOff val="60000"/>
                  </a:schemeClr>
                </a:solidFill>
                <a:latin typeface=""/>
              </a:rPr>
              <a:t>program</a:t>
            </a:r>
            <a:r>
              <a:rPr lang="en-US" sz="2800" dirty="0">
                <a:latin typeface=""/>
              </a:rPr>
              <a:t> verification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57DC2BD-40EE-A5B4-2D3D-5C4D58027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466" y="4590548"/>
            <a:ext cx="1182255" cy="118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DD85-64ED-4C94-5CF5-EB022D70AABF}"/>
              </a:ext>
            </a:extLst>
          </p:cNvPr>
          <p:cNvSpPr/>
          <p:nvPr/>
        </p:nvSpPr>
        <p:spPr>
          <a:xfrm>
            <a:off x="2542733" y="2336766"/>
            <a:ext cx="7106120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 pools all steps and participants into shared global state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3BC95E-D326-6B8A-E965-346407DBE29A}"/>
              </a:ext>
            </a:extLst>
          </p:cNvPr>
          <p:cNvSpPr/>
          <p:nvPr/>
        </p:nvSpPr>
        <p:spPr>
          <a:xfrm>
            <a:off x="1242801" y="2917375"/>
            <a:ext cx="7106120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Automatically inferring decompositions is hard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BF71FF5-5929-3755-5326-DF6EAAB26D72}"/>
              </a:ext>
            </a:extLst>
          </p:cNvPr>
          <p:cNvSpPr/>
          <p:nvPr/>
        </p:nvSpPr>
        <p:spPr>
          <a:xfrm>
            <a:off x="4532224" y="3505494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Cryptographic protocols often have similar shapes, and steps have similar invariants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0A2A48EF-0CEE-0C2A-7B69-7BF4B830C0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63" y="2939523"/>
            <a:ext cx="467360" cy="46736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6C2EE5D-0109-B2E4-4C0F-50266628F4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201" y="3521372"/>
            <a:ext cx="599440" cy="599440"/>
          </a:xfrm>
          <a:prstGeom prst="rect">
            <a:avLst/>
          </a:prstGeom>
        </p:spPr>
      </p:pic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531A96-5101-4505-5434-197A0B668721}"/>
              </a:ext>
            </a:extLst>
          </p:cNvPr>
          <p:cNvSpPr/>
          <p:nvPr/>
        </p:nvSpPr>
        <p:spPr>
          <a:xfrm>
            <a:off x="4532224" y="4248690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support assume/guarantee-style compositional reasoning 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B0F07E4-6FDB-5C76-4C33-A625EF5F9FCC}"/>
              </a:ext>
            </a:extLst>
          </p:cNvPr>
          <p:cNvSpPr/>
          <p:nvPr/>
        </p:nvSpPr>
        <p:spPr>
          <a:xfrm>
            <a:off x="4532223" y="4991886"/>
            <a:ext cx="6158401" cy="64158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can often highlight individual failing verification conditions</a:t>
            </a:r>
          </a:p>
        </p:txBody>
      </p:sp>
    </p:spTree>
    <p:extLst>
      <p:ext uri="{BB962C8B-B14F-4D97-AF65-F5344CB8AC3E}">
        <p14:creationId xmlns:p14="http://schemas.microsoft.com/office/powerpoint/2010/main" val="2042930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0" grpId="0" animBg="1"/>
      <p:bldP spid="21" grpId="0" animBg="1"/>
      <p:bldP spid="24" grpId="0" animBg="1"/>
      <p:bldP spid="2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873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RQ1. How to incorporate compositional reasoning?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9930-C776-20D9-9B54-216A6A2E91D6}"/>
              </a:ext>
            </a:extLst>
          </p:cNvPr>
          <p:cNvSpPr/>
          <p:nvPr/>
        </p:nvSpPr>
        <p:spPr>
          <a:xfrm>
            <a:off x="177720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765F9C-1C59-4D91-07DA-684D125E4978}"/>
              </a:ext>
            </a:extLst>
          </p:cNvPr>
          <p:cNvSpPr/>
          <p:nvPr/>
        </p:nvSpPr>
        <p:spPr>
          <a:xfrm>
            <a:off x="4148503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591F1D5-E183-AA04-E8A2-35920459F27E}"/>
              </a:ext>
            </a:extLst>
          </p:cNvPr>
          <p:cNvSpPr/>
          <p:nvPr/>
        </p:nvSpPr>
        <p:spPr>
          <a:xfrm>
            <a:off x="6519807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06A176-F6D2-0183-B3A1-65B916D475A9}"/>
              </a:ext>
            </a:extLst>
          </p:cNvPr>
          <p:cNvSpPr/>
          <p:nvPr/>
        </p:nvSpPr>
        <p:spPr>
          <a:xfrm>
            <a:off x="8891110" y="3856407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ED7CE68-BBD2-4DE4-ED8A-246528FCF1B5}"/>
              </a:ext>
            </a:extLst>
          </p:cNvPr>
          <p:cNvSpPr/>
          <p:nvPr/>
        </p:nvSpPr>
        <p:spPr>
          <a:xfrm>
            <a:off x="5356596" y="5456829"/>
            <a:ext cx="1555934" cy="1186048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latin typeface=""/>
            </a:endParaRP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7F912332-AB1B-C695-5BF6-5CC516A5CCF2}"/>
              </a:ext>
            </a:extLst>
          </p:cNvPr>
          <p:cNvCxnSpPr>
            <a:cxnSpLocks/>
            <a:stCxn id="11" idx="1"/>
            <a:endCxn id="5" idx="2"/>
          </p:cNvCxnSpPr>
          <p:nvPr/>
        </p:nvCxnSpPr>
        <p:spPr>
          <a:xfrm rot="10800000">
            <a:off x="2555167" y="5042455"/>
            <a:ext cx="2801429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478B3F80-9B63-E799-2CC3-9E24F3931DA8}"/>
              </a:ext>
            </a:extLst>
          </p:cNvPr>
          <p:cNvCxnSpPr>
            <a:cxnSpLocks/>
            <a:stCxn id="11" idx="3"/>
            <a:endCxn id="10" idx="2"/>
          </p:cNvCxnSpPr>
          <p:nvPr/>
        </p:nvCxnSpPr>
        <p:spPr>
          <a:xfrm flipV="1">
            <a:off x="6912530" y="5042455"/>
            <a:ext cx="2756547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ED29170D-C608-5EE6-BCF0-727E7CDC8BF7}"/>
              </a:ext>
            </a:extLst>
          </p:cNvPr>
          <p:cNvCxnSpPr>
            <a:cxnSpLocks/>
            <a:stCxn id="11" idx="1"/>
            <a:endCxn id="8" idx="2"/>
          </p:cNvCxnSpPr>
          <p:nvPr/>
        </p:nvCxnSpPr>
        <p:spPr>
          <a:xfrm rot="10800000">
            <a:off x="4926470" y="5042455"/>
            <a:ext cx="430126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656132C5-635D-C8B6-13A7-0DD6DEC7B299}"/>
              </a:ext>
            </a:extLst>
          </p:cNvPr>
          <p:cNvCxnSpPr>
            <a:cxnSpLocks/>
            <a:stCxn id="11" idx="3"/>
            <a:endCxn id="9" idx="2"/>
          </p:cNvCxnSpPr>
          <p:nvPr/>
        </p:nvCxnSpPr>
        <p:spPr>
          <a:xfrm flipV="1">
            <a:off x="6912530" y="5042455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F00FD49-A5B5-E700-9AC7-89275E879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0531" y="5337458"/>
            <a:ext cx="584722" cy="6180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52167E3-17E3-D57A-92A9-70000F3B5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74" y="5337458"/>
            <a:ext cx="584722" cy="61806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E7C7281-C90E-E0C0-3BE1-20F42FE389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5765" y="5321644"/>
            <a:ext cx="614644" cy="649691"/>
          </a:xfrm>
          <a:prstGeom prst="rect">
            <a:avLst/>
          </a:prstGeom>
        </p:spPr>
      </p:pic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3E319BDC-A2C6-88FE-2039-B0E17E60EA42}"/>
              </a:ext>
            </a:extLst>
          </p:cNvPr>
          <p:cNvCxnSpPr>
            <a:cxnSpLocks/>
            <a:endCxn id="11" idx="0"/>
          </p:cNvCxnSpPr>
          <p:nvPr/>
        </p:nvCxnSpPr>
        <p:spPr>
          <a:xfrm rot="16200000" flipH="1">
            <a:off x="5415801" y="4738067"/>
            <a:ext cx="1007399" cy="430126"/>
          </a:xfrm>
          <a:prstGeom prst="bentConnector3">
            <a:avLst>
              <a:gd name="adj1" fmla="val -23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0680970-AC2F-EB19-AAA9-44A6596F232C}"/>
              </a:ext>
            </a:extLst>
          </p:cNvPr>
          <p:cNvCxnSpPr>
            <a:cxnSpLocks/>
            <a:stCxn id="9" idx="1"/>
            <a:endCxn id="11" idx="0"/>
          </p:cNvCxnSpPr>
          <p:nvPr/>
        </p:nvCxnSpPr>
        <p:spPr>
          <a:xfrm rot="10800000" flipV="1">
            <a:off x="6134563" y="4449431"/>
            <a:ext cx="385243" cy="100739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58CC4BB0-2E84-1437-DAB5-1EFC20F5862C}"/>
              </a:ext>
            </a:extLst>
          </p:cNvPr>
          <p:cNvCxnSpPr>
            <a:cxnSpLocks/>
            <a:stCxn id="10" idx="0"/>
            <a:endCxn id="11" idx="0"/>
          </p:cNvCxnSpPr>
          <p:nvPr/>
        </p:nvCxnSpPr>
        <p:spPr>
          <a:xfrm rot="16200000" flipH="1" flipV="1">
            <a:off x="7101609" y="2889361"/>
            <a:ext cx="1600423" cy="3534514"/>
          </a:xfrm>
          <a:prstGeom prst="bentConnector3">
            <a:avLst>
              <a:gd name="adj1" fmla="val -292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7CF1E0B4-FDF6-549A-2FA8-9F5808DE46A0}"/>
              </a:ext>
            </a:extLst>
          </p:cNvPr>
          <p:cNvCxnSpPr>
            <a:cxnSpLocks/>
            <a:stCxn id="5" idx="0"/>
            <a:endCxn id="11" idx="0"/>
          </p:cNvCxnSpPr>
          <p:nvPr/>
        </p:nvCxnSpPr>
        <p:spPr>
          <a:xfrm rot="16200000" flipH="1">
            <a:off x="3544654" y="2866920"/>
            <a:ext cx="1600423" cy="3579396"/>
          </a:xfrm>
          <a:prstGeom prst="bentConnector3">
            <a:avLst>
              <a:gd name="adj1" fmla="val -293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0" name="Picture 59">
            <a:extLst>
              <a:ext uri="{FF2B5EF4-FFF2-40B4-BE49-F238E27FC236}">
                <a16:creationId xmlns:a16="http://schemas.microsoft.com/office/drawing/2014/main" id="{879377B4-E86C-9A19-6778-B1D4CB0B4A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073" y="2605618"/>
            <a:ext cx="584722" cy="618063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85D7FA38-7EC8-8849-E603-5F9027EED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0715" y="2605618"/>
            <a:ext cx="584722" cy="618063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C6916E8A-D83C-FB78-0F08-6092E202D1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9792" y="2589804"/>
            <a:ext cx="614644" cy="649691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8E46FB4-5505-2D6B-EF28-8CA081830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745" y="5337458"/>
            <a:ext cx="584722" cy="61806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22143079-FDF6-FED4-DA45-1A3F9AF8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6388" y="5337458"/>
            <a:ext cx="584722" cy="61806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19D24E6-E3E2-B209-12E5-1F24EA6364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3979" y="5321644"/>
            <a:ext cx="614644" cy="649691"/>
          </a:xfrm>
          <a:prstGeom prst="rect">
            <a:avLst/>
          </a:prstGeom>
        </p:spPr>
      </p:pic>
      <p:sp>
        <p:nvSpPr>
          <p:cNvPr id="68" name="Content Placeholder 2">
            <a:extLst>
              <a:ext uri="{FF2B5EF4-FFF2-40B4-BE49-F238E27FC236}">
                <a16:creationId xmlns:a16="http://schemas.microsoft.com/office/drawing/2014/main" id="{5892A11D-D3E4-5DD4-50FB-9C69DE612000}"/>
              </a:ext>
            </a:extLst>
          </p:cNvPr>
          <p:cNvSpPr txBox="1">
            <a:spLocks/>
          </p:cNvSpPr>
          <p:nvPr/>
        </p:nvSpPr>
        <p:spPr>
          <a:xfrm>
            <a:off x="5306052" y="5773954"/>
            <a:ext cx="1646476" cy="59957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Environment multiplexer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2" name="Content Placeholder 2">
            <a:extLst>
              <a:ext uri="{FF2B5EF4-FFF2-40B4-BE49-F238E27FC236}">
                <a16:creationId xmlns:a16="http://schemas.microsoft.com/office/drawing/2014/main" id="{0017CA83-264C-DD00-6487-142E84330011}"/>
              </a:ext>
            </a:extLst>
          </p:cNvPr>
          <p:cNvSpPr txBox="1">
            <a:spLocks/>
          </p:cNvSpPr>
          <p:nvPr/>
        </p:nvSpPr>
        <p:spPr>
          <a:xfrm>
            <a:off x="177720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1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3" name="Content Placeholder 2">
            <a:extLst>
              <a:ext uri="{FF2B5EF4-FFF2-40B4-BE49-F238E27FC236}">
                <a16:creationId xmlns:a16="http://schemas.microsoft.com/office/drawing/2014/main" id="{A8C4C458-982B-4F45-7C89-3694B4C75711}"/>
              </a:ext>
            </a:extLst>
          </p:cNvPr>
          <p:cNvSpPr txBox="1">
            <a:spLocks/>
          </p:cNvSpPr>
          <p:nvPr/>
        </p:nvSpPr>
        <p:spPr>
          <a:xfrm>
            <a:off x="4148503" y="397099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2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4" name="Content Placeholder 2">
            <a:extLst>
              <a:ext uri="{FF2B5EF4-FFF2-40B4-BE49-F238E27FC236}">
                <a16:creationId xmlns:a16="http://schemas.microsoft.com/office/drawing/2014/main" id="{3BCA634C-1FE7-DEA4-D14B-44F351577811}"/>
              </a:ext>
            </a:extLst>
          </p:cNvPr>
          <p:cNvSpPr txBox="1">
            <a:spLocks/>
          </p:cNvSpPr>
          <p:nvPr/>
        </p:nvSpPr>
        <p:spPr>
          <a:xfrm>
            <a:off x="6517467" y="3965143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Honest step 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75" name="Content Placeholder 2">
            <a:extLst>
              <a:ext uri="{FF2B5EF4-FFF2-40B4-BE49-F238E27FC236}">
                <a16:creationId xmlns:a16="http://schemas.microsoft.com/office/drawing/2014/main" id="{B669791E-151B-F769-829A-562105671363}"/>
              </a:ext>
            </a:extLst>
          </p:cNvPr>
          <p:cNvSpPr txBox="1">
            <a:spLocks/>
          </p:cNvSpPr>
          <p:nvPr/>
        </p:nvSpPr>
        <p:spPr>
          <a:xfrm>
            <a:off x="8891110" y="3964486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Adversary step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"/>
              <a:ea typeface="Source Sans Pro"/>
            </a:endParaRPr>
          </a:p>
        </p:txBody>
      </p:sp>
      <p:sp>
        <p:nvSpPr>
          <p:cNvPr id="76" name="Content Placeholder 2">
            <a:extLst>
              <a:ext uri="{FF2B5EF4-FFF2-40B4-BE49-F238E27FC236}">
                <a16:creationId xmlns:a16="http://schemas.microsoft.com/office/drawing/2014/main" id="{C8C85CB7-E87B-ECC6-32D8-9B795F38D54C}"/>
              </a:ext>
            </a:extLst>
          </p:cNvPr>
          <p:cNvSpPr txBox="1">
            <a:spLocks/>
          </p:cNvSpPr>
          <p:nvPr/>
        </p:nvSpPr>
        <p:spPr>
          <a:xfrm>
            <a:off x="4619147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State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</p:txBody>
      </p:sp>
      <p:sp>
        <p:nvSpPr>
          <p:cNvPr id="77" name="Content Placeholder 2">
            <a:extLst>
              <a:ext uri="{FF2B5EF4-FFF2-40B4-BE49-F238E27FC236}">
                <a16:creationId xmlns:a16="http://schemas.microsoft.com/office/drawing/2014/main" id="{D28C5D49-86CB-A912-8758-BB5C3745BB48}"/>
              </a:ext>
            </a:extLst>
          </p:cNvPr>
          <p:cNvSpPr txBox="1">
            <a:spLocks/>
          </p:cNvSpPr>
          <p:nvPr/>
        </p:nvSpPr>
        <p:spPr>
          <a:xfrm>
            <a:off x="5658461" y="2257246"/>
            <a:ext cx="2673951" cy="3205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dirty="0">
                <a:latin typeface=""/>
                <a:ea typeface="Source Sans Pro"/>
              </a:rPr>
              <a:t>Adversary knowledge</a:t>
            </a:r>
            <a:endParaRPr lang="en-US" sz="14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sp>
        <p:nvSpPr>
          <p:cNvPr id="81" name="Content Placeholder 2">
            <a:extLst>
              <a:ext uri="{FF2B5EF4-FFF2-40B4-BE49-F238E27FC236}">
                <a16:creationId xmlns:a16="http://schemas.microsoft.com/office/drawing/2014/main" id="{EF5F80CF-A730-78EB-248C-82EEAAF81307}"/>
              </a:ext>
            </a:extLst>
          </p:cNvPr>
          <p:cNvSpPr txBox="1">
            <a:spLocks/>
          </p:cNvSpPr>
          <p:nvPr/>
        </p:nvSpPr>
        <p:spPr>
          <a:xfrm>
            <a:off x="3186328" y="2235615"/>
            <a:ext cx="1555934" cy="36384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latin typeface=""/>
                <a:ea typeface="Source Sans Pro"/>
              </a:rPr>
              <a:t>Session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"/>
              <a:ea typeface="Source Sans Pro"/>
            </a:endParaRPr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B821B072-3CEC-08C1-1893-66C3CC6817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3276" y="2658412"/>
            <a:ext cx="484830" cy="51247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9A81680-CF40-9278-4FED-C61D1BF9CF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1120" y="6153220"/>
            <a:ext cx="484830" cy="512475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83927E5B-17FD-9B1C-5757-4A33E5803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2892" y="6160672"/>
            <a:ext cx="484830" cy="512475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DA97808D-5D20-E50B-6CFB-26A3DA2B8E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5187" y="4336949"/>
            <a:ext cx="509504" cy="538556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FB6C99A1-416A-687D-1969-1E3466320A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389" y="4336949"/>
            <a:ext cx="509504" cy="538556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245BDFF4-ACC7-564E-CB60-4D442D828F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9430" y="4336949"/>
            <a:ext cx="509504" cy="538556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3A25CF4D-A406-C119-6859-BA8697F322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2476" y="4336949"/>
            <a:ext cx="509504" cy="53855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E40AEFB-2627-47DB-74DC-C3C08F04C3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448" y="3842919"/>
            <a:ext cx="414912" cy="41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612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68" grpId="0"/>
      <p:bldP spid="76" grpId="0"/>
      <p:bldP spid="77" grpId="0"/>
      <p:bldP spid="81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1325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RQ2. Can dedicated theory reasoning be feasible in practice?</a:t>
            </a:r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982D8C2-9DDE-479E-F815-4E813F8F8349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search modulo equational theories does not scale in practice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AE89C8-99D9-DAED-FB36-1B150B1FB865}"/>
              </a:ext>
            </a:extLst>
          </p:cNvPr>
          <p:cNvSpPr/>
          <p:nvPr/>
        </p:nvSpPr>
        <p:spPr>
          <a:xfrm>
            <a:off x="1573676" y="2968586"/>
            <a:ext cx="725501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incorporate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"/>
              </a:rPr>
              <a:t>scalable</a:t>
            </a:r>
            <a:r>
              <a:rPr lang="en-US" dirty="0">
                <a:solidFill>
                  <a:schemeClr val="tx1"/>
                </a:solidFill>
                <a:latin typeface=""/>
              </a:rPr>
              <a:t> dedicated theory reasoning?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C76075-48E5-6B4A-02BB-DAD8F9479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988906"/>
            <a:ext cx="467360" cy="46736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4716D5-4C89-36D5-B66F-720B26CB1EEF}"/>
              </a:ext>
            </a:extLst>
          </p:cNvPr>
          <p:cNvSpPr/>
          <p:nvPr/>
        </p:nvSpPr>
        <p:spPr>
          <a:xfrm>
            <a:off x="5515822" y="3529921"/>
            <a:ext cx="5724502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(often) natively reason modulo theories with an SMT backend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378F4AF-8252-E180-D706-7F273E38F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736" y="3600274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17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RQ3. How to reason about control flow beyond Alice-Bob?</a:t>
            </a:r>
          </a:p>
          <a:p>
            <a:pPr lvl="1"/>
            <a:endParaRPr lang="en-US" dirty="0">
              <a:ea typeface="Source Sans Pro"/>
            </a:endParaRPr>
          </a:p>
          <a:p>
            <a:endParaRPr lang="en-US" dirty="0"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70DFD9-22E7-92A7-1634-5897C3E9FABD}"/>
              </a:ext>
            </a:extLst>
          </p:cNvPr>
          <p:cNvSpPr/>
          <p:nvPr/>
        </p:nvSpPr>
        <p:spPr>
          <a:xfrm>
            <a:off x="2332879" y="2407789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analysis of looping protocols often causes nontermination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7F1AF76-5B22-D693-9074-94012F824183}"/>
              </a:ext>
            </a:extLst>
          </p:cNvPr>
          <p:cNvSpPr/>
          <p:nvPr/>
        </p:nvSpPr>
        <p:spPr>
          <a:xfrm>
            <a:off x="1787036" y="2957305"/>
            <a:ext cx="7106120" cy="53644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reason about loops with symbolic bounds?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84644F6-C6CD-B2DA-F7FB-543D3FBC9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712" y="2978641"/>
            <a:ext cx="514096" cy="514096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F671F68-22CA-54BF-CA77-42A8A04B2A86}"/>
              </a:ext>
            </a:extLst>
          </p:cNvPr>
          <p:cNvSpPr/>
          <p:nvPr/>
        </p:nvSpPr>
        <p:spPr>
          <a:xfrm>
            <a:off x="3595516" y="3560168"/>
            <a:ext cx="710612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tools typically natively support loops with corresponding loop invariants to prove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135D066-0FCD-7124-3822-3F026CFA1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016" y="3630521"/>
            <a:ext cx="599440" cy="599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177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EB369F-9A28-22B1-9709-554524436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920" y="3035943"/>
            <a:ext cx="6614160" cy="3456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35DE93-0A9A-FDA8-7158-0E4CE5BD43AF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</p:spTree>
    <p:extLst>
      <p:ext uri="{BB962C8B-B14F-4D97-AF65-F5344CB8AC3E}">
        <p14:creationId xmlns:p14="http://schemas.microsoft.com/office/powerpoint/2010/main" val="384637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Discussion &amp; Research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4014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lvl="1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RQ4. Is it possible to  gracefully recover interactivity for difficult proofs?</a:t>
            </a:r>
          </a:p>
          <a:p>
            <a:pPr lvl="1"/>
            <a:endParaRPr lang="en-US" dirty="0">
              <a:solidFill>
                <a:srgbClr val="C00000"/>
              </a:solidFill>
              <a:ea typeface="Source Sans Pro"/>
            </a:endParaRPr>
          </a:p>
          <a:p>
            <a:endParaRPr lang="en-US" dirty="0">
              <a:solidFill>
                <a:srgbClr val="C00000"/>
              </a:solidFill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1FF2BEA-9D6E-F7FA-6B26-69BC45003194}"/>
              </a:ext>
            </a:extLst>
          </p:cNvPr>
          <p:cNvSpPr/>
          <p:nvPr/>
        </p:nvSpPr>
        <p:spPr>
          <a:xfrm>
            <a:off x="1797196" y="2872022"/>
            <a:ext cx="6127604" cy="48768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Challenge: How to localize verification failures? 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CD015D0-ED10-EB6C-4145-9257DCD04AC4}"/>
              </a:ext>
            </a:extLst>
          </p:cNvPr>
          <p:cNvSpPr/>
          <p:nvPr/>
        </p:nvSpPr>
        <p:spPr>
          <a:xfrm>
            <a:off x="4043680" y="34238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Insight: deductive verification engines can isolate an individual postcondition within an individual function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2CBC3C-9061-20A5-E594-165F8B4D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2897448"/>
            <a:ext cx="467360" cy="4673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D128E3-5319-6914-A4A6-245151C17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7121" y="3494209"/>
            <a:ext cx="599440" cy="59944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472BAF5-52AB-2A9F-9CC2-455978CB655B}"/>
              </a:ext>
            </a:extLst>
          </p:cNvPr>
          <p:cNvSpPr/>
          <p:nvPr/>
        </p:nvSpPr>
        <p:spPr>
          <a:xfrm>
            <a:off x="2332879" y="2321933"/>
            <a:ext cx="7525827" cy="48768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"/>
              </a:rPr>
              <a:t>Tamarin’s monolithic proofs are hard for humans to digest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173638B-0FF0-95B2-C2E2-1E65880C5E37}"/>
              </a:ext>
            </a:extLst>
          </p:cNvPr>
          <p:cNvSpPr/>
          <p:nvPr/>
        </p:nvSpPr>
        <p:spPr>
          <a:xfrm>
            <a:off x="4043680" y="4234356"/>
            <a:ext cx="6939280" cy="7401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Deductive verification engines may be embedded in ITPs,      giving an escape hatch</a:t>
            </a:r>
          </a:p>
        </p:txBody>
      </p:sp>
    </p:spTree>
    <p:extLst>
      <p:ext uri="{BB962C8B-B14F-4D97-AF65-F5344CB8AC3E}">
        <p14:creationId xmlns:p14="http://schemas.microsoft.com/office/powerpoint/2010/main" val="1350617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2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457200" lvl="1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881E0-5D24-2878-1BDA-B054DA23B3A2}"/>
              </a:ext>
            </a:extLst>
          </p:cNvPr>
          <p:cNvSpPr/>
          <p:nvPr/>
        </p:nvSpPr>
        <p:spPr>
          <a:xfrm>
            <a:off x="630414" y="1825625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Even with idealized primitives, cryptographic protocol verification is hard </a:t>
            </a:r>
            <a:r>
              <a:rPr lang="en-US" dirty="0">
                <a:solidFill>
                  <a:schemeClr val="tx1"/>
                </a:solidFill>
              </a:rPr>
              <a:t>– </a:t>
            </a: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 we didn’t even touch hyper properties!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6D3E9-F60F-59D9-65C8-297B60DFEA8D}"/>
              </a:ext>
            </a:extLst>
          </p:cNvPr>
          <p:cNvSpPr/>
          <p:nvPr/>
        </p:nvSpPr>
        <p:spPr>
          <a:xfrm>
            <a:off x="630414" y="3499493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Current work is impressive but faces fundamental limitations with scalability, (practical) expressivity, and usable interactivity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35077D-A146-18D5-8BC0-8FD705D2681D}"/>
              </a:ext>
            </a:extLst>
          </p:cNvPr>
          <p:cNvSpPr/>
          <p:nvPr/>
        </p:nvSpPr>
        <p:spPr>
          <a:xfrm>
            <a:off x="630414" y="5170664"/>
            <a:ext cx="10930758" cy="112460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tx1"/>
                </a:solidFill>
                <a:latin typeface="Avenir Next" panose="020B0503020202020204" pitchFamily="34" charset="0"/>
                <a:ea typeface="Source Sans Pro"/>
              </a:rPr>
              <a:t>We need advances both in terms of theory and verification tooling</a:t>
            </a:r>
          </a:p>
        </p:txBody>
      </p:sp>
    </p:spTree>
    <p:extLst>
      <p:ext uri="{BB962C8B-B14F-4D97-AF65-F5344CB8AC3E}">
        <p14:creationId xmlns:p14="http://schemas.microsoft.com/office/powerpoint/2010/main" val="2118451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∃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.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Sent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𝐵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𝐴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𝑡</m:t>
                            </m:r>
                          </m:e>
                        </m:d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@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 &amp;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&lt;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ED191A-3995-522A-77CA-3BAB09A7FBA7}"/>
              </a:ext>
            </a:extLst>
          </p:cNvPr>
          <p:cNvCxnSpPr>
            <a:cxnSpLocks/>
            <a:stCxn id="68" idx="2"/>
            <a:endCxn id="65" idx="6"/>
          </p:cNvCxnSpPr>
          <p:nvPr/>
        </p:nvCxnSpPr>
        <p:spPr>
          <a:xfrm flipH="1" flipV="1">
            <a:off x="8491815" y="5186906"/>
            <a:ext cx="1687902" cy="59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9679C9A-349E-A933-AC66-7B2AE49766D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73375" y="5121647"/>
            <a:ext cx="451022" cy="45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7063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0720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4750C9E-858D-B1DA-F78E-A96DAA1C61EA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729CB89-C10D-DB5A-952F-FB5A0A1C44FA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375BFF0-7EEE-2BF5-3E86-8FA4A781DE2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2B0AF2C-8E5C-07D2-F892-F0A53C2BF61C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4221C949-3379-22B7-A74D-36965B406C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DECD5AD-35D3-7A88-ECED-33BA0CEDC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2B045D3-7D10-27A7-3748-2C6CB4E9C425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B5994BA-563D-BA9E-669A-7777719FD2A0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726D391-1B60-BAD3-A5C6-F3CE22CE8580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3BDF3B72-4F9F-5137-55DD-CBF66277DB5B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7F816AF4-0B82-E4CD-1D71-F1B0D9ECD9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3D59B5C-44E1-93A9-CF7E-7FB96A8711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369AC445-B558-D9B4-C92E-29573E3D9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7D3A10F4-3E4E-4D48-E949-2504BE5C3B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8" name="Title 1">
            <a:extLst>
              <a:ext uri="{FF2B5EF4-FFF2-40B4-BE49-F238E27FC236}">
                <a16:creationId xmlns:a16="http://schemas.microsoft.com/office/drawing/2014/main" id="{590CCD6F-1DAC-0039-9587-4BE203918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45FE81D-3A46-25E2-81B8-2E6E5CAB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25077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F1151DB7-B4D4-6F7C-4F01-472C71ED2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7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88A3E038-8664-599C-5BF2-3CA759E4CD66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4FD549D-6CF6-5630-1246-7A55D4F56061}"/>
              </a:ext>
            </a:extLst>
          </p:cNvPr>
          <p:cNvCxnSpPr>
            <a:cxnSpLocks/>
            <a:stCxn id="14" idx="2"/>
            <a:endCxn id="23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60A8220-E0CD-52D8-2699-AE225D276F39}"/>
              </a:ext>
            </a:extLst>
          </p:cNvPr>
          <p:cNvCxnSpPr>
            <a:cxnSpLocks/>
            <a:stCxn id="15" idx="2"/>
            <a:endCxn id="13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90337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⇒(∃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sty m:val="p"/>
                      </m:rP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Sent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 &amp;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𝑗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&lt;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&amp;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prstDash val="dash"/>
            <a:headEnd type="arrow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2"/>
          </p:cNvCxnSpPr>
          <p:nvPr/>
        </p:nvCxnSpPr>
        <p:spPr>
          <a:xfrm flipV="1">
            <a:off x="9466991" y="5780298"/>
            <a:ext cx="712726" cy="4896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8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66E1A8-04A0-434B-6CBD-45DB89602C9A}"/>
              </a:ext>
            </a:extLst>
          </p:cNvPr>
          <p:cNvSpPr/>
          <p:nvPr/>
        </p:nvSpPr>
        <p:spPr>
          <a:xfrm>
            <a:off x="2695018" y="3521228"/>
            <a:ext cx="6849374" cy="465827"/>
          </a:xfrm>
          <a:prstGeom prst="rect">
            <a:avLst/>
          </a:prstGeom>
          <a:noFill/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C234E-DED9-8595-2E5F-228CA0081C83}"/>
              </a:ext>
            </a:extLst>
          </p:cNvPr>
          <p:cNvSpPr txBox="1"/>
          <p:nvPr/>
        </p:nvSpPr>
        <p:spPr>
          <a:xfrm>
            <a:off x="9340694" y="633124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E3484B50-4B0D-0616-0C60-9141CB1F7BC2}"/>
              </a:ext>
            </a:extLst>
          </p:cNvPr>
          <p:cNvSpPr/>
          <p:nvPr/>
        </p:nvSpPr>
        <p:spPr>
          <a:xfrm>
            <a:off x="7873679" y="4821625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B471C69-C918-DCFC-E9A3-2E91A25DEC3D}"/>
              </a:ext>
            </a:extLst>
          </p:cNvPr>
          <p:cNvSpPr/>
          <p:nvPr/>
        </p:nvSpPr>
        <p:spPr>
          <a:xfrm>
            <a:off x="9760513" y="4821624"/>
            <a:ext cx="1236274" cy="163620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/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Sent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𝐴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5582B76-80D0-C233-A48D-FDEF0CF9A2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43" y="4383976"/>
                <a:ext cx="1172180" cy="369332"/>
              </a:xfrm>
              <a:prstGeom prst="rect">
                <a:avLst/>
              </a:prstGeom>
              <a:blipFill>
                <a:blip r:embed="rId2"/>
                <a:stretch>
                  <a:fillRect l="-319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/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Accepted by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𝐵</m:t>
                    </m:r>
                  </m:oMath>
                </a14:m>
                <a:endParaRPr lang="en-US" sz="1800" dirty="0"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A717C6F7-E02E-D396-6F48-EA3FE8518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1502" y="4383974"/>
                <a:ext cx="1672253" cy="369332"/>
              </a:xfrm>
              <a:prstGeom prst="rect">
                <a:avLst/>
              </a:prstGeom>
              <a:blipFill>
                <a:blip r:embed="rId3"/>
                <a:stretch>
                  <a:fillRect l="-3788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Oval 64">
            <a:extLst>
              <a:ext uri="{FF2B5EF4-FFF2-40B4-BE49-F238E27FC236}">
                <a16:creationId xmlns:a16="http://schemas.microsoft.com/office/drawing/2014/main" id="{8EACB7A5-B8FF-3E77-D102-5CD81BA1C9C8}"/>
              </a:ext>
            </a:extLst>
          </p:cNvPr>
          <p:cNvSpPr/>
          <p:nvPr/>
        </p:nvSpPr>
        <p:spPr>
          <a:xfrm>
            <a:off x="8411492" y="5146744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5A6471FD-BB31-5ED2-F36D-6DA33E783052}"/>
              </a:ext>
            </a:extLst>
          </p:cNvPr>
          <p:cNvSpPr/>
          <p:nvPr/>
        </p:nvSpPr>
        <p:spPr>
          <a:xfrm>
            <a:off x="9386668" y="5789099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306535D-BD4E-5AA9-20ED-7014F5E1B2B1}"/>
              </a:ext>
            </a:extLst>
          </p:cNvPr>
          <p:cNvSpPr/>
          <p:nvPr/>
        </p:nvSpPr>
        <p:spPr>
          <a:xfrm>
            <a:off x="10099394" y="5210925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3CA975F-C093-5B06-4FF7-3936D02BD3A0}"/>
              </a:ext>
            </a:extLst>
          </p:cNvPr>
          <p:cNvSpPr/>
          <p:nvPr/>
        </p:nvSpPr>
        <p:spPr>
          <a:xfrm>
            <a:off x="10179717" y="5740136"/>
            <a:ext cx="80323" cy="803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/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993B2FC-9DC7-8A8B-7FD4-F458536DA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1710" y="5016973"/>
                <a:ext cx="371512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/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93A1B24C-2D32-EDF4-364E-FC6A0792F6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797" y="5562700"/>
                <a:ext cx="37151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/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987303BA-ED74-2C0F-D504-B2B02E678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2555" y="5639725"/>
                <a:ext cx="37151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/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𝑑</m:t>
                      </m:r>
                    </m:oMath>
                  </m:oMathPara>
                </a14:m>
                <a:endParaRPr lang="en-US" sz="18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07F0681C-C9F9-C94E-AFE8-02A1A6773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4651" y="5068561"/>
                <a:ext cx="371512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8" name="Picture 77" descr="A red smiley with horns and yellow eyes&#10;&#10;Description automatically generated">
            <a:extLst>
              <a:ext uri="{FF2B5EF4-FFF2-40B4-BE49-F238E27FC236}">
                <a16:creationId xmlns:a16="http://schemas.microsoft.com/office/drawing/2014/main" id="{7DF1FC6A-C774-C59B-D510-2019B93F781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40314" y="5948061"/>
            <a:ext cx="373030" cy="323762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CDDE8C84-E81F-0A56-BC9F-D1F46F7E4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B8C1055-8F19-DCA8-7B25-7713EEA50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531314"/>
          </a:xfrm>
        </p:spPr>
        <p:txBody>
          <a:bodyPr/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ea typeface="Source Sans Pro"/>
                  </a:rPr>
                  <a:t>Injective agreement</a:t>
                </a:r>
                <a:r>
                  <a:rPr lang="en-US" dirty="0">
                    <a:ea typeface="Source Sans Pro"/>
                  </a:rPr>
                  <a:t>: There is an injective mapping from data items accepted by principal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r>
                  <a:rPr lang="en-US" dirty="0">
                    <a:ea typeface="Source Sans Pro"/>
                  </a:rPr>
                  <a:t> apparently from principal</a:t>
                </a:r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, to data items sent from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</m:oMath>
                </a14:m>
                <a:r>
                  <a:rPr lang="en-US" dirty="0">
                    <a:ea typeface="Source Sans Pro"/>
                  </a:rPr>
                  <a:t> apparently to principal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</m:oMath>
                </a14:m>
                <a:endParaRPr lang="en-US" dirty="0"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∀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𝐴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𝐵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𝑡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, 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.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Accept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𝐴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𝐵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,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𝑡</m:t>
                        </m:r>
                      </m:e>
                    </m:d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@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𝑖</m:t>
                    </m:r>
                    <m:r>
                      <a:rPr lang="en-US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ea typeface="Source Sans Pro"/>
                      </a:rPr>
                      <m:t>⇒</m:t>
                    </m:r>
                    <m:d>
                      <m:dPr>
                        <m:ctrl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∃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. 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Sent</m:t>
                        </m:r>
                        <m:d>
                          <m:dPr>
                            <m:ctrlP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𝐵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𝐴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,</m:t>
                            </m:r>
                            <m:r>
                              <a:rPr lang="en-US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ea typeface="Source Sans Pro"/>
                              </a:rPr>
                              <m:t>𝑡</m:t>
                            </m:r>
                          </m:e>
                        </m:d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@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 &amp; 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𝑗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&lt;</m:t>
                        </m:r>
                        <m:r>
                          <a:rPr lang="en-US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ea typeface="Source Sans Pro"/>
                          </a:rPr>
                          <m:t>𝑖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&amp;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¬(∃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𝐴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𝐵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,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.</m:t>
                      </m:r>
                      <m:r>
                        <m:rPr>
                          <m:nor/>
                        </m:rPr>
                        <a:rPr lang="en-US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Accept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ea typeface="Source Sans Pro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@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&amp; </m:t>
                      </m:r>
                      <m:sSub>
                        <m:sSubPr>
                          <m:ctrlP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𝑖</m:t>
                          </m:r>
                        </m:e>
                        <m:sub>
                          <m:r>
                            <a:rPr lang="en-US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≠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𝑖</m:t>
                      </m:r>
                      <m:r>
                        <a:rPr lang="en-US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a typeface="Source Sans Pro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ea typeface="Source Sans Pro"/>
                </a:endParaRPr>
              </a:p>
            </p:txBody>
          </p:sp>
        </mc:Choice>
        <mc:Fallback>
          <p:sp>
            <p:nvSpPr>
              <p:cNvPr id="22" name="Content Placeholder 2">
                <a:extLst>
                  <a:ext uri="{FF2B5EF4-FFF2-40B4-BE49-F238E27FC236}">
                    <a16:creationId xmlns:a16="http://schemas.microsoft.com/office/drawing/2014/main" id="{B566FEA6-09FB-3110-2B87-07CED728D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5"/>
                <a:ext cx="10515600" cy="4920232"/>
              </a:xfrm>
              <a:prstGeom prst="rect">
                <a:avLst/>
              </a:prstGeom>
              <a:blipFill>
                <a:blip r:embed="rId9"/>
                <a:stretch>
                  <a:fillRect l="-1206" t="-2057" r="-13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A121365D-D62E-F8ED-5440-3167AA86E613}"/>
              </a:ext>
            </a:extLst>
          </p:cNvPr>
          <p:cNvSpPr txBox="1"/>
          <p:nvPr/>
        </p:nvSpPr>
        <p:spPr>
          <a:xfrm>
            <a:off x="1624101" y="4351679"/>
            <a:ext cx="1793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"/>
              </a:rPr>
              <a:t>Too strong?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2B6185E-CA88-FC2B-6DBA-DACE4872F3E4}"/>
              </a:ext>
            </a:extLst>
          </p:cNvPr>
          <p:cNvGrpSpPr/>
          <p:nvPr/>
        </p:nvGrpSpPr>
        <p:grpSpPr>
          <a:xfrm>
            <a:off x="4062519" y="4419020"/>
            <a:ext cx="3477316" cy="2316606"/>
            <a:chOff x="4062519" y="4419020"/>
            <a:chExt cx="3477316" cy="231660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9FA4CE-B163-B02A-6305-9A55BDAEA8CB}"/>
                </a:ext>
              </a:extLst>
            </p:cNvPr>
            <p:cNvSpPr txBox="1"/>
            <p:nvPr/>
          </p:nvSpPr>
          <p:spPr>
            <a:xfrm>
              <a:off x="5529534" y="6366294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>
                <a:latin typeface=""/>
              </a:endParaRPr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AC783CF0-FF12-7489-E554-7021233F107D}"/>
                </a:ext>
              </a:extLst>
            </p:cNvPr>
            <p:cNvSpPr/>
            <p:nvPr/>
          </p:nvSpPr>
          <p:spPr>
            <a:xfrm>
              <a:off x="4062519" y="4856671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5BC19C22-DCA2-ADB5-C205-7408833F6975}"/>
                </a:ext>
              </a:extLst>
            </p:cNvPr>
            <p:cNvSpPr/>
            <p:nvPr/>
          </p:nvSpPr>
          <p:spPr>
            <a:xfrm>
              <a:off x="5949353" y="4856670"/>
              <a:ext cx="1236274" cy="1636203"/>
            </a:xfrm>
            <a:prstGeom prst="ellipse">
              <a:avLst/>
            </a:prstGeom>
            <a:noFill/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/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Sent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𝐵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1615CD2-E827-6B14-CBC0-DB452225E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40283" y="4419022"/>
                  <a:ext cx="1184940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158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/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>
                      <a:latin typeface=""/>
                      <a:ea typeface="Source Sans Pro"/>
                    </a:rPr>
                    <a:t>Accepted by </a:t>
                  </a:r>
                  <a14:m>
                    <m:oMath xmlns:m="http://schemas.openxmlformats.org/officeDocument/2006/math"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𝐴</m:t>
                      </m:r>
                    </m:oMath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4C890AC9-781D-6541-E9A5-F6696ABC0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0342" y="4419020"/>
                  <a:ext cx="1659493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3817" t="-10345" b="-275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6076645-9FB1-6C72-62E5-F1C51BB53568}"/>
                </a:ext>
              </a:extLst>
            </p:cNvPr>
            <p:cNvSpPr/>
            <p:nvPr/>
          </p:nvSpPr>
          <p:spPr>
            <a:xfrm>
              <a:off x="4600332" y="5181790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A5CC4E3-FA96-1630-E115-2025AF87ECFF}"/>
                </a:ext>
              </a:extLst>
            </p:cNvPr>
            <p:cNvSpPr/>
            <p:nvPr/>
          </p:nvSpPr>
          <p:spPr>
            <a:xfrm>
              <a:off x="4685886" y="5851709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539380C4-F821-A85F-D708-5B342008C898}"/>
                </a:ext>
              </a:extLst>
            </p:cNvPr>
            <p:cNvSpPr/>
            <p:nvPr/>
          </p:nvSpPr>
          <p:spPr>
            <a:xfrm>
              <a:off x="6288234" y="5245971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9D25D39A-5F6B-37C6-3026-F64205B23B22}"/>
                </a:ext>
              </a:extLst>
            </p:cNvPr>
            <p:cNvSpPr/>
            <p:nvPr/>
          </p:nvSpPr>
          <p:spPr>
            <a:xfrm>
              <a:off x="6368557" y="5775182"/>
              <a:ext cx="80323" cy="8032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/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A0B75BE1-7950-03B7-1336-22E24393B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7426" y="5035655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/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A637742-F885-659D-5369-C34F6DD0E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9526" y="5617810"/>
                  <a:ext cx="389145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/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9549BB2-54EE-3F5C-7DDF-7A9A1F9C63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9251" y="5707852"/>
                  <a:ext cx="389145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/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𝑑</m:t>
                        </m:r>
                      </m:oMath>
                    </m:oMathPara>
                  </a14:m>
                  <a:endParaRPr lang="en-US" sz="1800" dirty="0">
                    <a:latin typeface=""/>
                    <a:ea typeface="Source Sans Pro"/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7A0BE24-294F-730A-A02C-CDDCB99008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0943" y="5084548"/>
                  <a:ext cx="38914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8EFB083-D99F-558F-7A89-FFA5A8E18AD2}"/>
              </a:ext>
            </a:extLst>
          </p:cNvPr>
          <p:cNvCxnSpPr>
            <a:cxnSpLocks/>
            <a:stCxn id="37" idx="2"/>
            <a:endCxn id="39" idx="3"/>
          </p:cNvCxnSpPr>
          <p:nvPr/>
        </p:nvCxnSpPr>
        <p:spPr>
          <a:xfrm flipH="1" flipV="1">
            <a:off x="4676571" y="5220321"/>
            <a:ext cx="1611663" cy="65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FF8976F-B44F-D730-8BA5-2309D1B27F0C}"/>
              </a:ext>
            </a:extLst>
          </p:cNvPr>
          <p:cNvCxnSpPr>
            <a:cxnSpLocks/>
            <a:stCxn id="38" idx="2"/>
            <a:endCxn id="36" idx="6"/>
          </p:cNvCxnSpPr>
          <p:nvPr/>
        </p:nvCxnSpPr>
        <p:spPr>
          <a:xfrm flipH="1">
            <a:off x="4766209" y="5815344"/>
            <a:ext cx="1602348" cy="7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86412EA-F965-34A4-C46C-A64CBE0374D5}"/>
              </a:ext>
            </a:extLst>
          </p:cNvPr>
          <p:cNvCxnSpPr>
            <a:cxnSpLocks/>
            <a:stCxn id="67" idx="2"/>
            <a:endCxn id="65" idx="6"/>
          </p:cNvCxnSpPr>
          <p:nvPr/>
        </p:nvCxnSpPr>
        <p:spPr>
          <a:xfrm flipH="1" flipV="1">
            <a:off x="8491815" y="5186906"/>
            <a:ext cx="1607579" cy="6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ED191A-3995-522A-77CA-3BAB09A7FBA7}"/>
              </a:ext>
            </a:extLst>
          </p:cNvPr>
          <p:cNvCxnSpPr>
            <a:cxnSpLocks/>
            <a:stCxn id="68" idx="2"/>
            <a:endCxn id="65" idx="6"/>
          </p:cNvCxnSpPr>
          <p:nvPr/>
        </p:nvCxnSpPr>
        <p:spPr>
          <a:xfrm flipH="1" flipV="1">
            <a:off x="8491815" y="5186906"/>
            <a:ext cx="1687902" cy="59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4A77069-91DD-8703-1013-0467722E7FFF}"/>
              </a:ext>
            </a:extLst>
          </p:cNvPr>
          <p:cNvCxnSpPr>
            <a:cxnSpLocks/>
            <a:stCxn id="66" idx="6"/>
            <a:endCxn id="68" idx="5"/>
          </p:cNvCxnSpPr>
          <p:nvPr/>
        </p:nvCxnSpPr>
        <p:spPr>
          <a:xfrm flipV="1">
            <a:off x="9466991" y="5808696"/>
            <a:ext cx="781286" cy="2056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9679C9A-349E-A933-AC66-7B2AE49766D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73375" y="5121647"/>
            <a:ext cx="451022" cy="451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7929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4A250-B482-01C5-E5D3-AF89145F3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DEF77-C32D-B9D1-FD95-218B012B5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C00000"/>
                </a:solidFill>
                <a:ea typeface="Source Sans Pro"/>
              </a:rPr>
              <a:t>What about hyper properties?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A9E1111-4D49-F123-B866-CAE0AA82D56B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08BAC0-CD18-7594-F454-C249E20CD6BC}"/>
              </a:ext>
            </a:extLst>
          </p:cNvPr>
          <p:cNvSpPr txBox="1"/>
          <p:nvPr/>
        </p:nvSpPr>
        <p:spPr>
          <a:xfrm>
            <a:off x="2213960" y="2332514"/>
            <a:ext cx="776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"/>
              </a:rPr>
              <a:t>Current tools don’t have a generic (hyper) property specification language!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/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z="2400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Equiv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𝑃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"/>
                  </a:rPr>
                  <a:t>for some notion of equivalence between two protocols</a:t>
                </a:r>
              </a:p>
            </p:txBody>
          </p:sp>
        </mc:Choice>
        <mc:Fallback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2406F4B6-1E7C-E71B-8E9B-F36FCC263B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272" y="3552150"/>
                <a:ext cx="9337040" cy="934809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itle 1">
            <a:extLst>
              <a:ext uri="{FF2B5EF4-FFF2-40B4-BE49-F238E27FC236}">
                <a16:creationId xmlns:a16="http://schemas.microsoft.com/office/drawing/2014/main" id="{A9CCCAAF-56B9-3B06-8EDE-9515289C0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Formalizing Security Properties in the Symbolic Model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63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FACD8D-0D96-76B5-1545-0DD47637BA9B}"/>
              </a:ext>
            </a:extLst>
          </p:cNvPr>
          <p:cNvSpPr txBox="1"/>
          <p:nvPr/>
        </p:nvSpPr>
        <p:spPr>
          <a:xfrm>
            <a:off x="2855450" y="1690688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  <a:latin typeface=""/>
              </a:rPr>
              <a:t>Why not use a general-purpose model checker?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13C1D56-A78D-758C-85A7-1FF1327CB580}"/>
              </a:ext>
            </a:extLst>
          </p:cNvPr>
          <p:cNvSpPr/>
          <p:nvPr/>
        </p:nvSpPr>
        <p:spPr>
          <a:xfrm>
            <a:off x="2855450" y="2477211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1. Need symbolic terms of recursive ADTs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61D5CC6A-F3EE-57E3-B9CE-4A2527EBFDAB}"/>
              </a:ext>
            </a:extLst>
          </p:cNvPr>
          <p:cNvSpPr/>
          <p:nvPr/>
        </p:nvSpPr>
        <p:spPr>
          <a:xfrm>
            <a:off x="2855450" y="3351739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2. Need to model </a:t>
            </a:r>
            <a:r>
              <a:rPr lang="en-US" dirty="0" err="1">
                <a:solidFill>
                  <a:schemeClr val="tx1"/>
                </a:solidFill>
                <a:latin typeface=""/>
              </a:rPr>
              <a:t>Dolev</a:t>
            </a:r>
            <a:r>
              <a:rPr lang="en-US" dirty="0">
                <a:solidFill>
                  <a:schemeClr val="tx1"/>
                </a:solidFill>
                <a:latin typeface=""/>
              </a:rPr>
              <a:t>-Yao adversary knowledge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2BE2950-652B-938C-437A-AA9AD93B3F36}"/>
              </a:ext>
            </a:extLst>
          </p:cNvPr>
          <p:cNvSpPr/>
          <p:nvPr/>
        </p:nvSpPr>
        <p:spPr>
          <a:xfrm>
            <a:off x="2855450" y="4224717"/>
            <a:ext cx="6641715" cy="58382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"/>
              </a:rPr>
              <a:t>3. Need to model inter- and intra-session adversary influence</a:t>
            </a:r>
          </a:p>
        </p:txBody>
      </p:sp>
    </p:spTree>
    <p:extLst>
      <p:ext uri="{BB962C8B-B14F-4D97-AF65-F5344CB8AC3E}">
        <p14:creationId xmlns:p14="http://schemas.microsoft.com/office/powerpoint/2010/main" val="964459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D107A3A4-22FA-2AC4-7840-CFEEF4B69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B150F1-0B16-EB49-8B10-16A232A65EF5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B310CBD-FF22-CC09-4FB9-142A21332E4E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91EDAA-B220-69DE-E6D2-086C5464519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8B0FBA0-4B8D-CD77-BC5B-55DAC2A2D6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5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9FF3D42-9419-77D5-787E-85464F06664C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48029AE-A362-D9BA-5693-36FC2A020D90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2AADD5AE-5537-EBA8-BDB9-9724D8FDDE5A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EEACFD5-C32E-0C0B-CD8A-B5F5265D07C8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CFBD86-1CC5-A7D4-ABDB-3A2874CB6BBB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6005FD5-8FD6-8257-53C4-D55F808B3EF1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33" name="Rounded Rectangle 32">
                <a:extLst>
                  <a:ext uri="{FF2B5EF4-FFF2-40B4-BE49-F238E27FC236}">
                    <a16:creationId xmlns:a16="http://schemas.microsoft.com/office/drawing/2014/main" id="{C4277762-99F5-68E1-C89D-A971F31FF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18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615618"/>
              </a:xfrm>
              <a:prstGeom prst="rect">
                <a:avLst/>
              </a:prstGeom>
              <a:blipFill>
                <a:blip r:embed="rId7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320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3119120"/>
            <a:ext cx="1364789" cy="2027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09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4" grpId="0" animBg="1"/>
      <p:bldP spid="36" grpId="0"/>
      <p:bldP spid="3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317E6-AB9A-0DB8-505E-90D61058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/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Find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𝜎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</a:t>
                </a:r>
                <a:r>
                  <a:rPr lang="en-US" sz="1800" dirty="0">
                    <a:solidFill>
                      <a:schemeClr val="tx1"/>
                    </a:solidFill>
                    <a:latin typeface=""/>
                    <a:ea typeface="Source Sans Pro"/>
                  </a:rPr>
                  <a:t>such that </a:t>
                </a:r>
                <a:endParaRPr lang="en-US" sz="18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 …</m:t>
                          </m:r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sz="18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=</m:t>
                          </m:r>
                        </m:e>
                        <m:sub>
                          <m:r>
                            <a:rPr lang="en-US" sz="1800" b="1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𝑬</m:t>
                          </m:r>
                        </m:sub>
                      </m:sSub>
                      <m:r>
                        <a:rPr lang="en-US" sz="1800" b="1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80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F</m:t>
                      </m:r>
                      <m:d>
                        <m:dPr>
                          <m:ctrlP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SupPr>
                            <m:e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800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′</m:t>
                              </m:r>
                            </m:sup>
                          </m:sSubSup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,</m:t>
                          </m:r>
                          <m:r>
                            <a:rPr lang="en-US" sz="18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 …, </m:t>
                          </m:r>
                          <m:sSub>
                            <m:sSubPr>
                              <m:ctrlP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800" i="1" dirty="0" err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"/>
                                  <a:ea typeface="Source Sans Pro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"/>
                              <a:ea typeface="Source Sans Pro"/>
                            </a:rPr>
                            <m:t>′</m:t>
                          </m:r>
                        </m:e>
                      </m:d>
                      <m:r>
                        <a:rPr lang="en-US" sz="1800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"/>
                          <a:ea typeface="Source Sans Pro"/>
                        </a:rPr>
                        <m:t>𝜎</m:t>
                      </m:r>
                    </m:oMath>
                  </m:oMathPara>
                </a14:m>
                <a:endParaRPr lang="en-US" sz="18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  <a:ea typeface="Source Sans Pro"/>
                </a:endParaRPr>
              </a:p>
            </p:txBody>
          </p:sp>
        </mc:Choice>
        <mc:Fallback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45D0CF13-85F0-E2FE-8E71-4140776AFC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6083" y="4617873"/>
                <a:ext cx="3799840" cy="1096337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5C09264-82F7-B022-27F1-66F6F0CE0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Automated Property Satisfaction/Violation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1C0C6A-E108-6A9E-3327-C0619C7585C0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C42F1B-8619-CF90-7515-29A508A503A8}"/>
              </a:ext>
            </a:extLst>
          </p:cNvPr>
          <p:cNvSpPr txBox="1"/>
          <p:nvPr/>
        </p:nvSpPr>
        <p:spPr>
          <a:xfrm>
            <a:off x="6754592" y="1896694"/>
            <a:ext cx="5010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"/>
              </a:rPr>
              <a:t>Can use equational theories for expressivity</a:t>
            </a:r>
          </a:p>
          <a:p>
            <a:endParaRPr lang="en-US" dirty="0">
              <a:latin typeface="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D38573E-6655-F333-B3A4-7E4412B1C477}"/>
              </a:ext>
            </a:extLst>
          </p:cNvPr>
          <p:cNvSpPr/>
          <p:nvPr/>
        </p:nvSpPr>
        <p:spPr>
          <a:xfrm>
            <a:off x="7506928" y="5146884"/>
            <a:ext cx="478832" cy="37115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/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+0=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𝑠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+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18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59CA30-D1D9-2D7A-F0A3-F8011773B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5545" y="2250374"/>
                <a:ext cx="5399736" cy="381451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Rectangle 36">
            <a:extLst>
              <a:ext uri="{FF2B5EF4-FFF2-40B4-BE49-F238E27FC236}">
                <a16:creationId xmlns:a16="http://schemas.microsoft.com/office/drawing/2014/main" id="{9AE3839F-06E4-7C95-9D3D-EABAEE42B2D8}"/>
              </a:ext>
            </a:extLst>
          </p:cNvPr>
          <p:cNvSpPr/>
          <p:nvPr/>
        </p:nvSpPr>
        <p:spPr>
          <a:xfrm>
            <a:off x="6365545" y="1798320"/>
            <a:ext cx="5491175" cy="103615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8CB66B2-3436-894E-137A-F60EA58A1459}"/>
              </a:ext>
            </a:extLst>
          </p:cNvPr>
          <p:cNvCxnSpPr>
            <a:cxnSpLocks/>
            <a:stCxn id="37" idx="2"/>
            <a:endCxn id="34" idx="0"/>
          </p:cNvCxnSpPr>
          <p:nvPr/>
        </p:nvCxnSpPr>
        <p:spPr>
          <a:xfrm flipH="1">
            <a:off x="7746344" y="2834478"/>
            <a:ext cx="1364789" cy="2312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4CA7939-BF2A-B71F-45A1-C085ED685DA0}"/>
              </a:ext>
            </a:extLst>
          </p:cNvPr>
          <p:cNvSpPr/>
          <p:nvPr/>
        </p:nvSpPr>
        <p:spPr>
          <a:xfrm>
            <a:off x="8050878" y="3867720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unification decidable?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4743C0-FB51-8097-A200-85D390915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894650"/>
            <a:ext cx="658486" cy="658486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B4AE248-096C-A2FB-1CB7-8E2EAC0FEC00}"/>
              </a:ext>
            </a:extLst>
          </p:cNvPr>
          <p:cNvSpPr/>
          <p:nvPr/>
        </p:nvSpPr>
        <p:spPr>
          <a:xfrm>
            <a:off x="8050878" y="3039403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scalable?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9C13-C81B-3264-C46A-9EC04DFFC1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785" y="3066333"/>
            <a:ext cx="658486" cy="658486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EB0FDC4-B554-EF45-E38E-022FC9E7B04A}"/>
              </a:ext>
            </a:extLst>
          </p:cNvPr>
          <p:cNvSpPr/>
          <p:nvPr/>
        </p:nvSpPr>
        <p:spPr>
          <a:xfrm>
            <a:off x="8072120" y="4677586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When is the search algo decidable?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976DAC3-C307-C0A2-3B19-F9C19A692F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4704516"/>
            <a:ext cx="658486" cy="658486"/>
          </a:xfrm>
          <a:prstGeom prst="rect">
            <a:avLst/>
          </a:prstGeom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7B1962-F759-DE17-D80B-2DE1ADA2B49E}"/>
              </a:ext>
            </a:extLst>
          </p:cNvPr>
          <p:cNvSpPr/>
          <p:nvPr/>
        </p:nvSpPr>
        <p:spPr>
          <a:xfrm>
            <a:off x="8072120" y="5469684"/>
            <a:ext cx="3870960" cy="67195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"/>
              </a:rPr>
              <a:t>How to cope with undecidability?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15F39F6-F0C1-0F06-76A6-AAA50160D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27" y="5496614"/>
            <a:ext cx="658486" cy="658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Secret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4" name="Content Placeholder 2">
                <a:extLst>
                  <a:ext uri="{FF2B5EF4-FFF2-40B4-BE49-F238E27FC236}">
                    <a16:creationId xmlns:a16="http://schemas.microsoft.com/office/drawing/2014/main" id="{38531469-8BB6-4149-6DE4-3214DF28FC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400" y="5277124"/>
                <a:ext cx="3393440" cy="7040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C36C857-0C97-D8B0-0CF7-6B5B47A957A9}"/>
              </a:ext>
            </a:extLst>
          </p:cNvPr>
          <p:cNvCxnSpPr>
            <a:cxnSpLocks/>
          </p:cNvCxnSpPr>
          <p:nvPr/>
        </p:nvCxnSpPr>
        <p:spPr>
          <a:xfrm>
            <a:off x="2390666" y="4255267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2C0D052-511B-7598-E979-6292FBD90D05}"/>
              </a:ext>
            </a:extLst>
          </p:cNvPr>
          <p:cNvCxnSpPr>
            <a:cxnSpLocks/>
          </p:cNvCxnSpPr>
          <p:nvPr/>
        </p:nvCxnSpPr>
        <p:spPr>
          <a:xfrm flipH="1">
            <a:off x="4177425" y="4168831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/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Honest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Secret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"/>
                </a:endParaRPr>
              </a:p>
            </p:txBody>
          </p:sp>
        </mc:Choice>
        <mc:Fallback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0A95BF1-A5C4-B1F8-B81D-A6B814721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7425" y="3351542"/>
                <a:ext cx="3184634" cy="81729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/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"/>
                    <a:ea typeface="Source Sans Pro"/>
                  </a:rPr>
                  <a:t>Adversary rule with label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K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latin typeface=""/>
                </a:endParaRPr>
              </a:p>
            </p:txBody>
          </p:sp>
        </mc:Choice>
        <mc:Fallback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B1E1315-F78B-2134-6243-6B33549514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426" y="3429000"/>
                <a:ext cx="3184634" cy="817290"/>
              </a:xfrm>
              <a:prstGeom prst="rect">
                <a:avLst/>
              </a:prstGeom>
              <a:blipFill>
                <a:blip r:embed="rId8"/>
                <a:stretch>
                  <a:fillRect l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90E1AF1-22DC-48F6-C16A-7C987939678F}"/>
              </a:ext>
            </a:extLst>
          </p:cNvPr>
          <p:cNvCxnSpPr>
            <a:cxnSpLocks/>
          </p:cNvCxnSpPr>
          <p:nvPr/>
        </p:nvCxnSpPr>
        <p:spPr>
          <a:xfrm>
            <a:off x="1775811" y="2615820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93B4D41-8290-91F6-AEB1-24010B8CDF94}"/>
              </a:ext>
            </a:extLst>
          </p:cNvPr>
          <p:cNvCxnSpPr>
            <a:cxnSpLocks/>
          </p:cNvCxnSpPr>
          <p:nvPr/>
        </p:nvCxnSpPr>
        <p:spPr>
          <a:xfrm>
            <a:off x="5396625" y="2539620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3173F87F-9B73-F624-0AA7-FD81E474E274}"/>
              </a:ext>
            </a:extLst>
          </p:cNvPr>
          <p:cNvSpPr txBox="1">
            <a:spLocks/>
          </p:cNvSpPr>
          <p:nvPr/>
        </p:nvSpPr>
        <p:spPr>
          <a:xfrm>
            <a:off x="1614217" y="2097008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38" name="Content Placeholder 2">
            <a:extLst>
              <a:ext uri="{FF2B5EF4-FFF2-40B4-BE49-F238E27FC236}">
                <a16:creationId xmlns:a16="http://schemas.microsoft.com/office/drawing/2014/main" id="{D0A620D7-909C-C68F-CF98-7800A0432E1D}"/>
              </a:ext>
            </a:extLst>
          </p:cNvPr>
          <p:cNvSpPr txBox="1">
            <a:spLocks/>
          </p:cNvSpPr>
          <p:nvPr/>
        </p:nvSpPr>
        <p:spPr>
          <a:xfrm>
            <a:off x="5235031" y="2043279"/>
            <a:ext cx="691052" cy="4838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35182429-18CE-0E62-59E3-A8A8119E2F04}"/>
              </a:ext>
            </a:extLst>
          </p:cNvPr>
          <p:cNvSpPr/>
          <p:nvPr/>
        </p:nvSpPr>
        <p:spPr>
          <a:xfrm>
            <a:off x="5173938" y="3719951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33CE3FE-67FA-BE18-6136-996FA33A0BF7}"/>
              </a:ext>
            </a:extLst>
          </p:cNvPr>
          <p:cNvSpPr/>
          <p:nvPr/>
        </p:nvSpPr>
        <p:spPr>
          <a:xfrm>
            <a:off x="3407544" y="5166042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8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1" dur="indefinite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4" dur="indefinite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7" dur="indefinite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 animBg="1"/>
      <p:bldP spid="34" grpId="0" animBg="1"/>
      <p:bldP spid="9" grpId="0" animBg="1"/>
      <p:bldP spid="11" grpId="0" animBg="1"/>
      <p:bldP spid="18" grpId="0" animBg="1"/>
      <p:bldP spid="22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5FCB-F14C-BE6D-826F-25E1908B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D7C5-F359-3F0A-EA4F-659E6E8D2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First Attack on Needham-Schroeder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826FA-B668-1032-DAC6-3AF7A74F38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endParaRPr lang="en-US" dirty="0">
              <a:solidFill>
                <a:srgbClr val="3B7F23"/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396E6F-7265-8B9B-9B43-BDB11868BFE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93CA980-B60C-BF94-9DD3-7F4A315CF5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21" b="133"/>
          <a:stretch>
            <a:fillRect/>
          </a:stretch>
        </p:blipFill>
        <p:spPr>
          <a:xfrm>
            <a:off x="661241" y="3259762"/>
            <a:ext cx="7497507" cy="340981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27E6EC1-09CD-A36C-6AFE-E7FB8F51DBC4}"/>
              </a:ext>
            </a:extLst>
          </p:cNvPr>
          <p:cNvSpPr txBox="1"/>
          <p:nvPr/>
        </p:nvSpPr>
        <p:spPr>
          <a:xfrm>
            <a:off x="5412288" y="2718947"/>
            <a:ext cx="6224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latin typeface=""/>
                <a:ea typeface="Source Sans Pro"/>
              </a:rPr>
              <a:t>In our formalization, the attack does not actually work yet…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/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Fr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Sk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pk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𝑠𝑘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pk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13A5855-7DA2-0722-5BF9-BFAA2C865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288" y="3020724"/>
                <a:ext cx="10824765" cy="404983"/>
              </a:xfrm>
              <a:prstGeom prst="rect">
                <a:avLst/>
              </a:prstGeom>
              <a:blipFill>
                <a:blip r:embed="rId4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/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Sk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𝑠𝑘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</m:e>
                    </m:d>
                    <m:sSup>
                      <m:sSupPr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→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{</m:t>
                        </m:r>
                        <m:r>
                          <m:rPr>
                            <m:nor/>
                          </m:rPr>
                          <a:rPr lang="en-US" b="0" i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 panose="020B0503030403020204" pitchFamily="34" charset="0"/>
                            <a:ea typeface="Source Sans Pro" panose="020B0503030403020204" pitchFamily="34" charset="0"/>
                          </a:rPr>
                          <m:t>Reveal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𝑑</m:t>
                        </m:r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)}</m:t>
                        </m:r>
                      </m:sup>
                    </m:sSup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</m:t>
                    </m:r>
                    <m:r>
                      <m:rPr>
                        <m:nor/>
                      </m:rPr>
                      <a:rPr lang="en-US" b="0" i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Out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(⟨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𝑠𝑘</m:t>
                    </m:r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⟩)}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688F2F7-C625-5D4E-9799-791CF2AC1E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4232" y="3347797"/>
                <a:ext cx="10824765" cy="423514"/>
              </a:xfrm>
              <a:prstGeom prst="rect">
                <a:avLst/>
              </a:prstGeom>
              <a:blipFill>
                <a:blip r:embed="rId5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BFCB3996-4289-4A3D-1814-CFBDE611F51C}"/>
              </a:ext>
            </a:extLst>
          </p:cNvPr>
          <p:cNvSpPr/>
          <p:nvPr/>
        </p:nvSpPr>
        <p:spPr>
          <a:xfrm>
            <a:off x="1133061" y="4133363"/>
            <a:ext cx="3571943" cy="879212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60C753-1CD1-5D36-AF02-DA0AAB743B4C}"/>
              </a:ext>
            </a:extLst>
          </p:cNvPr>
          <p:cNvSpPr/>
          <p:nvPr/>
        </p:nvSpPr>
        <p:spPr>
          <a:xfrm>
            <a:off x="4800600" y="4293712"/>
            <a:ext cx="4065104" cy="244501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/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𝐼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must decrypt to forward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46CDFD4-FD89-2429-C39C-13DB2DC9C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5237" y="4367230"/>
                <a:ext cx="2755178" cy="369332"/>
              </a:xfrm>
              <a:prstGeom prst="rect">
                <a:avLst/>
              </a:prstGeom>
              <a:blipFill>
                <a:blip r:embed="rId6"/>
                <a:stretch>
                  <a:fillRect t="-6667" r="-91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A5AF8D5E-016F-3D63-534F-8F9720EFDFDF}"/>
              </a:ext>
            </a:extLst>
          </p:cNvPr>
          <p:cNvSpPr/>
          <p:nvPr/>
        </p:nvSpPr>
        <p:spPr>
          <a:xfrm>
            <a:off x="5252720" y="2611669"/>
            <a:ext cx="6380480" cy="126294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/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800" dirty="0">
                    <a:latin typeface=""/>
                    <a:ea typeface="Source Sans Pro"/>
                  </a:rPr>
                  <a:t>Key compromise of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𝐴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or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"/>
                        <a:ea typeface="Source Sans Pro"/>
                      </a:rPr>
                      <m:t>𝐵</m:t>
                    </m:r>
                  </m:oMath>
                </a14:m>
                <a:r>
                  <a:rPr lang="en-US" sz="1800" dirty="0">
                    <a:latin typeface=""/>
                    <a:ea typeface="Source Sans Pro"/>
                  </a:rPr>
                  <a:t> not required!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4A62F2-11F4-1103-2F4B-155570F7C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2208" y="4673629"/>
                <a:ext cx="4223079" cy="369332"/>
              </a:xfrm>
              <a:prstGeom prst="rect">
                <a:avLst/>
              </a:prstGeom>
              <a:blipFill>
                <a:blip r:embed="rId7"/>
                <a:stretch>
                  <a:fillRect l="-1198" t="-10345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/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1. 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8408FA40-CB69-6331-10F6-232806EAE2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2" y="1652753"/>
                <a:ext cx="3794760" cy="568960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/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5E76C388-5A9D-B01B-83CF-875AC3B5E6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851" y="1652753"/>
                <a:ext cx="3794760" cy="56896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/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3. 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enc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p</m:t>
                      </m:r>
                      <m:r>
                        <m:rPr>
                          <m:nor/>
                        </m:rPr>
                        <a:rPr lang="en-US" i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Source Sans Pro" panose="020B0503030403020204" pitchFamily="34" charset="0"/>
                          <a:ea typeface="Source Sans Pro" panose="020B0503030403020204" pitchFamily="34" charset="0"/>
                        </a:rPr>
                        <m:t>k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B6D48830-6C21-757D-6724-553A6490AC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240" y="1652753"/>
                <a:ext cx="3794760" cy="568960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5330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 animBg="1"/>
      <p:bldP spid="16" grpId="0"/>
      <p:bldP spid="13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45064999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2">
                  <a:lumMod val="10000"/>
                  <a:lumOff val="90000"/>
                </a:schemeClr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42305072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255278294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Replace ill-tagged terms with (fresh) well-tagged 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6000306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EAC4-1DFE-5842-3E55-FE2B4F002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37C6-935D-A904-71A1-664F47E16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tx2">
                    <a:lumMod val="76000"/>
                    <a:lumOff val="24000"/>
                  </a:schemeClr>
                </a:solidFill>
                <a:ea typeface="Source Sans Pro"/>
              </a:rPr>
              <a:t>Making Reasoning Tractable: Strong Typing Assumption</a:t>
            </a:r>
            <a:endParaRPr lang="en-US" sz="3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EAD176-DC40-BE52-F0D6-AC05A7A4059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3CAF1B-70D9-DD64-4590-3D9DA3C94247}"/>
              </a:ext>
            </a:extLst>
          </p:cNvPr>
          <p:cNvSpPr txBox="1">
            <a:spLocks/>
          </p:cNvSpPr>
          <p:nvPr/>
        </p:nvSpPr>
        <p:spPr>
          <a:xfrm>
            <a:off x="408327" y="6570441"/>
            <a:ext cx="11667850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latin typeface="Source Sans Pro"/>
                <a:ea typeface="Source Sans Pro"/>
              </a:rPr>
              <a:t>Heather, James, Gavin Lowe, and Steve Schneider. "How to prevent type flaw attacks on security protocols." Journal of Computer Security 11.2 (2003): 217-244.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2FA0FD6-31EB-97C7-8C07-7ECD4B62A615}"/>
              </a:ext>
            </a:extLst>
          </p:cNvPr>
          <p:cNvSpPr txBox="1">
            <a:spLocks/>
          </p:cNvSpPr>
          <p:nvPr/>
        </p:nvSpPr>
        <p:spPr>
          <a:xfrm>
            <a:off x="4219523" y="-59580"/>
            <a:ext cx="4854786" cy="14051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B4A20A-F4CA-247A-6BA3-315C7F4B8D1A}"/>
              </a:ext>
            </a:extLst>
          </p:cNvPr>
          <p:cNvSpPr txBox="1"/>
          <p:nvPr/>
        </p:nvSpPr>
        <p:spPr>
          <a:xfrm>
            <a:off x="2590800" y="2529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80F5CF-BA9F-93E2-1705-5763625689FB}"/>
              </a:ext>
            </a:extLst>
          </p:cNvPr>
          <p:cNvSpPr/>
          <p:nvPr/>
        </p:nvSpPr>
        <p:spPr>
          <a:xfrm>
            <a:off x="951263" y="1683007"/>
            <a:ext cx="10289061" cy="55245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err="1">
                <a:latin typeface=""/>
                <a:ea typeface="Source Sans Pro"/>
              </a:rPr>
              <a:t>Thm</a:t>
            </a:r>
            <a:r>
              <a:rPr lang="en-US" sz="1600" b="1" dirty="0">
                <a:latin typeface=""/>
                <a:ea typeface="Source Sans Pro"/>
              </a:rPr>
              <a:t>: </a:t>
            </a:r>
            <a:r>
              <a:rPr lang="en-US" sz="1600" dirty="0">
                <a:latin typeface=""/>
                <a:ea typeface="Source Sans Pro"/>
              </a:rPr>
              <a:t>With this tagging scheme, type confusion attacks imply existence of well-typed attacks [Heather et al.]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340519C-109E-C8F2-CB70-03B996CE1C31}"/>
              </a:ext>
            </a:extLst>
          </p:cNvPr>
          <p:cNvSpPr/>
          <p:nvPr/>
        </p:nvSpPr>
        <p:spPr>
          <a:xfrm>
            <a:off x="951263" y="2458720"/>
            <a:ext cx="10402537" cy="3766647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>
                <a:solidFill>
                  <a:schemeClr val="tx1"/>
                </a:solidFill>
                <a:latin typeface=""/>
                <a:ea typeface="Source Sans Pro"/>
              </a:rPr>
              <a:t>Pf</a:t>
            </a:r>
            <a:r>
              <a:rPr lang="en-US" sz="1600" b="1" dirty="0">
                <a:solidFill>
                  <a:schemeClr val="tx1"/>
                </a:solidFill>
                <a:latin typeface=""/>
                <a:ea typeface="Source Sans Pro"/>
              </a:rPr>
              <a:t> sketch: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Define function that translates (possibly) ill-typed attack trace to well-typed attack trace.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For each message sent in the trace, there are two cases.</a:t>
            </a:r>
          </a:p>
          <a:p>
            <a:endParaRPr lang="en-US" sz="1600" dirty="0">
              <a:solidFill>
                <a:schemeClr val="tx1"/>
              </a:solidFill>
              <a:latin typeface=""/>
              <a:ea typeface="Source Sans Pro"/>
            </a:endParaRP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1. There is (honest) cryptographic protection.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Can’t be tampered by adversary, but honest agents only create well-tagged terms anyway.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</a:t>
            </a:r>
          </a:p>
          <a:p>
            <a:r>
              <a:rPr lang="en-US" sz="1600" u="sng" dirty="0">
                <a:solidFill>
                  <a:schemeClr val="tx1"/>
                </a:solidFill>
                <a:latin typeface=""/>
                <a:ea typeface="Source Sans Pro"/>
              </a:rPr>
              <a:t>Case 2. There is no (honest) cryptographic protection. 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Utilize lack of cryptographic protection to forge a well-tagged term that executes the attack.</a:t>
            </a:r>
          </a:p>
          <a:p>
            <a:r>
              <a:rPr lang="en-US" sz="1600" dirty="0">
                <a:solidFill>
                  <a:schemeClr val="tx1"/>
                </a:solidFill>
                <a:latin typeface=""/>
                <a:ea typeface="Source Sans Pro"/>
              </a:rPr>
              <a:t>                Replace ill-tagged terms with (fresh) well-tagged </a:t>
            </a:r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terms </a:t>
            </a:r>
          </a:p>
          <a:p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  <a:latin typeface=""/>
                <a:ea typeface="Source Sans Pro"/>
              </a:rPr>
              <a:t>                (relevant ill-tagged terms are rejected anyway). </a:t>
            </a:r>
          </a:p>
        </p:txBody>
      </p:sp>
    </p:spTree>
    <p:extLst>
      <p:ext uri="{BB962C8B-B14F-4D97-AF65-F5344CB8AC3E}">
        <p14:creationId xmlns:p14="http://schemas.microsoft.com/office/powerpoint/2010/main" val="39050569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6B2E6-AAC7-7031-E954-F3F4B068A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7D96F-1E67-5CCF-6D1E-796842481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5C1B9-E4DF-459B-F285-ACE5151B9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>
                <a:ea typeface="Source Sans Pro"/>
              </a:rPr>
              <a:t>Talk objectives</a:t>
            </a:r>
          </a:p>
          <a:p>
            <a:r>
              <a:rPr lang="en-US" sz="3200" dirty="0">
                <a:ea typeface="Source Sans Pro"/>
              </a:rPr>
              <a:t>Cryptographic protocol verification background</a:t>
            </a:r>
          </a:p>
          <a:p>
            <a:r>
              <a:rPr lang="en-US" sz="3200" dirty="0">
                <a:ea typeface="Source Sans Pro"/>
              </a:rPr>
              <a:t>Automated reasoning for protocols </a:t>
            </a:r>
          </a:p>
          <a:p>
            <a:r>
              <a:rPr lang="en-US" sz="3200" dirty="0">
                <a:ea typeface="Source Sans Pro"/>
              </a:rPr>
              <a:t>Breaking, fixing, and breaking Needham-Schroeder</a:t>
            </a:r>
          </a:p>
          <a:p>
            <a:r>
              <a:rPr lang="en-US" sz="3200" dirty="0">
                <a:ea typeface="Source Sans Pro"/>
              </a:rPr>
              <a:t>Making reasoning tractable</a:t>
            </a:r>
          </a:p>
          <a:p>
            <a:r>
              <a:rPr lang="en-US" sz="3200" dirty="0">
                <a:ea typeface="Source Sans Pro"/>
              </a:rPr>
              <a:t>Discussion, Research Questions, &amp; Conclusion</a:t>
            </a:r>
          </a:p>
          <a:p>
            <a:r>
              <a:rPr lang="en-US" sz="3200" b="1" dirty="0">
                <a:solidFill>
                  <a:schemeClr val="accent6">
                    <a:lumMod val="75000"/>
                  </a:schemeClr>
                </a:solidFill>
                <a:ea typeface="Source Sans Pro"/>
              </a:rPr>
              <a:t>Appendix: Making reasoning expressive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BA45F0-B70D-DE28-C4E3-EA00543AB8F3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48018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Our current handling of encryption and decryption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does not generalize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Many protocols use other primitives, like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exclusive or </a:t>
                </a:r>
                <a:r>
                  <a:rPr lang="en-US" sz="2400" dirty="0">
                    <a:latin typeface="Source Sans Pro"/>
                    <a:ea typeface="Source Sans Pro"/>
                  </a:rPr>
                  <a:t>(denoted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try to encode properties with multiset rewriting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𝐾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→{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𝐾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What if we have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 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want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d>
                      <m:d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be derivable, but this requires some form of congruence…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This looks more like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term rewriting </a:t>
                </a:r>
                <a:r>
                  <a:rPr lang="en-US" sz="2400" dirty="0">
                    <a:latin typeface="Source Sans Pro"/>
                    <a:ea typeface="Source Sans Pro"/>
                  </a:rPr>
                  <a:t>problem…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290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</p:spPr>
            <p:txBody>
              <a:bodyPr vert="horz" lIns="91440" tIns="45720" rIns="91440" bIns="45720" rtlCol="0" anchor="t">
                <a:normAutofit fontScale="925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We can capture the algebraic properties of exclusive or with an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b="0" i="1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endParaRPr lang="en-US" sz="2400" b="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can use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equality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:r>
                  <a:rPr lang="en-US" sz="2400" dirty="0">
                    <a:latin typeface="Source Sans Pro"/>
                    <a:ea typeface="Source Sans Pro"/>
                  </a:rPr>
                  <a:t>While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, we have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x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⊕</m:t>
                            </m:r>
                          </m:sub>
                        </m:sSub>
                      </m:sub>
                    </m:sSub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⊕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just update the semantics and property logic to use equality modulo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what about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</a:t>
                </a:r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36135"/>
                <a:ext cx="10515600" cy="4656739"/>
              </a:xfrm>
              <a:blipFill>
                <a:blip r:embed="rId3"/>
                <a:stretch>
                  <a:fillRect l="-724" t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B52435C-3E9A-3A36-FE66-8D4768DE0DE6}"/>
              </a:ext>
            </a:extLst>
          </p:cNvPr>
          <p:cNvGrpSpPr/>
          <p:nvPr/>
        </p:nvGrpSpPr>
        <p:grpSpPr>
          <a:xfrm>
            <a:off x="832242" y="4686390"/>
            <a:ext cx="6185293" cy="1390824"/>
            <a:chOff x="1" y="4512022"/>
            <a:chExt cx="12192206" cy="139082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E8D1870-E043-69AA-76F3-45DF30325830}"/>
                </a:ext>
              </a:extLst>
            </p:cNvPr>
            <p:cNvSpPr/>
            <p:nvPr/>
          </p:nvSpPr>
          <p:spPr>
            <a:xfrm>
              <a:off x="4257315" y="5024336"/>
              <a:ext cx="3693934" cy="1828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/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  <m:sSubSup>
                          <m:sSub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sub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bSup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𝑆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 \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solidFill>
                                      <a:schemeClr val="tx2">
                                        <a:lumMod val="75000"/>
                                        <a:lumOff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#</m:t>
                                </m:r>
                              </m:sup>
                            </m:s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 </m:t>
                            </m:r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𝑙</m:t>
                            </m:r>
                          </m:e>
                        </m:d>
                        <m:sSup>
                          <m:sSup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∪</m:t>
                            </m:r>
                          </m:e>
                          <m:sup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8823A7F4-B089-E30E-5F57-09CF34607B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" y="5024336"/>
                  <a:ext cx="12191999" cy="8785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/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→</m:t>
                            </m:r>
                          </m:e>
                          <m:sup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𝛼</m:t>
                            </m:r>
                          </m:sup>
                        </m:sSup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𝑟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∈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𝑔𝑖𝑛𝑠𝑡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b="1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𝑬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(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sz="2400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Source Sans Pro"/>
                            <a:ea typeface="Source Sans Pro"/>
                          </a:rPr>
                          <m:t>     </m:t>
                        </m:r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𝑙</m:t>
                        </m:r>
                        <m:sSup>
                          <m:sSupPr>
                            <m:ctrlP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pPr>
                          <m:e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⊆</m:t>
                            </m:r>
                          </m:e>
                          <m:sup>
                            <m:r>
                              <a:rPr lang="en-US" sz="2400" i="1" dirty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#</m:t>
                            </m:r>
                          </m:sup>
                        </m:sSup>
                        <m:r>
                          <a:rPr lang="en-US" sz="24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𝑆</m:t>
                        </m:r>
                      </m:oMath>
                    </m:oMathPara>
                  </a14:m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endPara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07D3149-2945-1137-7A98-05EC2A128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" y="4540820"/>
                  <a:ext cx="12191999" cy="837665"/>
                </a:xfrm>
                <a:prstGeom prst="rect">
                  <a:avLst/>
                </a:prstGeom>
                <a:blipFill>
                  <a:blip r:embed="rId5"/>
                  <a:stretch>
                    <a:fillRect t="-44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FD4AB1-F1DB-D1C0-BB6A-AE79596A27D8}"/>
                </a:ext>
              </a:extLst>
            </p:cNvPr>
            <p:cNvSpPr/>
            <p:nvPr/>
          </p:nvSpPr>
          <p:spPr>
            <a:xfrm>
              <a:off x="4487778" y="4512022"/>
              <a:ext cx="3463471" cy="58623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/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 ≔ 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→{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⊕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48CBF9D-0D3C-1946-EBA9-5BCCA0FB1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7430" y="4683925"/>
                <a:ext cx="4220835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/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𝑔𝑖𝑛𝑠𝑡𝑠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968F70-7C3A-14F6-5B87-B54012639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041033"/>
                <a:ext cx="5129161" cy="369332"/>
              </a:xfrm>
              <a:prstGeom prst="rect">
                <a:avLst/>
              </a:prstGeom>
              <a:blipFill>
                <a:blip r:embed="rId7"/>
                <a:stretch>
                  <a:fillRect b="-129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/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b="0" i="1" dirty="0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⊕</m:t>
                              </m:r>
                              <m:sSub>
                                <m:sSubPr>
                                  <m:ctrlP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b="0" i="1" dirty="0" smtClean="0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𝑔𝑖𝑛𝑠𝑡</m:t>
                      </m:r>
                      <m:sSub>
                        <m:sSubPr>
                          <m:ctrlP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1" i="1" dirty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𝑬</m:t>
                          </m:r>
                        </m:sub>
                      </m:sSub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CC8BAB-7CB7-3712-0C0C-88D086D9B5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7054" y="5424647"/>
                <a:ext cx="5331588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7566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1" grpId="0"/>
      <p:bldP spid="12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But what about the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search algorithm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  <a:p>
            <a:r>
              <a:rPr lang="en-US" sz="2400" dirty="0">
                <a:latin typeface="Source Sans Pro"/>
                <a:ea typeface="Source Sans Pro"/>
              </a:rPr>
              <a:t>Recall we need to perform unification of facts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{</m:t>
                      </m:r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K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𝑆𝑒𝑐𝑟𝑒𝑡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}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6012CA08-2993-9C9D-8B84-E0B2F81274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83359" y="5972490"/>
                <a:ext cx="10515600" cy="704000"/>
              </a:xfrm>
              <a:prstGeom prst="rect">
                <a:avLst/>
              </a:prstGeom>
              <a:blipFill>
                <a:blip r:embed="rId2"/>
                <a:stretch>
                  <a:fillRect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60037F1-E4EA-5B44-1C89-C63EF3084613}"/>
              </a:ext>
            </a:extLst>
          </p:cNvPr>
          <p:cNvCxnSpPr>
            <a:cxnSpLocks/>
          </p:cNvCxnSpPr>
          <p:nvPr/>
        </p:nvCxnSpPr>
        <p:spPr>
          <a:xfrm>
            <a:off x="2858814" y="4950633"/>
            <a:ext cx="578069" cy="10218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E2B240-CDFE-939F-5D9A-74DBD10E609B}"/>
              </a:ext>
            </a:extLst>
          </p:cNvPr>
          <p:cNvCxnSpPr>
            <a:cxnSpLocks/>
          </p:cNvCxnSpPr>
          <p:nvPr/>
        </p:nvCxnSpPr>
        <p:spPr>
          <a:xfrm flipH="1">
            <a:off x="4645573" y="4864197"/>
            <a:ext cx="446689" cy="11082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/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Honest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𝑆𝑒𝑐𝑟𝑒𝑡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EC363C0-DD18-CFE2-06AB-85B903FCFB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5573" y="4046908"/>
                <a:ext cx="3184634" cy="817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/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Source Sans Pro"/>
                    <a:ea typeface="Source Sans Pro"/>
                  </a:rPr>
                  <a:t>Adversary rule producing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𝐾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016A39F-42E9-C814-6EBF-C2B7624C91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574" y="4124366"/>
                <a:ext cx="3184634" cy="8172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F66AB86-A159-C422-87AF-4FE425E6CB29}"/>
              </a:ext>
            </a:extLst>
          </p:cNvPr>
          <p:cNvCxnSpPr>
            <a:cxnSpLocks/>
          </p:cNvCxnSpPr>
          <p:nvPr/>
        </p:nvCxnSpPr>
        <p:spPr>
          <a:xfrm>
            <a:off x="2243959" y="3311186"/>
            <a:ext cx="0" cy="8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8EE85D3-532D-18D5-CE84-9436DDCC978A}"/>
              </a:ext>
            </a:extLst>
          </p:cNvPr>
          <p:cNvCxnSpPr>
            <a:cxnSpLocks/>
          </p:cNvCxnSpPr>
          <p:nvPr/>
        </p:nvCxnSpPr>
        <p:spPr>
          <a:xfrm>
            <a:off x="5864773" y="3234986"/>
            <a:ext cx="0" cy="7994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F0713B0-637E-6473-59A6-8D1D8BA2EEA0}"/>
              </a:ext>
            </a:extLst>
          </p:cNvPr>
          <p:cNvSpPr txBox="1">
            <a:spLocks/>
          </p:cNvSpPr>
          <p:nvPr/>
        </p:nvSpPr>
        <p:spPr>
          <a:xfrm>
            <a:off x="2082365" y="279237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45236701-1CAD-D6D9-A17A-D5A8E49514C8}"/>
              </a:ext>
            </a:extLst>
          </p:cNvPr>
          <p:cNvSpPr txBox="1">
            <a:spLocks/>
          </p:cNvSpPr>
          <p:nvPr/>
        </p:nvSpPr>
        <p:spPr>
          <a:xfrm>
            <a:off x="6394231" y="5182055"/>
            <a:ext cx="4446700" cy="704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latin typeface="Source Sans Pro"/>
                <a:ea typeface="Source Sans Pro"/>
              </a:rPr>
              <a:t>Process relies on Tamarin being able to perform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unification</a:t>
            </a:r>
            <a:r>
              <a:rPr lang="en-US" sz="2000" dirty="0">
                <a:latin typeface="Source Sans Pro"/>
                <a:ea typeface="Source Sans Pro"/>
              </a:rPr>
              <a:t> on facts</a:t>
            </a:r>
            <a:endParaRPr lang="en-US" sz="2000" dirty="0">
              <a:solidFill>
                <a:schemeClr val="tx2">
                  <a:lumMod val="75000"/>
                  <a:lumOff val="25000"/>
                </a:schemeClr>
              </a:solidFill>
              <a:latin typeface="Source Sans Pro"/>
              <a:ea typeface="Source Sans Pro"/>
            </a:endParaRPr>
          </a:p>
          <a:p>
            <a:endParaRPr lang="en-US" sz="2000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I.e.,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…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 </m:t>
                    </m:r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𝐹</m:t>
                    </m:r>
                    <m:d>
                      <m:dPr>
                        <m:ctrlP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SupPr>
                          <m:e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′</m:t>
                            </m:r>
                          </m:sup>
                        </m:sSubSup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…, </m:t>
                        </m:r>
                        <m:sSub>
                          <m:sSubPr>
                            <m:ctrlP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000" i="1" dirty="0" err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e>
                    </m:d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rgbClr val="000000"/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BF3F4FA8-2A40-AF33-8062-FA7F891D3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231" y="5972490"/>
                <a:ext cx="3506514" cy="704000"/>
              </a:xfrm>
              <a:prstGeom prst="rect">
                <a:avLst/>
              </a:prstGeom>
              <a:blipFill>
                <a:blip r:embed="rId5"/>
                <a:stretch>
                  <a:fillRect l="-1805" t="-10714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Oval 30">
            <a:extLst>
              <a:ext uri="{FF2B5EF4-FFF2-40B4-BE49-F238E27FC236}">
                <a16:creationId xmlns:a16="http://schemas.microsoft.com/office/drawing/2014/main" id="{43213BC8-D4E7-A2E4-9288-5C7E819A54E3}"/>
              </a:ext>
            </a:extLst>
          </p:cNvPr>
          <p:cNvSpPr/>
          <p:nvPr/>
        </p:nvSpPr>
        <p:spPr>
          <a:xfrm>
            <a:off x="5621066" y="4412253"/>
            <a:ext cx="1191607" cy="41832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CDF0D99-E8EF-42D0-2E52-927E60FB463A}"/>
              </a:ext>
            </a:extLst>
          </p:cNvPr>
          <p:cNvSpPr/>
          <p:nvPr/>
        </p:nvSpPr>
        <p:spPr>
          <a:xfrm>
            <a:off x="3875692" y="5861408"/>
            <a:ext cx="2079731" cy="704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E325DD1E-361F-87CD-2262-00E576AF3F51}"/>
              </a:ext>
            </a:extLst>
          </p:cNvPr>
          <p:cNvSpPr txBox="1">
            <a:spLocks/>
          </p:cNvSpPr>
          <p:nvPr/>
        </p:nvSpPr>
        <p:spPr>
          <a:xfrm>
            <a:off x="5689386" y="2785054"/>
            <a:ext cx="691052" cy="11382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Source Sans Pro"/>
                <a:ea typeface="Source Sans Pro"/>
              </a:rPr>
              <a:t>?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endParaRPr lang="en-US" dirty="0"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solidFill>
                <a:srgbClr val="000000"/>
              </a:solidFill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94554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1" grpId="0"/>
      <p:bldP spid="24" grpId="0" animBg="1"/>
      <p:bldP spid="25" grpId="0" animBg="1"/>
      <p:bldP spid="28" grpId="0"/>
      <p:bldP spid="29" grpId="0"/>
      <p:bldP spid="30" grpId="0"/>
      <p:bldP spid="31" grpId="0" animBg="1"/>
      <p:bldP spid="32" grpId="0" animBg="1"/>
      <p:bldP spid="33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3000" dirty="0">
                    <a:latin typeface="Source Sans Pro"/>
                    <a:ea typeface="Source Sans Pro"/>
                  </a:rPr>
                  <a:t>Orient equations from left to right, obtaining a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rewrite system </a:t>
                </a:r>
                <a:r>
                  <a:rPr lang="en-US" sz="3000" dirty="0">
                    <a:latin typeface="Source Sans Pro"/>
                    <a:ea typeface="Source Sans Pro"/>
                  </a:rPr>
                  <a:t>from the </a:t>
                </a:r>
                <a:r>
                  <a:rPr lang="en-US" sz="30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equational theory</a:t>
                </a:r>
              </a:p>
              <a:p>
                <a:pPr marL="0" indent="0" algn="ctr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…</m:t>
                          </m:r>
                        </m:e>
                      </m:d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𝑅</m:t>
                          </m:r>
                        </m:e>
                        <m:sub>
                          <m:r>
                            <a:rPr lang="en-US" sz="240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={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→0, … }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Rewrite systems define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(</a:t>
                </a:r>
                <a:r>
                  <a:rPr lang="en-US" sz="2400" dirty="0" err="1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-)directional evaluation rules </a:t>
                </a:r>
                <a:r>
                  <a:rPr lang="en-US" sz="2400" dirty="0">
                    <a:latin typeface="Source Sans Pro"/>
                    <a:ea typeface="Source Sans Pro"/>
                  </a:rPr>
                  <a:t>for symbolic terms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𝑎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⊕0</m:t>
                      </m:r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→</m:t>
                          </m:r>
                        </m:e>
                        <m:sub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</m:sub>
                          </m:sSub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AF69730B-600B-BB8E-1F40-1A348436F8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49986"/>
                <a:ext cx="10402124" cy="5016574"/>
              </a:xfrm>
              <a:prstGeom prst="rect">
                <a:avLst/>
              </a:prstGeom>
              <a:blipFill>
                <a:blip r:embed="rId3"/>
                <a:stretch>
                  <a:fillRect l="-976" t="-2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2457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F09A150-7776-D155-DE8D-45A14E11A5B7}"/>
              </a:ext>
            </a:extLst>
          </p:cNvPr>
          <p:cNvGrpSpPr/>
          <p:nvPr/>
        </p:nvGrpSpPr>
        <p:grpSpPr>
          <a:xfrm>
            <a:off x="5825122" y="2063862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5" name="Content Placeholder 2">
                  <a:extLst>
                    <a:ext uri="{FF2B5EF4-FFF2-40B4-BE49-F238E27FC236}">
                      <a16:creationId xmlns:a16="http://schemas.microsoft.com/office/drawing/2014/main" id="{392C5482-B060-AEB9-7213-1253149F7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7" name="Content Placeholder 2">
                  <a:extLst>
                    <a:ext uri="{FF2B5EF4-FFF2-40B4-BE49-F238E27FC236}">
                      <a16:creationId xmlns:a16="http://schemas.microsoft.com/office/drawing/2014/main" id="{32C6AB91-8C4C-CC24-62A5-DFFE38D43C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8" name="Content Placeholder 2">
                  <a:extLst>
                    <a:ext uri="{FF2B5EF4-FFF2-40B4-BE49-F238E27FC236}">
                      <a16:creationId xmlns:a16="http://schemas.microsoft.com/office/drawing/2014/main" id="{5920A889-380A-90DC-8223-06B97100C6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9" name="Content Placeholder 2">
                  <a:extLst>
                    <a:ext uri="{FF2B5EF4-FFF2-40B4-BE49-F238E27FC236}">
                      <a16:creationId xmlns:a16="http://schemas.microsoft.com/office/drawing/2014/main" id="{4C933688-6677-B89E-6898-49F42C66B3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08E8022B-4B9E-45A0-8292-82DA0D49DD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A6E5158-09CE-B2CC-3582-514FF5BC08F8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0B43E8E7-76B8-DCD9-7E7A-A402130E5AE7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1C8C59D5-65EA-0B6D-A6F0-80ED025CBC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48" name="Content Placeholder 2">
                  <a:extLst>
                    <a:ext uri="{FF2B5EF4-FFF2-40B4-BE49-F238E27FC236}">
                      <a16:creationId xmlns:a16="http://schemas.microsoft.com/office/drawing/2014/main" id="{2942114A-FC35-01B4-9D61-8425AEFA01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7"/>
                  <a:stretch>
                    <a:fillRect t="-1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2870D5E5-84AA-21C7-E0DC-298838A03C18}"/>
              </a:ext>
            </a:extLst>
          </p:cNvPr>
          <p:cNvSpPr txBox="1">
            <a:spLocks/>
          </p:cNvSpPr>
          <p:nvPr/>
        </p:nvSpPr>
        <p:spPr>
          <a:xfrm>
            <a:off x="-1280185" y="1779275"/>
            <a:ext cx="10402124" cy="17470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Convergence </a:t>
            </a:r>
            <a:r>
              <a:rPr lang="en-US" sz="2400" dirty="0">
                <a:latin typeface="Source Sans Pro"/>
                <a:ea typeface="Source Sans Pro"/>
              </a:rPr>
              <a:t>is important for reasoning 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With convergence, terms have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 forms</a:t>
                </a:r>
                <a:r>
                  <a:rPr lang="en-US" sz="2400" dirty="0">
                    <a:latin typeface="Source Sans Pro"/>
                    <a:ea typeface="Source Sans Pro"/>
                  </a:rPr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i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𝑒𝑛𝑐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𝑑𝑒𝑐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𝑚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b="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d>
                        <m:dPr>
                          <m:begChr m:val="⟨"/>
                          <m:endChr m:val="⟩"/>
                          <m:ctrlP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𝑒𝑛𝑐</m:t>
                          </m:r>
                          <m:d>
                            <m:dPr>
                              <m:ctrlP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𝑑𝑒𝑐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𝑚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,</m:t>
                                  </m:r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</m:t>
                              </m:r>
                              <m:r>
                                <a:rPr lang="en-US" sz="2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𝐶</m:t>
                          </m:r>
                        </m:e>
                      </m:d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→</m:t>
                      </m:r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𝜋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⟨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, 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𝐶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⟩→</m:t>
                      </m:r>
                      <m:r>
                        <a:rPr lang="en-US" sz="24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𝑚</m:t>
                      </m:r>
                    </m:oMath>
                  </m:oMathPara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𝜋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𝑒𝑛𝑐</m:t>
                        </m:r>
                        <m:d>
                          <m:dPr>
                            <m:ctrlP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𝑑𝑒𝑐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𝑚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Source Sans Pro"/>
                                  </a:rPr>
                                  <m:t>𝑘</m:t>
                                </m:r>
                              </m:e>
                            </m:d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,</m:t>
                            </m:r>
                            <m:r>
                              <a:rPr lang="en-US" sz="2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</m:d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𝐶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↓ =</m:t>
                    </m:r>
                    <m:r>
                      <a:rPr lang="en-US" sz="2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𝑚</m:t>
                    </m:r>
                  </m:oMath>
                </a14:m>
                <a:endParaRPr lang="en-US" sz="2400" b="0" i="1" dirty="0">
                  <a:solidFill>
                    <a:schemeClr val="accent6">
                      <a:lumMod val="75000"/>
                    </a:schemeClr>
                  </a:solidFill>
                  <a:latin typeface="Cambria Math" panose="02040503050406030204" pitchFamily="18" charset="0"/>
                  <a:ea typeface="Source Sans Pro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5654E1-E242-A572-96B4-89F98B120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457" y="3850749"/>
                <a:ext cx="10402124" cy="1594169"/>
              </a:xfrm>
              <a:prstGeom prst="rect">
                <a:avLst/>
              </a:prstGeom>
              <a:blipFill>
                <a:blip r:embed="rId8"/>
                <a:stretch>
                  <a:fillRect l="-976" t="-5556" b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5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Consider the problem: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  <m:sup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?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R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convergent</a:t>
                </a:r>
                <a:r>
                  <a:rPr lang="en-US" sz="2400" dirty="0">
                    <a:latin typeface="Source Sans Pro"/>
                    <a:ea typeface="Source Sans Pro"/>
                  </a:rPr>
                  <a:t>, we know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↓</m:t>
                        </m:r>
                      </m:e>
                      <m:sub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𝐸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unification (finding substitution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s.t.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=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)?                           Just normalize and then perform syntactic unification?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Let’s try unifying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), </m:t>
                    </m:r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Normalize to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With syntactic unification, we find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sSub>
                          <m:sSubPr>
                            <m:ctrlP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𝑘</m:t>
                            </m:r>
                          </m:e>
                          <m:sub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What about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sSup>
                      <m:sSup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𝜎</m:t>
                        </m:r>
                      </m:e>
                      <m:sup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={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𝑒𝑛𝑐</m:t>
                    </m:r>
                    <m:d>
                      <m:d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Syntactic unification won’t find this solution! </a:t>
                </a:r>
                <a:r>
                  <a:rPr lang="en-US" sz="2000" i="1" dirty="0">
                    <a:latin typeface="Source Sans Pro"/>
                    <a:ea typeface="Source Sans Pro"/>
                  </a:rPr>
                  <a:t>It relies on knowledge of the equational theory</a:t>
                </a:r>
              </a:p>
              <a:p>
                <a:pPr lvl="1"/>
                <a:r>
                  <a:rPr lang="en-US" sz="2000" dirty="0">
                    <a:latin typeface="Source Sans Pro"/>
                    <a:ea typeface="Source Sans Pro"/>
                  </a:rPr>
                  <a:t>In general, there could be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multiple “MGUs” modulo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! 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67250"/>
              </a:xfrm>
              <a:blipFill>
                <a:blip r:embed="rId2"/>
                <a:stretch>
                  <a:fillRect l="-844" t="-1626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𝑅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can repair our strategy for unification modulo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7857" b="-160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95EE57-0045-D4D8-78A2-958989F50132}"/>
              </a:ext>
            </a:extLst>
          </p:cNvPr>
          <p:cNvGrpSpPr/>
          <p:nvPr/>
        </p:nvGrpSpPr>
        <p:grpSpPr>
          <a:xfrm>
            <a:off x="1004776" y="2880066"/>
            <a:ext cx="4334082" cy="1721141"/>
            <a:chOff x="547971" y="3199056"/>
            <a:chExt cx="4334082" cy="17211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6" name="Content Placeholder 2">
                  <a:extLst>
                    <a:ext uri="{FF2B5EF4-FFF2-40B4-BE49-F238E27FC236}">
                      <a16:creationId xmlns:a16="http://schemas.microsoft.com/office/drawing/2014/main" id="{FA517882-335C-1B08-60EE-424C0FCA10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971" y="37633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7" name="Content Placeholder 2">
                  <a:extLst>
                    <a:ext uri="{FF2B5EF4-FFF2-40B4-BE49-F238E27FC236}">
                      <a16:creationId xmlns:a16="http://schemas.microsoft.com/office/drawing/2014/main" id="{4BF29FEE-E4E0-8600-C6CC-FBC19F797C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3199056"/>
                  <a:ext cx="848346" cy="61218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8" name="Content Placeholder 2">
                  <a:extLst>
                    <a:ext uri="{FF2B5EF4-FFF2-40B4-BE49-F238E27FC236}">
                      <a16:creationId xmlns:a16="http://schemas.microsoft.com/office/drawing/2014/main" id="{E52FF4BB-BBE5-344A-7CE8-9890C92CA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83736" y="4168131"/>
                  <a:ext cx="848346" cy="61218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′</m:t>
                        </m:r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9" name="Content Placeholder 2">
                  <a:extLst>
                    <a:ext uri="{FF2B5EF4-FFF2-40B4-BE49-F238E27FC236}">
                      <a16:creationId xmlns:a16="http://schemas.microsoft.com/office/drawing/2014/main" id="{6C962DF4-C18F-8719-85D2-7542D64E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3362" y="3728216"/>
                  <a:ext cx="848346" cy="61218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CE07780-DC8A-A468-8CE0-EED5ECA437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88204" y="3471106"/>
              <a:ext cx="934278" cy="42738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8309BE5-1198-7217-A4CA-9F4A58DE8786}"/>
                </a:ext>
              </a:extLst>
            </p:cNvPr>
            <p:cNvCxnSpPr>
              <a:cxnSpLocks/>
            </p:cNvCxnSpPr>
            <p:nvPr/>
          </p:nvCxnSpPr>
          <p:spPr>
            <a:xfrm>
              <a:off x="1078265" y="4067454"/>
              <a:ext cx="934278" cy="30811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48FB1A1-B9FE-DA09-D4FC-877E27C4C70B}"/>
                </a:ext>
              </a:extLst>
            </p:cNvPr>
            <p:cNvCxnSpPr>
              <a:cxnSpLocks/>
            </p:cNvCxnSpPr>
            <p:nvPr/>
          </p:nvCxnSpPr>
          <p:spPr>
            <a:xfrm>
              <a:off x="2366832" y="3471106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0363C3-3870-9176-F8AA-0E59CC63F2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6832" y="4007819"/>
              <a:ext cx="831780" cy="36774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None/>
                  </a:pPr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400" b="0" i="0" dirty="0" smtClean="0">
                          <a:latin typeface="Source Sans Pro"/>
                          <a:ea typeface="Source Sans Pro"/>
                        </a:rPr>
                        <m:t>+ </m:t>
                      </m:r>
                    </m:oMath>
                  </a14:m>
                  <a:r>
                    <a:rPr lang="en-US" sz="2400" dirty="0">
                      <a:latin typeface="Source Sans Pro"/>
                      <a:ea typeface="Source Sans Pro"/>
                    </a:rPr>
                    <a:t>termination</a:t>
                  </a:r>
                </a:p>
              </p:txBody>
            </p:sp>
          </mc:Choice>
          <mc:Fallback xmlns="">
            <p:sp>
              <p:nvSpPr>
                <p:cNvPr id="29" name="Content Placeholder 2">
                  <a:extLst>
                    <a:ext uri="{FF2B5EF4-FFF2-40B4-BE49-F238E27FC236}">
                      <a16:creationId xmlns:a16="http://schemas.microsoft.com/office/drawing/2014/main" id="{90E91B51-61D6-2826-CD8B-16FC53B1D4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1363" y="4308015"/>
                  <a:ext cx="2200690" cy="612182"/>
                </a:xfrm>
                <a:prstGeom prst="rect">
                  <a:avLst/>
                </a:prstGeom>
                <a:blipFill>
                  <a:blip r:embed="rId8"/>
                  <a:stretch>
                    <a:fillRect t="-1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0" name="Content Placeholder 2">
                <a:extLst>
                  <a:ext uri="{FF2B5EF4-FFF2-40B4-BE49-F238E27FC236}">
                    <a16:creationId xmlns:a16="http://schemas.microsoft.com/office/drawing/2014/main" id="{081A92DF-F240-261F-86BE-8CC2E52CAD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6425" y="3806232"/>
                <a:ext cx="848346" cy="61218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1" name="Content Placeholder 2">
                <a:extLst>
                  <a:ext uri="{FF2B5EF4-FFF2-40B4-BE49-F238E27FC236}">
                    <a16:creationId xmlns:a16="http://schemas.microsoft.com/office/drawing/2014/main" id="{B7F74A86-0F8D-4A1E-CA43-272CDF371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69" y="3396491"/>
                <a:ext cx="1915146" cy="147311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31">
            <a:extLst>
              <a:ext uri="{FF2B5EF4-FFF2-40B4-BE49-F238E27FC236}">
                <a16:creationId xmlns:a16="http://schemas.microsoft.com/office/drawing/2014/main" id="{896637E8-8A87-E07C-FDEE-333DDAC7F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77808" y="4141267"/>
            <a:ext cx="256044" cy="256044"/>
          </a:xfrm>
          <a:prstGeom prst="rect">
            <a:avLst/>
          </a:prstGeom>
        </p:spPr>
      </p:pic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7042425-8766-E693-E797-4DCDD78E4D65}"/>
              </a:ext>
            </a:extLst>
          </p:cNvPr>
          <p:cNvCxnSpPr>
            <a:cxnSpLocks/>
          </p:cNvCxnSpPr>
          <p:nvPr/>
        </p:nvCxnSpPr>
        <p:spPr>
          <a:xfrm flipV="1">
            <a:off x="6408150" y="3644190"/>
            <a:ext cx="969168" cy="300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E02FC1F-01F3-0D8C-2187-9F733E5D67A1}"/>
              </a:ext>
            </a:extLst>
          </p:cNvPr>
          <p:cNvCxnSpPr>
            <a:cxnSpLocks/>
          </p:cNvCxnSpPr>
          <p:nvPr/>
        </p:nvCxnSpPr>
        <p:spPr>
          <a:xfrm flipV="1">
            <a:off x="6408150" y="3910821"/>
            <a:ext cx="969168" cy="121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E794C5-CE22-BF46-D9D2-6D2A3B0458A9}"/>
              </a:ext>
            </a:extLst>
          </p:cNvPr>
          <p:cNvCxnSpPr>
            <a:cxnSpLocks/>
          </p:cNvCxnSpPr>
          <p:nvPr/>
        </p:nvCxnSpPr>
        <p:spPr>
          <a:xfrm>
            <a:off x="6408150" y="4133050"/>
            <a:ext cx="969168" cy="443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CE673109-9A93-6254-DDF7-B83C2D7DDEFA}"/>
              </a:ext>
            </a:extLst>
          </p:cNvPr>
          <p:cNvSpPr txBox="1">
            <a:spLocks/>
          </p:cNvSpPr>
          <p:nvPr/>
        </p:nvSpPr>
        <p:spPr>
          <a:xfrm>
            <a:off x="6024013" y="3338230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For any substitution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We can find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𝑖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𝜎</m:t>
                    </m:r>
                    <m:r>
                      <a:rPr lang="en-US" sz="20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′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such that</a:t>
                </a:r>
              </a:p>
              <a:p>
                <a:pPr marL="0" indent="0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𝜎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↓</m:t>
                          </m:r>
                        </m:e>
                        <m:sub>
                          <m:sSub>
                            <m:sSubPr>
                              <m:ctrlP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6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𝐸</m:t>
                              </m:r>
                            </m:sub>
                          </m:sSub>
                        </m:sub>
                      </m:sSub>
                      <m:r>
                        <a:rPr lang="en-US" sz="2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=</m:t>
                      </m:r>
                      <m:sSub>
                        <m:sSub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pPr>
                        <m:e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𝜎</m:t>
                          </m:r>
                        </m:e>
                        <m:sup>
                          <m:r>
                            <a:rPr lang="en-US" sz="26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sz="2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Variants characterize “shapes” a term can take after substitution and equational reasoning</a:t>
                </a:r>
              </a:p>
              <a:p>
                <a:pPr marL="0" indent="0" algn="ctr">
                  <a:buNone/>
                </a:pPr>
                <a:endParaRPr lang="en-US" sz="20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 algn="ctr">
                  <a:buNone/>
                </a:pPr>
                <a:r>
                  <a:rPr lang="en-US" sz="2000" dirty="0">
                    <a:latin typeface="Source Sans Pro"/>
                    <a:ea typeface="Source Sans Pro"/>
                  </a:rPr>
                  <a:t>No equational reasoning!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45" name="Content Placeholder 2">
                <a:extLst>
                  <a:ext uri="{FF2B5EF4-FFF2-40B4-BE49-F238E27FC236}">
                    <a16:creationId xmlns:a16="http://schemas.microsoft.com/office/drawing/2014/main" id="{97F6EE69-0C89-8EE7-68FB-3768E0585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929" y="3032401"/>
                <a:ext cx="2940222" cy="3460473"/>
              </a:xfrm>
              <a:prstGeom prst="rect">
                <a:avLst/>
              </a:prstGeom>
              <a:blipFill>
                <a:blip r:embed="rId12"/>
                <a:stretch>
                  <a:fillRect t="-2190" r="-1288" b="-14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Oval 10">
            <a:extLst>
              <a:ext uri="{FF2B5EF4-FFF2-40B4-BE49-F238E27FC236}">
                <a16:creationId xmlns:a16="http://schemas.microsoft.com/office/drawing/2014/main" id="{B3011007-A31B-524E-1E32-4D46C15B4C4D}"/>
              </a:ext>
            </a:extLst>
          </p:cNvPr>
          <p:cNvSpPr/>
          <p:nvPr/>
        </p:nvSpPr>
        <p:spPr>
          <a:xfrm>
            <a:off x="10126844" y="3719586"/>
            <a:ext cx="725556" cy="70426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974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uiExpand="1" build="allAtOnce"/>
      <p:bldP spid="11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Goal: find unifiers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58123"/>
                <a:ext cx="10515600" cy="706781"/>
              </a:xfrm>
              <a:blipFill>
                <a:blip r:embed="rId3"/>
                <a:stretch>
                  <a:fillRect l="-844" t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DDEB33E-8C9F-1BEC-FEC2-688498D29701}"/>
              </a:ext>
            </a:extLst>
          </p:cNvPr>
          <p:cNvGrpSpPr/>
          <p:nvPr/>
        </p:nvGrpSpPr>
        <p:grpSpPr>
          <a:xfrm>
            <a:off x="1155896" y="2861718"/>
            <a:ext cx="2978990" cy="1531379"/>
            <a:chOff x="5032156" y="3199083"/>
            <a:chExt cx="2978990" cy="15313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0" name="Content Placeholder 2">
                  <a:extLst>
                    <a:ext uri="{FF2B5EF4-FFF2-40B4-BE49-F238E27FC236}">
                      <a16:creationId xmlns:a16="http://schemas.microsoft.com/office/drawing/2014/main" id="{081A92DF-F240-261F-86BE-8CC2E52CAD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2156" y="3667085"/>
                  <a:ext cx="848346" cy="61218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</p:spPr>
              <p:txBody>
                <a:bodyPr vert="horz" lIns="91440" tIns="45720" rIns="91440" bIns="45720" rtlCol="0" anchor="t">
                  <a:normAutofit fontScale="92500"/>
                </a:bodyPr>
                <a:lstStyle>
                  <a:lvl1pPr marL="228600" indent="-228600" algn="l" defTabSz="914400" rtl="0" eaLnBrk="1" latinLnBrk="0" hangingPunct="1">
                    <a:lnSpc>
                      <a:spcPct val="90000"/>
                    </a:lnSpc>
                    <a:spcBef>
                      <a:spcPts val="1000"/>
                    </a:spcBef>
                    <a:buFont typeface="Arial" panose="020B0604020202020204" pitchFamily="34" charset="0"/>
                    <a:buChar char="•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685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5146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9718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4290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886200" indent="-228600" algn="l" defTabSz="914400" rtl="0" eaLnBrk="1" latinLnBrk="0" hangingPunct="1">
                    <a:lnSpc>
                      <a:spcPct val="90000"/>
                    </a:lnSpc>
                    <a:spcBef>
                      <a:spcPts val="500"/>
                    </a:spcBef>
                    <a:buFont typeface="Arial" panose="020B0604020202020204" pitchFamily="34" charset="0"/>
                    <a:buChar char="•"/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indent="0">
                    <a:buFont typeface="Arial" panose="020B0604020202020204" pitchFamily="34" charset="0"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1,1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1,2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:endParaRPr lang="en-US" sz="2400" dirty="0">
                    <a:latin typeface="Source Sans Pro"/>
                    <a:ea typeface="Source Sans Pro"/>
                  </a:endParaRPr>
                </a:p>
                <a:p>
                  <a:pPr marL="0" indent="0"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1,</m:t>
                            </m:r>
                            <m:r>
                              <a:rPr lang="en-US" sz="2400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latin typeface="Source Sans Pro"/>
                    <a:ea typeface="Source Sans Pro"/>
                  </a:endParaRPr>
                </a:p>
              </p:txBody>
            </p:sp>
          </mc:Choice>
          <mc:Fallback xmlns="">
            <p:sp>
              <p:nvSpPr>
                <p:cNvPr id="31" name="Content Placeholder 2">
                  <a:extLst>
                    <a:ext uri="{FF2B5EF4-FFF2-40B4-BE49-F238E27FC236}">
                      <a16:creationId xmlns:a16="http://schemas.microsoft.com/office/drawing/2014/main" id="{B7F74A86-0F8D-4A1E-CA43-272CDF371A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3257344"/>
                  <a:ext cx="1915146" cy="147311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96637E8-8A87-E07C-FDEE-333DDAC7F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53539" y="4002120"/>
              <a:ext cx="256044" cy="256044"/>
            </a:xfrm>
            <a:prstGeom prst="rect">
              <a:avLst/>
            </a:prstGeom>
          </p:spPr>
        </p:pic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7042425-8766-E693-E797-4DCDD78E4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505043"/>
              <a:ext cx="969168" cy="3009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EE02FC1F-01F3-0D8C-2187-9F733E5D67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3881" y="3771674"/>
              <a:ext cx="969168" cy="12155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80E794C5-CE22-BF46-D9D2-6D2A3B0458A9}"/>
                </a:ext>
              </a:extLst>
            </p:cNvPr>
            <p:cNvCxnSpPr>
              <a:cxnSpLocks/>
            </p:cNvCxnSpPr>
            <p:nvPr/>
          </p:nvCxnSpPr>
          <p:spPr>
            <a:xfrm>
              <a:off x="5583881" y="3993903"/>
              <a:ext cx="969168" cy="44347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Content Placeholder 2">
              <a:extLst>
                <a:ext uri="{FF2B5EF4-FFF2-40B4-BE49-F238E27FC236}">
                  <a16:creationId xmlns:a16="http://schemas.microsoft.com/office/drawing/2014/main" id="{CE673109-9A93-6254-DDF7-B83C2D7DDEFA}"/>
                </a:ext>
              </a:extLst>
            </p:cNvPr>
            <p:cNvSpPr txBox="1">
              <a:spLocks/>
            </p:cNvSpPr>
            <p:nvPr/>
          </p:nvSpPr>
          <p:spPr>
            <a:xfrm>
              <a:off x="5199744" y="3199083"/>
              <a:ext cx="2262169" cy="5846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rm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2000" dirty="0">
                  <a:latin typeface="Source Sans Pro"/>
                  <a:ea typeface="Source Sans Pro"/>
                </a:rPr>
                <a:t>Variants</a:t>
              </a:r>
              <a:endPara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endParaRPr lang="en-US" sz="2000" dirty="0">
                <a:latin typeface="Source Sans Pro"/>
                <a:ea typeface="Source Sans Pro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DC414CDD-D73A-3704-FC0F-7DC9C9928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2000" y="3387981"/>
                <a:ext cx="848346" cy="6121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2,1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2,2</m:t>
                          </m:r>
                        </m:sub>
                      </m:sSub>
                    </m:oMath>
                  </m:oMathPara>
                </a14:m>
                <a:endParaRPr lang="en-US" sz="2400" b="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2,</m:t>
                          </m:r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F1BCB90F-E6C8-5E1A-3215-D3434439F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0047" y="2919979"/>
                <a:ext cx="1915146" cy="1473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Picture 17">
            <a:extLst>
              <a:ext uri="{FF2B5EF4-FFF2-40B4-BE49-F238E27FC236}">
                <a16:creationId xmlns:a16="http://schemas.microsoft.com/office/drawing/2014/main" id="{323E21F3-5B4D-B4DF-5CC2-38C6FB051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9015" y="3677458"/>
            <a:ext cx="256044" cy="256044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286C70-BE50-BB3F-28D8-94971A39D67B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195127"/>
            <a:ext cx="924696" cy="297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36AB5D-D6D6-BCE3-0B5A-99B5BCE0DA8A}"/>
              </a:ext>
            </a:extLst>
          </p:cNvPr>
          <p:cNvCxnSpPr>
            <a:cxnSpLocks/>
          </p:cNvCxnSpPr>
          <p:nvPr/>
        </p:nvCxnSpPr>
        <p:spPr>
          <a:xfrm flipH="1" flipV="1">
            <a:off x="4929453" y="3490614"/>
            <a:ext cx="840134" cy="65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C21335D-CCE2-237D-B51C-0F2AD52DA564}"/>
              </a:ext>
            </a:extLst>
          </p:cNvPr>
          <p:cNvCxnSpPr>
            <a:cxnSpLocks/>
          </p:cNvCxnSpPr>
          <p:nvPr/>
        </p:nvCxnSpPr>
        <p:spPr>
          <a:xfrm flipH="1">
            <a:off x="4929453" y="3694072"/>
            <a:ext cx="840134" cy="4989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A5BD66E8-F947-0469-F0D3-83605D0F1E86}"/>
              </a:ext>
            </a:extLst>
          </p:cNvPr>
          <p:cNvSpPr txBox="1">
            <a:spLocks/>
          </p:cNvSpPr>
          <p:nvPr/>
        </p:nvSpPr>
        <p:spPr>
          <a:xfrm>
            <a:off x="5178144" y="2919979"/>
            <a:ext cx="2262169" cy="5846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atin typeface="Source Sans Pro"/>
                <a:ea typeface="Source Sans Pro"/>
              </a:rPr>
              <a:t>Variants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A43C582-A7CC-4A66-D57C-7967649CE4E9}"/>
              </a:ext>
            </a:extLst>
          </p:cNvPr>
          <p:cNvCxnSpPr/>
          <p:nvPr/>
        </p:nvCxnSpPr>
        <p:spPr>
          <a:xfrm>
            <a:off x="3478697" y="3154056"/>
            <a:ext cx="9044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765970-4E14-F11A-4A98-A29D8481D003}"/>
              </a:ext>
            </a:extLst>
          </p:cNvPr>
          <p:cNvCxnSpPr>
            <a:cxnSpLocks/>
          </p:cNvCxnSpPr>
          <p:nvPr/>
        </p:nvCxnSpPr>
        <p:spPr>
          <a:xfrm>
            <a:off x="3478697" y="3227117"/>
            <a:ext cx="909794" cy="1608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611B9D1-498B-27F7-2CFC-7C1FC7AB2855}"/>
              </a:ext>
            </a:extLst>
          </p:cNvPr>
          <p:cNvCxnSpPr>
            <a:cxnSpLocks/>
          </p:cNvCxnSpPr>
          <p:nvPr/>
        </p:nvCxnSpPr>
        <p:spPr>
          <a:xfrm>
            <a:off x="3457394" y="3258166"/>
            <a:ext cx="971183" cy="91824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475E4FF-62BE-EDE9-32AD-4327994227B7}"/>
              </a:ext>
            </a:extLst>
          </p:cNvPr>
          <p:cNvCxnSpPr>
            <a:cxnSpLocks/>
          </p:cNvCxnSpPr>
          <p:nvPr/>
        </p:nvCxnSpPr>
        <p:spPr>
          <a:xfrm flipV="1">
            <a:off x="3398160" y="3461041"/>
            <a:ext cx="964831" cy="436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100764-7D45-F99C-2E34-9D3F9E87C193}"/>
              </a:ext>
            </a:extLst>
          </p:cNvPr>
          <p:cNvCxnSpPr>
            <a:cxnSpLocks/>
          </p:cNvCxnSpPr>
          <p:nvPr/>
        </p:nvCxnSpPr>
        <p:spPr>
          <a:xfrm flipV="1">
            <a:off x="3412602" y="3229036"/>
            <a:ext cx="984937" cy="23200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E15BE68-A8CC-D5F2-CCEF-0088CBEFF078}"/>
              </a:ext>
            </a:extLst>
          </p:cNvPr>
          <p:cNvCxnSpPr>
            <a:cxnSpLocks/>
          </p:cNvCxnSpPr>
          <p:nvPr/>
        </p:nvCxnSpPr>
        <p:spPr>
          <a:xfrm>
            <a:off x="3412602" y="3577715"/>
            <a:ext cx="995181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893D3E4-ABF8-CACE-A57E-1388A9EBC78C}"/>
              </a:ext>
            </a:extLst>
          </p:cNvPr>
          <p:cNvCxnSpPr>
            <a:cxnSpLocks/>
          </p:cNvCxnSpPr>
          <p:nvPr/>
        </p:nvCxnSpPr>
        <p:spPr>
          <a:xfrm>
            <a:off x="3398160" y="4234675"/>
            <a:ext cx="1030417" cy="582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6808CE6-8A48-0D49-B907-8F36CB769544}"/>
              </a:ext>
            </a:extLst>
          </p:cNvPr>
          <p:cNvCxnSpPr>
            <a:cxnSpLocks/>
          </p:cNvCxnSpPr>
          <p:nvPr/>
        </p:nvCxnSpPr>
        <p:spPr>
          <a:xfrm flipV="1">
            <a:off x="3398160" y="3504655"/>
            <a:ext cx="1030417" cy="6569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72C0C58-1BB8-41B2-C5E0-B64167794608}"/>
              </a:ext>
            </a:extLst>
          </p:cNvPr>
          <p:cNvCxnSpPr>
            <a:cxnSpLocks/>
          </p:cNvCxnSpPr>
          <p:nvPr/>
        </p:nvCxnSpPr>
        <p:spPr>
          <a:xfrm flipV="1">
            <a:off x="3343761" y="3274429"/>
            <a:ext cx="1098570" cy="8267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/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000" dirty="0">
                    <a:latin typeface="Source Sans Pro"/>
                    <a:ea typeface="Source Sans Pro"/>
                  </a:rPr>
                  <a:t>Unifying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i="1" dirty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 </m:t>
                        </m:r>
                        <m:r>
                          <a:rPr lang="en-US" sz="20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and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sz="2000" dirty="0">
                    <a:latin typeface="Source Sans Pro"/>
                    <a:ea typeface="Source Sans Pro"/>
                  </a:rPr>
                  <a:t>modulo E yields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↦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𝑚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r>
                  <a:rPr lang="en-US" sz="2000" b="1" dirty="0">
                    <a:latin typeface="Source Sans Pro"/>
                    <a:ea typeface="Source Sans Pro"/>
                  </a:rPr>
                  <a:t>and</a:t>
                </a:r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{ 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↦</m:t>
                    </m:r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𝑑𝑒𝑐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𝑥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,</m:t>
                        </m:r>
                        <m:r>
                          <a:rPr lang="en-US" sz="20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𝑘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}</m:t>
                    </m:r>
                  </m:oMath>
                </a14:m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</a:p>
              <a:p>
                <a:endParaRPr lang="en-US" sz="2000" dirty="0">
                  <a:latin typeface="Source Sans Pro"/>
                  <a:ea typeface="Source Sans Pro"/>
                </a:endParaRPr>
              </a:p>
              <a:p>
                <a:r>
                  <a:rPr lang="en-US" sz="2000" dirty="0">
                    <a:latin typeface="Source Sans Pro"/>
                    <a:ea typeface="Source Sans Pro"/>
                  </a:rPr>
                  <a:t> </a:t>
                </a:r>
                <a:endParaRPr lang="en-US" sz="2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207FB5-08B2-8593-D6FF-76C23806E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9606" y="4393097"/>
                <a:ext cx="4564959" cy="1323439"/>
              </a:xfrm>
              <a:prstGeom prst="rect">
                <a:avLst/>
              </a:prstGeom>
              <a:blipFill>
                <a:blip r:embed="rId9"/>
                <a:stretch>
                  <a:fillRect l="-1385" t="-2857" r="-2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5D249C6-DB48-BB22-1625-BCAEBC22468B}"/>
              </a:ext>
            </a:extLst>
          </p:cNvPr>
          <p:cNvSpPr txBox="1">
            <a:spLocks/>
          </p:cNvSpPr>
          <p:nvPr/>
        </p:nvSpPr>
        <p:spPr>
          <a:xfrm>
            <a:off x="2676789" y="4523666"/>
            <a:ext cx="2883223" cy="82045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Pairwise syntactic unification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>
                <a:latin typeface="Source Sans Pro"/>
                <a:ea typeface="Source Sans Pro"/>
              </a:rPr>
              <a:t>Collect all unifiers!</a:t>
            </a:r>
            <a:endParaRPr lang="en-US" sz="20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20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15138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</m:sub>
                      </m:sSub>
                      <m:r>
                        <a:rPr lang="en-US" sz="2400" i="1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eqArrPr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=0,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⊕0=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</m:e>
                            <m:e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𝑧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d>
                                <m:dPr>
                                  <m:ctrlP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𝑥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⊕</m:t>
                                  </m:r>
                                  <m:r>
                                    <a:rPr lang="en-US" sz="2400" i="1">
                                      <a:solidFill>
                                        <a:schemeClr val="tx2">
                                          <a:lumMod val="75000"/>
                                          <a:lumOff val="2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Source Sans Pro"/>
                                    </a:rPr>
                                    <m:t>𝑦</m:t>
                                  </m:r>
                                </m:e>
                              </m:d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, 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=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i="1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453999-6C39-E05F-3593-65A2F8DFDAC2}"/>
              </a:ext>
            </a:extLst>
          </p:cNvPr>
          <p:cNvSpPr/>
          <p:nvPr/>
        </p:nvSpPr>
        <p:spPr>
          <a:xfrm>
            <a:off x="3606800" y="3898900"/>
            <a:ext cx="5765800" cy="3556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22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𝐸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convergence</a:t>
                </a:r>
                <a:r>
                  <a:rPr lang="en-US" sz="2400" dirty="0">
                    <a:latin typeface="Source Sans Pro"/>
                    <a:ea typeface="Source Sans Pro"/>
                  </a:rPr>
                  <a:t> and 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finite variant property</a:t>
                </a:r>
                <a:r>
                  <a:rPr lang="en-US" sz="2400" dirty="0">
                    <a:latin typeface="Source Sans Pro"/>
                    <a:ea typeface="Source Sans Pro"/>
                  </a:rPr>
                  <a:t>, we are good!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But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is not convergent…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Partition it!</a:t>
                </a:r>
              </a:p>
              <a:p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⊕−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=0, 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⊕0=</m:t>
                          </m:r>
                          <m:r>
                            <a:rPr lang="en-US" sz="2400" i="1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𝐴𝐶</m:t>
                          </m:r>
                        </m:sub>
                      </m:sSub>
                      <m:r>
                        <a:rPr lang="en-US" sz="24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𝑧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d>
                            <m:dPr>
                              <m:ctrlP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⊕</m:t>
                              </m:r>
                              <m:r>
                                <a:rPr lang="en-US" sz="2400" b="0" i="1" smtClean="0">
                                  <a:solidFill>
                                    <a:schemeClr val="tx2">
                                      <a:lumMod val="75000"/>
                                      <a:lumOff val="25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Source Sans Pro"/>
                                </a:rPr>
                                <m:t>𝑦</m:t>
                              </m:r>
                            </m:e>
                          </m:d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𝑧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, 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=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𝑦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⊕</m:t>
                          </m:r>
                          <m:r>
                            <a:rPr lang="en-US" sz="2400" b="0" i="1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Now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has convergence and FVP!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Thankfully,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variants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unification modulo AC </a:t>
                </a:r>
                <a:r>
                  <a:rPr lang="en-US" sz="2400" dirty="0">
                    <a:latin typeface="Source Sans Pro"/>
                    <a:ea typeface="Source Sans Pro"/>
                  </a:rPr>
                  <a:t>are already addressed in the literature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Hence, we can lift the previous algo to proceed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𝐸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⊕−</m:t>
                        </m:r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𝐴𝐶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“modulo AC”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D9A992-E5F6-1706-8A28-87A2E4222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05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B981-B140-C98E-A655-DFDD280D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3A17B-322A-09FE-4B4C-0AFA6D722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Making Reasoning Expressive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D9A992-E5F6-1706-8A28-87A2E4222A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40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general, how can Tamarin reason about special operators?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Introduce new function symbols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Axiomatize via equational theory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Source Sans Pro"/>
                <a:ea typeface="Source Sans Pro"/>
              </a:rPr>
              <a:t>Borrow results from term rewriting literature to make reasoning faster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How would I apply this recipe to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arithmetic</a:t>
            </a:r>
            <a:r>
              <a:rPr lang="en-US" sz="2400" dirty="0">
                <a:latin typeface="Source Sans Pro"/>
                <a:ea typeface="Source Sans Pro"/>
              </a:rPr>
              <a:t>?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One can encode </a:t>
            </a:r>
            <a:r>
              <a:rPr lang="en-US" sz="2400" dirty="0" err="1">
                <a:latin typeface="Source Sans Pro"/>
                <a:ea typeface="Source Sans Pro"/>
              </a:rPr>
              <a:t>Peano</a:t>
            </a:r>
            <a:r>
              <a:rPr lang="en-US" sz="2400" dirty="0">
                <a:latin typeface="Source Sans Pro"/>
                <a:ea typeface="Source Sans Pro"/>
              </a:rPr>
              <a:t> or </a:t>
            </a:r>
            <a:r>
              <a:rPr lang="en-US" sz="2400" dirty="0" err="1">
                <a:latin typeface="Source Sans Pro"/>
                <a:ea typeface="Source Sans Pro"/>
              </a:rPr>
              <a:t>Presburger</a:t>
            </a:r>
            <a:r>
              <a:rPr lang="en-US" sz="2400" dirty="0">
                <a:latin typeface="Source Sans Pro"/>
                <a:ea typeface="Source Sans Pro"/>
              </a:rPr>
              <a:t> arithmetic...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Does this work? Can we do better?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b="1" i="1" dirty="0">
                <a:latin typeface="Source Sans Pro"/>
                <a:ea typeface="Source Sans Pro"/>
              </a:rPr>
              <a:t>Q: </a:t>
            </a:r>
            <a:r>
              <a:rPr lang="en-US" sz="2400" dirty="0">
                <a:latin typeface="Source Sans Pro"/>
                <a:ea typeface="Source Sans Pro"/>
              </a:rPr>
              <a:t>Can we adapt the search strategy to reason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compositionally</a:t>
            </a:r>
            <a:r>
              <a:rPr lang="en-US" sz="2400" dirty="0">
                <a:latin typeface="Source Sans Pro"/>
                <a:ea typeface="Source Sans Pro"/>
              </a:rPr>
              <a:t>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ED43B0-8ED7-4691-34DD-D6722F7073D1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98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Tamarin Property Specification Language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Language syntax and semantics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CCSA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latin typeface="Source Sans Pro"/>
                <a:ea typeface="Source Sans Pro"/>
              </a:rPr>
              <a:t>C</a:t>
            </a:r>
            <a:r>
              <a:rPr lang="en-US" dirty="0" err="1">
                <a:latin typeface="Source Sans Pro"/>
                <a:ea typeface="Source Sans Pro"/>
              </a:rPr>
              <a:t>omputionally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b="1" dirty="0">
                <a:latin typeface="Source Sans Pro"/>
                <a:ea typeface="Source Sans Pro"/>
              </a:rPr>
              <a:t>c</a:t>
            </a:r>
            <a:r>
              <a:rPr lang="en-US" dirty="0">
                <a:latin typeface="Source Sans Pro"/>
                <a:ea typeface="Source Sans Pro"/>
              </a:rPr>
              <a:t>omplete </a:t>
            </a:r>
            <a:r>
              <a:rPr lang="en-US" b="1" dirty="0">
                <a:latin typeface="Source Sans Pro"/>
                <a:ea typeface="Source Sans Pro"/>
              </a:rPr>
              <a:t>s</a:t>
            </a:r>
            <a:r>
              <a:rPr lang="en-US" dirty="0">
                <a:latin typeface="Source Sans Pro"/>
                <a:ea typeface="Source Sans Pro"/>
              </a:rPr>
              <a:t>ymbolic </a:t>
            </a:r>
            <a:r>
              <a:rPr lang="en-US" b="1" dirty="0">
                <a:latin typeface="Source Sans Pro"/>
                <a:ea typeface="Source Sans Pro"/>
              </a:rPr>
              <a:t>a</a:t>
            </a:r>
            <a:r>
              <a:rPr lang="en-US" dirty="0">
                <a:latin typeface="Source Sans Pro"/>
                <a:ea typeface="Source Sans Pro"/>
              </a:rPr>
              <a:t>ttacker 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CCSA</a:t>
            </a:r>
            <a:r>
              <a:rPr lang="en-US" dirty="0">
                <a:latin typeface="Source Sans Pro"/>
                <a:ea typeface="Source Sans Pro"/>
              </a:rPr>
              <a:t>)</a:t>
            </a:r>
          </a:p>
          <a:p>
            <a:r>
              <a:rPr lang="en-US" dirty="0">
                <a:latin typeface="Source Sans Pro"/>
                <a:ea typeface="Source Sans Pro"/>
              </a:rPr>
              <a:t>Fundamental tradeoffs 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reason with full precision but lose automation (computational)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make simplifying assumptions but lose proof soundness (symbolic)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You can maintain automation and proof soundness but lose attack soundness (CCSA) (proof soundness arguably more important; but sometimes a lower bar is better) </a:t>
            </a:r>
          </a:p>
          <a:p>
            <a:r>
              <a:rPr lang="en-US" dirty="0">
                <a:latin typeface="Source Sans Pro"/>
                <a:ea typeface="Source Sans Pro"/>
              </a:rPr>
              <a:t>BC logic, </a:t>
            </a:r>
            <a:r>
              <a:rPr lang="en-US" dirty="0" err="1">
                <a:latin typeface="Source Sans Pro"/>
                <a:ea typeface="Source Sans Pro"/>
              </a:rPr>
              <a:t>subterm</a:t>
            </a:r>
            <a:r>
              <a:rPr lang="en-US" dirty="0">
                <a:latin typeface="Source Sans Pro"/>
                <a:ea typeface="Source Sans Pro"/>
              </a:rPr>
              <a:t> reasoning/eval predicate and </a:t>
            </a:r>
            <a:r>
              <a:rPr lang="en-US" dirty="0" err="1">
                <a:latin typeface="Source Sans Pro"/>
                <a:ea typeface="Source Sans Pro"/>
              </a:rPr>
              <a:t>axiomation</a:t>
            </a:r>
            <a:r>
              <a:rPr lang="en-US" dirty="0">
                <a:latin typeface="Source Sans Pro"/>
                <a:ea typeface="Source Sans Pro"/>
              </a:rPr>
              <a:t>, cryptographic axioms, and so on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14802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Appendix: BAN Logic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6950D-385F-A98D-531F-5975D69E3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Acronym</a:t>
            </a:r>
          </a:p>
          <a:p>
            <a:r>
              <a:rPr lang="en-US" dirty="0">
                <a:latin typeface="Source Sans Pro"/>
                <a:ea typeface="Source Sans Pro"/>
              </a:rPr>
              <a:t>Missed Needham-Schroeder bug (analysis in paper that introduced the logic!)</a:t>
            </a:r>
          </a:p>
          <a:p>
            <a:r>
              <a:rPr lang="en-US" dirty="0">
                <a:latin typeface="Source Sans Pro"/>
                <a:ea typeface="Source Sans Pro"/>
              </a:rPr>
              <a:t>Relies on manual annotations of assumptions at each protocol step</a:t>
            </a:r>
          </a:p>
          <a:p>
            <a:r>
              <a:rPr lang="en-US" dirty="0">
                <a:latin typeface="Source Sans Pro"/>
                <a:ea typeface="Source Sans Pro"/>
              </a:rPr>
              <a:t>Shifts adversarial reasoning largely from the logic to the user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198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22043</TotalTime>
  <Words>9634</Words>
  <Application>Microsoft Macintosh PowerPoint</Application>
  <PresentationFormat>Widescreen</PresentationFormat>
  <Paragraphs>1236</Paragraphs>
  <Slides>130</Slides>
  <Notes>36</Notes>
  <HiddenSlides>9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41" baseType="lpstr">
      <vt:lpstr>Aptos</vt:lpstr>
      <vt:lpstr>Aptos Display</vt:lpstr>
      <vt:lpstr>Arial</vt:lpstr>
      <vt:lpstr>Avenir Next</vt:lpstr>
      <vt:lpstr>Britannic Bold</vt:lpstr>
      <vt:lpstr>Calibri</vt:lpstr>
      <vt:lpstr>Cambria Math</vt:lpstr>
      <vt:lpstr>Courier New</vt:lpstr>
      <vt:lpstr>Source Sans Pro</vt:lpstr>
      <vt:lpstr>Wingdings</vt:lpstr>
      <vt:lpstr>Office Theme</vt:lpstr>
      <vt:lpstr>Automated Reasoning for Security Protocols</vt:lpstr>
      <vt:lpstr>Introduction &amp; Motivation</vt:lpstr>
      <vt:lpstr>Introduction &amp; Motivation</vt:lpstr>
      <vt:lpstr>Introduction &amp; Motivation</vt:lpstr>
      <vt:lpstr>Roadmap</vt:lpstr>
      <vt:lpstr>Talk Objectives</vt:lpstr>
      <vt:lpstr>Roadmap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Security of Primitives</vt:lpstr>
      <vt:lpstr>Mathematical Cryptography: Security of Primitives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Mathematical Cryptography: Primitives &amp; Protocols</vt:lpstr>
      <vt:lpstr>Threat Models</vt:lpstr>
      <vt:lpstr>Threat Models</vt:lpstr>
      <vt:lpstr>Threat Models</vt:lpstr>
      <vt:lpstr>Symbolic Model</vt:lpstr>
      <vt:lpstr>Symbolic Model</vt:lpstr>
      <vt:lpstr>Symbolic Model</vt:lpstr>
      <vt:lpstr>Symbolic Model</vt:lpstr>
      <vt:lpstr>Symbolic Model</vt:lpstr>
      <vt:lpstr>Roadmap</vt:lpstr>
      <vt:lpstr>Protocol Reasoning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Security Protocols in the Symbolic Model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Needham-Schroeder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Roadmap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Needham-Schroeder Public Key Protocol</vt:lpstr>
      <vt:lpstr>First Attack on Needham-Schroeder</vt:lpstr>
      <vt:lpstr>First Attack on Needham-Schroeder</vt:lpstr>
      <vt:lpstr>First Attack on Needham-Schroeder</vt:lpstr>
      <vt:lpstr>First Attack on Needham-Schroeder</vt:lpstr>
      <vt:lpstr>Needham-Schroeder Public Key Protocol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Type Confusion Attack on Needham-Schroeder</vt:lpstr>
      <vt:lpstr>Roadmap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Other Metatheorems</vt:lpstr>
      <vt:lpstr>Roadmap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Discussion &amp; Research Questions</vt:lpstr>
      <vt:lpstr>Conclusion</vt:lpstr>
      <vt:lpstr>PowerPoint Presentation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Formalizing Security Properties in the Symbolic Model</vt:lpstr>
      <vt:lpstr>Automated Property Satisfaction/Violation</vt:lpstr>
      <vt:lpstr>Automated Property Satisfaction/Violation</vt:lpstr>
      <vt:lpstr>Automated Property Satisfaction/Violation</vt:lpstr>
      <vt:lpstr>First Attack on Needham-Schroeder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Making Reasoning Tractable: Strong Typing Assumption</vt:lpstr>
      <vt:lpstr>Roadmap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Making Reasoning Expressive</vt:lpstr>
      <vt:lpstr>Appendix: Tamarin Property Specification Language</vt:lpstr>
      <vt:lpstr>Appendix: CCSA Model</vt:lpstr>
      <vt:lpstr>Appendix: BAN Logic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1137</cp:revision>
  <cp:lastPrinted>2026-04-01T18:06:29Z</cp:lastPrinted>
  <dcterms:created xsi:type="dcterms:W3CDTF">2026-03-16T17:02:12Z</dcterms:created>
  <dcterms:modified xsi:type="dcterms:W3CDTF">2026-04-22T22:21:41Z</dcterms:modified>
</cp:coreProperties>
</file>