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25"/>
  </p:notesMasterIdLst>
  <p:sldIdLst>
    <p:sldId id="256" r:id="rId2"/>
    <p:sldId id="357" r:id="rId3"/>
    <p:sldId id="278" r:id="rId4"/>
    <p:sldId id="356" r:id="rId5"/>
    <p:sldId id="291" r:id="rId6"/>
    <p:sldId id="290" r:id="rId7"/>
    <p:sldId id="266" r:id="rId8"/>
    <p:sldId id="395" r:id="rId9"/>
    <p:sldId id="343" r:id="rId10"/>
    <p:sldId id="344" r:id="rId11"/>
    <p:sldId id="379" r:id="rId12"/>
    <p:sldId id="280" r:id="rId13"/>
    <p:sldId id="393" r:id="rId14"/>
    <p:sldId id="394" r:id="rId15"/>
    <p:sldId id="281" r:id="rId16"/>
    <p:sldId id="309" r:id="rId17"/>
    <p:sldId id="332" r:id="rId18"/>
    <p:sldId id="333" r:id="rId19"/>
    <p:sldId id="282" r:id="rId20"/>
    <p:sldId id="284" r:id="rId21"/>
    <p:sldId id="358" r:id="rId22"/>
    <p:sldId id="283" r:id="rId23"/>
    <p:sldId id="387" r:id="rId24"/>
    <p:sldId id="388" r:id="rId25"/>
    <p:sldId id="389" r:id="rId26"/>
    <p:sldId id="391" r:id="rId27"/>
    <p:sldId id="380" r:id="rId28"/>
    <p:sldId id="263" r:id="rId29"/>
    <p:sldId id="289" r:id="rId30"/>
    <p:sldId id="292" r:id="rId31"/>
    <p:sldId id="293" r:id="rId32"/>
    <p:sldId id="294" r:id="rId33"/>
    <p:sldId id="298" r:id="rId34"/>
    <p:sldId id="338" r:id="rId35"/>
    <p:sldId id="325" r:id="rId36"/>
    <p:sldId id="397" r:id="rId37"/>
    <p:sldId id="398" r:id="rId38"/>
    <p:sldId id="275" r:id="rId39"/>
    <p:sldId id="318" r:id="rId40"/>
    <p:sldId id="319" r:id="rId41"/>
    <p:sldId id="320" r:id="rId42"/>
    <p:sldId id="322" r:id="rId43"/>
    <p:sldId id="321" r:id="rId44"/>
    <p:sldId id="324" r:id="rId45"/>
    <p:sldId id="323" r:id="rId46"/>
    <p:sldId id="376" r:id="rId47"/>
    <p:sldId id="326" r:id="rId48"/>
    <p:sldId id="400" r:id="rId49"/>
    <p:sldId id="399" r:id="rId50"/>
    <p:sldId id="329" r:id="rId51"/>
    <p:sldId id="302" r:id="rId52"/>
    <p:sldId id="331" r:id="rId53"/>
    <p:sldId id="276" r:id="rId54"/>
    <p:sldId id="401" r:id="rId55"/>
    <p:sldId id="405" r:id="rId56"/>
    <p:sldId id="403" r:id="rId57"/>
    <p:sldId id="404" r:id="rId58"/>
    <p:sldId id="402" r:id="rId59"/>
    <p:sldId id="303" r:id="rId60"/>
    <p:sldId id="330" r:id="rId61"/>
    <p:sldId id="381" r:id="rId62"/>
    <p:sldId id="304" r:id="rId63"/>
    <p:sldId id="364" r:id="rId64"/>
    <p:sldId id="305" r:id="rId65"/>
    <p:sldId id="337" r:id="rId66"/>
    <p:sldId id="340" r:id="rId67"/>
    <p:sldId id="406" r:id="rId68"/>
    <p:sldId id="409" r:id="rId69"/>
    <p:sldId id="418" r:id="rId70"/>
    <p:sldId id="312" r:id="rId71"/>
    <p:sldId id="262" r:id="rId72"/>
    <p:sldId id="334" r:id="rId73"/>
    <p:sldId id="335" r:id="rId74"/>
    <p:sldId id="336" r:id="rId75"/>
    <p:sldId id="365" r:id="rId76"/>
    <p:sldId id="367" r:id="rId77"/>
    <p:sldId id="368" r:id="rId78"/>
    <p:sldId id="307" r:id="rId79"/>
    <p:sldId id="374" r:id="rId80"/>
    <p:sldId id="308" r:id="rId81"/>
    <p:sldId id="306" r:id="rId82"/>
    <p:sldId id="366" r:id="rId83"/>
    <p:sldId id="310" r:id="rId84"/>
    <p:sldId id="373" r:id="rId85"/>
    <p:sldId id="311" r:id="rId86"/>
    <p:sldId id="410" r:id="rId87"/>
    <p:sldId id="314" r:id="rId88"/>
    <p:sldId id="419" r:id="rId89"/>
    <p:sldId id="382" r:id="rId90"/>
    <p:sldId id="369" r:id="rId91"/>
    <p:sldId id="371" r:id="rId92"/>
    <p:sldId id="370" r:id="rId93"/>
    <p:sldId id="384" r:id="rId94"/>
    <p:sldId id="417" r:id="rId95"/>
    <p:sldId id="372" r:id="rId96"/>
    <p:sldId id="385" r:id="rId97"/>
    <p:sldId id="352" r:id="rId98"/>
    <p:sldId id="272" r:id="rId99"/>
    <p:sldId id="407" r:id="rId100"/>
    <p:sldId id="273" r:id="rId101"/>
    <p:sldId id="414" r:id="rId102"/>
    <p:sldId id="415" r:id="rId103"/>
    <p:sldId id="412" r:id="rId104"/>
    <p:sldId id="413" r:id="rId105"/>
    <p:sldId id="416" r:id="rId106"/>
    <p:sldId id="301" r:id="rId107"/>
    <p:sldId id="300" r:id="rId108"/>
    <p:sldId id="270" r:id="rId109"/>
    <p:sldId id="345" r:id="rId110"/>
    <p:sldId id="346" r:id="rId111"/>
    <p:sldId id="347" r:id="rId112"/>
    <p:sldId id="361" r:id="rId113"/>
    <p:sldId id="378" r:id="rId114"/>
    <p:sldId id="348" r:id="rId115"/>
    <p:sldId id="360" r:id="rId116"/>
    <p:sldId id="363" r:id="rId117"/>
    <p:sldId id="349" r:id="rId118"/>
    <p:sldId id="353" r:id="rId119"/>
    <p:sldId id="355" r:id="rId120"/>
    <p:sldId id="317" r:id="rId121"/>
    <p:sldId id="299" r:id="rId122"/>
    <p:sldId id="316" r:id="rId123"/>
    <p:sldId id="257" r:id="rId1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684" autoAdjust="0"/>
    <p:restoredTop sz="85918"/>
  </p:normalViewPr>
  <p:slideViewPr>
    <p:cSldViewPr snapToGrid="0">
      <p:cViewPr>
        <p:scale>
          <a:sx n="78" d="100"/>
          <a:sy n="78" d="100"/>
        </p:scale>
        <p:origin x="696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tableStyles" Target="tableStyle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microsoft.com/office/2016/11/relationships/changesInfo" Target="changesInfos/changesInfo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microsoft.com/office/2015/10/relationships/revisionInfo" Target="revisionInfo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Order-sorted FOL (many-sorted FOL with </a:t>
            </a:r>
            <a:r>
              <a:rPr lang="en-US" dirty="0" err="1"/>
              <a:t>subsorting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6794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6438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013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9901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6030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7227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107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7642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1104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590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6090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1354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511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9449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9382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8388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intruder could modify the tag, then one could have a successful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6839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8193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241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3076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1016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596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9447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b="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𝑡_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1 =_𝐸 𝑡_2  </a:t>
                </a:r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(𝑡_1, 𝑡_2)</a:t>
                </a:r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𝐸</a:t>
                </a:r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02722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3839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9022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41755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613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venir Next" panose="020B0503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"/>
              </a:defRPr>
            </a:lvl1pPr>
            <a:lvl2pPr>
              <a:defRPr>
                <a:latin typeface=""/>
              </a:defRPr>
            </a:lvl2pPr>
            <a:lvl3pPr>
              <a:defRPr>
                <a:latin typeface=""/>
              </a:defRPr>
            </a:lvl3pPr>
            <a:lvl4pPr>
              <a:defRPr>
                <a:latin typeface=""/>
              </a:defRPr>
            </a:lvl4pPr>
            <a:lvl5pPr>
              <a:defRPr>
                <a:latin typeface="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1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0.png"/><Relationship Id="rId7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4" Type="http://schemas.openxmlformats.org/officeDocument/2006/relationships/image" Target="../media/image220.png"/><Relationship Id="rId9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49.png"/><Relationship Id="rId5" Type="http://schemas.openxmlformats.org/officeDocument/2006/relationships/image" Target="../media/image44.png"/><Relationship Id="rId10" Type="http://schemas.openxmlformats.org/officeDocument/2006/relationships/image" Target="../media/image48.png"/><Relationship Id="rId4" Type="http://schemas.openxmlformats.org/officeDocument/2006/relationships/image" Target="../media/image43.png"/><Relationship Id="rId9" Type="http://schemas.openxmlformats.org/officeDocument/2006/relationships/image" Target="../media/image4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1.png"/><Relationship Id="rId4" Type="http://schemas.openxmlformats.org/officeDocument/2006/relationships/image" Target="../media/image31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1.png"/><Relationship Id="rId5" Type="http://schemas.openxmlformats.org/officeDocument/2006/relationships/image" Target="../media/image330.png"/><Relationship Id="rId4" Type="http://schemas.openxmlformats.org/officeDocument/2006/relationships/image" Target="../media/image31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1.png"/><Relationship Id="rId5" Type="http://schemas.openxmlformats.org/officeDocument/2006/relationships/image" Target="../media/image330.png"/><Relationship Id="rId4" Type="http://schemas.openxmlformats.org/officeDocument/2006/relationships/image" Target="../media/image31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7" Type="http://schemas.openxmlformats.org/officeDocument/2006/relationships/image" Target="../media/image351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5" Type="http://schemas.openxmlformats.org/officeDocument/2006/relationships/image" Target="../media/image330.png"/><Relationship Id="rId4" Type="http://schemas.openxmlformats.org/officeDocument/2006/relationships/image" Target="../media/image311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.png"/><Relationship Id="rId5" Type="http://schemas.openxmlformats.org/officeDocument/2006/relationships/image" Target="../media/image61.png"/><Relationship Id="rId10" Type="http://schemas.openxmlformats.org/officeDocument/2006/relationships/image" Target="../media/image66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13" Type="http://schemas.openxmlformats.org/officeDocument/2006/relationships/image" Target="../media/image79.png"/><Relationship Id="rId3" Type="http://schemas.openxmlformats.org/officeDocument/2006/relationships/image" Target="../media/image67.png"/><Relationship Id="rId7" Type="http://schemas.openxmlformats.org/officeDocument/2006/relationships/image" Target="../media/image73.png"/><Relationship Id="rId12" Type="http://schemas.openxmlformats.org/officeDocument/2006/relationships/image" Target="../media/image7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77.png"/><Relationship Id="rId5" Type="http://schemas.openxmlformats.org/officeDocument/2006/relationships/image" Target="../media/image71.png"/><Relationship Id="rId10" Type="http://schemas.openxmlformats.org/officeDocument/2006/relationships/image" Target="../media/image76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Relationship Id="rId14" Type="http://schemas.openxmlformats.org/officeDocument/2006/relationships/image" Target="../media/image80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0.png"/><Relationship Id="rId3" Type="http://schemas.openxmlformats.org/officeDocument/2006/relationships/image" Target="../media/image86.png"/><Relationship Id="rId7" Type="http://schemas.openxmlformats.org/officeDocument/2006/relationships/image" Target="../media/image320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5" Type="http://schemas.openxmlformats.org/officeDocument/2006/relationships/image" Target="../media/image88.png"/><Relationship Id="rId10" Type="http://schemas.openxmlformats.org/officeDocument/2006/relationships/image" Target="../media/image89.png"/><Relationship Id="rId4" Type="http://schemas.openxmlformats.org/officeDocument/2006/relationships/image" Target="../media/image87.png"/><Relationship Id="rId9" Type="http://schemas.openxmlformats.org/officeDocument/2006/relationships/image" Target="../media/image350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7" Type="http://schemas.openxmlformats.org/officeDocument/2006/relationships/image" Target="../media/image9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6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8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5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Relationship Id="rId9" Type="http://schemas.openxmlformats.org/officeDocument/2006/relationships/image" Target="../media/image107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5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10" Type="http://schemas.openxmlformats.org/officeDocument/2006/relationships/image" Target="../media/image115.png"/><Relationship Id="rId4" Type="http://schemas.openxmlformats.org/officeDocument/2006/relationships/image" Target="../media/image112.png"/><Relationship Id="rId9" Type="http://schemas.openxmlformats.org/officeDocument/2006/relationships/image" Target="../media/image107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7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19.png"/><Relationship Id="rId4" Type="http://schemas.openxmlformats.org/officeDocument/2006/relationships/image" Target="../media/image105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19.png"/><Relationship Id="rId4" Type="http://schemas.openxmlformats.org/officeDocument/2006/relationships/image" Target="../media/image105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19.png"/><Relationship Id="rId4" Type="http://schemas.openxmlformats.org/officeDocument/2006/relationships/image" Target="../media/image105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9.png"/><Relationship Id="rId5" Type="http://schemas.openxmlformats.org/officeDocument/2006/relationships/image" Target="../media/image105.png"/><Relationship Id="rId4" Type="http://schemas.openxmlformats.org/officeDocument/2006/relationships/image" Target="../media/image121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28.png"/><Relationship Id="rId4" Type="http://schemas.openxmlformats.org/officeDocument/2006/relationships/image" Target="../media/image127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2.png"/><Relationship Id="rId4" Type="http://schemas.openxmlformats.org/officeDocument/2006/relationships/image" Target="../media/image131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7" Type="http://schemas.openxmlformats.org/officeDocument/2006/relationships/image" Target="../media/image1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9.png"/><Relationship Id="rId5" Type="http://schemas.openxmlformats.org/officeDocument/2006/relationships/image" Target="../media/image138.png"/><Relationship Id="rId4" Type="http://schemas.openxmlformats.org/officeDocument/2006/relationships/image" Target="../media/image137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7" Type="http://schemas.openxmlformats.org/officeDocument/2006/relationships/image" Target="../media/image13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3.png"/><Relationship Id="rId4" Type="http://schemas.openxmlformats.org/officeDocument/2006/relationships/image" Target="../media/image142.png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22.png"/><Relationship Id="rId7" Type="http://schemas.openxmlformats.org/officeDocument/2006/relationships/image" Target="../media/image102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8.png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5" Type="http://schemas.openxmlformats.org/officeDocument/2006/relationships/image" Target="../media/image920.png"/><Relationship Id="rId4" Type="http://schemas.openxmlformats.org/officeDocument/2006/relationships/image" Target="../media/image910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image" Target="../media/image5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60.png"/><Relationship Id="rId4" Type="http://schemas.openxmlformats.org/officeDocument/2006/relationships/image" Target="../media/image580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0.png"/><Relationship Id="rId3" Type="http://schemas.openxmlformats.org/officeDocument/2006/relationships/image" Target="../media/image980.png"/><Relationship Id="rId7" Type="http://schemas.openxmlformats.org/officeDocument/2006/relationships/image" Target="../media/image10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png"/><Relationship Id="rId5" Type="http://schemas.openxmlformats.org/officeDocument/2006/relationships/image" Target="../media/image1000.png"/><Relationship Id="rId4" Type="http://schemas.openxmlformats.org/officeDocument/2006/relationships/image" Target="../media/image990.png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0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0.png"/><Relationship Id="rId3" Type="http://schemas.openxmlformats.org/officeDocument/2006/relationships/image" Target="../media/image1050.png"/><Relationship Id="rId7" Type="http://schemas.openxmlformats.org/officeDocument/2006/relationships/image" Target="../media/image1090.png"/><Relationship Id="rId12" Type="http://schemas.openxmlformats.org/officeDocument/2006/relationships/image" Target="../media/image11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0.png"/><Relationship Id="rId11" Type="http://schemas.openxmlformats.org/officeDocument/2006/relationships/image" Target="../media/image16.png"/><Relationship Id="rId5" Type="http://schemas.openxmlformats.org/officeDocument/2006/relationships/image" Target="../media/image1070.png"/><Relationship Id="rId10" Type="http://schemas.openxmlformats.org/officeDocument/2006/relationships/image" Target="../media/image1120.png"/><Relationship Id="rId4" Type="http://schemas.openxmlformats.org/officeDocument/2006/relationships/image" Target="../media/image1060.png"/><Relationship Id="rId9" Type="http://schemas.openxmlformats.org/officeDocument/2006/relationships/image" Target="../media/image1110.png"/></Relationships>
</file>

<file path=ppt/slides/_rels/slide1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0.png"/><Relationship Id="rId3" Type="http://schemas.openxmlformats.org/officeDocument/2006/relationships/image" Target="../media/image1140.png"/><Relationship Id="rId7" Type="http://schemas.openxmlformats.org/officeDocument/2006/relationships/image" Target="../media/image117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160.png"/><Relationship Id="rId4" Type="http://schemas.openxmlformats.org/officeDocument/2006/relationships/image" Target="../media/image1150.png"/><Relationship Id="rId9" Type="http://schemas.openxmlformats.org/officeDocument/2006/relationships/image" Target="../media/image1190.png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0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Automated Reasoning for Security Protocols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Rob Lorch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4/23/26</a:t>
            </a:r>
            <a:endParaRPr lang="en-US" dirty="0"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C5C56-34AF-1672-AA9A-65E7A4D3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E951D-1B73-58A4-4D65-EEC266C2E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3750E-F487-A549-7A81-AEE104966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258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Most of the Internet </a:t>
            </a:r>
            <a:r>
              <a:rPr lang="en-US" dirty="0">
                <a:ea typeface="Source Sans Pro"/>
              </a:rPr>
              <a:t>runs on layers of security protocols</a:t>
            </a: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B8BC3C-5CD4-B017-228A-84FACB86DDB4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A1D63E8-ACF7-03C1-666B-F6A3E8655631}"/>
              </a:ext>
            </a:extLst>
          </p:cNvPr>
          <p:cNvGrpSpPr/>
          <p:nvPr/>
        </p:nvGrpSpPr>
        <p:grpSpPr>
          <a:xfrm>
            <a:off x="2099864" y="2692117"/>
            <a:ext cx="1458122" cy="1929455"/>
            <a:chOff x="2146300" y="2692117"/>
            <a:chExt cx="1458122" cy="19294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711B14A-3B98-7A7D-DD01-83DF8AD2D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2911" y="2692117"/>
              <a:ext cx="1104900" cy="1104900"/>
            </a:xfrm>
            <a:prstGeom prst="rect">
              <a:avLst/>
            </a:prstGeom>
          </p:spPr>
        </p:pic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6218C238-ECB7-0556-76B6-39A90486B980}"/>
                </a:ext>
              </a:extLst>
            </p:cNvPr>
            <p:cNvSpPr txBox="1">
              <a:spLocks/>
            </p:cNvSpPr>
            <p:nvPr/>
          </p:nvSpPr>
          <p:spPr>
            <a:xfrm>
              <a:off x="2146300" y="3948985"/>
              <a:ext cx="1458122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DNSSEC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5A47E08-EC15-749D-7F56-27BD256E18ED}"/>
              </a:ext>
            </a:extLst>
          </p:cNvPr>
          <p:cNvGrpSpPr/>
          <p:nvPr/>
        </p:nvGrpSpPr>
        <p:grpSpPr>
          <a:xfrm>
            <a:off x="5294744" y="2581786"/>
            <a:ext cx="1325563" cy="2039786"/>
            <a:chOff x="5433011" y="2581786"/>
            <a:chExt cx="1325563" cy="203978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9749D97-77D6-60F3-15A4-6B57FA90C2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33011" y="2581786"/>
              <a:ext cx="1325563" cy="1325563"/>
            </a:xfrm>
            <a:prstGeom prst="rect">
              <a:avLst/>
            </a:prstGeom>
          </p:spPr>
        </p:pic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37527191-08E4-3EF9-563F-1CF0ED1D0A84}"/>
                </a:ext>
              </a:extLst>
            </p:cNvPr>
            <p:cNvSpPr txBox="1">
              <a:spLocks/>
            </p:cNvSpPr>
            <p:nvPr/>
          </p:nvSpPr>
          <p:spPr>
            <a:xfrm>
              <a:off x="5672701" y="3948985"/>
              <a:ext cx="846182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TLS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C7A1465-1C6F-2D6D-50FA-AF77494BD5FF}"/>
              </a:ext>
            </a:extLst>
          </p:cNvPr>
          <p:cNvGrpSpPr/>
          <p:nvPr/>
        </p:nvGrpSpPr>
        <p:grpSpPr>
          <a:xfrm>
            <a:off x="8347868" y="2514317"/>
            <a:ext cx="1536700" cy="2107255"/>
            <a:chOff x="8356600" y="2514317"/>
            <a:chExt cx="1536700" cy="210725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243C4A9-7D87-8CF5-75C5-E02885E6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94700" y="2514317"/>
              <a:ext cx="1460500" cy="1460500"/>
            </a:xfrm>
            <a:prstGeom prst="rect">
              <a:avLst/>
            </a:prstGeom>
          </p:spPr>
        </p:pic>
        <p:sp>
          <p:nvSpPr>
            <p:cNvPr id="11" name="Content Placeholder 2">
              <a:extLst>
                <a:ext uri="{FF2B5EF4-FFF2-40B4-BE49-F238E27FC236}">
                  <a16:creationId xmlns:a16="http://schemas.microsoft.com/office/drawing/2014/main" id="{E4FB1A73-21B4-FF66-06B4-F0360E25F11E}"/>
                </a:ext>
              </a:extLst>
            </p:cNvPr>
            <p:cNvSpPr txBox="1">
              <a:spLocks/>
            </p:cNvSpPr>
            <p:nvPr/>
          </p:nvSpPr>
          <p:spPr>
            <a:xfrm>
              <a:off x="8356600" y="3948985"/>
              <a:ext cx="15367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X.509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2881211-8FDC-E7C8-B906-0A4B302E6C57}"/>
              </a:ext>
            </a:extLst>
          </p:cNvPr>
          <p:cNvGrpSpPr/>
          <p:nvPr/>
        </p:nvGrpSpPr>
        <p:grpSpPr>
          <a:xfrm>
            <a:off x="1974850" y="4588235"/>
            <a:ext cx="1708150" cy="2051996"/>
            <a:chOff x="1974850" y="4588235"/>
            <a:chExt cx="1708150" cy="205199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657AE62-675E-8847-5E95-0FFEB05B0F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66144" y="4588235"/>
              <a:ext cx="1325563" cy="1325563"/>
            </a:xfrm>
            <a:prstGeom prst="rect">
              <a:avLst/>
            </a:prstGeom>
          </p:spPr>
        </p:pic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3C3759EF-153B-2582-E217-183168FFE981}"/>
                </a:ext>
              </a:extLst>
            </p:cNvPr>
            <p:cNvSpPr txBox="1">
              <a:spLocks/>
            </p:cNvSpPr>
            <p:nvPr/>
          </p:nvSpPr>
          <p:spPr>
            <a:xfrm>
              <a:off x="1974850" y="5967644"/>
              <a:ext cx="170815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4G LTE/5G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9ADC705-E6C6-D102-1BD6-177AB5B668FE}"/>
              </a:ext>
            </a:extLst>
          </p:cNvPr>
          <p:cNvGrpSpPr/>
          <p:nvPr/>
        </p:nvGrpSpPr>
        <p:grpSpPr>
          <a:xfrm>
            <a:off x="5294744" y="4588235"/>
            <a:ext cx="1325563" cy="2051996"/>
            <a:chOff x="5271758" y="4588235"/>
            <a:chExt cx="1325563" cy="2051996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B53710E-2000-A714-BCDE-075020287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71758" y="4588235"/>
              <a:ext cx="1325563" cy="1325563"/>
            </a:xfrm>
            <a:prstGeom prst="rect">
              <a:avLst/>
            </a:prstGeom>
          </p:spPr>
        </p:pic>
        <p:sp>
          <p:nvSpPr>
            <p:cNvPr id="15" name="Content Placeholder 2">
              <a:extLst>
                <a:ext uri="{FF2B5EF4-FFF2-40B4-BE49-F238E27FC236}">
                  <a16:creationId xmlns:a16="http://schemas.microsoft.com/office/drawing/2014/main" id="{A5564162-1EE0-C143-2287-2AC2E3E70F7D}"/>
                </a:ext>
              </a:extLst>
            </p:cNvPr>
            <p:cNvSpPr txBox="1">
              <a:spLocks/>
            </p:cNvSpPr>
            <p:nvPr/>
          </p:nvSpPr>
          <p:spPr>
            <a:xfrm>
              <a:off x="5332213" y="5967644"/>
              <a:ext cx="1265107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Uptane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78C70D3-47E0-ECCE-161B-EA5820C60774}"/>
              </a:ext>
            </a:extLst>
          </p:cNvPr>
          <p:cNvGrpSpPr/>
          <p:nvPr/>
        </p:nvGrpSpPr>
        <p:grpSpPr>
          <a:xfrm>
            <a:off x="8453437" y="4588235"/>
            <a:ext cx="1325563" cy="2051996"/>
            <a:chOff x="8339137" y="4588235"/>
            <a:chExt cx="1325563" cy="205199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793A1BB-D35F-A767-60AA-4F4D8C83F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339137" y="4588235"/>
              <a:ext cx="1325563" cy="1325563"/>
            </a:xfrm>
            <a:prstGeom prst="rect">
              <a:avLst/>
            </a:prstGeom>
          </p:spPr>
        </p:pic>
        <p:sp>
          <p:nvSpPr>
            <p:cNvPr id="17" name="Content Placeholder 2">
              <a:extLst>
                <a:ext uri="{FF2B5EF4-FFF2-40B4-BE49-F238E27FC236}">
                  <a16:creationId xmlns:a16="http://schemas.microsoft.com/office/drawing/2014/main" id="{78436A5C-1B76-A31A-DEEC-2FE01B9CF33A}"/>
                </a:ext>
              </a:extLst>
            </p:cNvPr>
            <p:cNvSpPr txBox="1">
              <a:spLocks/>
            </p:cNvSpPr>
            <p:nvPr/>
          </p:nvSpPr>
          <p:spPr>
            <a:xfrm>
              <a:off x="8500268" y="5967644"/>
              <a:ext cx="10033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More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29679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95CDF-283F-6DAB-88F2-6E0AFFAA9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EDF7-A7B3-688E-86C2-C8CF92F77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AA9FF-9E9C-D585-7639-BD2ADE435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5906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i="1" dirty="0">
                <a:ea typeface="Source Sans Pro"/>
              </a:rPr>
              <a:t>Security protocols are 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hard to get right</a:t>
            </a: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1ACC05-EC25-CDC9-272B-12DD48F853D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4F264D-0BAD-E1FE-CF19-8575F2BBE2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60" t="452" r="58098" b="301"/>
          <a:stretch/>
        </p:blipFill>
        <p:spPr>
          <a:xfrm>
            <a:off x="1008268" y="3289586"/>
            <a:ext cx="3310133" cy="320328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B01B9A-7C9F-77EC-2A61-B78628FA24C9}"/>
              </a:ext>
            </a:extLst>
          </p:cNvPr>
          <p:cNvSpPr/>
          <p:nvPr/>
        </p:nvSpPr>
        <p:spPr>
          <a:xfrm>
            <a:off x="4136866" y="4425536"/>
            <a:ext cx="477079" cy="20673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97248ED-3C71-CEBD-3CC6-15DBDB4594C9}"/>
              </a:ext>
            </a:extLst>
          </p:cNvPr>
          <p:cNvSpPr/>
          <p:nvPr/>
        </p:nvSpPr>
        <p:spPr>
          <a:xfrm>
            <a:off x="5821680" y="3429000"/>
            <a:ext cx="5262880" cy="5791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Undiscovered vulnerability for 17 years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548C16A-6943-8301-61D4-074BAD151A8E}"/>
              </a:ext>
            </a:extLst>
          </p:cNvPr>
          <p:cNvSpPr/>
          <p:nvPr/>
        </p:nvSpPr>
        <p:spPr>
          <a:xfrm>
            <a:off x="5821680" y="4770822"/>
            <a:ext cx="5262880" cy="5791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Discovered with automated reasoning tools!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556A18-6692-BC34-2C2F-D86BB8D50428}"/>
              </a:ext>
            </a:extLst>
          </p:cNvPr>
          <p:cNvSpPr txBox="1"/>
          <p:nvPr/>
        </p:nvSpPr>
        <p:spPr>
          <a:xfrm>
            <a:off x="951263" y="2368007"/>
            <a:ext cx="38475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"/>
                <a:ea typeface="Source Sans Pro"/>
              </a:rPr>
              <a:t>Needham-Schroeder public key </a:t>
            </a:r>
          </a:p>
          <a:p>
            <a:r>
              <a:rPr lang="en-US" sz="2000" dirty="0">
                <a:latin typeface=""/>
                <a:ea typeface="Source Sans Pro"/>
              </a:rPr>
              <a:t>mutual authentication protocol</a:t>
            </a:r>
          </a:p>
          <a:p>
            <a:endParaRPr lang="en-US" sz="2000" dirty="0">
              <a:latin typeface="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904D08-EA03-ABF9-AB0A-69C4F25449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80" y="3511105"/>
            <a:ext cx="497840" cy="4978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45252-7707-00EF-A5A9-2E10EE0F7B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840" y="4818118"/>
            <a:ext cx="579120" cy="57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333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A5078-A6A6-7052-10F7-D025B5E87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FA475-E857-22DA-A9D0-3CC1DE784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69A3B-1AD2-7DE9-BA3C-9D6741CF1C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1808873"/>
            <a:ext cx="10515600" cy="11765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Modern protocols are 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orders of magnitude more complicated!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CECE3B-C7E3-6DD0-1BA3-E94895F2879A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CD991F-396C-9EC0-19B7-2DCD9AD14B4A}"/>
              </a:ext>
            </a:extLst>
          </p:cNvPr>
          <p:cNvSpPr txBox="1">
            <a:spLocks/>
          </p:cNvSpPr>
          <p:nvPr/>
        </p:nvSpPr>
        <p:spPr>
          <a:xfrm>
            <a:off x="1122017" y="3231807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157960-9B91-BAAA-4643-E25994BD02B7}"/>
              </a:ext>
            </a:extLst>
          </p:cNvPr>
          <p:cNvSpPr txBox="1">
            <a:spLocks/>
          </p:cNvSpPr>
          <p:nvPr/>
        </p:nvSpPr>
        <p:spPr>
          <a:xfrm>
            <a:off x="6525039" y="3232524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E9C1032-4019-C80B-DE37-F98453DD196B}"/>
              </a:ext>
            </a:extLst>
          </p:cNvPr>
          <p:cNvGrpSpPr/>
          <p:nvPr/>
        </p:nvGrpSpPr>
        <p:grpSpPr>
          <a:xfrm>
            <a:off x="619539" y="2559080"/>
            <a:ext cx="6097656" cy="672727"/>
            <a:chOff x="619539" y="2559080"/>
            <a:chExt cx="6097656" cy="67272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E03E128-FF21-0FFF-65D7-47E3EE261B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63700" y="2559080"/>
              <a:ext cx="672727" cy="672727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74181EF-049F-5BE0-0683-CADD64C44E03}"/>
                </a:ext>
              </a:extLst>
            </p:cNvPr>
            <p:cNvSpPr txBox="1"/>
            <p:nvPr/>
          </p:nvSpPr>
          <p:spPr>
            <a:xfrm>
              <a:off x="619539" y="2645499"/>
              <a:ext cx="609765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sz="2400" dirty="0">
                  <a:latin typeface="Britannic Bold" panose="020B0903060703020204" pitchFamily="34" charset="77"/>
                  <a:ea typeface="Source Sans Pro"/>
                </a:rPr>
                <a:t>Victories of SOTA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776CD2-5120-4F7D-CD57-F81BE40BAE04}"/>
              </a:ext>
            </a:extLst>
          </p:cNvPr>
          <p:cNvGrpSpPr/>
          <p:nvPr/>
        </p:nvGrpSpPr>
        <p:grpSpPr>
          <a:xfrm>
            <a:off x="6022561" y="2603343"/>
            <a:ext cx="6097656" cy="584200"/>
            <a:chOff x="6022561" y="2603343"/>
            <a:chExt cx="6097656" cy="5842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27166B5-00B6-926D-5693-AF2AE90AFF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83400" y="2603343"/>
              <a:ext cx="584200" cy="5842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F62373-57FD-30E0-26BA-62CB76D82752}"/>
                </a:ext>
              </a:extLst>
            </p:cNvPr>
            <p:cNvSpPr txBox="1"/>
            <p:nvPr/>
          </p:nvSpPr>
          <p:spPr>
            <a:xfrm>
              <a:off x="6022561" y="2639997"/>
              <a:ext cx="609765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sz="2400" dirty="0">
                  <a:latin typeface="Britannic Bold" panose="020B0903060703020204" pitchFamily="34" charset="77"/>
                  <a:ea typeface="Source Sans Pro"/>
                </a:rPr>
                <a:t>Drawbacks of SOTA</a:t>
              </a: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7C020C-4192-B40B-5BF3-2515BD0F6AF9}"/>
              </a:ext>
            </a:extLst>
          </p:cNvPr>
          <p:cNvSpPr/>
          <p:nvPr/>
        </p:nvSpPr>
        <p:spPr>
          <a:xfrm>
            <a:off x="951263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Needham-Schroeder analysis with full automation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1752F8C-EE2B-7020-27B1-E32C41B0763A}"/>
              </a:ext>
            </a:extLst>
          </p:cNvPr>
          <p:cNvSpPr/>
          <p:nvPr/>
        </p:nvSpPr>
        <p:spPr>
          <a:xfrm>
            <a:off x="898744" y="4650323"/>
            <a:ext cx="5092700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Properties of </a:t>
            </a:r>
            <a:r>
              <a:rPr lang="en-US" sz="2000" dirty="0" err="1">
                <a:solidFill>
                  <a:schemeClr val="tx1"/>
                </a:solidFill>
                <a:latin typeface=""/>
                <a:ea typeface="Source Sans Pro"/>
              </a:rPr>
              <a:t>WireGuard</a:t>
            </a: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, SSH, Signal, and TLS formally verified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2C93226-6C79-09D7-9A7F-2636E5D74F80}"/>
              </a:ext>
            </a:extLst>
          </p:cNvPr>
          <p:cNvSpPr/>
          <p:nvPr/>
        </p:nvSpPr>
        <p:spPr>
          <a:xfrm>
            <a:off x="6577558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Nontrivial protocols require knowledge of internal workings of tools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66E5CE7-CBA9-2AA6-D0F2-EAB005091AF4}"/>
              </a:ext>
            </a:extLst>
          </p:cNvPr>
          <p:cNvSpPr/>
          <p:nvPr/>
        </p:nvSpPr>
        <p:spPr>
          <a:xfrm>
            <a:off x="6630077" y="4650322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Certain classes of protocols are still not amenable to (semi)-automated analysis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4072272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2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</a:t>
            </a:r>
            <a:endParaRPr lang="en-US" dirty="0"/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798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Objectives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941B0F-7E23-56C7-6262-EF4EADE1740C}"/>
              </a:ext>
            </a:extLst>
          </p:cNvPr>
          <p:cNvSpPr/>
          <p:nvPr/>
        </p:nvSpPr>
        <p:spPr>
          <a:xfrm>
            <a:off x="1117600" y="1612583"/>
            <a:ext cx="10525760" cy="88677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Mechanize &amp; automate reasoning about                                   cryptographic protocol security 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AC7BBF2-27B7-0688-0A4A-7AEDD4CFD2F5}"/>
              </a:ext>
            </a:extLst>
          </p:cNvPr>
          <p:cNvSpPr/>
          <p:nvPr/>
        </p:nvSpPr>
        <p:spPr>
          <a:xfrm>
            <a:off x="1117600" y="3352182"/>
            <a:ext cx="10525760" cy="8113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Reason expressively!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55977C5-30F3-F7D5-C66E-CD6581538F61}"/>
              </a:ext>
            </a:extLst>
          </p:cNvPr>
          <p:cNvSpPr/>
          <p:nvPr/>
        </p:nvSpPr>
        <p:spPr>
          <a:xfrm>
            <a:off x="1261143" y="2565774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Proofs of security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86B6AA-33D9-2734-BA66-20D38C53E891}"/>
              </a:ext>
            </a:extLst>
          </p:cNvPr>
          <p:cNvSpPr/>
          <p:nvPr/>
        </p:nvSpPr>
        <p:spPr>
          <a:xfrm>
            <a:off x="6447823" y="2556181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Attack traces for insecurity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1496784-D2CE-D262-CBF6-20CF722B9EE0}"/>
              </a:ext>
            </a:extLst>
          </p:cNvPr>
          <p:cNvSpPr/>
          <p:nvPr/>
        </p:nvSpPr>
        <p:spPr>
          <a:xfrm>
            <a:off x="1261143" y="4244849"/>
            <a:ext cx="5019040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Unbounded setting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6859DFD-C6B3-40BE-0535-267DC83ACE1F}"/>
              </a:ext>
            </a:extLst>
          </p:cNvPr>
          <p:cNvSpPr/>
          <p:nvPr/>
        </p:nvSpPr>
        <p:spPr>
          <a:xfrm>
            <a:off x="6447823" y="4244849"/>
            <a:ext cx="5195537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Protocol features (primitives, control flow, …)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1F0A77C-3EA4-898F-BEC5-443646CAA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51" y="1747044"/>
            <a:ext cx="624840" cy="6248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00FBC5-C212-A30B-C9C1-1A5E270C4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291" y="3462717"/>
            <a:ext cx="593761" cy="593761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084050F-E8B5-512D-BD23-64DD5C115CA0}"/>
              </a:ext>
            </a:extLst>
          </p:cNvPr>
          <p:cNvSpPr/>
          <p:nvPr/>
        </p:nvSpPr>
        <p:spPr>
          <a:xfrm>
            <a:off x="1117600" y="5035191"/>
            <a:ext cx="10525760" cy="7375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Identify open questions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79E784C-13B0-9C1F-C187-521DB7CD609B}"/>
              </a:ext>
            </a:extLst>
          </p:cNvPr>
          <p:cNvSpPr/>
          <p:nvPr/>
        </p:nvSpPr>
        <p:spPr>
          <a:xfrm>
            <a:off x="1171591" y="5889266"/>
            <a:ext cx="5108592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Compositional reasoning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BCCA455-A4B1-0E8A-34E6-78FB425F23CB}"/>
              </a:ext>
            </a:extLst>
          </p:cNvPr>
          <p:cNvSpPr/>
          <p:nvPr/>
        </p:nvSpPr>
        <p:spPr>
          <a:xfrm>
            <a:off x="6447823" y="5889266"/>
            <a:ext cx="5195537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More expressivity, e.g. theory reasoning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339769C-5FD9-AB01-BC9F-B0DD4A906C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24" y="5058838"/>
            <a:ext cx="737552" cy="73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44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0" grpId="0" animBg="1"/>
      <p:bldP spid="13" grpId="0" animBg="1"/>
      <p:bldP spid="14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rgbClr val="000000"/>
                </a:solidFill>
                <a:ea typeface="Source Sans Pro"/>
              </a:rPr>
              <a:t>Objective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319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Alice-Bob notation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3676730-5BE1-0044-739F-3311636C1628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735EF69-6110-6416-D067-99A8BC37A0D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A6FC23-29B6-77FA-BC39-6D42412FA23E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02815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91A207A1-D389-AFD2-E616-DB6F21734167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09D81E8-B8EA-B26D-E114-0151D08115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787C72-96CE-D33E-64F3-F11F6F50F1E8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roles</a:t>
            </a:r>
            <a:r>
              <a:rPr lang="en-US" dirty="0">
                <a:ea typeface="Source Sans Pro"/>
              </a:rPr>
              <a:t>, primitives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174532-6BFF-5AF0-1BFF-056A8486674F}"/>
              </a:ext>
            </a:extLst>
          </p:cNvPr>
          <p:cNvSpPr/>
          <p:nvPr/>
        </p:nvSpPr>
        <p:spPr>
          <a:xfrm>
            <a:off x="4225824" y="2430836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ACFA8A-A214-BB2B-3487-AF54F3E38282}"/>
              </a:ext>
            </a:extLst>
          </p:cNvPr>
          <p:cNvSpPr/>
          <p:nvPr/>
        </p:nvSpPr>
        <p:spPr>
          <a:xfrm>
            <a:off x="6911217" y="2430836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787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roles,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primitives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E268425-787A-EE67-7AE8-D786A7CA8056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C2873C5-2BCB-0426-B2DB-D2A6CC8EC5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565D10D-C2EA-18ED-B065-AAB7CCEE354C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BF34C046-40AB-E97D-1D02-6D4192C08689}"/>
              </a:ext>
            </a:extLst>
          </p:cNvPr>
          <p:cNvSpPr/>
          <p:nvPr/>
        </p:nvSpPr>
        <p:spPr>
          <a:xfrm>
            <a:off x="4922643" y="4006468"/>
            <a:ext cx="608343" cy="29746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C68F2D-8948-E3B3-CA50-3245307C249B}"/>
              </a:ext>
            </a:extLst>
          </p:cNvPr>
          <p:cNvSpPr/>
          <p:nvPr/>
        </p:nvSpPr>
        <p:spPr>
          <a:xfrm>
            <a:off x="5473369" y="4683309"/>
            <a:ext cx="913067" cy="29746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30762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trace</a:t>
            </a:r>
            <a:r>
              <a:rPr lang="en-US" dirty="0">
                <a:ea typeface="Source Sans Pro"/>
              </a:rPr>
              <a:t>, session,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C784C2F-D2B3-CD81-1954-5FCBCCC02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20256E3-FB7E-2C9E-3EF9-41BE76066959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93CA980-B60C-BF94-9DD3-7F4A315CF53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FA5F2D8-252A-5CA2-50CB-C5DBA620222B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AB924EE5-5ED0-0004-8638-EA6DBBBA879D}"/>
              </a:ext>
            </a:extLst>
          </p:cNvPr>
          <p:cNvSpPr/>
          <p:nvPr/>
        </p:nvSpPr>
        <p:spPr>
          <a:xfrm>
            <a:off x="3927358" y="2477643"/>
            <a:ext cx="4336869" cy="33116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8837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5273801" y="3492850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5214835" y="3905599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07A844D5-357A-33D1-2EC2-8F13D4F30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182094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5273801" y="3492850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5214835" y="3905599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6954981" y="3059668"/>
            <a:ext cx="39466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"/>
              </a:rPr>
              <a:t>Parallel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444499" y="3290501"/>
            <a:ext cx="510482" cy="328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DAEAB10-85A1-43AC-ECCD-F6586A2542B7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385533" y="3290501"/>
            <a:ext cx="569448" cy="7412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itle 1">
            <a:extLst>
              <a:ext uri="{FF2B5EF4-FFF2-40B4-BE49-F238E27FC236}">
                <a16:creationId xmlns:a16="http://schemas.microsoft.com/office/drawing/2014/main" id="{6C32267B-703B-AA4B-97D2-E693CC47A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743139F-27EB-8342-44F7-EBBC52120B13}"/>
              </a:ext>
            </a:extLst>
          </p:cNvPr>
          <p:cNvSpPr/>
          <p:nvPr/>
        </p:nvSpPr>
        <p:spPr>
          <a:xfrm>
            <a:off x="5029199" y="4318348"/>
            <a:ext cx="4261758" cy="19163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7746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6784433" y="6129400"/>
            <a:ext cx="29258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Sequential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373120" y="6314066"/>
            <a:ext cx="3411313" cy="46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88845E46-D715-CBD5-090D-1ED68E984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4411" y="5794251"/>
            <a:ext cx="1005839" cy="1005839"/>
          </a:xfrm>
          <a:prstGeom prst="rect">
            <a:avLst/>
          </a:prstGeom>
        </p:spPr>
      </p:pic>
      <p:sp>
        <p:nvSpPr>
          <p:cNvPr id="20" name="Title 1">
            <a:extLst>
              <a:ext uri="{FF2B5EF4-FFF2-40B4-BE49-F238E27FC236}">
                <a16:creationId xmlns:a16="http://schemas.microsoft.com/office/drawing/2014/main" id="{7B95CC3C-28FD-7A29-9BCD-444E3E574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35918A8-10B3-FBAC-4A0B-D7BE2DF81C57}"/>
              </a:ext>
            </a:extLst>
          </p:cNvPr>
          <p:cNvSpPr/>
          <p:nvPr/>
        </p:nvSpPr>
        <p:spPr>
          <a:xfrm>
            <a:off x="5078776" y="4219854"/>
            <a:ext cx="4261758" cy="19163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5537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principal</a:t>
            </a:r>
            <a:r>
              <a:rPr lang="en-US" dirty="0">
                <a:ea typeface="Source Sans Pro"/>
              </a:rPr>
              <a:t>, 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1763DE3F-9992-8D6E-01C0-757C28803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F3FA281-570D-3EBD-0FE1-4CBC6344F210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BDA2BBE4-9124-5F3B-BADB-B655EC8ED78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9292010-C64C-8194-AF51-FE7E9FACE908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442EB38B-D705-3AD0-B2E8-03518DDA6930}"/>
              </a:ext>
            </a:extLst>
          </p:cNvPr>
          <p:cNvSpPr/>
          <p:nvPr/>
        </p:nvSpPr>
        <p:spPr>
          <a:xfrm>
            <a:off x="4143313" y="2488519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46CD545-38E7-08D8-9288-C22D0A445CE4}"/>
              </a:ext>
            </a:extLst>
          </p:cNvPr>
          <p:cNvSpPr/>
          <p:nvPr/>
        </p:nvSpPr>
        <p:spPr>
          <a:xfrm>
            <a:off x="7382809" y="2473143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039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principal,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9FBCAAB-9FA9-465C-5B43-6DD1EF4B3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DD5C88-B01B-0A4C-7DC6-4D5E270AEE8C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4BFAAF5-BB15-3A56-48F8-70D6A330110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DC5788A-DBBC-637E-14F8-B566B3C4E9D5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6EDF1E44-930F-C054-671A-8D2C45F25187}"/>
              </a:ext>
            </a:extLst>
          </p:cNvPr>
          <p:cNvSpPr/>
          <p:nvPr/>
        </p:nvSpPr>
        <p:spPr>
          <a:xfrm>
            <a:off x="5770335" y="2496951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8966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23C352E-69E5-5227-2AC8-1D0B9A0027FB}"/>
              </a:ext>
            </a:extLst>
          </p:cNvPr>
          <p:cNvSpPr/>
          <p:nvPr/>
        </p:nvSpPr>
        <p:spPr>
          <a:xfrm>
            <a:off x="5425517" y="1738095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006EE30-8EEA-FA24-AB59-38AD03B14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DA14DCA-9ED3-E09B-BB48-13201608C7F5}"/>
              </a:ext>
            </a:extLst>
          </p:cNvPr>
          <p:cNvGrpSpPr/>
          <p:nvPr/>
        </p:nvGrpSpPr>
        <p:grpSpPr>
          <a:xfrm>
            <a:off x="4256809" y="2516605"/>
            <a:ext cx="3953390" cy="3712241"/>
            <a:chOff x="4917821" y="2314649"/>
            <a:chExt cx="3953390" cy="3712241"/>
          </a:xfrm>
        </p:grpSpPr>
        <p:pic>
          <p:nvPicPr>
            <p:cNvPr id="8" name="Picture 7" descr="A screenshot of a cell phone&#10;&#10;AI-generated content may be incorrect.">
              <a:extLst>
                <a:ext uri="{FF2B5EF4-FFF2-40B4-BE49-F238E27FC236}">
                  <a16:creationId xmlns:a16="http://schemas.microsoft.com/office/drawing/2014/main" id="{01777698-7B5C-C18A-E8C8-5DCEEE8F396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3" t="2377" r="58153" b="125"/>
            <a:stretch/>
          </p:blipFill>
          <p:spPr>
            <a:xfrm>
              <a:off x="4917821" y="2314649"/>
              <a:ext cx="3677968" cy="353151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0C3C22A-0D51-E6C8-9A86-B1F0F7095E97}"/>
                </a:ext>
              </a:extLst>
            </p:cNvPr>
            <p:cNvSpPr/>
            <p:nvPr/>
          </p:nvSpPr>
          <p:spPr>
            <a:xfrm>
              <a:off x="8408503" y="3647105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FCB50893-1FA2-A152-0DFC-B9F634816B13}"/>
              </a:ext>
            </a:extLst>
          </p:cNvPr>
          <p:cNvSpPr/>
          <p:nvPr/>
        </p:nvSpPr>
        <p:spPr>
          <a:xfrm>
            <a:off x="4579972" y="3524361"/>
            <a:ext cx="3075710" cy="246533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830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ea typeface="Source Sans Pro"/>
              </a:rPr>
              <a:t>protocol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29F6157-F0B8-23B0-B18B-E8AB7BAFEEEF}"/>
              </a:ext>
            </a:extLst>
          </p:cNvPr>
          <p:cNvSpPr/>
          <p:nvPr/>
        </p:nvSpPr>
        <p:spPr>
          <a:xfrm>
            <a:off x="7319052" y="1750359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DECCA11-FEF6-66DB-0BFD-1A1D818BF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40BE685-F365-1A46-988C-51F17675427D}"/>
              </a:ext>
            </a:extLst>
          </p:cNvPr>
          <p:cNvGrpSpPr/>
          <p:nvPr/>
        </p:nvGrpSpPr>
        <p:grpSpPr>
          <a:xfrm>
            <a:off x="4256809" y="2516605"/>
            <a:ext cx="3953390" cy="3712241"/>
            <a:chOff x="4917821" y="2314649"/>
            <a:chExt cx="3953390" cy="3712241"/>
          </a:xfrm>
        </p:grpSpPr>
        <p:pic>
          <p:nvPicPr>
            <p:cNvPr id="15" name="Picture 14" descr="A screenshot of a cell phone&#10;&#10;AI-generated content may be incorrect.">
              <a:extLst>
                <a:ext uri="{FF2B5EF4-FFF2-40B4-BE49-F238E27FC236}">
                  <a16:creationId xmlns:a16="http://schemas.microsoft.com/office/drawing/2014/main" id="{3BCBA9AB-13AD-2E1A-E0AD-0B4F2D37F0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3" t="2377" r="58153" b="125"/>
            <a:stretch/>
          </p:blipFill>
          <p:spPr>
            <a:xfrm>
              <a:off x="4917821" y="2314649"/>
              <a:ext cx="3677968" cy="3531510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8E062E4-F18D-B937-59A1-4BB056C2C955}"/>
                </a:ext>
              </a:extLst>
            </p:cNvPr>
            <p:cNvSpPr/>
            <p:nvPr/>
          </p:nvSpPr>
          <p:spPr>
            <a:xfrm>
              <a:off x="8408503" y="3647105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B42255E8-217D-1456-14A6-3D8B7908A019}"/>
              </a:ext>
            </a:extLst>
          </p:cNvPr>
          <p:cNvSpPr/>
          <p:nvPr/>
        </p:nvSpPr>
        <p:spPr>
          <a:xfrm>
            <a:off x="4917340" y="3949851"/>
            <a:ext cx="723207" cy="332509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4908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3DA93-DD83-7928-B4DD-5FA1B9A81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BA38A-6F1B-F268-C2CE-A682BBAF9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9577"/>
            <a:ext cx="10515600" cy="6767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  <a:r>
              <a:rPr lang="en-US" dirty="0">
                <a:ea typeface="Source Sans Pro"/>
              </a:rPr>
              <a:t>?</a:t>
            </a: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3E1E5C-BA57-5432-EDDA-1C53BCEDED9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/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400" i="1" dirty="0">
                    <a:solidFill>
                      <a:srgbClr val="000000"/>
                    </a:solidFill>
                    <a:latin typeface=""/>
                    <a:ea typeface="Source Sans Pro"/>
                  </a:rPr>
                  <a:t>Well-formedness requirement:</a:t>
                </a:r>
                <a:r>
                  <a:rPr lang="en-US" sz="24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 </a:t>
                </a:r>
                <a:endParaRPr lang="en-US" sz="2400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𝑘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.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𝐷𝑒𝑐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𝐸𝑛𝑐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blipFill>
                <a:blip r:embed="rId2"/>
                <a:stretch>
                  <a:fillRect l="-8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BDB836FD-5B50-E470-3675-B13E1EEA7880}"/>
              </a:ext>
            </a:extLst>
          </p:cNvPr>
          <p:cNvGrpSpPr/>
          <p:nvPr/>
        </p:nvGrpSpPr>
        <p:grpSpPr>
          <a:xfrm>
            <a:off x="828040" y="2306320"/>
            <a:ext cx="10591800" cy="2418080"/>
            <a:chOff x="828040" y="2306320"/>
            <a:chExt cx="10591800" cy="241808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A498D42-F0FF-59C1-8212-5270F8941211}"/>
                </a:ext>
              </a:extLst>
            </p:cNvPr>
            <p:cNvSpPr txBox="1"/>
            <p:nvPr/>
          </p:nvSpPr>
          <p:spPr>
            <a:xfrm>
              <a:off x="4810553" y="3861604"/>
              <a:ext cx="25442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"/>
                  <a:ea typeface="Source Sans Pro"/>
                </a:rPr>
                <a:t>Sets of bit strings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/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𝐺𝑒𝑛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 </m:t>
                        </m:r>
                        <m:r>
                          <m:rPr>
                            <m:lit/>
                          </m:r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ℕ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blipFill>
                  <a:blip r:embed="rId3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/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𝐸𝑛𝑐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/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𝐷𝑒𝑐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blipFill>
                  <a:blip r:embed="rId5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77C5FBFF-E7FE-D862-D744-5AB38054EEAF}"/>
                </a:ext>
              </a:extLst>
            </p:cNvPr>
            <p:cNvCxnSpPr/>
            <p:nvPr/>
          </p:nvCxnSpPr>
          <p:spPr>
            <a:xfrm flipH="1" flipV="1">
              <a:off x="5842000" y="3429000"/>
              <a:ext cx="253793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42792A3-C288-CDFF-23C9-5579CAFC2F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29000"/>
              <a:ext cx="294847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5125C90-E7D9-4069-9F8F-36F1EAF39F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39964"/>
              <a:ext cx="1031447" cy="4106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6B94A5B-C8A7-5441-7DA6-CF430BF1E15D}"/>
                </a:ext>
              </a:extLst>
            </p:cNvPr>
            <p:cNvSpPr/>
            <p:nvPr/>
          </p:nvSpPr>
          <p:spPr>
            <a:xfrm>
              <a:off x="828040" y="2306320"/>
              <a:ext cx="10591800" cy="241808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C674AB4-B694-CEC8-B3DC-11ECAA71F03D}"/>
                </a:ext>
              </a:extLst>
            </p:cNvPr>
            <p:cNvSpPr txBox="1"/>
            <p:nvPr/>
          </p:nvSpPr>
          <p:spPr>
            <a:xfrm>
              <a:off x="828247" y="2418081"/>
              <a:ext cx="708399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000000"/>
                  </a:solidFill>
                  <a:latin typeface=""/>
                  <a:ea typeface="Source Sans Pro"/>
                </a:rPr>
                <a:t>Consider symmetric key encryption and decryption</a:t>
              </a:r>
            </a:p>
            <a:p>
              <a:endParaRPr lang="en-US" sz="2400" dirty="0">
                <a:latin typeface=""/>
              </a:endParaRPr>
            </a:p>
          </p:txBody>
        </p: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A51A69F4-D6AF-A0F1-7CD6-E4D1F575D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95412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Primitives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</a:t>
                </a:r>
                <a:r>
                  <a:rPr lang="en-US" sz="2400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play a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cryptographic game </a:t>
                </a:r>
                <a:r>
                  <a:rPr lang="en-US" sz="2400" dirty="0">
                    <a:latin typeface="Source Sans Pro"/>
                    <a:ea typeface="Source Sans Pro"/>
                  </a:rPr>
                  <a:t>between a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challenger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an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adversary</a:t>
                </a:r>
                <a:endParaRPr lang="en-US" sz="2400" dirty="0">
                  <a:solidFill>
                    <a:schemeClr val="accent6">
                      <a:lumMod val="76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IND-CPA secure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iff</a:t>
                </a:r>
                <a:r>
                  <a:rPr lang="en-US" sz="2400" dirty="0">
                    <a:latin typeface="Source Sans Pro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𝐴𝑑𝑣𝑒𝑟𝑠𝑎𝑟𝑦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𝑤𝑖𝑛𝑠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𝑔𝑎𝑚𝑒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𝑛𝑒𝑔𝑙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  <a:blipFill>
                <a:blip r:embed="rId2"/>
                <a:stretch>
                  <a:fillRect l="-965"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3F433041-9C36-340E-B73B-6C2AEC2DBD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3" y="2400978"/>
            <a:ext cx="7772400" cy="318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7225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Security of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30B31-7B36-0E59-A9F1-9E72792BE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74014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ea typeface="Source Sans Pro"/>
              </a:rPr>
              <a:t>We</a:t>
            </a:r>
            <a:r>
              <a:rPr lang="en-US" sz="2400" dirty="0">
                <a:solidFill>
                  <a:srgbClr val="000000"/>
                </a:solidFill>
                <a:ea typeface="Source Sans Pro"/>
              </a:rPr>
              <a:t> play a 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cryptographic game </a:t>
            </a:r>
            <a:r>
              <a:rPr lang="en-US" sz="2400" dirty="0">
                <a:ea typeface="Source Sans Pro"/>
              </a:rPr>
              <a:t>between a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challenger </a:t>
            </a:r>
            <a:r>
              <a:rPr lang="en-US" sz="2400" dirty="0">
                <a:ea typeface="Source Sans Pro"/>
              </a:rPr>
              <a:t>and an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adversary</a:t>
            </a:r>
            <a:endParaRPr lang="en-US" sz="2400" dirty="0">
              <a:solidFill>
                <a:schemeClr val="accent6">
                  <a:lumMod val="76000"/>
                </a:schemeClr>
              </a:solidFill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algn="ctr"/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8E6E4A-EF7F-1704-C074-11D951D7B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247" y="3043084"/>
            <a:ext cx="1367245" cy="13672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60BFFD-4C08-40C3-6FCA-C444BEFB9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6074" y="2877983"/>
            <a:ext cx="1697446" cy="16974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067410-DB04-5129-762E-C28EF2561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9432" y="3217255"/>
            <a:ext cx="1018903" cy="10189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4356D5-58E9-1DD5-849D-2F710B8ADA4A}"/>
              </a:ext>
            </a:extLst>
          </p:cNvPr>
          <p:cNvSpPr txBox="1"/>
          <p:nvPr/>
        </p:nvSpPr>
        <p:spPr>
          <a:xfrm>
            <a:off x="2753360" y="6249206"/>
            <a:ext cx="4262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Notion of security depends on the game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/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"/>
                    <a:ea typeface="Source Sans Pro"/>
                  </a:rPr>
                  <a:t>IND-CPA secure</a:t>
                </a:r>
                <a:r>
                  <a:rPr lang="en-US" sz="2400" dirty="0">
                    <a:latin typeface=""/>
                    <a:ea typeface="Source Sans Pro"/>
                  </a:rPr>
                  <a:t> </a:t>
                </a:r>
                <a:r>
                  <a:rPr lang="en-US" sz="2400" dirty="0" err="1">
                    <a:solidFill>
                      <a:schemeClr val="tx1"/>
                    </a:solidFill>
                    <a:latin typeface=""/>
                    <a:ea typeface="Source Sans Pro"/>
                  </a:rPr>
                  <a:t>iff</a:t>
                </a:r>
                <a:r>
                  <a:rPr lang="en-US" sz="2400" dirty="0">
                    <a:latin typeface="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𝐴𝑑𝑣𝑒𝑟𝑠𝑎𝑟𝑦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𝑤𝑖𝑛𝑠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𝑔𝑎𝑚𝑒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𝑛𝑒𝑔𝑙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sz="2400" dirty="0">
                  <a:latin typeface=""/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A2B0276-FEDD-29E2-29AE-BA1E3D9E0C48}"/>
              </a:ext>
            </a:extLst>
          </p:cNvPr>
          <p:cNvCxnSpPr>
            <a:cxnSpLocks/>
            <a:stCxn id="6" idx="0"/>
            <a:endCxn id="12" idx="5"/>
          </p:cNvCxnSpPr>
          <p:nvPr/>
        </p:nvCxnSpPr>
        <p:spPr>
          <a:xfrm flipH="1" flipV="1">
            <a:off x="4071700" y="5811759"/>
            <a:ext cx="813013" cy="43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BDFBD3FD-EA0C-D6B5-913E-7DD395F3AADC}"/>
              </a:ext>
            </a:extLst>
          </p:cNvPr>
          <p:cNvSpPr/>
          <p:nvPr/>
        </p:nvSpPr>
        <p:spPr>
          <a:xfrm>
            <a:off x="2866278" y="5320926"/>
            <a:ext cx="1412240" cy="57504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31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1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itle 1">
            <a:extLst>
              <a:ext uri="{FF2B5EF4-FFF2-40B4-BE49-F238E27FC236}">
                <a16:creationId xmlns:a16="http://schemas.microsoft.com/office/drawing/2014/main" id="{B32D6E00-806E-551D-3DF0-BA48CF774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57831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2C1AAD5B-D372-16AC-955E-C6409BD8D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328122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393C6FD9-DDAE-47CF-C16F-59DE7B2BC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780626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itle 1">
            <a:extLst>
              <a:ext uri="{FF2B5EF4-FFF2-40B4-BE49-F238E27FC236}">
                <a16:creationId xmlns:a16="http://schemas.microsoft.com/office/drawing/2014/main" id="{5D5CF19E-8059-223C-B041-35CF25873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0988586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F748A8-E7AC-A6B7-00B2-785618A61F6A}"/>
              </a:ext>
            </a:extLst>
          </p:cNvPr>
          <p:cNvSpPr/>
          <p:nvPr/>
        </p:nvSpPr>
        <p:spPr>
          <a:xfrm>
            <a:off x="0" y="160622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Secure primitives do not necessarily imply a secure protocol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863B75-1BF0-35A7-0824-B20D5A04A316}"/>
              </a:ext>
            </a:extLst>
          </p:cNvPr>
          <p:cNvSpPr/>
          <p:nvPr/>
        </p:nvSpPr>
        <p:spPr>
          <a:xfrm>
            <a:off x="0" y="3264954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We assume primitives are secure and                                            focus on protocol verification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0BE610-B6C3-C46E-BC24-94CB64054DC5}"/>
              </a:ext>
            </a:extLst>
          </p:cNvPr>
          <p:cNvSpPr/>
          <p:nvPr/>
        </p:nvSpPr>
        <p:spPr>
          <a:xfrm>
            <a:off x="-207" y="492367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Primitives can always be analyzed separately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09B1537-5F72-0325-C32B-985E9F9AF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44652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" grpId="0" build="p"/>
      <p:bldP spid="4" grpId="0" animBg="1"/>
      <p:bldP spid="5" grpId="0" animBg="1"/>
      <p:bldP spid="6" grpId="0" animBg="1"/>
      <p:bldP spid="10" grpId="0" animBg="1"/>
      <p:bldP spid="1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978E5BC-73C4-50D6-41E2-D4F1C8CF3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20775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We use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threat models </a:t>
            </a:r>
            <a:r>
              <a:rPr lang="en-US" dirty="0">
                <a:ea typeface="Source Sans Pro"/>
              </a:rPr>
              <a:t>to classify protocol analysis techniques          (i.e., sets of assumptions about adversarial capabilities)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9767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2B98C7-9CF4-3217-442C-C55D76638FD3}"/>
              </a:ext>
            </a:extLst>
          </p:cNvPr>
          <p:cNvSpPr/>
          <p:nvPr/>
        </p:nvSpPr>
        <p:spPr>
          <a:xfrm>
            <a:off x="7625302" y="1825625"/>
            <a:ext cx="2934031" cy="3883176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B2E921B-0AA1-30A8-E553-99657D44271F}"/>
              </a:ext>
            </a:extLst>
          </p:cNvPr>
          <p:cNvSpPr/>
          <p:nvPr/>
        </p:nvSpPr>
        <p:spPr>
          <a:xfrm>
            <a:off x="8187859" y="3236181"/>
            <a:ext cx="2530501" cy="3256694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830F4C-1659-B088-ED09-1112EA069C75}"/>
              </a:ext>
            </a:extLst>
          </p:cNvPr>
          <p:cNvSpPr txBox="1"/>
          <p:nvPr/>
        </p:nvSpPr>
        <p:spPr>
          <a:xfrm>
            <a:off x="6949440" y="1492674"/>
            <a:ext cx="3954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Computational adversary capabilities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FB221-2806-2B7A-FD6B-4CCC46E52571}"/>
              </a:ext>
            </a:extLst>
          </p:cNvPr>
          <p:cNvSpPr txBox="1"/>
          <p:nvPr/>
        </p:nvSpPr>
        <p:spPr>
          <a:xfrm>
            <a:off x="8120222" y="6454467"/>
            <a:ext cx="3403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Symbolic adversary capabilities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83583-4237-62C6-A3FE-E95CD4C8D5F5}"/>
              </a:ext>
            </a:extLst>
          </p:cNvPr>
          <p:cNvSpPr txBox="1"/>
          <p:nvPr/>
        </p:nvSpPr>
        <p:spPr>
          <a:xfrm>
            <a:off x="7850920" y="2583819"/>
            <a:ext cx="2512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weaknesses of primitives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C07F0B-9DC7-A826-4A31-EDC532A8A345}"/>
              </a:ext>
            </a:extLst>
          </p:cNvPr>
          <p:cNvSpPr txBox="1"/>
          <p:nvPr/>
        </p:nvSpPr>
        <p:spPr>
          <a:xfrm>
            <a:off x="8238269" y="4305012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protocol weaknesses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6FCDD-E243-2B9C-6A0C-A25ADBE402AB}"/>
              </a:ext>
            </a:extLst>
          </p:cNvPr>
          <p:cNvSpPr txBox="1"/>
          <p:nvPr/>
        </p:nvSpPr>
        <p:spPr>
          <a:xfrm>
            <a:off x="8281029" y="5660671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Non-polynomial computation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690C6D-8D6B-0EEC-556B-96880DF326A3}"/>
              </a:ext>
            </a:extLst>
          </p:cNvPr>
          <p:cNvSpPr/>
          <p:nvPr/>
        </p:nvSpPr>
        <p:spPr>
          <a:xfrm>
            <a:off x="838200" y="4305012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Symbolic model (a.k.a. </a:t>
            </a:r>
            <a:r>
              <a:rPr lang="en-US" sz="2400" dirty="0" err="1">
                <a:solidFill>
                  <a:schemeClr val="tx1"/>
                </a:solidFill>
                <a:latin typeface=""/>
                <a:ea typeface="Source Sans Pro"/>
              </a:rPr>
              <a:t>Dolev</a:t>
            </a:r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-Yao model)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Assumes primitives are perfectly secure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Considers non-probabilistic (often weaker) security properties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CEF433D-2D9D-2EE0-3A63-7D10D10A1B42}"/>
              </a:ext>
            </a:extLst>
          </p:cNvPr>
          <p:cNvSpPr/>
          <p:nvPr/>
        </p:nvSpPr>
        <p:spPr>
          <a:xfrm>
            <a:off x="828813" y="1991345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Computational model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Closely follows mathematical cryptography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Adversaries are probabilistic polynomial time (PPT) Turing machines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717390-3E25-E567-F1C6-AAFD7BA580AD}"/>
              </a:ext>
            </a:extLst>
          </p:cNvPr>
          <p:cNvSpPr/>
          <p:nvPr/>
        </p:nvSpPr>
        <p:spPr>
          <a:xfrm>
            <a:off x="0" y="3084050"/>
            <a:ext cx="12192000" cy="1544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venir Next" panose="020B0503020202020204" pitchFamily="34" charset="0"/>
              </a:rPr>
              <a:t>Computational model reasoning (with PPT TMs and cryptographic games) is currently too difficult to automate, so we instead use the symbolic threat model</a:t>
            </a:r>
          </a:p>
        </p:txBody>
      </p:sp>
    </p:spTree>
    <p:extLst>
      <p:ext uri="{BB962C8B-B14F-4D97-AF65-F5344CB8AC3E}">
        <p14:creationId xmlns:p14="http://schemas.microsoft.com/office/powerpoint/2010/main" val="1846142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5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8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1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4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7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6" grpId="1" animBg="1"/>
      <p:bldP spid="10" grpId="0"/>
      <p:bldP spid="12" grpId="0"/>
      <p:bldP spid="12" grpId="1"/>
      <p:bldP spid="13" grpId="0"/>
      <p:bldP spid="14" grpId="0"/>
      <p:bldP spid="15" grpId="0"/>
      <p:bldP spid="15" grpId="1"/>
      <p:bldP spid="7" grpId="0" animBg="1"/>
      <p:bldP spid="7" grpId="1" animBg="1"/>
      <p:bldP spid="9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78F8D-41CB-3795-3829-9EC13AAB8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41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Principals communicate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symbolic terms </a:t>
            </a:r>
            <a:r>
              <a:rPr lang="en-US" dirty="0">
                <a:ea typeface="Source Sans Pro"/>
              </a:rPr>
              <a:t>rather than bit strings (as in computational model)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/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𝑑𝑒𝑐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…</m:t>
                      </m:r>
                    </m:oMath>
                  </m:oMathPara>
                </a14:m>
                <a:endParaRPr lang="en-US" sz="3200" dirty="0">
                  <a:latin typeface="Source Sans Pro"/>
                  <a:ea typeface="Source Sans Pro"/>
                </a:endParaRPr>
              </a:p>
              <a:p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CEDC1BA-45D9-7115-3E8C-5C4398502A38}"/>
              </a:ext>
            </a:extLst>
          </p:cNvPr>
          <p:cNvSpPr txBox="1"/>
          <p:nvPr/>
        </p:nvSpPr>
        <p:spPr>
          <a:xfrm>
            <a:off x="838200" y="4727303"/>
            <a:ext cx="7834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Just a syntactic symbol; no computational interpretation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1E9E15E-BFA5-0D8E-970A-A6C840F54379}"/>
              </a:ext>
            </a:extLst>
          </p:cNvPr>
          <p:cNvCxnSpPr>
            <a:cxnSpLocks/>
          </p:cNvCxnSpPr>
          <p:nvPr/>
        </p:nvCxnSpPr>
        <p:spPr>
          <a:xfrm flipV="1">
            <a:off x="3779520" y="3667760"/>
            <a:ext cx="0" cy="1051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8EB5A0B-7B6E-3DE5-47DF-5B0AA9BD7976}"/>
              </a:ext>
            </a:extLst>
          </p:cNvPr>
          <p:cNvSpPr/>
          <p:nvPr/>
        </p:nvSpPr>
        <p:spPr>
          <a:xfrm>
            <a:off x="3271520" y="3284756"/>
            <a:ext cx="690880" cy="38300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081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/>
      <p:bldP spid="6" grpId="0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2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is marked public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922199" y="3842999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7643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was sent on the network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404852" y="3842998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5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76522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𝑘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blipFill>
                <a:blip r:embed="rId4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6422699" y="3852142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6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335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blipFill>
                <a:blip r:embed="rId3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blipFill>
                <a:blip r:embed="rId4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5172889" y="3824066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/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/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blipFill>
                <a:blip r:embed="rId8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21D8EBB-616F-A69E-6C34-66B454F3FFD6}"/>
              </a:ext>
            </a:extLst>
          </p:cNvPr>
          <p:cNvSpPr/>
          <p:nvPr/>
        </p:nvSpPr>
        <p:spPr>
          <a:xfrm>
            <a:off x="7848671" y="3798188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9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52105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3486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Protocol Reasoning in the Symbolic Model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A79CE97-AB04-843F-4790-DA5EF039DBCE}"/>
              </a:ext>
            </a:extLst>
          </p:cNvPr>
          <p:cNvSpPr/>
          <p:nvPr/>
        </p:nvSpPr>
        <p:spPr>
          <a:xfrm>
            <a:off x="1432560" y="2061047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protocols (language &amp; semantics)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58A199D-1FDD-5BB5-F596-B62ECB23B603}"/>
              </a:ext>
            </a:extLst>
          </p:cNvPr>
          <p:cNvSpPr/>
          <p:nvPr/>
        </p:nvSpPr>
        <p:spPr>
          <a:xfrm>
            <a:off x="6959600" y="2052180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properties (language &amp; semantics)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4FE350-7929-68D2-4D64-2D22730714CC}"/>
              </a:ext>
            </a:extLst>
          </p:cNvPr>
          <p:cNvSpPr/>
          <p:nvPr/>
        </p:nvSpPr>
        <p:spPr>
          <a:xfrm>
            <a:off x="143256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Threat model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22FFF0-3375-09BA-7A58-317B5A42223F}"/>
              </a:ext>
            </a:extLst>
          </p:cNvPr>
          <p:cNvSpPr/>
          <p:nvPr/>
        </p:nvSpPr>
        <p:spPr>
          <a:xfrm>
            <a:off x="695960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Algorithm to search for attacks against (or proofs of) properties in given threat model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98716C-977E-2CDF-D9E1-92218C7AB60E}"/>
              </a:ext>
            </a:extLst>
          </p:cNvPr>
          <p:cNvSpPr/>
          <p:nvPr/>
        </p:nvSpPr>
        <p:spPr>
          <a:xfrm>
            <a:off x="1855588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Multiset rewriting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/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Applied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"/>
                      </a:rPr>
                      <m:t>𝜋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-calculus</a:t>
                </a: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blipFill>
                <a:blip r:embed="rId2"/>
                <a:stretch>
                  <a:fillRect l="-962" t="-392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DAF5F28-4949-B652-DC0E-613B33761EF0}"/>
              </a:ext>
            </a:extLst>
          </p:cNvPr>
          <p:cNvSpPr/>
          <p:nvPr/>
        </p:nvSpPr>
        <p:spPr>
          <a:xfrm>
            <a:off x="1806635" y="5502052"/>
            <a:ext cx="12192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Symbolic model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0596CA2-4109-01A7-E677-525CFBADE6B0}"/>
              </a:ext>
            </a:extLst>
          </p:cNvPr>
          <p:cNvSpPr/>
          <p:nvPr/>
        </p:nvSpPr>
        <p:spPr>
          <a:xfrm>
            <a:off x="3025835" y="5502052"/>
            <a:ext cx="18186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Computational model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7781E6B-0650-70D5-3BE0-101DBFD54D18}"/>
              </a:ext>
            </a:extLst>
          </p:cNvPr>
          <p:cNvSpPr/>
          <p:nvPr/>
        </p:nvSpPr>
        <p:spPr>
          <a:xfrm>
            <a:off x="2558475" y="6112062"/>
            <a:ext cx="10058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CCSA model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E2F9FA0-2632-A8A7-2491-69E523EC4580}"/>
              </a:ext>
            </a:extLst>
          </p:cNvPr>
          <p:cNvSpPr/>
          <p:nvPr/>
        </p:nvSpPr>
        <p:spPr>
          <a:xfrm>
            <a:off x="7486076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Fixed set of props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63CB04F-4E28-3712-DEC1-4B83D80A7DC1}"/>
              </a:ext>
            </a:extLst>
          </p:cNvPr>
          <p:cNvSpPr/>
          <p:nvPr/>
        </p:nvSpPr>
        <p:spPr>
          <a:xfrm>
            <a:off x="8786556" y="3079363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Variant of FOL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6736617-8507-5017-0668-6BE9928C1F66}"/>
              </a:ext>
            </a:extLst>
          </p:cNvPr>
          <p:cNvSpPr/>
          <p:nvPr/>
        </p:nvSpPr>
        <p:spPr>
          <a:xfrm>
            <a:off x="7973756" y="3698241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Equivalences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E1F1B89-3923-9627-B23D-C587BE6C8C39}"/>
              </a:ext>
            </a:extLst>
          </p:cNvPr>
          <p:cNvSpPr/>
          <p:nvPr/>
        </p:nvSpPr>
        <p:spPr>
          <a:xfrm>
            <a:off x="73253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Backwards search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40D513E-8E3D-2158-C4EC-C7DBE6A7D4C3}"/>
              </a:ext>
            </a:extLst>
          </p:cNvPr>
          <p:cNvSpPr/>
          <p:nvPr/>
        </p:nvSpPr>
        <p:spPr>
          <a:xfrm>
            <a:off x="89509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Resolution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D9BB428-903C-20B9-1C71-416165BA17CC}"/>
              </a:ext>
            </a:extLst>
          </p:cNvPr>
          <p:cNvSpPr/>
          <p:nvPr/>
        </p:nvSpPr>
        <p:spPr>
          <a:xfrm>
            <a:off x="765048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Type checking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22ADE09-FDBA-5206-08F8-D729FD718CE1}"/>
              </a:ext>
            </a:extLst>
          </p:cNvPr>
          <p:cNvSpPr/>
          <p:nvPr/>
        </p:nvSpPr>
        <p:spPr>
          <a:xfrm>
            <a:off x="928624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Induction on traces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6DEE5EF-C8CA-8FB8-51BC-EE8EFCB3ED88}"/>
              </a:ext>
            </a:extLst>
          </p:cNvPr>
          <p:cNvSpPr/>
          <p:nvPr/>
        </p:nvSpPr>
        <p:spPr>
          <a:xfrm>
            <a:off x="2495668" y="369824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Programs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FB97873-2A72-B950-318A-1A4D8B38F26D}"/>
              </a:ext>
            </a:extLst>
          </p:cNvPr>
          <p:cNvSpPr/>
          <p:nvPr/>
        </p:nvSpPr>
        <p:spPr>
          <a:xfrm>
            <a:off x="0" y="2904455"/>
            <a:ext cx="12192000" cy="1645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Avenir Next" panose="020B0503020202020204" pitchFamily="34" charset="0"/>
              </a:rPr>
              <a:t>We focus on Tamarin’s formal foundations for ease of presentation, but will still seek to learn general lessons about symbolic model verification</a:t>
            </a:r>
          </a:p>
        </p:txBody>
      </p:sp>
    </p:spTree>
    <p:extLst>
      <p:ext uri="{BB962C8B-B14F-4D97-AF65-F5344CB8AC3E}">
        <p14:creationId xmlns:p14="http://schemas.microsoft.com/office/powerpoint/2010/main" val="7981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9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2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5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8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1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4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7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3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0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3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9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2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5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8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1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4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7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3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6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9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2" dur="indefinite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5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8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1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4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6" grpId="0" animBg="1"/>
      <p:bldP spid="6" grpId="1" animBg="1"/>
      <p:bldP spid="7" grpId="0" animBg="1"/>
      <p:bldP spid="7" grpId="1" animBg="1"/>
      <p:bldP spid="8" grpId="0" animBg="1"/>
      <p:bldP spid="8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3" grpId="2" animBg="1"/>
      <p:bldP spid="14" grpId="0" animBg="1"/>
      <p:bldP spid="14" grpId="1" animBg="1"/>
      <p:bldP spid="15" grpId="0" animBg="1"/>
      <p:bldP spid="15" grpId="1" animBg="1"/>
      <p:bldP spid="15" grpId="2" animBg="1"/>
      <p:bldP spid="16" grpId="0" animBg="1"/>
      <p:bldP spid="16" grpId="1" animBg="1"/>
      <p:bldP spid="16" grpId="2" animBg="1"/>
      <p:bldP spid="17" grpId="0" animBg="1"/>
      <p:bldP spid="17" grpId="1" animBg="1"/>
      <p:bldP spid="17" grpId="2" animBg="1"/>
      <p:bldP spid="18" grpId="0" animBg="1"/>
      <p:bldP spid="18" grpId="1" animBg="1"/>
      <p:bldP spid="19" grpId="0" animBg="1"/>
      <p:bldP spid="19" grpId="1" animBg="1"/>
      <p:bldP spid="19" grpId="2" animBg="1"/>
      <p:bldP spid="20" grpId="0" animBg="1"/>
      <p:bldP spid="20" grpId="1" animBg="1"/>
      <p:bldP spid="21" grpId="0" animBg="1"/>
      <p:bldP spid="21" grpId="1" animBg="1"/>
      <p:bldP spid="21" grpId="2" animBg="1"/>
      <p:bldP spid="22" grpId="0" animBg="1"/>
      <p:bldP spid="22" grpId="1" animBg="1"/>
      <p:bldP spid="22" grpId="2" animBg="1"/>
      <p:bldP spid="23" grpId="0" animBg="1"/>
      <p:bldP spid="23" grpId="1" animBg="1"/>
      <p:bldP spid="23" grpId="2" animBg="1"/>
      <p:bldP spid="24" grpId="0" animBg="1"/>
      <p:bldP spid="24" grpId="1" animBg="1"/>
      <p:bldP spid="24" grpId="2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5ADC5FC-79AF-C211-EC0A-F4CFCE5622B8}"/>
              </a:ext>
            </a:extLst>
          </p:cNvPr>
          <p:cNvSpPr/>
          <p:nvPr/>
        </p:nvSpPr>
        <p:spPr>
          <a:xfrm>
            <a:off x="1178560" y="227584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Initial state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77B8427-65C1-21E3-6336-43264169579A}"/>
              </a:ext>
            </a:extLst>
          </p:cNvPr>
          <p:cNvSpPr/>
          <p:nvPr/>
        </p:nvSpPr>
        <p:spPr>
          <a:xfrm>
            <a:off x="461264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816AEAD-BE7A-BAE3-EA06-7E7870C8BDB0}"/>
              </a:ext>
            </a:extLst>
          </p:cNvPr>
          <p:cNvSpPr/>
          <p:nvPr/>
        </p:nvSpPr>
        <p:spPr>
          <a:xfrm>
            <a:off x="804672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BC39E2B-7AAB-1016-37AC-D37B41B2D89C}"/>
              </a:ext>
            </a:extLst>
          </p:cNvPr>
          <p:cNvSpPr/>
          <p:nvPr/>
        </p:nvSpPr>
        <p:spPr>
          <a:xfrm>
            <a:off x="804672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E3E9B88-7E18-891A-CC44-638FB1158F23}"/>
              </a:ext>
            </a:extLst>
          </p:cNvPr>
          <p:cNvSpPr txBox="1"/>
          <p:nvPr/>
        </p:nvSpPr>
        <p:spPr>
          <a:xfrm>
            <a:off x="3271734" y="292753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F19D7E-AAD8-2DFC-C06A-467440748A9F}"/>
              </a:ext>
            </a:extLst>
          </p:cNvPr>
          <p:cNvSpPr txBox="1"/>
          <p:nvPr/>
        </p:nvSpPr>
        <p:spPr>
          <a:xfrm>
            <a:off x="6691975" y="292241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4E0F6A-2B26-454C-818E-BD0FECE93BDD}"/>
              </a:ext>
            </a:extLst>
          </p:cNvPr>
          <p:cNvSpPr txBox="1"/>
          <p:nvPr/>
        </p:nvSpPr>
        <p:spPr>
          <a:xfrm>
            <a:off x="9118600" y="364306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0652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F43AAB2F-DB08-AAD6-7933-961EA6B773EA}"/>
              </a:ext>
            </a:extLst>
          </p:cNvPr>
          <p:cNvSpPr/>
          <p:nvPr/>
        </p:nvSpPr>
        <p:spPr>
          <a:xfrm>
            <a:off x="1993211" y="1595460"/>
            <a:ext cx="8544560" cy="55234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Protocol state is a multiset of facts that evolves at each rewrite rule application</a:t>
            </a:r>
          </a:p>
        </p:txBody>
      </p:sp>
    </p:spTree>
    <p:extLst>
      <p:ext uri="{BB962C8B-B14F-4D97-AF65-F5344CB8AC3E}">
        <p14:creationId xmlns:p14="http://schemas.microsoft.com/office/powerpoint/2010/main" val="256275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3" grpId="0"/>
      <p:bldP spid="19" grpId="0"/>
      <p:bldP spid="24" grpId="0"/>
      <p:bldP spid="25" grpId="0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/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/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/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/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2754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EBCBCEB-4869-B00D-A57E-46B76ABBCCE7}"/>
              </a:ext>
            </a:extLst>
          </p:cNvPr>
          <p:cNvSpPr/>
          <p:nvPr/>
        </p:nvSpPr>
        <p:spPr>
          <a:xfrm>
            <a:off x="0" y="5638800"/>
            <a:ext cx="12192000" cy="79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</a:rPr>
              <a:t>The above captures the notion of a protocol trace in the multiset rewriting formalism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383189D-E886-7AF2-0143-2656AF03997C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5576174" y="3262836"/>
            <a:ext cx="199878" cy="605233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/>
              <p:nvPr/>
            </p:nvSpPr>
            <p:spPr>
              <a:xfrm>
                <a:off x="2584309" y="3097104"/>
                <a:ext cx="27919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4309" y="3097104"/>
                <a:ext cx="2791918" cy="646331"/>
              </a:xfrm>
              <a:prstGeom prst="rect">
                <a:avLst/>
              </a:prstGeom>
              <a:blipFill>
                <a:blip r:embed="rId7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/>
              <p:nvPr/>
            </p:nvSpPr>
            <p:spPr>
              <a:xfrm>
                <a:off x="6473949" y="3231680"/>
                <a:ext cx="190052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3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949" y="3231680"/>
                <a:ext cx="1900520" cy="646331"/>
              </a:xfrm>
              <a:prstGeom prst="rect">
                <a:avLst/>
              </a:prstGeom>
              <a:blipFill>
                <a:blip r:embed="rId8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/>
              <p:nvPr/>
            </p:nvSpPr>
            <p:spPr>
              <a:xfrm>
                <a:off x="9185517" y="3469597"/>
                <a:ext cx="184390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b="0" i="1" dirty="0">
                  <a:latin typeface="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5517" y="3469597"/>
                <a:ext cx="1843903" cy="646331"/>
              </a:xfrm>
              <a:prstGeom prst="rect">
                <a:avLst/>
              </a:prstGeom>
              <a:blipFill>
                <a:blip r:embed="rId9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A1941CF-7564-BBA1-1938-9EE1FE429E42}"/>
              </a:ext>
            </a:extLst>
          </p:cNvPr>
          <p:cNvCxnSpPr>
            <a:cxnSpLocks/>
            <a:endCxn id="9" idx="0"/>
          </p:cNvCxnSpPr>
          <p:nvPr/>
        </p:nvCxnSpPr>
        <p:spPr>
          <a:xfrm flipH="1">
            <a:off x="5684520" y="1854254"/>
            <a:ext cx="673876" cy="417031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/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State facts are symbolic terms,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S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1</m:t>
                        </m:r>
                      </m:sub>
                    </m:sSub>
                    <m: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𝑒𝑛𝑐</m:t>
                    </m:r>
                    <m:d>
                      <m:d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d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𝑚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, 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𝑘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blipFill>
                <a:blip r:embed="rId10"/>
                <a:stretch>
                  <a:fillRect t="-833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9DB32A44-44F5-D86D-BA8B-DD81C19558A8}"/>
              </a:ext>
            </a:extLst>
          </p:cNvPr>
          <p:cNvSpPr/>
          <p:nvPr/>
        </p:nvSpPr>
        <p:spPr>
          <a:xfrm>
            <a:off x="6358396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Every principal’s state is recorded in the global protocol state at each 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/>
              <p:nvPr/>
            </p:nvSpPr>
            <p:spPr>
              <a:xfrm>
                <a:off x="3967480" y="2985837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7480" y="2985837"/>
                <a:ext cx="184345" cy="276999"/>
              </a:xfrm>
              <a:prstGeom prst="rect">
                <a:avLst/>
              </a:prstGeom>
              <a:blipFill>
                <a:blip r:embed="rId11"/>
                <a:stretch>
                  <a:fillRect l="-26667" r="-33333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/>
              <p:nvPr/>
            </p:nvSpPr>
            <p:spPr>
              <a:xfrm>
                <a:off x="10726123" y="3331097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6123" y="3331097"/>
                <a:ext cx="184345" cy="276999"/>
              </a:xfrm>
              <a:prstGeom prst="rect">
                <a:avLst/>
              </a:prstGeom>
              <a:blipFill>
                <a:blip r:embed="rId12"/>
                <a:stretch>
                  <a:fillRect l="-25000" r="-25000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/>
              <p:nvPr/>
            </p:nvSpPr>
            <p:spPr>
              <a:xfrm>
                <a:off x="8020213" y="3124336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0213" y="3124336"/>
                <a:ext cx="184345" cy="276999"/>
              </a:xfrm>
              <a:prstGeom prst="rect">
                <a:avLst/>
              </a:prstGeom>
              <a:blipFill>
                <a:blip r:embed="rId11"/>
                <a:stretch>
                  <a:fillRect l="-25000" r="-25000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AEE4AFC8-6B0E-2046-B53F-382C434653B9}"/>
              </a:ext>
            </a:extLst>
          </p:cNvPr>
          <p:cNvSpPr/>
          <p:nvPr/>
        </p:nvSpPr>
        <p:spPr>
          <a:xfrm>
            <a:off x="305745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Each rule also has a multiset of labels referenced later when specifying properties 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3F756C-76D4-435E-45E3-2ACDB6609233}"/>
              </a:ext>
            </a:extLst>
          </p:cNvPr>
          <p:cNvCxnSpPr>
            <a:cxnSpLocks/>
            <a:endCxn id="40" idx="0"/>
          </p:cNvCxnSpPr>
          <p:nvPr/>
        </p:nvCxnSpPr>
        <p:spPr>
          <a:xfrm flipH="1">
            <a:off x="4059653" y="2227185"/>
            <a:ext cx="225258" cy="758652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812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25" grpId="0"/>
      <p:bldP spid="26" grpId="0"/>
      <p:bldP spid="27" grpId="0" animBg="1"/>
      <p:bldP spid="18" grpId="0"/>
      <p:bldP spid="20" grpId="0"/>
      <p:bldP spid="21" grpId="0"/>
      <p:bldP spid="35" grpId="0" animBg="1"/>
      <p:bldP spid="38" grpId="0" animBg="1"/>
      <p:bldP spid="40" grpId="0"/>
      <p:bldP spid="41" grpId="0"/>
      <p:bldP spid="42" grpId="0"/>
      <p:bldP spid="4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In general, the two main approaches are based on </a:t>
                </a:r>
                <a:r>
                  <a:rPr lang="en-US" dirty="0">
                    <a:latin typeface="Source Sans Pro"/>
                    <a:ea typeface="Source Sans Pro"/>
                    <a:cs typeface="+mn-lt"/>
                  </a:rPr>
                  <a:t>the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  <a:cs typeface="+mn-lt"/>
                  </a:rPr>
                  <a:t>applied 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Aptos"/>
                    <a:ea typeface="Source Sans Pro"/>
                  </a:rPr>
                  <a:t>π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-calculus </a:t>
                </a:r>
                <a:r>
                  <a:rPr lang="en-US" dirty="0">
                    <a:latin typeface="Source Sans Pro"/>
                    <a:ea typeface="Source Sans Pro"/>
                  </a:rPr>
                  <a:t>and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multiset rewriting</a:t>
                </a:r>
              </a:p>
              <a:p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We can view a protocol as a set of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multiset rewriting rules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Each rule intuitively denotes a protocol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state or mode transition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We rewrite multisets of facts, each fact a term of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b="0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</m:oMath>
                </a14:m>
                <a:r>
                  <a:rPr lang="en-US" b="0" dirty="0">
                    <a:latin typeface="Source Sans Pro"/>
                    <a:ea typeface="Source Sans Pro"/>
                  </a:rPr>
                  <a:t> is a </a:t>
                </a:r>
                <a:r>
                  <a:rPr lang="en-US" b="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fact symbol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Terms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through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cannot contain fact symbols</a:t>
                </a:r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87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62D15-35BC-BCF6-BE0F-8854AFE97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/>
              <p:nvPr/>
            </p:nvSpPr>
            <p:spPr>
              <a:xfrm>
                <a:off x="833911" y="1804788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𝑂𝑢𝑡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𝐼𝑛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a:rPr lang="en-US" sz="18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!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𝑒𝑛𝑐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1804788"/>
                <a:ext cx="10519888" cy="997094"/>
              </a:xfrm>
              <a:prstGeom prst="roundRect">
                <a:avLst/>
              </a:prstGeom>
              <a:blipFill>
                <a:blip r:embed="rId2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/>
              <p:nvPr/>
            </p:nvSpPr>
            <p:spPr>
              <a:xfrm>
                <a:off x="833911" y="2954652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𝐼𝑛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𝐾𝑒𝑦𝐵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sSup>
                        <m:sSup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{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𝑀𝑦𝐸𝑛𝑐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}</m:t>
                          </m:r>
                        </m:sup>
                      </m:sSup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sz="20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2954652"/>
                <a:ext cx="10519888" cy="997094"/>
              </a:xfrm>
              <a:prstGeom prst="roundRect">
                <a:avLst/>
              </a:prstGeom>
              <a:blipFill>
                <a:blip r:embed="rId3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/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Distinguished fact symbols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𝐼𝑛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𝐹𝑟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(built-in adversary modeling)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blipFill>
                <a:blip r:embed="rId4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/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Protocol-specific (user) fact symbols</a:t>
                </a: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!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𝐾𝑒𝑦𝐵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blipFill>
                <a:blip r:embed="rId5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0465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14294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1800" dirty="0">
                    <a:latin typeface="Source Sans Pro"/>
                    <a:ea typeface="Source Sans Pro"/>
                  </a:rPr>
                  <a:t>is a ground instance of one of the rewrite rules </a:t>
                </a:r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4110640" y="2463069"/>
            <a:ext cx="2817024" cy="70814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6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6882937" y="2536673"/>
            <a:ext cx="1263535" cy="60482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9197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/>
                <a:ea typeface="Source Sans Pro"/>
              </a:rPr>
              <a:t>Update global state by removing l and introducing r</a:t>
            </a:r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A515F5B-8A9F-11E8-2FC6-22B93BB403E9}"/>
              </a:ext>
            </a:extLst>
          </p:cNvPr>
          <p:cNvSpPr/>
          <p:nvPr/>
        </p:nvSpPr>
        <p:spPr>
          <a:xfrm>
            <a:off x="4419393" y="2950225"/>
            <a:ext cx="3186752" cy="72500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751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Source Sans Pro"/>
                <a:ea typeface="Source Sans Pro"/>
              </a:rPr>
              <a:t>Update global state by removing l and introducing r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trace</a:t>
                </a:r>
                <a:r>
                  <a:rPr lang="en-US" sz="2400" dirty="0">
                    <a:latin typeface="Source Sans Pro"/>
                    <a:ea typeface="Source Sans Pro"/>
                  </a:rPr>
                  <a:t>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a sequence of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…, </m:t>
                    </m:r>
                    <m:sSub>
                      <m:sSubPr>
                        <m:ctrlP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that:</a:t>
                </a: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=∅ 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+1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for all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Fresh rule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{}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𝐹𝑟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)}</m:t>
                    </m:r>
                  </m:oMath>
                </a14:m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used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 most once </a:t>
                </a:r>
                <a:r>
                  <a:rPr lang="en-US" sz="2400" dirty="0">
                    <a:latin typeface="Source Sans Pro"/>
                    <a:ea typeface="Source Sans Pro"/>
                  </a:rPr>
                  <a:t>for each instantiation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  <a:blipFill>
                <a:blip r:embed="rId6"/>
                <a:stretch>
                  <a:fillRect l="-844" t="-4762" b="-3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7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4314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974554-2FD0-1B33-591D-992A645EF6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2A0C7B-D397-72BC-601A-52680DE79D39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</p:spTree>
    <p:extLst>
      <p:ext uri="{BB962C8B-B14F-4D97-AF65-F5344CB8AC3E}">
        <p14:creationId xmlns:p14="http://schemas.microsoft.com/office/powerpoint/2010/main" val="2942781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886D1EC-B8A1-3888-792C-9DF368AA63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ED805D-D6D3-88BF-7AA6-7B00E9E553B4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7237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B593DB-3C18-5F46-883B-7885CD9EFC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𝐹𝑟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𝑃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𝑆𝑡𝐴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𝑂𝑢𝑡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/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𝑆𝑡𝐴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1(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blipFill>
                <a:blip r:embed="rId5"/>
                <a:stretch>
                  <a:fillRect l="-815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124D15C-2680-075A-8441-18F27F407CF5}"/>
              </a:ext>
            </a:extLst>
          </p:cNvPr>
          <p:cNvSpPr txBox="1"/>
          <p:nvPr/>
        </p:nvSpPr>
        <p:spPr>
          <a:xfrm>
            <a:off x="7024255" y="3545489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339419C-8048-AB19-EE80-110581EC3607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5936675" y="3611451"/>
            <a:ext cx="1087580" cy="2333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855CA73E-3B45-28E8-ED9B-15142615C5EF}"/>
              </a:ext>
            </a:extLst>
          </p:cNvPr>
          <p:cNvSpPr/>
          <p:nvPr/>
        </p:nvSpPr>
        <p:spPr>
          <a:xfrm>
            <a:off x="1267690" y="3134093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E65C77E-8D4D-8066-501A-096C0CA2F5DC}"/>
              </a:ext>
            </a:extLst>
          </p:cNvPr>
          <p:cNvSpPr/>
          <p:nvPr/>
        </p:nvSpPr>
        <p:spPr>
          <a:xfrm>
            <a:off x="5140039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68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2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B593DB-3C18-5F46-883B-7885CD9EFC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𝐹𝑟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𝑃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𝑆𝑡𝐴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𝑂𝑢𝑡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/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𝑆𝑡𝐴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1(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blipFill>
                <a:blip r:embed="rId5"/>
                <a:stretch>
                  <a:fillRect l="-815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124D15C-2680-075A-8441-18F27F407CF5}"/>
              </a:ext>
            </a:extLst>
          </p:cNvPr>
          <p:cNvSpPr txBox="1"/>
          <p:nvPr/>
        </p:nvSpPr>
        <p:spPr>
          <a:xfrm>
            <a:off x="7024255" y="3545489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9705268-951F-6AE5-56EA-E669DA5067F2}"/>
              </a:ext>
            </a:extLst>
          </p:cNvPr>
          <p:cNvSpPr/>
          <p:nvPr/>
        </p:nvSpPr>
        <p:spPr>
          <a:xfrm>
            <a:off x="1281545" y="3536457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E302869-62F2-F192-5B78-B9A02645A3C3}"/>
              </a:ext>
            </a:extLst>
          </p:cNvPr>
          <p:cNvSpPr/>
          <p:nvPr/>
        </p:nvSpPr>
        <p:spPr>
          <a:xfrm>
            <a:off x="1267690" y="3939090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EC9AA63-C42F-C1C6-4DA4-E4EC8715B406}"/>
              </a:ext>
            </a:extLst>
          </p:cNvPr>
          <p:cNvSpPr/>
          <p:nvPr/>
        </p:nvSpPr>
        <p:spPr>
          <a:xfrm>
            <a:off x="1267690" y="3134093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F1F48DC-3375-8098-7CF8-B70A5EDD44BC}"/>
              </a:ext>
            </a:extLst>
          </p:cNvPr>
          <p:cNvCxnSpPr>
            <a:cxnSpLocks/>
            <a:endCxn id="15" idx="0"/>
          </p:cNvCxnSpPr>
          <p:nvPr/>
        </p:nvCxnSpPr>
        <p:spPr>
          <a:xfrm flipH="1">
            <a:off x="5936675" y="3611451"/>
            <a:ext cx="1087580" cy="2333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E11E4A6-5EE3-697E-1851-1C0E4A547384}"/>
              </a:ext>
            </a:extLst>
          </p:cNvPr>
          <p:cNvSpPr/>
          <p:nvPr/>
        </p:nvSpPr>
        <p:spPr>
          <a:xfrm>
            <a:off x="5140039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7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B593DB-3C18-5F46-883B-7885CD9EFC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𝐹𝑟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𝑃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𝑆𝑡𝐴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𝑂𝑢𝑡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A66FB430-7212-41DB-9F81-825F26D70E1E}"/>
              </a:ext>
            </a:extLst>
          </p:cNvPr>
          <p:cNvSpPr txBox="1"/>
          <p:nvPr/>
        </p:nvSpPr>
        <p:spPr>
          <a:xfrm>
            <a:off x="7024255" y="3242119"/>
            <a:ext cx="2582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Adversary rules built in!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27627125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A54B0-3EF1-2DEF-5B65-08E237603372}"/>
              </a:ext>
            </a:extLst>
          </p:cNvPr>
          <p:cNvSpPr txBox="1"/>
          <p:nvPr/>
        </p:nvSpPr>
        <p:spPr>
          <a:xfrm>
            <a:off x="951263" y="1549599"/>
            <a:ext cx="10824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  <a:ea typeface="Source Sans Pro"/>
              </a:rPr>
              <a:t>How to generate a trace?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/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/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/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𝑝𝑘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𝐹𝑟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)}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/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𝑝𝑘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/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𝑠𝑘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𝑆𝑘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𝐼𝑑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𝑠𝑘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𝐼𝑑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𝑠𝑘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𝑂𝑢𝑡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𝐼𝑑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𝑝𝑘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𝑠𝑘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blipFill>
                <a:blip r:embed="rId6"/>
                <a:stretch>
                  <a:fillRect b="-3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/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Built-in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∅→{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𝐹𝑟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blipFill>
                <a:blip r:embed="rId7"/>
                <a:stretch>
                  <a:fillRect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6E3FF0-C888-08BF-839A-B80C814E3858}"/>
              </a:ext>
            </a:extLst>
          </p:cNvPr>
          <p:cNvCxnSpPr>
            <a:stCxn id="9" idx="6"/>
            <a:endCxn id="12" idx="2"/>
          </p:cNvCxnSpPr>
          <p:nvPr/>
        </p:nvCxnSpPr>
        <p:spPr>
          <a:xfrm flipV="1">
            <a:off x="1537854" y="5122257"/>
            <a:ext cx="129647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/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/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𝑆𝑘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𝑂𝑢𝑡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𝑝𝑘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𝑠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𝐴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blipFill>
                <a:blip r:embed="rId9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BD046B7-58A5-0837-3999-81B965405199}"/>
              </a:ext>
            </a:extLst>
          </p:cNvPr>
          <p:cNvCxnSpPr>
            <a:cxnSpLocks/>
            <a:stCxn id="12" idx="6"/>
            <a:endCxn id="16" idx="2"/>
          </p:cNvCxnSpPr>
          <p:nvPr/>
        </p:nvCxnSpPr>
        <p:spPr>
          <a:xfrm>
            <a:off x="4205002" y="5122257"/>
            <a:ext cx="3532761" cy="26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/>
              <p:nvPr/>
            </p:nvSpPr>
            <p:spPr>
              <a:xfrm>
                <a:off x="8694795" y="5940844"/>
                <a:ext cx="16362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4795" y="5940844"/>
                <a:ext cx="1636282" cy="369332"/>
              </a:xfrm>
              <a:prstGeom prst="rect">
                <a:avLst/>
              </a:prstGeom>
              <a:blipFill>
                <a:blip r:embed="rId10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FA0CC77-C6EE-8C73-7535-C3D154760496}"/>
              </a:ext>
            </a:extLst>
          </p:cNvPr>
          <p:cNvCxnSpPr>
            <a:cxnSpLocks/>
            <a:stCxn id="16" idx="4"/>
            <a:endCxn id="15" idx="6"/>
          </p:cNvCxnSpPr>
          <p:nvPr/>
        </p:nvCxnSpPr>
        <p:spPr>
          <a:xfrm flipH="1">
            <a:off x="8072696" y="5660866"/>
            <a:ext cx="1766382" cy="559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310EA40-8021-1B58-1B3A-346337892847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2812542" y="6220823"/>
            <a:ext cx="10575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6C4B60D0-FAEA-BC92-218A-36ACB32FB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3556" y="5780693"/>
            <a:ext cx="880257" cy="88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719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4" grpId="0"/>
      <p:bldP spid="27" grpId="0"/>
      <p:bldP spid="3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Security properties can be partitioned into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trace properties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hyper properties</a:t>
            </a:r>
          </a:p>
          <a:p>
            <a:r>
              <a:rPr lang="en-US" dirty="0">
                <a:latin typeface="Source Sans Pro"/>
                <a:ea typeface="Source Sans Pro"/>
              </a:rPr>
              <a:t>Typical security properties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safety </a:t>
            </a:r>
            <a:r>
              <a:rPr lang="en-US" dirty="0">
                <a:latin typeface="Source Sans Pro"/>
                <a:ea typeface="Source Sans Pro"/>
              </a:rPr>
              <a:t>(“something bad never happens”), not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liveness </a:t>
            </a:r>
            <a:r>
              <a:rPr lang="en-US" dirty="0">
                <a:latin typeface="Source Sans Pro"/>
                <a:ea typeface="Source Sans Pro"/>
              </a:rPr>
              <a:t>(“something good eventually happens”)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4324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We encode properties in a variant of first-order logic</a:t>
            </a:r>
            <a:endParaRPr lang="en-US" b="0" dirty="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176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158836" y="3547032"/>
            <a:ext cx="6519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Predicate symbols refer to fact symbols in protocol description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BFB9A1B-3E0C-A6F7-35C1-0D2699104AB9}"/>
              </a:ext>
            </a:extLst>
          </p:cNvPr>
          <p:cNvCxnSpPr>
            <a:cxnSpLocks/>
          </p:cNvCxnSpPr>
          <p:nvPr/>
        </p:nvCxnSpPr>
        <p:spPr>
          <a:xfrm flipV="1">
            <a:off x="4696691" y="3144624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1C0A4EA4-5CAB-33EE-9AED-F2BBFE46E38A}"/>
              </a:ext>
            </a:extLst>
          </p:cNvPr>
          <p:cNvSpPr/>
          <p:nvPr/>
        </p:nvSpPr>
        <p:spPr>
          <a:xfrm>
            <a:off x="4038600" y="2750547"/>
            <a:ext cx="131618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107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057502" y="3484420"/>
            <a:ext cx="8105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We include an additional argument to each predicate representing a timepoint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6026725" y="3151551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5805054" y="2756598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3349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latin typeface=""/>
                  </a:rPr>
                  <a:t> is secret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blipFill>
                <a:blip r:embed="rId3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5119253" y="323580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4031674" y="2635048"/>
            <a:ext cx="2202872" cy="60075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6D07ED4-51B1-EECD-F8E1-97395AD16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83825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5948565" y="3594027"/>
            <a:ext cx="4211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Built-in capturing adversary knowledge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7619997" y="312357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7405251" y="2735193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F76DEE6-1F11-B169-8CD8-32F107AC2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46625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If a term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latin typeface=""/>
                  </a:rPr>
                  <a:t>is secret at any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r>
                  <a:rPr lang="en-US" dirty="0">
                    <a:latin typeface=""/>
                  </a:rPr>
                  <a:t>, then it is never in the adversary knowledge base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blipFill>
                <a:blip r:embed="rId3"/>
                <a:stretch>
                  <a:fillRect l="-742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30443D4F-B4F1-1CB7-ADB1-FA7F968D2FAF}"/>
              </a:ext>
            </a:extLst>
          </p:cNvPr>
          <p:cNvSpPr/>
          <p:nvPr/>
        </p:nvSpPr>
        <p:spPr>
          <a:xfrm>
            <a:off x="3034145" y="2510353"/>
            <a:ext cx="6456219" cy="96713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1EA0BA1-4698-2472-8AFD-611C242D8C3C}"/>
              </a:ext>
            </a:extLst>
          </p:cNvPr>
          <p:cNvCxnSpPr>
            <a:cxnSpLocks/>
            <a:stCxn id="26" idx="0"/>
            <a:endCxn id="5" idx="4"/>
          </p:cNvCxnSpPr>
          <p:nvPr/>
        </p:nvCxnSpPr>
        <p:spPr>
          <a:xfrm flipH="1" flipV="1">
            <a:off x="6262255" y="3477489"/>
            <a:ext cx="224231" cy="3012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itle 1">
            <a:extLst>
              <a:ext uri="{FF2B5EF4-FFF2-40B4-BE49-F238E27FC236}">
                <a16:creationId xmlns:a16="http://schemas.microsoft.com/office/drawing/2014/main" id="{89AA1FB5-CDD5-E553-B880-9C070A689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0811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3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/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/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𝑆𝑒𝑐𝑟𝑒𝑡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/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𝑂𝑢𝑡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E195A13-0746-F299-2684-D909699D08E2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>
            <a:off x="1648688" y="4946572"/>
            <a:ext cx="9100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/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2E09624-7510-DE1B-AFE0-51EB1F819AB1}"/>
              </a:ext>
            </a:extLst>
          </p:cNvPr>
          <p:cNvCxnSpPr>
            <a:cxnSpLocks/>
            <a:stCxn id="13" idx="6"/>
            <a:endCxn id="8" idx="2"/>
          </p:cNvCxnSpPr>
          <p:nvPr/>
        </p:nvCxnSpPr>
        <p:spPr>
          <a:xfrm>
            <a:off x="4013340" y="4946572"/>
            <a:ext cx="6469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29BFE3D-C06C-E3BB-174E-29494699964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6114899" y="4946572"/>
            <a:ext cx="15556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7D36FD-047B-44E4-451C-C8310C2CAB05}"/>
              </a:ext>
            </a:extLst>
          </p:cNvPr>
          <p:cNvSpPr txBox="1"/>
          <p:nvPr/>
        </p:nvSpPr>
        <p:spPr>
          <a:xfrm>
            <a:off x="3900145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361374-A71A-9719-9230-710B0FDAEF29}"/>
              </a:ext>
            </a:extLst>
          </p:cNvPr>
          <p:cNvSpPr txBox="1"/>
          <p:nvPr/>
        </p:nvSpPr>
        <p:spPr>
          <a:xfrm>
            <a:off x="1698569" y="4980808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DE0EFF-89BE-0291-09C0-12003109B886}"/>
              </a:ext>
            </a:extLst>
          </p:cNvPr>
          <p:cNvSpPr txBox="1"/>
          <p:nvPr/>
        </p:nvSpPr>
        <p:spPr>
          <a:xfrm>
            <a:off x="6472179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/>
              <p:nvPr/>
            </p:nvSpPr>
            <p:spPr>
              <a:xfrm>
                <a:off x="1350909" y="4199543"/>
                <a:ext cx="15090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909" y="4199543"/>
                <a:ext cx="1509067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/>
              <p:nvPr/>
            </p:nvSpPr>
            <p:spPr>
              <a:xfrm>
                <a:off x="2994479" y="4201833"/>
                <a:ext cx="25310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𝐹𝑟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𝑆𝑒𝑐𝑟𝑒𝑡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4479" y="4201833"/>
                <a:ext cx="253107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/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𝑂𝑢𝑡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blipFill>
                <a:blip r:embed="rId10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/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/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𝐾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blipFill>
                <a:blip r:embed="rId12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89997B-0C1E-A035-F666-91E38ED6D989}"/>
              </a:ext>
            </a:extLst>
          </p:cNvPr>
          <p:cNvCxnSpPr>
            <a:cxnSpLocks/>
            <a:stCxn id="9" idx="6"/>
            <a:endCxn id="23" idx="2"/>
          </p:cNvCxnSpPr>
          <p:nvPr/>
        </p:nvCxnSpPr>
        <p:spPr>
          <a:xfrm>
            <a:off x="9125187" y="4946572"/>
            <a:ext cx="742381" cy="16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/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blipFill>
                <a:blip r:embed="rId1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/>
              <p:nvPr/>
            </p:nvSpPr>
            <p:spPr>
              <a:xfrm>
                <a:off x="9125187" y="3842531"/>
                <a:ext cx="9050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187" y="3842531"/>
                <a:ext cx="905056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4242EDD1-31E6-338B-6D99-B0C93FB80BD7}"/>
              </a:ext>
            </a:extLst>
          </p:cNvPr>
          <p:cNvSpPr txBox="1"/>
          <p:nvPr/>
        </p:nvSpPr>
        <p:spPr>
          <a:xfrm>
            <a:off x="9036262" y="5027361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3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21BD50F-3A4F-1FF2-F3D3-426748F116FC}"/>
              </a:ext>
            </a:extLst>
          </p:cNvPr>
          <p:cNvSpPr/>
          <p:nvPr/>
        </p:nvSpPr>
        <p:spPr>
          <a:xfrm>
            <a:off x="3230618" y="3799200"/>
            <a:ext cx="1614211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79F480A-D028-2E72-4004-1BFA159D3DFB}"/>
              </a:ext>
            </a:extLst>
          </p:cNvPr>
          <p:cNvSpPr/>
          <p:nvPr/>
        </p:nvSpPr>
        <p:spPr>
          <a:xfrm>
            <a:off x="9057282" y="3799200"/>
            <a:ext cx="1111952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6B7884B-F461-9C7A-F6FF-909209394C11}"/>
              </a:ext>
            </a:extLst>
          </p:cNvPr>
          <p:cNvSpPr/>
          <p:nvPr/>
        </p:nvSpPr>
        <p:spPr>
          <a:xfrm>
            <a:off x="4429169" y="5008518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DC35DCA-C1F5-8EFA-FE0E-42C5D1D82A4A}"/>
              </a:ext>
            </a:extLst>
          </p:cNvPr>
          <p:cNvSpPr/>
          <p:nvPr/>
        </p:nvSpPr>
        <p:spPr>
          <a:xfrm>
            <a:off x="9575983" y="5036309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35380111-C773-7FDC-DC6A-FC310CE71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815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0" grpId="0"/>
      <p:bldP spid="12" grpId="0"/>
      <p:bldP spid="14" grpId="0"/>
      <p:bldP spid="17" grpId="0"/>
      <p:bldP spid="19" grpId="0"/>
      <p:bldP spid="20" grpId="0"/>
      <p:bldP spid="23" grpId="0" animBg="1"/>
      <p:bldP spid="24" grpId="0"/>
      <p:bldP spid="32" grpId="0"/>
      <p:bldP spid="33" grpId="0"/>
      <p:bldP spid="34" grpId="0"/>
      <p:bldP spid="5" grpId="0" animBg="1"/>
      <p:bldP spid="6" grpId="0" animBg="1"/>
      <p:bldP spid="22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Non-injective agreement</a:t>
                </a: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: If principal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accepted data item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, then previously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sent data item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𝑆𝑒𝑛𝑡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 &amp;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&lt;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97CAF92-1AF4-D245-A61E-D6C83AD2F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0532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/>
              <p:nvPr/>
            </p:nvSpPr>
            <p:spPr>
              <a:xfrm>
                <a:off x="3348906" y="3644938"/>
                <a:ext cx="7034201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distinct accept with the same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0000"/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906" y="3644938"/>
                <a:ext cx="7034201" cy="954107"/>
              </a:xfrm>
              <a:prstGeom prst="rect">
                <a:avLst/>
              </a:prstGeom>
              <a:blipFill>
                <a:blip r:embed="rId3"/>
                <a:stretch>
                  <a:fillRect b="-17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5D41B44E-DC59-1A98-41D0-8C1AF7F493A7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04239F7-2C60-C53D-97A6-F36B05972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40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/>
              <p:nvPr/>
            </p:nvSpPr>
            <p:spPr>
              <a:xfrm>
                <a:off x="3348906" y="3644938"/>
                <a:ext cx="7034201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distinct accept with the same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0000"/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replay attacks!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906" y="3644938"/>
                <a:ext cx="7034201" cy="1384995"/>
              </a:xfrm>
              <a:prstGeom prst="rect">
                <a:avLst/>
              </a:prstGeom>
              <a:blipFill>
                <a:blip r:embed="rId3"/>
                <a:stretch>
                  <a:fillRect b="-11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5D41B44E-DC59-1A98-41D0-8C1AF7F493A7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CA338B-A6D9-FF2C-6641-6162DC895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238207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   Too strong?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  <a:blipFill>
                <a:blip r:embed="rId2"/>
                <a:stretch>
                  <a:fillRect l="-1206" t="-2888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90076" cy="2316606"/>
            <a:chOff x="4062519" y="4419020"/>
            <a:chExt cx="349007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21C949-3379-22B7-A74D-36965B406CB0}"/>
                </a:ext>
              </a:extLst>
            </p:cNvPr>
            <p:cNvSpPr txBox="1"/>
            <p:nvPr/>
          </p:nvSpPr>
          <p:spPr>
            <a:xfrm>
              <a:off x="4140283" y="4419022"/>
              <a:ext cx="11721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Sent by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DECD5AD-35D3-7A88-ECED-33BA0CEDC684}"/>
                </a:ext>
              </a:extLst>
            </p:cNvPr>
            <p:cNvSpPr txBox="1"/>
            <p:nvPr/>
          </p:nvSpPr>
          <p:spPr>
            <a:xfrm>
              <a:off x="5880342" y="4419020"/>
              <a:ext cx="16722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Accepted by B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3DAC5EA-6609-CA17-4E7F-09770762D15D}"/>
                </a:ext>
              </a:extLst>
            </p:cNvPr>
            <p:cNvCxnSpPr>
              <a:cxnSpLocks/>
              <a:stCxn id="12" idx="6"/>
              <a:endCxn id="14" idx="2"/>
            </p:cNvCxnSpPr>
            <p:nvPr/>
          </p:nvCxnSpPr>
          <p:spPr>
            <a:xfrm>
              <a:off x="4680655" y="5221952"/>
              <a:ext cx="1607579" cy="641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A238C3F-FB10-41AF-F1A6-AC4C6D0342E0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 flipV="1">
              <a:off x="4766209" y="5824307"/>
              <a:ext cx="1610264" cy="6756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590CCD6F-1DAC-0039-9587-4BE203918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65874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   Too strong?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  <a:blipFill>
                <a:blip r:embed="rId2"/>
                <a:stretch>
                  <a:fillRect l="-1206" t="-2888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90076" cy="2316606"/>
            <a:chOff x="4062519" y="4419020"/>
            <a:chExt cx="349007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21C949-3379-22B7-A74D-36965B406CB0}"/>
                </a:ext>
              </a:extLst>
            </p:cNvPr>
            <p:cNvSpPr txBox="1"/>
            <p:nvPr/>
          </p:nvSpPr>
          <p:spPr>
            <a:xfrm>
              <a:off x="4140283" y="4419022"/>
              <a:ext cx="11721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Sent by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DECD5AD-35D3-7A88-ECED-33BA0CEDC684}"/>
                </a:ext>
              </a:extLst>
            </p:cNvPr>
            <p:cNvSpPr txBox="1"/>
            <p:nvPr/>
          </p:nvSpPr>
          <p:spPr>
            <a:xfrm>
              <a:off x="5880342" y="4419020"/>
              <a:ext cx="16722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Accepted by B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3DAC5EA-6609-CA17-4E7F-09770762D15D}"/>
                </a:ext>
              </a:extLst>
            </p:cNvPr>
            <p:cNvCxnSpPr>
              <a:cxnSpLocks/>
              <a:stCxn id="12" idx="6"/>
              <a:endCxn id="14" idx="2"/>
            </p:cNvCxnSpPr>
            <p:nvPr/>
          </p:nvCxnSpPr>
          <p:spPr>
            <a:xfrm>
              <a:off x="4680655" y="5221952"/>
              <a:ext cx="1607579" cy="641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A238C3F-FB10-41AF-F1A6-AC4C6D0342E0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 flipV="1">
              <a:off x="4766209" y="5824307"/>
              <a:ext cx="1610264" cy="6756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672C234E-DED9-8595-2E5F-228CA0081C83}"/>
              </a:ext>
            </a:extLst>
          </p:cNvPr>
          <p:cNvSpPr txBox="1"/>
          <p:nvPr/>
        </p:nvSpPr>
        <p:spPr>
          <a:xfrm>
            <a:off x="9340694" y="63312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484B50-4B0D-0616-0C60-9141CB1F7BC2}"/>
              </a:ext>
            </a:extLst>
          </p:cNvPr>
          <p:cNvSpPr/>
          <p:nvPr/>
        </p:nvSpPr>
        <p:spPr>
          <a:xfrm>
            <a:off x="7873679" y="4821625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B471C69-C918-DCFC-E9A3-2E91A25DEC3D}"/>
              </a:ext>
            </a:extLst>
          </p:cNvPr>
          <p:cNvSpPr/>
          <p:nvPr/>
        </p:nvSpPr>
        <p:spPr>
          <a:xfrm>
            <a:off x="9760513" y="4821624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582B76-80D0-C233-A48D-FDEF0CF9A23C}"/>
              </a:ext>
            </a:extLst>
          </p:cNvPr>
          <p:cNvSpPr txBox="1"/>
          <p:nvPr/>
        </p:nvSpPr>
        <p:spPr>
          <a:xfrm>
            <a:off x="7951443" y="4383976"/>
            <a:ext cx="1172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Sent by 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717C6F7-E02E-D396-6F48-EA3FE8518D99}"/>
              </a:ext>
            </a:extLst>
          </p:cNvPr>
          <p:cNvSpPr txBox="1"/>
          <p:nvPr/>
        </p:nvSpPr>
        <p:spPr>
          <a:xfrm>
            <a:off x="9691502" y="4383974"/>
            <a:ext cx="1672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Accepted by B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8EACB7A5-B8FF-3E77-D102-5CD81BA1C9C8}"/>
              </a:ext>
            </a:extLst>
          </p:cNvPr>
          <p:cNvSpPr/>
          <p:nvPr/>
        </p:nvSpPr>
        <p:spPr>
          <a:xfrm>
            <a:off x="8411492" y="5146744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A6471FD-BB31-5ED2-F36D-6DA33E783052}"/>
              </a:ext>
            </a:extLst>
          </p:cNvPr>
          <p:cNvSpPr/>
          <p:nvPr/>
        </p:nvSpPr>
        <p:spPr>
          <a:xfrm>
            <a:off x="9386668" y="5789099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306535D-BD4E-5AA9-20ED-7014F5E1B2B1}"/>
              </a:ext>
            </a:extLst>
          </p:cNvPr>
          <p:cNvSpPr/>
          <p:nvPr/>
        </p:nvSpPr>
        <p:spPr>
          <a:xfrm>
            <a:off x="10099394" y="5210925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3CA975F-C093-5B06-4FF7-3936D02BD3A0}"/>
              </a:ext>
            </a:extLst>
          </p:cNvPr>
          <p:cNvSpPr/>
          <p:nvPr/>
        </p:nvSpPr>
        <p:spPr>
          <a:xfrm>
            <a:off x="10179717" y="5740136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88753F42-680F-2EE0-AA73-61AC7E3D7335}"/>
              </a:ext>
            </a:extLst>
          </p:cNvPr>
          <p:cNvCxnSpPr>
            <a:cxnSpLocks/>
            <a:stCxn id="65" idx="6"/>
            <a:endCxn id="67" idx="2"/>
          </p:cNvCxnSpPr>
          <p:nvPr/>
        </p:nvCxnSpPr>
        <p:spPr>
          <a:xfrm>
            <a:off x="8491815" y="5186906"/>
            <a:ext cx="1607579" cy="6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9ED33E4-E40E-069B-508B-0D50B2D71545}"/>
              </a:ext>
            </a:extLst>
          </p:cNvPr>
          <p:cNvCxnSpPr>
            <a:cxnSpLocks/>
          </p:cNvCxnSpPr>
          <p:nvPr/>
        </p:nvCxnSpPr>
        <p:spPr>
          <a:xfrm flipV="1">
            <a:off x="9442131" y="5789261"/>
            <a:ext cx="745502" cy="350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/>
              <p:nvPr/>
            </p:nvSpPr>
            <p:spPr>
              <a:xfrm>
                <a:off x="8098586" y="5000609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8586" y="5000609"/>
                <a:ext cx="37151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/>
              <p:nvPr/>
            </p:nvSpPr>
            <p:spPr>
              <a:xfrm>
                <a:off x="10200686" y="5582764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0686" y="5582764"/>
                <a:ext cx="37151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/>
              <p:nvPr/>
            </p:nvSpPr>
            <p:spPr>
              <a:xfrm>
                <a:off x="9067675" y="5604595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7675" y="5604595"/>
                <a:ext cx="371512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/>
              <p:nvPr/>
            </p:nvSpPr>
            <p:spPr>
              <a:xfrm>
                <a:off x="10125537" y="5017528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5537" y="5017528"/>
                <a:ext cx="371512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 descr="A red smiley with horns and yellow eyes&#10;&#10;Description automatically generated">
            <a:extLst>
              <a:ext uri="{FF2B5EF4-FFF2-40B4-BE49-F238E27FC236}">
                <a16:creationId xmlns:a16="http://schemas.microsoft.com/office/drawing/2014/main" id="{7DF1FC6A-C774-C59B-D510-2019B93F78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0314" y="5948061"/>
            <a:ext cx="373030" cy="323762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CDDE8C84-E81F-0A56-BC9F-D1F46F7E4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06438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DEF77-C32D-B9D1-FD95-218B012B5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What about hyper properties?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08BAC0-CD18-7594-F454-C249E20CD6BC}"/>
              </a:ext>
            </a:extLst>
          </p:cNvPr>
          <p:cNvSpPr txBox="1"/>
          <p:nvPr/>
        </p:nvSpPr>
        <p:spPr>
          <a:xfrm>
            <a:off x="3848350" y="2252087"/>
            <a:ext cx="4621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No generic property specification language!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/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𝐸𝑞𝑢𝑖𝑣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"/>
                  </a:rPr>
                  <a:t>for some notion of equivalence between two protocols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A9CCCAAF-56B9-3B06-8EDE-9515289C0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074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Given a rewrite system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?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Automated reasoning </a:t>
                </a:r>
                <a:r>
                  <a:rPr lang="en-US" sz="2400" dirty="0">
                    <a:latin typeface="Source Sans Pro"/>
                    <a:ea typeface="Source Sans Pro"/>
                  </a:rPr>
                  <a:t>tool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Tamarin</a:t>
                </a:r>
                <a:r>
                  <a:rPr lang="en-US" sz="2400" dirty="0">
                    <a:latin typeface="Source Sans Pro"/>
                    <a:ea typeface="Source Sans Pro"/>
                  </a:rPr>
                  <a:t> implements a constraint solving algorithm for security protocols in the MSR formalism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From protocol and property, Tamarin creates a set of constraints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⊆℧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Define a core calculus of constraint solving rules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⊆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</m:oMath>
                </a14:m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Iteratively apply rules from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until the constraint set is trivially satisfiable or unsatisfiable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Constraint solving algo 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sound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sound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but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complete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or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complete</a:t>
                </a:r>
              </a:p>
              <a:p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  <a:blipFill>
                <a:blip r:embed="rId2"/>
                <a:stretch>
                  <a:fillRect l="-976" t="-1897" r="-8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149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5428"/>
                <a:ext cx="10515600" cy="755530"/>
              </a:xfrm>
            </p:spPr>
            <p:txBody>
              <a:bodyPr vert="horz" lIns="91440" tIns="45720" rIns="91440" bIns="45720" rtlCol="0" anchor="t">
                <a:normAutofit fontScale="70000" lnSpcReduction="20000"/>
              </a:bodyPr>
              <a:lstStyle/>
              <a:p>
                <a:pPr marL="0" indent="0" algn="ctr">
                  <a:buNone/>
                </a:pPr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?</a:t>
                </a:r>
                <a:endParaRPr lang="en-US" dirty="0">
                  <a:solidFill>
                    <a:srgbClr val="C00000"/>
                  </a:solidFill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chemeClr val="tx1"/>
                    </a:solidFill>
                    <a:ea typeface="Source Sans Pro"/>
                  </a:rPr>
                  <a:t>Search backward </a:t>
                </a:r>
                <a:r>
                  <a:rPr lang="en-US" dirty="0">
                    <a:ea typeface="Source Sans Pro"/>
                  </a:rPr>
                  <a:t>for an attack trace, </a:t>
                </a:r>
                <a:r>
                  <a:rPr lang="en-US" dirty="0">
                    <a:solidFill>
                      <a:schemeClr val="tx1"/>
                    </a:solidFill>
                    <a:ea typeface="Source Sans Pro"/>
                  </a:rPr>
                  <a:t>starting from a state that violates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5428"/>
                <a:ext cx="10515600" cy="755530"/>
              </a:xfrm>
              <a:blipFill>
                <a:blip r:embed="rId3"/>
                <a:stretch>
                  <a:fillRect t="-15000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703179" y="2738645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4F12B45-7602-A7A8-CF87-0203BC1C1549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642086" y="4415317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/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Algo relies on Tamarin being able to perform </a:t>
                </a: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unification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on facts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800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 </m:t>
                      </m:r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513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 animBg="1"/>
      <p:bldP spid="13" grpId="0" animBg="1"/>
      <p:bldP spid="20" grpId="0"/>
      <p:bldP spid="21" grpId="0"/>
      <p:bldP spid="25" grpId="0"/>
      <p:bldP spid="27" grpId="0" animBg="1"/>
      <p:bldP spid="28" grpId="0" animBg="1"/>
      <p:bldP spid="1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blipFill>
                <a:blip r:embed="rId7"/>
                <a:stretch>
                  <a:fillRect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320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3119120"/>
            <a:ext cx="1364789" cy="2027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673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4" grpId="0" animBg="1"/>
      <p:bldP spid="36" grpId="0"/>
      <p:bldP spid="3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+0=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blipFill>
                <a:blip r:embed="rId7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03615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2834478"/>
            <a:ext cx="1364789" cy="2312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4CA7939-BF2A-B71F-45A1-C085ED685DA0}"/>
              </a:ext>
            </a:extLst>
          </p:cNvPr>
          <p:cNvSpPr/>
          <p:nvPr/>
        </p:nvSpPr>
        <p:spPr>
          <a:xfrm>
            <a:off x="8050878" y="3867720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When is unification decidable?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4743C0-FB51-8097-A200-85D3909155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6785" y="3894650"/>
            <a:ext cx="658486" cy="658486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B4AE248-096C-A2FB-1CB7-8E2EAC0FEC00}"/>
              </a:ext>
            </a:extLst>
          </p:cNvPr>
          <p:cNvSpPr/>
          <p:nvPr/>
        </p:nvSpPr>
        <p:spPr>
          <a:xfrm>
            <a:off x="8050878" y="3039403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How scalable?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619C13-C81B-3264-C46A-9EC04DFFC1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6785" y="3066333"/>
            <a:ext cx="658486" cy="658486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EB0FDC4-B554-EF45-E38E-022FC9E7B04A}"/>
              </a:ext>
            </a:extLst>
          </p:cNvPr>
          <p:cNvSpPr/>
          <p:nvPr/>
        </p:nvSpPr>
        <p:spPr>
          <a:xfrm>
            <a:off x="8072120" y="4677586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When is the search algo decidable?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976DAC3-C307-C0A2-3B19-F9C19A692F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8027" y="4704516"/>
            <a:ext cx="658486" cy="658486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47B1962-F759-DE17-D80B-2DE1ADA2B49E}"/>
              </a:ext>
            </a:extLst>
          </p:cNvPr>
          <p:cNvSpPr/>
          <p:nvPr/>
        </p:nvSpPr>
        <p:spPr>
          <a:xfrm>
            <a:off x="8072120" y="5469684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How to cope with undecidability?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15F39F6-F0C1-0F06-76A6-AAA50160DB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8027" y="5496614"/>
            <a:ext cx="658486" cy="658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415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8" grpId="0" animBg="1"/>
      <p:bldP spid="2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FACD8D-0D96-76B5-1545-0DD47637BA9B}"/>
              </a:ext>
            </a:extLst>
          </p:cNvPr>
          <p:cNvSpPr txBox="1"/>
          <p:nvPr/>
        </p:nvSpPr>
        <p:spPr>
          <a:xfrm>
            <a:off x="2855450" y="1690688"/>
            <a:ext cx="6742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"/>
              </a:rPr>
              <a:t>Why not use a general-purpose model checker?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13C1D56-A78D-758C-85A7-1FF1327CB580}"/>
              </a:ext>
            </a:extLst>
          </p:cNvPr>
          <p:cNvSpPr/>
          <p:nvPr/>
        </p:nvSpPr>
        <p:spPr>
          <a:xfrm>
            <a:off x="2855450" y="2477211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1. Need symbolic terms of recursive ADTs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D5CC6A-F3EE-57E3-B9CE-4A2527EBFDAB}"/>
              </a:ext>
            </a:extLst>
          </p:cNvPr>
          <p:cNvSpPr/>
          <p:nvPr/>
        </p:nvSpPr>
        <p:spPr>
          <a:xfrm>
            <a:off x="2855450" y="3351739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2. Need to model </a:t>
            </a:r>
            <a:r>
              <a:rPr lang="en-US" dirty="0" err="1">
                <a:solidFill>
                  <a:schemeClr val="tx1"/>
                </a:solidFill>
                <a:latin typeface=""/>
              </a:rPr>
              <a:t>Dolev</a:t>
            </a:r>
            <a:r>
              <a:rPr lang="en-US" dirty="0">
                <a:solidFill>
                  <a:schemeClr val="tx1"/>
                </a:solidFill>
                <a:latin typeface=""/>
              </a:rPr>
              <a:t>-Yao adversary knowledge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2BE2950-652B-938C-437A-AA9AD93B3F36}"/>
              </a:ext>
            </a:extLst>
          </p:cNvPr>
          <p:cNvSpPr/>
          <p:nvPr/>
        </p:nvSpPr>
        <p:spPr>
          <a:xfrm>
            <a:off x="2855450" y="4224717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3. Need to model inter- and intra-session adversary influence</a:t>
            </a:r>
          </a:p>
        </p:txBody>
      </p:sp>
    </p:spTree>
    <p:extLst>
      <p:ext uri="{BB962C8B-B14F-4D97-AF65-F5344CB8AC3E}">
        <p14:creationId xmlns:p14="http://schemas.microsoft.com/office/powerpoint/2010/main" val="446367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latin typeface="Source Sans Pro"/>
                <a:ea typeface="Source Sans Pro"/>
              </a:rPr>
              <a:t>Automated reasoning for protocols 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sz="2800" dirty="0">
                <a:latin typeface="Source Sans Pro"/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latin typeface="Source Sans Pro"/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22857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9A1240F-85BA-DE99-2BB6-4339BCB17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0370733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A37253-F224-73AA-F3B4-3C32957D214F}"/>
              </a:ext>
            </a:extLst>
          </p:cNvPr>
          <p:cNvSpPr/>
          <p:nvPr/>
        </p:nvSpPr>
        <p:spPr>
          <a:xfrm>
            <a:off x="1313411" y="3158836"/>
            <a:ext cx="6616931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64D54A-E01E-683A-EAAF-775E8BE66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4370650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BE8B3E3-12A8-E950-F70E-303225F743E0}"/>
              </a:ext>
            </a:extLst>
          </p:cNvPr>
          <p:cNvSpPr/>
          <p:nvPr/>
        </p:nvSpPr>
        <p:spPr>
          <a:xfrm>
            <a:off x="1313411" y="3715788"/>
            <a:ext cx="7697585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CF6864-E960-85B9-7DBC-94DF0A36E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50389730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D388BC4-257F-1823-A8E7-84F65AB2C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8345100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/>
              <p:nvPr/>
            </p:nvSpPr>
            <p:spPr>
              <a:xfrm>
                <a:off x="2204720" y="5124436"/>
                <a:ext cx="8503920" cy="1325562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We have achieved mutual authentication!(?)</a:t>
                </a:r>
              </a:p>
              <a:p>
                <a:pPr algn="ctr"/>
                <a:endParaRPr lang="en-US" sz="18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Reminder: If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accepts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3), then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2)</a:t>
                </a: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(and vice versa)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4720" y="5124436"/>
                <a:ext cx="8503920" cy="1325562"/>
              </a:xfrm>
              <a:prstGeom prst="roundRect">
                <a:avLst/>
              </a:prstGeom>
              <a:blipFill>
                <a:blip r:embed="rId3"/>
                <a:stretch>
                  <a:fillRect b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26485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421694" y="3275975"/>
                <a:ext cx="310033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initiates with me,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And I impersonate them to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94" y="3275975"/>
                <a:ext cx="3100336" cy="646331"/>
              </a:xfrm>
              <a:prstGeom prst="rect">
                <a:avLst/>
              </a:prstGeom>
              <a:blipFill>
                <a:blip r:embed="rId4"/>
                <a:stretch>
                  <a:fillRect l="-1633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E799124D-CD90-8700-8D7A-C5CD668B7EBE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47098" y="3260748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922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12192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355425" y="4257260"/>
                <a:ext cx="292323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sends me a challenge,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But I just send it along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25" y="4257260"/>
                <a:ext cx="2923236" cy="646331"/>
              </a:xfrm>
              <a:prstGeom prst="rect">
                <a:avLst/>
              </a:prstGeom>
              <a:blipFill>
                <a:blip r:embed="rId4"/>
                <a:stretch>
                  <a:fillRect l="-1293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0BB604B-CEF3-9DD0-C974-F6C6E768E98F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0BB604B-CEF3-9DD0-C974-F6C6E768E9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E46692AD-2E6E-6BC5-F961-7F45EFCD934F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E46692AD-2E6E-6BC5-F961-7F45EFCD93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968B4A1-F00C-A21C-085C-FED648094398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968B4A1-F00C-A21C-085C-FED6480943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C9D37ECC-8D94-9D30-B058-7296E107CD7E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12535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12192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701566" y="3481209"/>
                <a:ext cx="24808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Impersonation should be noticed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!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3481209"/>
                <a:ext cx="2480801" cy="646331"/>
              </a:xfrm>
              <a:prstGeom prst="rect">
                <a:avLst/>
              </a:prstGeom>
              <a:blipFill>
                <a:blip r:embed="rId4"/>
                <a:stretch>
                  <a:fillRect l="-2041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/>
              <p:nvPr/>
            </p:nvSpPr>
            <p:spPr>
              <a:xfrm>
                <a:off x="701566" y="4229013"/>
                <a:ext cx="29589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The message should be bound to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’s identity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4229013"/>
                <a:ext cx="2958959" cy="646331"/>
              </a:xfrm>
              <a:prstGeom prst="rect">
                <a:avLst/>
              </a:prstGeom>
              <a:blipFill>
                <a:blip r:embed="rId5"/>
                <a:stretch>
                  <a:fillRect l="-1717" t="-588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/>
              <p:nvPr/>
            </p:nvSpPr>
            <p:spPr>
              <a:xfrm>
                <a:off x="701566" y="5005483"/>
                <a:ext cx="2480801" cy="669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latin typeface=""/>
                    <a:ea typeface="Source Sans Pro"/>
                  </a:rPr>
                  <a:t>prevents the attack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5005483"/>
                <a:ext cx="2480801" cy="669992"/>
              </a:xfrm>
              <a:prstGeom prst="rect">
                <a:avLst/>
              </a:prstGeom>
              <a:blipFill>
                <a:blip r:embed="rId6"/>
                <a:stretch>
                  <a:fillRect l="-2041" t="-3774" b="-13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71BAAFE-6D6D-463C-9696-E1F1DA843A87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71BAAFE-6D6D-463C-9696-E1F1DA843A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28B22648-123B-FF75-8065-DB7EA9DD35C3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28B22648-123B-FF75-8065-DB7EA9DD35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3AA6AB4-BB1C-76B6-FB51-CE9CC0166086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3AA6AB4-BB1C-76B6-FB51-CE9CC01660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7E055EB5-9EB7-C956-241C-87EB70AE71C2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14238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372435" y="4945947"/>
            <a:ext cx="3683479" cy="7731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F2A0D0-3255-9599-843E-396BF03508F8}"/>
              </a:ext>
            </a:extLst>
          </p:cNvPr>
          <p:cNvSpPr txBox="1"/>
          <p:nvPr/>
        </p:nvSpPr>
        <p:spPr>
          <a:xfrm>
            <a:off x="648809" y="5015805"/>
            <a:ext cx="2958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The attack succeeds following protocol steps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7CF19821-325D-199F-8A7E-37AD0F7D560D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7CF19821-325D-199F-8A7E-37AD0F7D56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5BCEE0E-1252-CED5-B4C7-EC725FB90C34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5BCEE0E-1252-CED5-B4C7-EC725FB90C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5F402C0-8D56-01E9-6EBC-58E157A24718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5F402C0-8D56-01E9-6EBC-58E157A247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D5F14BBF-7CDC-9A4C-C034-D7DF994BBF65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9829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661241" y="3259762"/>
            <a:ext cx="7497507" cy="34098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27E6EC1-09CD-A36C-6AFE-E7FB8F51DBC4}"/>
              </a:ext>
            </a:extLst>
          </p:cNvPr>
          <p:cNvSpPr txBox="1"/>
          <p:nvPr/>
        </p:nvSpPr>
        <p:spPr>
          <a:xfrm>
            <a:off x="5412288" y="2718947"/>
            <a:ext cx="6224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 our formalization, the attack does not actually work yet…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/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blipFill>
                <a:blip r:embed="rId4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/>
              <p:nvPr/>
            </p:nvSpPr>
            <p:spPr>
              <a:xfrm>
                <a:off x="5424232" y="3347797"/>
                <a:ext cx="10824765" cy="3811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sSup>
                      <m:sSup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{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𝑅𝑒𝑣𝑒𝑎𝑙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)}</m:t>
                        </m:r>
                      </m:sup>
                    </m:sSup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4232" y="3347797"/>
                <a:ext cx="10824765" cy="381130"/>
              </a:xfrm>
              <a:prstGeom prst="rect">
                <a:avLst/>
              </a:prstGeom>
              <a:blipFill>
                <a:blip r:embed="rId5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BFCB3996-4289-4A3D-1814-CFBDE611F51C}"/>
              </a:ext>
            </a:extLst>
          </p:cNvPr>
          <p:cNvSpPr/>
          <p:nvPr/>
        </p:nvSpPr>
        <p:spPr>
          <a:xfrm>
            <a:off x="1133061" y="4133363"/>
            <a:ext cx="3571943" cy="879212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E60C753-1CD1-5D36-AF02-DA0AAB743B4C}"/>
              </a:ext>
            </a:extLst>
          </p:cNvPr>
          <p:cNvSpPr/>
          <p:nvPr/>
        </p:nvSpPr>
        <p:spPr>
          <a:xfrm>
            <a:off x="4800600" y="4293712"/>
            <a:ext cx="4065104" cy="24450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/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must decrypt to forward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blipFill>
                <a:blip r:embed="rId6"/>
                <a:stretch>
                  <a:fillRect t="-6667" r="-91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6164AC2-CDD3-9244-DB30-E82575F60A4E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6164AC2-CDD3-9244-DB30-E82575F60A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898BC30-C0E7-0EF5-7641-555851106E10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898BC30-C0E7-0EF5-7641-555851106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EDBAAE39-28A0-EDFF-5B9F-BBB2D30F0E2C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EDBAAE39-28A0-EDFF-5B9F-BBB2D30F0E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A5AF8D5E-016F-3D63-534F-8F9720EFDFDF}"/>
              </a:ext>
            </a:extLst>
          </p:cNvPr>
          <p:cNvSpPr/>
          <p:nvPr/>
        </p:nvSpPr>
        <p:spPr>
          <a:xfrm>
            <a:off x="5252720" y="2611669"/>
            <a:ext cx="6380480" cy="12629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/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Key compromise of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not required!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blipFill>
                <a:blip r:embed="rId10"/>
                <a:stretch>
                  <a:fillRect l="-1198" t="-10345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6700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6" grpId="0"/>
      <p:bldP spid="13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6B429F-7074-2761-2461-E28DCEBCCC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1580991" y="1966673"/>
            <a:ext cx="7905563" cy="3203289"/>
          </a:xfrm>
          <a:prstGeom prst="rect">
            <a:avLst/>
          </a:prstGeom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EF90065-7AAE-0B0A-B959-AA669B120547}"/>
              </a:ext>
            </a:extLst>
          </p:cNvPr>
          <p:cNvSpPr/>
          <p:nvPr/>
        </p:nvSpPr>
        <p:spPr>
          <a:xfrm>
            <a:off x="2714072" y="3868102"/>
            <a:ext cx="840011" cy="35021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/>
              <p:nvPr/>
            </p:nvSpPr>
            <p:spPr>
              <a:xfrm>
                <a:off x="2939284" y="5483336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Using a triple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prevents the attack.</a:t>
                </a: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84" y="5483336"/>
                <a:ext cx="4940580" cy="509478"/>
              </a:xfrm>
              <a:prstGeom prst="round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/>
              <p:nvPr/>
            </p:nvSpPr>
            <p:spPr>
              <a:xfrm>
                <a:off x="2939284" y="6163661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𝐴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⟩⟩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?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Insecure!</a:t>
                </a: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84" y="6163661"/>
                <a:ext cx="4940580" cy="509478"/>
              </a:xfrm>
              <a:prstGeom prst="roundRect">
                <a:avLst/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BEDBE90-DE91-072D-8166-75C57F6DAC62}"/>
              </a:ext>
            </a:extLst>
          </p:cNvPr>
          <p:cNvSpPr txBox="1"/>
          <p:nvPr/>
        </p:nvSpPr>
        <p:spPr>
          <a:xfrm>
            <a:off x="5780833" y="4886054"/>
            <a:ext cx="282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Bind message to sender ID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01E7CBE-AFAA-F245-8DF8-7C9B5B4B1461}"/>
              </a:ext>
            </a:extLst>
          </p:cNvPr>
          <p:cNvSpPr/>
          <p:nvPr/>
        </p:nvSpPr>
        <p:spPr>
          <a:xfrm>
            <a:off x="5252720" y="5588000"/>
            <a:ext cx="281052" cy="30557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A7397EB-652A-735D-C702-BAAE6CCBF594}"/>
              </a:ext>
            </a:extLst>
          </p:cNvPr>
          <p:cNvCxnSpPr>
            <a:cxnSpLocks/>
            <a:stCxn id="9" idx="1"/>
            <a:endCxn id="10" idx="0"/>
          </p:cNvCxnSpPr>
          <p:nvPr/>
        </p:nvCxnSpPr>
        <p:spPr>
          <a:xfrm flipH="1">
            <a:off x="5393246" y="5070720"/>
            <a:ext cx="387587" cy="5172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0D36F06D-4161-7F52-8709-DCF721DBD495}"/>
              </a:ext>
            </a:extLst>
          </p:cNvPr>
          <p:cNvSpPr/>
          <p:nvPr/>
        </p:nvSpPr>
        <p:spPr>
          <a:xfrm>
            <a:off x="4767943" y="3200400"/>
            <a:ext cx="3841293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52BDBA-9C84-7027-4C8F-B6AFC2527999}"/>
              </a:ext>
            </a:extLst>
          </p:cNvPr>
          <p:cNvSpPr/>
          <p:nvPr/>
        </p:nvSpPr>
        <p:spPr>
          <a:xfrm>
            <a:off x="4767943" y="4314879"/>
            <a:ext cx="3841293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427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337707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951263" y="3631962"/>
            <a:ext cx="2539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Intruder initiates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CD3DE54A-AA22-4D64-868B-F7FD96CF238C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CD3DE54A-AA22-4D64-868B-F7FD96CF23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545D4E14-EA23-5BFD-391C-024A2C31A46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545D4E14-EA23-5BFD-391C-024A2C31A4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6096595-3B7A-6F60-13DB-5FF06375C7E3}"/>
              </a:ext>
            </a:extLst>
          </p:cNvPr>
          <p:cNvSpPr/>
          <p:nvPr/>
        </p:nvSpPr>
        <p:spPr>
          <a:xfrm>
            <a:off x="7037613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49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3783852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272383" y="3783852"/>
            <a:ext cx="2539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Response is confused as an  initiation!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47738A-5BD2-2A82-821F-A5A4667A091C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47738A-5BD2-2A82-821F-A5A4667A09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50EA721E-16C8-3300-AC25-0C425EDDCA7C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50EA721E-16C8-3300-AC25-0C425EDDCA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A6FB29C-44F8-C3E4-2AD3-AB38FAFC82F3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A6FB29C-44F8-C3E4-2AD3-AB38FAFC82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5E090C31-A8A4-2C6B-B263-D594BF52846A}"/>
              </a:ext>
            </a:extLst>
          </p:cNvPr>
          <p:cNvSpPr/>
          <p:nvPr/>
        </p:nvSpPr>
        <p:spPr>
          <a:xfrm>
            <a:off x="7037613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18101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489663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817764" y="4954376"/>
            <a:ext cx="19943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Attack succeeds following protocol steps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2AC43B8-0A3F-1D34-D1E7-6F83D40DA84A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2AC43B8-0A3F-1D34-D1E7-6F83D40DA8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1D0E4918-27FC-A31B-4744-47F07F4B4C86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1D0E4918-27FC-A31B-4744-47F07F4B4C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3416C248-7663-02AF-CA5F-16C8E37AB88E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3416C248-7663-02AF-CA5F-16C8E37AB8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3C0B6612-DC15-CA90-EA96-4EC2594F10AA}"/>
              </a:ext>
            </a:extLst>
          </p:cNvPr>
          <p:cNvSpPr/>
          <p:nvPr/>
        </p:nvSpPr>
        <p:spPr>
          <a:xfrm>
            <a:off x="7037613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5788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56CCC7C4-D8A2-AAE6-51A0-EF613A832E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8243" y="2311773"/>
                <a:ext cx="10515600" cy="1681107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={}→{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𝐼𝑛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56CCC7C4-D8A2-AAE6-51A0-EF613A832E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8243" y="2311773"/>
                <a:ext cx="10515600" cy="168110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/>
              <p:nvPr/>
            </p:nvSpPr>
            <p:spPr>
              <a:xfrm>
                <a:off x="3978907" y="4435864"/>
                <a:ext cx="4179467" cy="5057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𝐹𝑟</m:t>
                          </m:r>
                        </m:sup>
                      </m:sSub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𝐹𝑟</m:t>
                              </m:r>
                            </m:sup>
                          </m:sSub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𝑃𝑢𝑏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…}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907" y="4435864"/>
                <a:ext cx="4179467" cy="505779"/>
              </a:xfrm>
              <a:prstGeom prst="rect">
                <a:avLst/>
              </a:prstGeom>
              <a:blipFill>
                <a:blip r:embed="rId4"/>
                <a:stretch>
                  <a:fillRect b="-12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952C69CE-C26E-C631-C49C-5895D81623D5}"/>
              </a:ext>
            </a:extLst>
          </p:cNvPr>
          <p:cNvSpPr/>
          <p:nvPr/>
        </p:nvSpPr>
        <p:spPr>
          <a:xfrm>
            <a:off x="5212080" y="2724316"/>
            <a:ext cx="3515360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D25B05D4-DEEF-C45E-6056-1FD4AAC3C197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D25B05D4-DEEF-C45E-6056-1FD4AAC3C1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CB701628-0177-BFA5-A897-5898D741878B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CB701628-0177-BFA5-A897-5898D74187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4CFE3B9-912F-AE70-B55D-0501F4E08BF2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4CFE3B9-912F-AE70-B55D-0501F4E08B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7664F116-F5DE-9395-6309-6AF64AB8EB90}"/>
              </a:ext>
            </a:extLst>
          </p:cNvPr>
          <p:cNvSpPr/>
          <p:nvPr/>
        </p:nvSpPr>
        <p:spPr>
          <a:xfrm>
            <a:off x="4338112" y="3175000"/>
            <a:ext cx="4287727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07B380F-7AD5-DC68-DD2D-E1AA7779E69F}"/>
              </a:ext>
            </a:extLst>
          </p:cNvPr>
          <p:cNvSpPr/>
          <p:nvPr/>
        </p:nvSpPr>
        <p:spPr>
          <a:xfrm>
            <a:off x="9595912" y="2908989"/>
            <a:ext cx="1793014" cy="5892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Unifiable!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45BAE93-272E-51BB-928F-C98DD6251EE9}"/>
              </a:ext>
            </a:extLst>
          </p:cNvPr>
          <p:cNvSpPr/>
          <p:nvPr/>
        </p:nvSpPr>
        <p:spPr>
          <a:xfrm>
            <a:off x="2820530" y="5010621"/>
            <a:ext cx="6589949" cy="81185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dirty="0">
                <a:latin typeface=""/>
                <a:ea typeface="Source Sans Pro"/>
              </a:rPr>
              <a:t>With more sort information, the unifier is not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  <a:ea typeface="Source Sans Pro"/>
              </a:rPr>
              <a:t>well-sorted</a:t>
            </a:r>
            <a:r>
              <a:rPr lang="en-US" dirty="0">
                <a:latin typeface=""/>
                <a:ea typeface="Source Sans Pro"/>
              </a:rPr>
              <a:t>           (step 2 expects a fresh atomic value and gets a pair message)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4B9807-E1A8-D9CF-8DBE-8C7E3B014596}"/>
              </a:ext>
            </a:extLst>
          </p:cNvPr>
          <p:cNvSpPr/>
          <p:nvPr/>
        </p:nvSpPr>
        <p:spPr>
          <a:xfrm>
            <a:off x="2468880" y="4168927"/>
            <a:ext cx="7316251" cy="18661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348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/>
      <p:bldP spid="3" grpId="2"/>
      <p:bldP spid="13" grpId="1" animBg="1"/>
      <p:bldP spid="11" grpId="1" animBg="1"/>
      <p:bldP spid="12" grpId="0" animBg="1"/>
      <p:bldP spid="16" grpId="0" animBg="1"/>
      <p:bldP spid="1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23DD4E-6041-0067-4BBA-A27F6D68D0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319" y="1638080"/>
            <a:ext cx="10515600" cy="74014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Is this a design-level bug or a parsing bug?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89C09-AAAC-32EE-8A95-930FDB2F6F2D}"/>
              </a:ext>
            </a:extLst>
          </p:cNvPr>
          <p:cNvSpPr txBox="1"/>
          <p:nvPr/>
        </p:nvSpPr>
        <p:spPr>
          <a:xfrm>
            <a:off x="3907823" y="5577840"/>
            <a:ext cx="3390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Tamarin leaves it up to the user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DC0DBAA-8E23-EF50-0164-AD47EBB91B30}"/>
              </a:ext>
            </a:extLst>
          </p:cNvPr>
          <p:cNvSpPr/>
          <p:nvPr/>
        </p:nvSpPr>
        <p:spPr>
          <a:xfrm>
            <a:off x="1407161" y="2370318"/>
            <a:ext cx="4289566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Design-level bug!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9696CC7-9151-BEF2-9855-0697B91C7A07}"/>
              </a:ext>
            </a:extLst>
          </p:cNvPr>
          <p:cNvSpPr/>
          <p:nvPr/>
        </p:nvSpPr>
        <p:spPr>
          <a:xfrm>
            <a:off x="6424155" y="2366020"/>
            <a:ext cx="4268364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Parsing bug!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/>
              <p:nvPr/>
            </p:nvSpPr>
            <p:spPr>
              <a:xfrm>
                <a:off x="3845560" y="5890330"/>
                <a:ext cx="4560672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={}→{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5560" y="5890330"/>
                <a:ext cx="4560672" cy="404983"/>
              </a:xfrm>
              <a:prstGeom prst="rect">
                <a:avLst/>
              </a:prstGeom>
              <a:blipFill>
                <a:blip r:embed="rId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/>
              <p:nvPr/>
            </p:nvSpPr>
            <p:spPr>
              <a:xfrm>
                <a:off x="3853620" y="6240281"/>
                <a:ext cx="5280292" cy="5068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′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={}→{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e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𝑷𝒖𝒃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Sup>
                                    <m:sSub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𝑭𝒓</m:t>
                                      </m:r>
                                    </m:sup>
                                  </m:sSubSup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a:rPr lang="en-US" b="1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𝑭𝒓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3620" y="6240281"/>
                <a:ext cx="5280292" cy="5068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29">
            <a:extLst>
              <a:ext uri="{FF2B5EF4-FFF2-40B4-BE49-F238E27FC236}">
                <a16:creationId xmlns:a16="http://schemas.microsoft.com/office/drawing/2014/main" id="{1C98E74A-6904-22D1-BAAD-BB289AF17225}"/>
              </a:ext>
            </a:extLst>
          </p:cNvPr>
          <p:cNvSpPr/>
          <p:nvPr/>
        </p:nvSpPr>
        <p:spPr>
          <a:xfrm>
            <a:off x="3774440" y="5577840"/>
            <a:ext cx="5556943" cy="116931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E0250795-9026-AEEB-3B09-A25FE78856D9}"/>
              </a:ext>
            </a:extLst>
          </p:cNvPr>
          <p:cNvSpPr/>
          <p:nvPr/>
        </p:nvSpPr>
        <p:spPr>
          <a:xfrm>
            <a:off x="1407161" y="2912388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Detectable in an abstract model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C6C33EA-1022-9119-0899-1B4A33A54C2D}"/>
              </a:ext>
            </a:extLst>
          </p:cNvPr>
          <p:cNvSpPr/>
          <p:nvPr/>
        </p:nvSpPr>
        <p:spPr>
          <a:xfrm>
            <a:off x="1407161" y="3772800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Should not assume parsers </a:t>
            </a:r>
          </a:p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are implemented well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921D106-436F-E26B-E832-FC010785B7CD}"/>
              </a:ext>
            </a:extLst>
          </p:cNvPr>
          <p:cNvSpPr/>
          <p:nvPr/>
        </p:nvSpPr>
        <p:spPr>
          <a:xfrm>
            <a:off x="6439536" y="289593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Does not affect all implementations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BD0B7C12-4F66-4892-7645-C69E75F06F5B}"/>
              </a:ext>
            </a:extLst>
          </p:cNvPr>
          <p:cNvSpPr/>
          <p:nvPr/>
        </p:nvSpPr>
        <p:spPr>
          <a:xfrm>
            <a:off x="6439536" y="374619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No reasonable parser is affected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C0159C6-7D14-415A-9CFD-7A25C61156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41" y="2356929"/>
            <a:ext cx="497840" cy="49784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67C824D-CBC1-2CF6-7E64-61A956F81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4111" y="2360172"/>
            <a:ext cx="558800" cy="558800"/>
          </a:xfrm>
          <a:prstGeom prst="rect">
            <a:avLst/>
          </a:prstGeom>
        </p:spPr>
      </p:pic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07004691-8A4C-BA5E-7CBD-578838AABB79}"/>
              </a:ext>
            </a:extLst>
          </p:cNvPr>
          <p:cNvSpPr/>
          <p:nvPr/>
        </p:nvSpPr>
        <p:spPr>
          <a:xfrm>
            <a:off x="1426599" y="4632279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Compact binary formats do not include explicit type information</a:t>
            </a:r>
          </a:p>
        </p:txBody>
      </p:sp>
    </p:spTree>
    <p:extLst>
      <p:ext uri="{BB962C8B-B14F-4D97-AF65-F5344CB8AC3E}">
        <p14:creationId xmlns:p14="http://schemas.microsoft.com/office/powerpoint/2010/main" val="4130819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3" grpId="0" animBg="1"/>
      <p:bldP spid="27" grpId="0" animBg="1"/>
      <p:bldP spid="28" grpId="0"/>
      <p:bldP spid="29" grpId="0"/>
      <p:bldP spid="30" grpId="0" animBg="1"/>
      <p:bldP spid="31" grpId="0" animBg="1"/>
      <p:bldP spid="32" grpId="0" animBg="1"/>
      <p:bldP spid="33" grpId="0" animBg="1"/>
      <p:bldP spid="34" grpId="0" animBg="1"/>
      <p:bldP spid="3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Making reasoning tractable</a:t>
            </a:r>
            <a:endParaRPr lang="en-US" dirty="0">
              <a:ea typeface="Source Sans Pro"/>
            </a:endParaRP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32709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3200" dirty="0">
                <a:ea typeface="Source Sans Pro"/>
              </a:rPr>
              <a:t>Reminder: symbolic model (unbounded)                protocol security is undecidable</a:t>
            </a:r>
            <a:endParaRPr lang="en-US" sz="3200" dirty="0">
              <a:solidFill>
                <a:schemeClr val="accent6">
                  <a:lumMod val="75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26766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One can heuristically cut the search space by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 </a:t>
            </a:r>
            <a:r>
              <a:rPr lang="en-US" dirty="0">
                <a:ea typeface="Source Sans Pro"/>
              </a:rPr>
              <a:t>only considering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well-typed</a:t>
            </a:r>
            <a:r>
              <a:rPr lang="en-US" dirty="0">
                <a:ea typeface="Source Sans Pro"/>
              </a:rPr>
              <a:t> attacks… this is called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strong typing assumption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When is the strong typing assumption sound?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29E9BA44-F852-68E7-FB36-F455C086D6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3" y="3600067"/>
            <a:ext cx="5769659" cy="247624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3F99FFE-3B47-207F-EE7E-197E25093DE0}"/>
              </a:ext>
            </a:extLst>
          </p:cNvPr>
          <p:cNvSpPr/>
          <p:nvPr/>
        </p:nvSpPr>
        <p:spPr>
          <a:xfrm>
            <a:off x="6974840" y="3649121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Maybe you don’t care about soundness… fair enough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AA58E69-D6A7-DA55-D23B-99F35BB1F4EC}"/>
              </a:ext>
            </a:extLst>
          </p:cNvPr>
          <p:cNvSpPr/>
          <p:nvPr/>
        </p:nvSpPr>
        <p:spPr>
          <a:xfrm>
            <a:off x="6974840" y="4802089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But definitely not always!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44C939-3ECA-FB5D-9E0A-8A41DE31A9C8}"/>
              </a:ext>
            </a:extLst>
          </p:cNvPr>
          <p:cNvSpPr/>
          <p:nvPr/>
        </p:nvSpPr>
        <p:spPr>
          <a:xfrm>
            <a:off x="4043805" y="4228367"/>
            <a:ext cx="2803917" cy="182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92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Can I guarantee the absence of type confusion attacks?</a:t>
            </a:r>
            <a:endParaRPr lang="en-US" sz="2400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expends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𝑡𝑎</m:t>
                    </m:r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𝑔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but gets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𝑡𝑎</m:t>
                    </m:r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𝑔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 (attack fails)</a:t>
                </a:r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  <a:blipFill>
                <a:blip r:embed="rId3"/>
                <a:stretch>
                  <a:fillRect t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cannot alter the tag due to encryption… </a:t>
                </a:r>
              </a:p>
              <a:p>
                <a:pPr marL="0" indent="0">
                  <a:buNone/>
                </a:pPr>
                <a:endParaRPr lang="en-US" sz="20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  <a:blipFill>
                <a:blip r:embed="rId4"/>
                <a:stretch>
                  <a:fillRect l="-1832" t="-6667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person&#10;&#10;Description automatically generated">
            <a:extLst>
              <a:ext uri="{FF2B5EF4-FFF2-40B4-BE49-F238E27FC236}">
                <a16:creationId xmlns:a16="http://schemas.microsoft.com/office/drawing/2014/main" id="{50E78C67-D625-181E-6730-6A1DCFD381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5835" y="3776870"/>
            <a:ext cx="8238583" cy="240009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381B804-8850-898A-60E0-66F3163C77FE}"/>
              </a:ext>
            </a:extLst>
          </p:cNvPr>
          <p:cNvSpPr/>
          <p:nvPr/>
        </p:nvSpPr>
        <p:spPr>
          <a:xfrm>
            <a:off x="4528826" y="5329099"/>
            <a:ext cx="3810104" cy="74370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/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Tagging scheme: </a:t>
                </a:r>
                <a:r>
                  <a:rPr lang="en-US" sz="1800" dirty="0">
                    <a:latin typeface=""/>
                    <a:ea typeface="Source Sans Pro"/>
                  </a:rPr>
                  <a:t>	</a:t>
                </a:r>
              </a:p>
              <a:p>
                <a:pPr marL="0" indent="0" algn="ctr"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Update each term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𝑓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𝑓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𝑡𝑎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𝑔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 have participants check tags</a:t>
                </a: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4BEE50F-6686-703C-0058-66344BAE5C3D}"/>
              </a:ext>
            </a:extLst>
          </p:cNvPr>
          <p:cNvSpPr txBox="1"/>
          <p:nvPr/>
        </p:nvSpPr>
        <p:spPr>
          <a:xfrm>
            <a:off x="493644" y="5942731"/>
            <a:ext cx="35423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But what if they could? </a:t>
            </a:r>
          </a:p>
          <a:p>
            <a:r>
              <a:rPr lang="en-US" sz="1800" dirty="0">
                <a:latin typeface=""/>
                <a:ea typeface="Source Sans Pro"/>
              </a:rPr>
              <a:t>Type confusion even with tagging?</a:t>
            </a:r>
            <a:endParaRPr lang="en-US" dirty="0">
              <a:latin typeface="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63D8F2-C9B1-338A-6D41-ABD04E5D0791}"/>
              </a:ext>
            </a:extLst>
          </p:cNvPr>
          <p:cNvSpPr/>
          <p:nvPr/>
        </p:nvSpPr>
        <p:spPr>
          <a:xfrm>
            <a:off x="8655359" y="4607484"/>
            <a:ext cx="3452192" cy="182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37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 animBg="1"/>
      <p:bldP spid="5" grpId="0" animBg="1"/>
      <p:bldP spid="6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Does tagging prevent type confusion?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346C7E-490F-E2ED-BF64-82C8C9E5D79D}"/>
              </a:ext>
            </a:extLst>
          </p:cNvPr>
          <p:cNvSpPr/>
          <p:nvPr/>
        </p:nvSpPr>
        <p:spPr>
          <a:xfrm>
            <a:off x="0" y="5271760"/>
            <a:ext cx="12192000" cy="1037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The protocol becomes obviously insecure, but we’re targeting a deeper question: </a:t>
            </a:r>
          </a:p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Does tagging prevent type confusion?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9792AE-A49B-3874-6E8F-AD310FFD24AE}"/>
              </a:ext>
            </a:extLst>
          </p:cNvPr>
          <p:cNvSpPr txBox="1"/>
          <p:nvPr/>
        </p:nvSpPr>
        <p:spPr>
          <a:xfrm>
            <a:off x="5217160" y="3321058"/>
            <a:ext cx="5237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What if the tag is not cryptographically protected?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,⟩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𝑡𝑎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1159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6800525" y="5696950"/>
            <a:ext cx="4799274" cy="16703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The type confusion attack works again, despite tagging…</a:t>
            </a:r>
          </a:p>
        </p:txBody>
      </p:sp>
      <p:pic>
        <p:nvPicPr>
          <p:cNvPr id="12" name="Picture 11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4F81EC09-EF33-21B8-3CF6-5B78BA6336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525" y="2266771"/>
            <a:ext cx="4344995" cy="343788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40B950B-F96D-3118-3194-3B68AC371249}"/>
              </a:ext>
            </a:extLst>
          </p:cNvPr>
          <p:cNvSpPr/>
          <p:nvPr/>
        </p:nvSpPr>
        <p:spPr>
          <a:xfrm>
            <a:off x="7324776" y="3306030"/>
            <a:ext cx="3383864" cy="120059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34F6924-A046-227E-8112-18334CD5975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BB5DD69B-0DFD-7846-D865-8FBF46138C93}"/>
                  </a:ext>
                </a:extLst>
              </p:cNvPr>
              <p:cNvSpPr/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,⟩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BB5DD69B-0DFD-7846-D865-8FBF46138C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FEB67BF-8CC9-6691-F4CC-F45D3BF45816}"/>
                  </a:ext>
                </a:extLst>
              </p:cNvPr>
              <p:cNvSpPr/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FEB67BF-8CC9-6691-F4CC-F45D3BF458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13A496DB-518F-D625-B601-47A9659368ED}"/>
                  </a:ext>
                </a:extLst>
              </p:cNvPr>
              <p:cNvSpPr/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𝑡𝑎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13A496DB-518F-D625-B601-47A9659368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689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335332" y="5522484"/>
            <a:ext cx="3604671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"/>
              <a:ea typeface="Source Sans Pro"/>
            </a:endParaRPr>
          </a:p>
        </p:txBody>
      </p:sp>
      <p:pic>
        <p:nvPicPr>
          <p:cNvPr id="13" name="Picture 12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61C6F8A8-9751-0408-87C2-548F82D2C6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3304" y="2438600"/>
            <a:ext cx="4344995" cy="343788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727CCEF-A7B9-B99C-AC40-16CF9074A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1311" y="4219927"/>
            <a:ext cx="993593" cy="99359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567F335-E8C5-AE0D-B1E9-D5E066428ABE}"/>
              </a:ext>
            </a:extLst>
          </p:cNvPr>
          <p:cNvSpPr/>
          <p:nvPr/>
        </p:nvSpPr>
        <p:spPr>
          <a:xfrm>
            <a:off x="7246356" y="3450344"/>
            <a:ext cx="1639957" cy="223785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7F53572-86BE-94DD-E18D-2ECFC6F125C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  <a:endParaRPr lang="en-US" dirty="0">
              <a:solidFill>
                <a:srgbClr val="C00000"/>
              </a:solidFill>
              <a:latin typeface="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86D69FE0-2BF6-BE3B-DE1C-E0D511FD9C30}"/>
                  </a:ext>
                </a:extLst>
              </p:cNvPr>
              <p:cNvSpPr/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𝑡𝑎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,⟩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))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86D69FE0-2BF6-BE3B-DE1C-E0D511FD9C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E996F16-3066-D07B-0A9C-A5AA4AC0E973}"/>
                  </a:ext>
                </a:extLst>
              </p:cNvPr>
              <p:cNvSpPr/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:⟨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𝑡𝑎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⟩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E996F16-3066-D07B-0A9C-A5AA4AC0E9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675CB76-B7F6-A35A-1BB2-A970B66E9D79}"/>
                  </a:ext>
                </a:extLst>
              </p:cNvPr>
              <p:cNvSpPr/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"/>
                        </a:rPr>
                        <m:t>3.</m:t>
                      </m:r>
                      <m:r>
                        <a:rPr lang="en-US" i="1">
                          <a:latin typeface="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⟨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𝑡𝑎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⟩,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))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675CB76-B7F6-A35A-1BB2-A970B66E9D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FAE2581-CEFC-090C-0DF5-239FDAC4CB22}"/>
              </a:ext>
            </a:extLst>
          </p:cNvPr>
          <p:cNvSpPr/>
          <p:nvPr/>
        </p:nvSpPr>
        <p:spPr>
          <a:xfrm>
            <a:off x="335332" y="4948562"/>
            <a:ext cx="4289566" cy="7467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We can find another attack without type confusion!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30A5485-C8CC-32A8-76ED-0C5861316E08}"/>
              </a:ext>
            </a:extLst>
          </p:cNvPr>
          <p:cNvSpPr/>
          <p:nvPr/>
        </p:nvSpPr>
        <p:spPr>
          <a:xfrm>
            <a:off x="2620138" y="5843030"/>
            <a:ext cx="3604671" cy="55438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"/>
                <a:ea typeface="Source Sans Pro"/>
              </a:rPr>
              <a:t>And it’s always possible!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0ECD97-599B-0650-8DCC-2681396E5244}"/>
              </a:ext>
            </a:extLst>
          </p:cNvPr>
          <p:cNvSpPr/>
          <p:nvPr/>
        </p:nvSpPr>
        <p:spPr>
          <a:xfrm>
            <a:off x="0" y="2756392"/>
            <a:ext cx="12192000" cy="17828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Avenir Next" panose="020B0503020202020204" pitchFamily="34" charset="0"/>
                <a:ea typeface="Source Sans Pro"/>
              </a:rPr>
              <a:t>With this tagging scheme, type confusion attacks imply existence of well-typed attacks [Heather et al.]</a:t>
            </a:r>
          </a:p>
        </p:txBody>
      </p:sp>
    </p:spTree>
    <p:extLst>
      <p:ext uri="{BB962C8B-B14F-4D97-AF65-F5344CB8AC3E}">
        <p14:creationId xmlns:p14="http://schemas.microsoft.com/office/powerpoint/2010/main" val="1082778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2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5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8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1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4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7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0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9" grpId="0"/>
      <p:bldP spid="17" grpId="0" animBg="1"/>
      <p:bldP spid="12" grpId="0"/>
      <p:bldP spid="14" grpId="0" animBg="1"/>
      <p:bldP spid="15" grpId="0" animBg="1"/>
      <p:bldP spid="19" grpId="0" animBg="1"/>
      <p:bldP spid="21" grpId="0" animBg="1"/>
      <p:bldP spid="21" grpId="1" animBg="1"/>
      <p:bldP spid="22" grpId="0" animBg="1"/>
      <p:bldP spid="22" grpId="1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286465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B174CBC-2AA8-A1CF-35E9-3B15D1CE1D2A}"/>
              </a:ext>
            </a:extLst>
          </p:cNvPr>
          <p:cNvSpPr/>
          <p:nvPr/>
        </p:nvSpPr>
        <p:spPr>
          <a:xfrm>
            <a:off x="893207" y="2639377"/>
            <a:ext cx="10515600" cy="129032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Generalization: one can soundly discount type confusion attacks if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Avenir Next" panose="020B0503020202020204" pitchFamily="34" charset="0"/>
                <a:ea typeface="Source Sans Pro"/>
              </a:rPr>
              <a:t>opaque subterms are not unifiable </a:t>
            </a:r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[Chrétien et al.]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39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to learn from this if our protocol doesn’t have tagging?</a:t>
            </a:r>
          </a:p>
          <a:p>
            <a:pPr marL="457200" lvl="1" indent="0" algn="ctr">
              <a:buNone/>
            </a:pPr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21.1 (2019): 1-52.</a:t>
            </a: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6A48A-CB56-F871-F51E-6724C317BFCC}"/>
              </a:ext>
            </a:extLst>
          </p:cNvPr>
          <p:cNvSpPr txBox="1"/>
          <p:nvPr/>
        </p:nvSpPr>
        <p:spPr>
          <a:xfrm>
            <a:off x="2723023" y="4558783"/>
            <a:ext cx="51597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"/>
                <a:ea typeface="Source Sans Pro"/>
              </a:rPr>
              <a:t>Intuitively, this has the same effect as tagging!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A26202-D5FF-A45D-15F9-090303D9A0E4}"/>
              </a:ext>
            </a:extLst>
          </p:cNvPr>
          <p:cNvCxnSpPr>
            <a:cxnSpLocks/>
          </p:cNvCxnSpPr>
          <p:nvPr/>
        </p:nvCxnSpPr>
        <p:spPr>
          <a:xfrm flipV="1">
            <a:off x="5090057" y="3749041"/>
            <a:ext cx="0" cy="850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DDC01F8-5313-ADFE-34DE-0CDEE59A6802}"/>
              </a:ext>
            </a:extLst>
          </p:cNvPr>
          <p:cNvCxnSpPr>
            <a:cxnSpLocks/>
          </p:cNvCxnSpPr>
          <p:nvPr/>
        </p:nvCxnSpPr>
        <p:spPr>
          <a:xfrm>
            <a:off x="2859164" y="3735728"/>
            <a:ext cx="5549112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5902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8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Adversary does not learn “new” 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2709147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8" grpId="0"/>
      <p:bldP spid="20" grpId="0" animBg="1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Other </a:t>
            </a:r>
            <a:r>
              <a:rPr lang="en-US" sz="3200" dirty="0" err="1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Metatheorems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740149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There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four general strategies </a:t>
            </a:r>
            <a:r>
              <a:rPr lang="en-US" dirty="0">
                <a:ea typeface="Source Sans Pro"/>
              </a:rPr>
              <a:t>to make reasoning more tractable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9DDECC-C671-4B0A-0C1D-36886DFAFF6E}"/>
              </a:ext>
            </a:extLst>
          </p:cNvPr>
          <p:cNvSpPr/>
          <p:nvPr/>
        </p:nvSpPr>
        <p:spPr>
          <a:xfrm>
            <a:off x="1564692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Heuristically cut search space (no guarantees)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3CC9203-A0EE-01BD-EF77-247D3F657201}"/>
              </a:ext>
            </a:extLst>
          </p:cNvPr>
          <p:cNvSpPr/>
          <p:nvPr/>
        </p:nvSpPr>
        <p:spPr>
          <a:xfrm>
            <a:off x="6868160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completeness for decidability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3B828D0-F406-BA03-02B6-4C83A9EBE1A3}"/>
              </a:ext>
            </a:extLst>
          </p:cNvPr>
          <p:cNvSpPr/>
          <p:nvPr/>
        </p:nvSpPr>
        <p:spPr>
          <a:xfrm>
            <a:off x="6868160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Syntactically restrict protocols for decidability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AEB35FE-A6F5-AD01-BFBE-748DE094FBFA}"/>
              </a:ext>
            </a:extLst>
          </p:cNvPr>
          <p:cNvSpPr/>
          <p:nvPr/>
        </p:nvSpPr>
        <p:spPr>
          <a:xfrm>
            <a:off x="1564692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soundness for termination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38EFB1D-9143-716A-312E-8884D1437D84}"/>
              </a:ext>
            </a:extLst>
          </p:cNvPr>
          <p:cNvSpPr/>
          <p:nvPr/>
        </p:nvSpPr>
        <p:spPr>
          <a:xfrm>
            <a:off x="2032000" y="362241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Typing for free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99AF043-A4F0-8F7C-C72F-651CB6DF7DD6}"/>
              </a:ext>
            </a:extLst>
          </p:cNvPr>
          <p:cNvSpPr/>
          <p:nvPr/>
        </p:nvSpPr>
        <p:spPr>
          <a:xfrm>
            <a:off x="6868160" y="363257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sessions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EC9C87-1653-18E7-C232-19B2911C99F5}"/>
              </a:ext>
            </a:extLst>
          </p:cNvPr>
          <p:cNvSpPr/>
          <p:nvPr/>
        </p:nvSpPr>
        <p:spPr>
          <a:xfrm>
            <a:off x="8798560" y="3637279"/>
            <a:ext cx="2121688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term depth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C1979D-6337-2A61-12BD-C00FA51C45CC}"/>
              </a:ext>
            </a:extLst>
          </p:cNvPr>
          <p:cNvSpPr/>
          <p:nvPr/>
        </p:nvSpPr>
        <p:spPr>
          <a:xfrm>
            <a:off x="7779595" y="4135120"/>
            <a:ext cx="203793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nonce set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C1CF3EB-9BBE-66D0-D6A3-1E639201A8F9}"/>
              </a:ext>
            </a:extLst>
          </p:cNvPr>
          <p:cNvSpPr/>
          <p:nvPr/>
        </p:nvSpPr>
        <p:spPr>
          <a:xfrm>
            <a:off x="1524000" y="5966720"/>
            <a:ext cx="193040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Information flow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9AA9749-7D87-9245-4416-92BA29D5D690}"/>
              </a:ext>
            </a:extLst>
          </p:cNvPr>
          <p:cNvSpPr/>
          <p:nvPr/>
        </p:nvSpPr>
        <p:spPr>
          <a:xfrm>
            <a:off x="3454401" y="5966720"/>
            <a:ext cx="181864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Abstract interpretation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9EE144D-175A-F8CE-8451-E8F22AA81AAE}"/>
              </a:ext>
            </a:extLst>
          </p:cNvPr>
          <p:cNvSpPr/>
          <p:nvPr/>
        </p:nvSpPr>
        <p:spPr>
          <a:xfrm>
            <a:off x="6898692" y="5966719"/>
            <a:ext cx="197098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Ping-pong protocols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BC33D8F-E77A-2FB2-2FED-364CABD31F25}"/>
              </a:ext>
            </a:extLst>
          </p:cNvPr>
          <p:cNvSpPr/>
          <p:nvPr/>
        </p:nvSpPr>
        <p:spPr>
          <a:xfrm>
            <a:off x="8879944" y="5966719"/>
            <a:ext cx="182874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Depth-bounded protocols</a:t>
            </a:r>
          </a:p>
        </p:txBody>
      </p:sp>
    </p:spTree>
    <p:extLst>
      <p:ext uri="{BB962C8B-B14F-4D97-AF65-F5344CB8AC3E}">
        <p14:creationId xmlns:p14="http://schemas.microsoft.com/office/powerpoint/2010/main" val="130599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F7AC4-7B65-E57D-B591-306357933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02FA7-CDA5-A73A-A21C-73483A4A0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8AD0F-4517-B249-7CE9-91AC65371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Discussion, Open Questions, &amp; Conclusion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pPr marL="0" indent="0">
              <a:buNone/>
            </a:pPr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A939B8-2E69-9CDC-CE8A-344679948D9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52792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40001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Source Sans Pro"/>
              </a:rPr>
              <a:t>RQ1.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compositional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RQ2.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dedicated theory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RQ3. How to reason about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control flow </a:t>
            </a:r>
            <a:r>
              <a:rPr lang="en-US" dirty="0">
                <a:ea typeface="Source Sans Pro"/>
              </a:rPr>
              <a:t>beyond Alice-Bob?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RQ4. How 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gracefully recover interactivity </a:t>
            </a:r>
            <a:r>
              <a:rPr lang="en-US" dirty="0">
                <a:ea typeface="Source Sans Pro"/>
              </a:rPr>
              <a:t>if automation fails?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C2B5111-8C98-30D0-9E1F-8D9DF971C949}"/>
              </a:ext>
            </a:extLst>
          </p:cNvPr>
          <p:cNvSpPr/>
          <p:nvPr/>
        </p:nvSpPr>
        <p:spPr>
          <a:xfrm>
            <a:off x="1870368" y="4717508"/>
            <a:ext cx="9462654" cy="92833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"/>
              </a:rPr>
              <a:t>Idea: Frame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protocol</a:t>
            </a:r>
            <a:r>
              <a:rPr lang="en-US" sz="2800" dirty="0">
                <a:latin typeface=""/>
              </a:rPr>
              <a:t> verification as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program</a:t>
            </a:r>
            <a:r>
              <a:rPr lang="en-US" sz="2800" dirty="0">
                <a:latin typeface=""/>
              </a:rPr>
              <a:t> verification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57DC2BD-40EE-A5B4-2D3D-5C4D58027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466" y="4590548"/>
            <a:ext cx="1182255" cy="1182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3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ACDD85-64ED-4C94-5CF5-EB022D70AABF}"/>
              </a:ext>
            </a:extLst>
          </p:cNvPr>
          <p:cNvSpPr/>
          <p:nvPr/>
        </p:nvSpPr>
        <p:spPr>
          <a:xfrm>
            <a:off x="2542733" y="2336766"/>
            <a:ext cx="7106120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 pools all steps and participants into shared global state</a:t>
            </a:r>
          </a:p>
        </p:txBody>
      </p:sp>
    </p:spTree>
    <p:extLst>
      <p:ext uri="{BB962C8B-B14F-4D97-AF65-F5344CB8AC3E}">
        <p14:creationId xmlns:p14="http://schemas.microsoft.com/office/powerpoint/2010/main" val="2042930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BC2CDD4-A2CB-32B7-F2A2-3F82765ECBCD}"/>
              </a:ext>
            </a:extLst>
          </p:cNvPr>
          <p:cNvGrpSpPr/>
          <p:nvPr/>
        </p:nvGrpSpPr>
        <p:grpSpPr>
          <a:xfrm>
            <a:off x="2570480" y="3820160"/>
            <a:ext cx="6725329" cy="2887043"/>
            <a:chOff x="2487168" y="3440475"/>
            <a:chExt cx="7065264" cy="342117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F69930-C776-20D9-9B54-216A6A2E91D6}"/>
                </a:ext>
              </a:extLst>
            </p:cNvPr>
            <p:cNvSpPr/>
            <p:nvPr/>
          </p:nvSpPr>
          <p:spPr>
            <a:xfrm>
              <a:off x="2487168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B765F9C-1C59-4D91-07DA-684D125E4978}"/>
                </a:ext>
              </a:extLst>
            </p:cNvPr>
            <p:cNvSpPr/>
            <p:nvPr/>
          </p:nvSpPr>
          <p:spPr>
            <a:xfrm>
              <a:off x="4419600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591F1D5-E183-AA04-E8A2-35920459F27E}"/>
                </a:ext>
              </a:extLst>
            </p:cNvPr>
            <p:cNvSpPr/>
            <p:nvPr/>
          </p:nvSpPr>
          <p:spPr>
            <a:xfrm>
              <a:off x="6352032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406A176-F6D2-0183-B3A1-65B916D475A9}"/>
                </a:ext>
              </a:extLst>
            </p:cNvPr>
            <p:cNvSpPr/>
            <p:nvPr/>
          </p:nvSpPr>
          <p:spPr>
            <a:xfrm>
              <a:off x="8284464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ED7CE68-BBD2-4DE4-ED8A-246528FCF1B5}"/>
                </a:ext>
              </a:extLst>
            </p:cNvPr>
            <p:cNvSpPr/>
            <p:nvPr/>
          </p:nvSpPr>
          <p:spPr>
            <a:xfrm>
              <a:off x="5404104" y="5923915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13" name="Elbow Connector 12">
              <a:extLst>
                <a:ext uri="{FF2B5EF4-FFF2-40B4-BE49-F238E27FC236}">
                  <a16:creationId xmlns:a16="http://schemas.microsoft.com/office/drawing/2014/main" id="{7F912332-AB1B-C695-5BF6-5CC516A5CCF2}"/>
                </a:ext>
              </a:extLst>
            </p:cNvPr>
            <p:cNvCxnSpPr>
              <a:cxnSpLocks/>
              <a:stCxn id="11" idx="1"/>
              <a:endCxn id="5" idx="2"/>
            </p:cNvCxnSpPr>
            <p:nvPr/>
          </p:nvCxnSpPr>
          <p:spPr>
            <a:xfrm rot="10800000">
              <a:off x="3121152" y="5604447"/>
              <a:ext cx="2282952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Elbow Connector 14">
              <a:extLst>
                <a:ext uri="{FF2B5EF4-FFF2-40B4-BE49-F238E27FC236}">
                  <a16:creationId xmlns:a16="http://schemas.microsoft.com/office/drawing/2014/main" id="{478B3F80-9B63-E799-2CC3-9E24F3931DA8}"/>
                </a:ext>
              </a:extLst>
            </p:cNvPr>
            <p:cNvCxnSpPr>
              <a:cxnSpLocks/>
              <a:stCxn id="11" idx="3"/>
              <a:endCxn id="10" idx="2"/>
            </p:cNvCxnSpPr>
            <p:nvPr/>
          </p:nvCxnSpPr>
          <p:spPr>
            <a:xfrm flipV="1">
              <a:off x="6672072" y="5604447"/>
              <a:ext cx="2246376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Elbow Connector 16">
              <a:extLst>
                <a:ext uri="{FF2B5EF4-FFF2-40B4-BE49-F238E27FC236}">
                  <a16:creationId xmlns:a16="http://schemas.microsoft.com/office/drawing/2014/main" id="{ED29170D-C608-5EE6-BCF0-727E7CDC8BF7}"/>
                </a:ext>
              </a:extLst>
            </p:cNvPr>
            <p:cNvCxnSpPr>
              <a:cxnSpLocks/>
              <a:stCxn id="11" idx="1"/>
              <a:endCxn id="8" idx="2"/>
            </p:cNvCxnSpPr>
            <p:nvPr/>
          </p:nvCxnSpPr>
          <p:spPr>
            <a:xfrm rot="10800000">
              <a:off x="5053584" y="5604447"/>
              <a:ext cx="350520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656132C5-635D-C8B6-13A7-0DD6DEC7B299}"/>
                </a:ext>
              </a:extLst>
            </p:cNvPr>
            <p:cNvCxnSpPr>
              <a:cxnSpLocks/>
              <a:stCxn id="11" idx="3"/>
              <a:endCxn id="9" idx="2"/>
            </p:cNvCxnSpPr>
            <p:nvPr/>
          </p:nvCxnSpPr>
          <p:spPr>
            <a:xfrm flipV="1">
              <a:off x="6672072" y="5604447"/>
              <a:ext cx="313944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AF00FD49-A5B5-E700-9AC7-89275E879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72357" y="5831884"/>
              <a:ext cx="476504" cy="476504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452167E3-17E3-D57A-92A9-70000F3B53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89631" y="5831884"/>
              <a:ext cx="476504" cy="476504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AE7C7281-C90E-E0C0-3BE1-20F42FE38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76475" y="5819692"/>
              <a:ext cx="500888" cy="500888"/>
            </a:xfrm>
            <a:prstGeom prst="rect">
              <a:avLst/>
            </a:prstGeom>
          </p:spPr>
        </p:pic>
        <p:cxnSp>
          <p:nvCxnSpPr>
            <p:cNvPr id="43" name="Elbow Connector 42">
              <a:extLst>
                <a:ext uri="{FF2B5EF4-FFF2-40B4-BE49-F238E27FC236}">
                  <a16:creationId xmlns:a16="http://schemas.microsoft.com/office/drawing/2014/main" id="{3E319BDC-A2C6-88FE-2039-B0E17E60EA42}"/>
                </a:ext>
              </a:extLst>
            </p:cNvPr>
            <p:cNvCxnSpPr>
              <a:cxnSpLocks/>
              <a:endCxn id="11" idx="0"/>
            </p:cNvCxnSpPr>
            <p:nvPr/>
          </p:nvCxnSpPr>
          <p:spPr>
            <a:xfrm rot="16200000" flipH="1">
              <a:off x="5474494" y="5360321"/>
              <a:ext cx="776668" cy="350520"/>
            </a:xfrm>
            <a:prstGeom prst="bentConnector3">
              <a:avLst>
                <a:gd name="adj1" fmla="val -233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Elbow Connector 44">
              <a:extLst>
                <a:ext uri="{FF2B5EF4-FFF2-40B4-BE49-F238E27FC236}">
                  <a16:creationId xmlns:a16="http://schemas.microsoft.com/office/drawing/2014/main" id="{D0680970-AC2F-EB19-AAA9-44A6596F232C}"/>
                </a:ext>
              </a:extLst>
            </p:cNvPr>
            <p:cNvCxnSpPr>
              <a:cxnSpLocks/>
              <a:stCxn id="9" idx="1"/>
              <a:endCxn id="11" idx="0"/>
            </p:cNvCxnSpPr>
            <p:nvPr/>
          </p:nvCxnSpPr>
          <p:spPr>
            <a:xfrm rot="10800000" flipV="1">
              <a:off x="6038088" y="5147247"/>
              <a:ext cx="313944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Elbow Connector 50">
              <a:extLst>
                <a:ext uri="{FF2B5EF4-FFF2-40B4-BE49-F238E27FC236}">
                  <a16:creationId xmlns:a16="http://schemas.microsoft.com/office/drawing/2014/main" id="{58CC4BB0-2E84-1437-DAB5-1EFC20F5862C}"/>
                </a:ext>
              </a:extLst>
            </p:cNvPr>
            <p:cNvCxnSpPr>
              <a:cxnSpLocks/>
              <a:stCxn id="10" idx="0"/>
              <a:endCxn id="11" idx="0"/>
            </p:cNvCxnSpPr>
            <p:nvPr/>
          </p:nvCxnSpPr>
          <p:spPr>
            <a:xfrm rot="16200000" flipH="1" flipV="1">
              <a:off x="6861334" y="3866801"/>
              <a:ext cx="1233868" cy="2880360"/>
            </a:xfrm>
            <a:prstGeom prst="bentConnector3">
              <a:avLst>
                <a:gd name="adj1" fmla="val -2927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Elbow Connector 53">
              <a:extLst>
                <a:ext uri="{FF2B5EF4-FFF2-40B4-BE49-F238E27FC236}">
                  <a16:creationId xmlns:a16="http://schemas.microsoft.com/office/drawing/2014/main" id="{7CF1E0B4-FDF6-549A-2FA8-9F5808DE46A0}"/>
                </a:ext>
              </a:extLst>
            </p:cNvPr>
            <p:cNvCxnSpPr>
              <a:cxnSpLocks/>
              <a:stCxn id="5" idx="0"/>
              <a:endCxn id="11" idx="0"/>
            </p:cNvCxnSpPr>
            <p:nvPr/>
          </p:nvCxnSpPr>
          <p:spPr>
            <a:xfrm rot="16200000" flipH="1">
              <a:off x="3962686" y="3848513"/>
              <a:ext cx="1233868" cy="2916936"/>
            </a:xfrm>
            <a:prstGeom prst="bentConnector3">
              <a:avLst>
                <a:gd name="adj1" fmla="val -29396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879377B4-E86C-9A19-6778-B1D4CB0B4A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5857" y="3725734"/>
              <a:ext cx="476504" cy="476504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85D7FA38-7EC8-8849-E603-5F9027EEDB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63131" y="3725734"/>
              <a:ext cx="476504" cy="476504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C6916E8A-D83C-FB78-0F08-6092E202D1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86679" y="3713542"/>
              <a:ext cx="500888" cy="500888"/>
            </a:xfrm>
            <a:prstGeom prst="rect">
              <a:avLst/>
            </a:prstGeom>
          </p:spPr>
        </p:pic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F8E46FB4-5505-2D6B-EF28-8CA081830A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90686" y="5831884"/>
              <a:ext cx="476504" cy="476504"/>
            </a:xfrm>
            <a:prstGeom prst="rect">
              <a:avLst/>
            </a:prstGeom>
          </p:spPr>
        </p:pic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22143079-FDF6-FED4-DA45-1A3F9AF829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07960" y="5831884"/>
              <a:ext cx="476504" cy="476504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F19D24E6-E3E2-B209-12E5-1F24EA636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94804" y="5819692"/>
              <a:ext cx="500888" cy="500888"/>
            </a:xfrm>
            <a:prstGeom prst="rect">
              <a:avLst/>
            </a:prstGeom>
          </p:spPr>
        </p:pic>
        <p:sp>
          <p:nvSpPr>
            <p:cNvPr id="68" name="Content Placeholder 2">
              <a:extLst>
                <a:ext uri="{FF2B5EF4-FFF2-40B4-BE49-F238E27FC236}">
                  <a16:creationId xmlns:a16="http://schemas.microsoft.com/office/drawing/2014/main" id="{5892A11D-D3E4-5DD4-50FB-9C69DE612000}"/>
                </a:ext>
              </a:extLst>
            </p:cNvPr>
            <p:cNvSpPr txBox="1">
              <a:spLocks/>
            </p:cNvSpPr>
            <p:nvPr/>
          </p:nvSpPr>
          <p:spPr>
            <a:xfrm>
              <a:off x="5362914" y="6168407"/>
              <a:ext cx="1341753" cy="462248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Environment multiplexer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2" name="Content Placeholder 2">
              <a:extLst>
                <a:ext uri="{FF2B5EF4-FFF2-40B4-BE49-F238E27FC236}">
                  <a16:creationId xmlns:a16="http://schemas.microsoft.com/office/drawing/2014/main" id="{0017CA83-264C-DD00-6487-142E84330011}"/>
                </a:ext>
              </a:extLst>
            </p:cNvPr>
            <p:cNvSpPr txBox="1">
              <a:spLocks/>
            </p:cNvSpPr>
            <p:nvPr/>
          </p:nvSpPr>
          <p:spPr>
            <a:xfrm>
              <a:off x="2487168" y="4773372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Honest step 1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3" name="Content Placeholder 2">
              <a:extLst>
                <a:ext uri="{FF2B5EF4-FFF2-40B4-BE49-F238E27FC236}">
                  <a16:creationId xmlns:a16="http://schemas.microsoft.com/office/drawing/2014/main" id="{A8C4C458-982B-4F45-7C89-3694B4C75711}"/>
                </a:ext>
              </a:extLst>
            </p:cNvPr>
            <p:cNvSpPr txBox="1">
              <a:spLocks/>
            </p:cNvSpPr>
            <p:nvPr/>
          </p:nvSpPr>
          <p:spPr>
            <a:xfrm>
              <a:off x="4419600" y="4778390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Honest step 2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4" name="Content Placeholder 2">
              <a:extLst>
                <a:ext uri="{FF2B5EF4-FFF2-40B4-BE49-F238E27FC236}">
                  <a16:creationId xmlns:a16="http://schemas.microsoft.com/office/drawing/2014/main" id="{3BCA634C-1FE7-DEA4-D14B-44F351577811}"/>
                </a:ext>
              </a:extLst>
            </p:cNvPr>
            <p:cNvSpPr txBox="1">
              <a:spLocks/>
            </p:cNvSpPr>
            <p:nvPr/>
          </p:nvSpPr>
          <p:spPr>
            <a:xfrm>
              <a:off x="6350125" y="4773879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Honest step n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5" name="Content Placeholder 2">
              <a:extLst>
                <a:ext uri="{FF2B5EF4-FFF2-40B4-BE49-F238E27FC236}">
                  <a16:creationId xmlns:a16="http://schemas.microsoft.com/office/drawing/2014/main" id="{B669791E-151B-F769-829A-562105671363}"/>
                </a:ext>
              </a:extLst>
            </p:cNvPr>
            <p:cNvSpPr txBox="1">
              <a:spLocks/>
            </p:cNvSpPr>
            <p:nvPr/>
          </p:nvSpPr>
          <p:spPr>
            <a:xfrm>
              <a:off x="8284464" y="4773372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Adversary step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6" name="Content Placeholder 2">
              <a:extLst>
                <a:ext uri="{FF2B5EF4-FFF2-40B4-BE49-F238E27FC236}">
                  <a16:creationId xmlns:a16="http://schemas.microsoft.com/office/drawing/2014/main" id="{C8C85CB7-E87B-ECC6-32D8-9B795F38D54C}"/>
                </a:ext>
              </a:extLst>
            </p:cNvPr>
            <p:cNvSpPr txBox="1">
              <a:spLocks/>
            </p:cNvSpPr>
            <p:nvPr/>
          </p:nvSpPr>
          <p:spPr>
            <a:xfrm>
              <a:off x="4803139" y="3440475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State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</p:txBody>
        </p:sp>
        <p:sp>
          <p:nvSpPr>
            <p:cNvPr id="77" name="Content Placeholder 2">
              <a:extLst>
                <a:ext uri="{FF2B5EF4-FFF2-40B4-BE49-F238E27FC236}">
                  <a16:creationId xmlns:a16="http://schemas.microsoft.com/office/drawing/2014/main" id="{D28C5D49-86CB-A912-8758-BB5C3745BB48}"/>
                </a:ext>
              </a:extLst>
            </p:cNvPr>
            <p:cNvSpPr txBox="1">
              <a:spLocks/>
            </p:cNvSpPr>
            <p:nvPr/>
          </p:nvSpPr>
          <p:spPr>
            <a:xfrm>
              <a:off x="5650101" y="3457152"/>
              <a:ext cx="2179067" cy="247158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500" dirty="0">
                  <a:latin typeface=""/>
                  <a:ea typeface="Source Sans Pro"/>
                </a:rPr>
                <a:t>Adversary knowledge</a:t>
              </a:r>
              <a:endParaRPr lang="en-US" sz="15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81" name="Content Placeholder 2">
              <a:extLst>
                <a:ext uri="{FF2B5EF4-FFF2-40B4-BE49-F238E27FC236}">
                  <a16:creationId xmlns:a16="http://schemas.microsoft.com/office/drawing/2014/main" id="{EF5F80CF-A730-78EB-248C-82EEAAF81307}"/>
                </a:ext>
              </a:extLst>
            </p:cNvPr>
            <p:cNvSpPr txBox="1">
              <a:spLocks/>
            </p:cNvSpPr>
            <p:nvPr/>
          </p:nvSpPr>
          <p:spPr>
            <a:xfrm>
              <a:off x="3635500" y="3440475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Session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B821B072-3CEC-08C1-1893-66C3CC681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13818" y="3766436"/>
              <a:ext cx="395100" cy="3951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99A81680-CF40-9278-4FED-C61D1BF9C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59435" y="6460807"/>
              <a:ext cx="395100" cy="395100"/>
            </a:xfrm>
            <a:prstGeom prst="rect">
              <a:avLst/>
            </a:prstGeom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83927E5B-17FD-9B1C-5757-4A33E5803F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739917" y="6466552"/>
              <a:ext cx="395100" cy="3951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DA97808D-5D20-E50B-6CFB-26A3DA2B8EB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15228" y="5060528"/>
              <a:ext cx="415207" cy="415207"/>
            </a:xfrm>
            <a:prstGeom prst="rect">
              <a:avLst/>
            </a:prstGeom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FB6C99A1-416A-687D-1969-1E346632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888903" y="5060528"/>
              <a:ext cx="415207" cy="415207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245BDFF4-ACC7-564E-CB60-4D442D828F2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56978" y="5060528"/>
              <a:ext cx="415207" cy="415207"/>
            </a:xfrm>
            <a:prstGeom prst="rect">
              <a:avLst/>
            </a:prstGeom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3A25CF4D-A406-C119-6859-BA8697F32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15278" y="5060528"/>
              <a:ext cx="415207" cy="415207"/>
            </a:xfrm>
            <a:prstGeom prst="rect">
              <a:avLst/>
            </a:prstGeom>
          </p:spPr>
        </p:pic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ACDD85-64ED-4C94-5CF5-EB022D70AABF}"/>
              </a:ext>
            </a:extLst>
          </p:cNvPr>
          <p:cNvSpPr/>
          <p:nvPr/>
        </p:nvSpPr>
        <p:spPr>
          <a:xfrm>
            <a:off x="1321776" y="2398040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Automatically inferring decompositions is hard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1C3B9F-5B98-36F2-E05A-554CE24BDF39}"/>
              </a:ext>
            </a:extLst>
          </p:cNvPr>
          <p:cNvSpPr/>
          <p:nvPr/>
        </p:nvSpPr>
        <p:spPr>
          <a:xfrm>
            <a:off x="4611199" y="2986159"/>
            <a:ext cx="6158401" cy="64158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Cryptographic protocols often have similar shapes, and steps have similar invariants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124ACD1-828C-6EDE-1C19-350777C7F4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238" y="2420188"/>
            <a:ext cx="467360" cy="46736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3389E5A-A31F-DAD0-BB51-3C2EBCCF69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6176" y="2920393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612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132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RQ2. Can dedicated theory reasoning be feasible in practice?</a:t>
            </a:r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982D8C2-9DDE-479E-F815-4E813F8F8349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search modulo equational theories does not scale in practice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FAE89C8-99D9-DAED-FB36-1B150B1FB865}"/>
              </a:ext>
            </a:extLst>
          </p:cNvPr>
          <p:cNvSpPr/>
          <p:nvPr/>
        </p:nvSpPr>
        <p:spPr>
          <a:xfrm>
            <a:off x="1573676" y="3185160"/>
            <a:ext cx="725501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scalable</a:t>
            </a:r>
            <a:r>
              <a:rPr lang="en-US" dirty="0">
                <a:solidFill>
                  <a:schemeClr val="tx1"/>
                </a:solidFill>
                <a:latin typeface=""/>
              </a:rPr>
              <a:t> dedicated theory reasoning?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C76075-48E5-6B4A-02BB-DAD8F9479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3205480"/>
            <a:ext cx="467360" cy="46736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D4716D5-4C89-36D5-B66F-720B26CB1EEF}"/>
              </a:ext>
            </a:extLst>
          </p:cNvPr>
          <p:cNvSpPr/>
          <p:nvPr/>
        </p:nvSpPr>
        <p:spPr>
          <a:xfrm>
            <a:off x="5515822" y="3926971"/>
            <a:ext cx="5724502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tools natively reason modulo theories with an SMT backend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378F4AF-8252-E180-D706-7F273E38F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736" y="3997324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617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RQ3. How to reason about control flow beyond Alice-Bob?</a:t>
            </a:r>
          </a:p>
          <a:p>
            <a:pPr lvl="1"/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070DFD9-22E7-92A7-1634-5897C3E9FABD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control flow with action facts often causes nontermination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7F1AF76-5B22-D693-9074-94012F824183}"/>
              </a:ext>
            </a:extLst>
          </p:cNvPr>
          <p:cNvSpPr/>
          <p:nvPr/>
        </p:nvSpPr>
        <p:spPr>
          <a:xfrm>
            <a:off x="1787036" y="3114040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reason about loops with symbolic bounds?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4644F6-C6CD-B2DA-F7FB-543D3FBC9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2080" y="3134360"/>
            <a:ext cx="467360" cy="46736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F671F68-22CA-54BF-CA77-42A8A04B2A86}"/>
              </a:ext>
            </a:extLst>
          </p:cNvPr>
          <p:cNvSpPr/>
          <p:nvPr/>
        </p:nvSpPr>
        <p:spPr>
          <a:xfrm>
            <a:off x="3595516" y="3824866"/>
            <a:ext cx="710612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tools natively support loops with corresponding loop invariants to prove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135D066-0FCD-7124-3822-3F026CFA1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016" y="3895219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177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4AEB369F-9A28-22B1-9709-554524436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8920" y="3035943"/>
            <a:ext cx="6614160" cy="345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635DE93-0A9A-FDA8-7158-0E4CE5BD43AF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</p:spTree>
    <p:extLst>
      <p:ext uri="{BB962C8B-B14F-4D97-AF65-F5344CB8AC3E}">
        <p14:creationId xmlns:p14="http://schemas.microsoft.com/office/powerpoint/2010/main" val="3846370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FF2BEA-9D6E-F7FA-6B26-69BC45003194}"/>
              </a:ext>
            </a:extLst>
          </p:cNvPr>
          <p:cNvSpPr/>
          <p:nvPr/>
        </p:nvSpPr>
        <p:spPr>
          <a:xfrm>
            <a:off x="1797196" y="3028436"/>
            <a:ext cx="612760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localize verification failures? 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CD015D0-ED10-EB6C-4145-9257DCD04AC4}"/>
              </a:ext>
            </a:extLst>
          </p:cNvPr>
          <p:cNvSpPr/>
          <p:nvPr/>
        </p:nvSpPr>
        <p:spPr>
          <a:xfrm>
            <a:off x="4043680" y="3772779"/>
            <a:ext cx="693928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engines can isolate an individual postcondition within an individual function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02CBC3C-9061-20A5-E594-165F8B4D0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400" y="3053862"/>
            <a:ext cx="467360" cy="4673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D128E3-5319-6914-A4A6-245151C17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121" y="3843132"/>
            <a:ext cx="599440" cy="59944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472BAF5-52AB-2A9F-9CC2-455978CB655B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</p:spTree>
    <p:extLst>
      <p:ext uri="{BB962C8B-B14F-4D97-AF65-F5344CB8AC3E}">
        <p14:creationId xmlns:p14="http://schemas.microsoft.com/office/powerpoint/2010/main" val="1350617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57200" lvl="1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F881E0-5D24-2878-1BDA-B054DA23B3A2}"/>
              </a:ext>
            </a:extLst>
          </p:cNvPr>
          <p:cNvSpPr/>
          <p:nvPr/>
        </p:nvSpPr>
        <p:spPr>
          <a:xfrm>
            <a:off x="630414" y="1825625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Even with idealized primitives, cryptographic protocol verification is hard -- we didn’t even touch hyper properties!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B6D3E9-F60F-59D9-65C8-297B60DFEA8D}"/>
              </a:ext>
            </a:extLst>
          </p:cNvPr>
          <p:cNvSpPr/>
          <p:nvPr/>
        </p:nvSpPr>
        <p:spPr>
          <a:xfrm>
            <a:off x="630414" y="3499493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Current work is impressive but faces fundamental limitations with scalability, (practical) expressivity, and usable interactivity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35077D-A146-18D5-8BC0-8FD705D2681D}"/>
              </a:ext>
            </a:extLst>
          </p:cNvPr>
          <p:cNvSpPr/>
          <p:nvPr/>
        </p:nvSpPr>
        <p:spPr>
          <a:xfrm>
            <a:off x="630414" y="5170664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We need advances both in terms of theory and verification tooling</a:t>
            </a:r>
          </a:p>
        </p:txBody>
      </p:sp>
    </p:spTree>
    <p:extLst>
      <p:ext uri="{BB962C8B-B14F-4D97-AF65-F5344CB8AC3E}">
        <p14:creationId xmlns:p14="http://schemas.microsoft.com/office/powerpoint/2010/main" val="2118451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6B2E6-AAC7-7031-E954-F3F4B068A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D96F-1E67-5CCF-6D1E-796842481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5C1B9-E4DF-459B-F285-ACE5151B9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latin typeface="Source Sans Pro"/>
                <a:ea typeface="Source Sans Pro"/>
              </a:rPr>
              <a:t>Automated reasoning for protocols </a:t>
            </a:r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dirty="0">
                <a:latin typeface="Source Sans Pro"/>
                <a:ea typeface="Source Sans Pro"/>
              </a:rPr>
              <a:t>Discussion, Open Questions, &amp; Conclusion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BA45F0-B70D-DE28-C4E3-EA00543AB8F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48018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Our current handling of encryption and decryption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does not generalize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Many protocols use other primitives, like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exclusive or </a:t>
                </a:r>
                <a:r>
                  <a:rPr lang="en-US" sz="2400" dirty="0">
                    <a:latin typeface="Source Sans Pro"/>
                    <a:ea typeface="Source Sans Pro"/>
                  </a:rPr>
                  <a:t>(denoted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try to encode properties with multiset rewriting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𝐾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→{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What if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 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want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be derivable, but this requires some form of congruence…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This looks more like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term rewriting </a:t>
                </a:r>
                <a:r>
                  <a:rPr lang="en-US" sz="2400" dirty="0">
                    <a:latin typeface="Source Sans Pro"/>
                    <a:ea typeface="Source Sans Pro"/>
                  </a:rPr>
                  <a:t>problem…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290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</p:spPr>
            <p:txBody>
              <a:bodyPr vert="horz" lIns="91440" tIns="45720" rIns="91440" bIns="45720" rtlCol="0" anchor="t">
                <a:normAutofit fontScale="925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We can capture the algebraic properties of exclusive or with an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endParaRPr lang="en-US" sz="2400" b="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use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equality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While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⊕</m:t>
                            </m:r>
                          </m:sub>
                        </m:sSub>
                      </m:sub>
                    </m:sSub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just update the semantics and property logic to use equality modulo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what about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</a:t>
                </a:r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  <a:blipFill>
                <a:blip r:embed="rId3"/>
                <a:stretch>
                  <a:fillRect l="-724" t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B52435C-3E9A-3A36-FE66-8D4768DE0DE6}"/>
              </a:ext>
            </a:extLst>
          </p:cNvPr>
          <p:cNvGrpSpPr/>
          <p:nvPr/>
        </p:nvGrpSpPr>
        <p:grpSpPr>
          <a:xfrm>
            <a:off x="832242" y="4686390"/>
            <a:ext cx="6185293" cy="1390824"/>
            <a:chOff x="1" y="4512022"/>
            <a:chExt cx="12192206" cy="139082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E8D1870-E043-69AA-76F3-45DF30325830}"/>
                </a:ext>
              </a:extLst>
            </p:cNvPr>
            <p:cNvSpPr/>
            <p:nvPr/>
          </p:nvSpPr>
          <p:spPr>
            <a:xfrm>
              <a:off x="4257315" y="5024336"/>
              <a:ext cx="3693934" cy="1828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/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  <m:sSubSup>
                          <m:sSub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sub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bSup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𝑆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 \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#</m:t>
                                </m:r>
                              </m:sup>
                            </m:s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𝑙</m:t>
                            </m:r>
                          </m:e>
                        </m:d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∪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/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p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∈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𝑔𝑖𝑛𝑠𝑡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𝑬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/>
                            <a:ea typeface="Source Sans Pro"/>
                          </a:rPr>
                          <m:t>     </m:t>
                        </m:r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⊆</m:t>
                            </m:r>
                          </m:e>
                          <m:sup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blipFill>
                  <a:blip r:embed="rId5"/>
                  <a:stretch>
                    <a:fillRect t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FD4AB1-F1DB-D1C0-BB6A-AE79596A27D8}"/>
                </a:ext>
              </a:extLst>
            </p:cNvPr>
            <p:cNvSpPr/>
            <p:nvPr/>
          </p:nvSpPr>
          <p:spPr>
            <a:xfrm>
              <a:off x="4487778" y="4512022"/>
              <a:ext cx="3463471" cy="586236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/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≔ 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→{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/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𝑔𝑖𝑛𝑠𝑡𝑠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blipFill>
                <a:blip r:embed="rId7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/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7566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/>
      <p:bldP spid="11" grpId="0"/>
      <p:bldP spid="12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But what about the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search algorithm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  <a:p>
            <a:r>
              <a:rPr lang="en-US" sz="2400" dirty="0">
                <a:latin typeface="Source Sans Pro"/>
                <a:ea typeface="Source Sans Pro"/>
              </a:rPr>
              <a:t>Recall we need to perform unification of facts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2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0037F1-E4EA-5B44-1C89-C63EF3084613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6E2B240-CDFE-939F-5D9A-74DBD10E609B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Honest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Adversary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F66AB86-A159-C422-87AF-4FE425E6CB29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8EE85D3-532D-18D5-CE84-9436DDCC978A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F0713B0-637E-6473-59A6-8D1D8BA2EEA0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45236701-1CAD-D6D9-A17A-D5A8E49514C8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Source Sans Pro"/>
                <a:ea typeface="Source Sans Pro"/>
              </a:rPr>
              <a:t>Process relies on Tamarin being able to perform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unification</a:t>
            </a:r>
            <a:r>
              <a:rPr lang="en-US" sz="2000" dirty="0">
                <a:latin typeface="Source Sans Pro"/>
                <a:ea typeface="Source Sans Pro"/>
              </a:rPr>
              <a:t> on facts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…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 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′</m:t>
                            </m:r>
                          </m:sup>
                        </m:sSubSup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…,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e>
                    </m:d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  <a:blipFill>
                <a:blip r:embed="rId5"/>
                <a:stretch>
                  <a:fillRect l="-1805" t="-10714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Oval 30">
            <a:extLst>
              <a:ext uri="{FF2B5EF4-FFF2-40B4-BE49-F238E27FC236}">
                <a16:creationId xmlns:a16="http://schemas.microsoft.com/office/drawing/2014/main" id="{43213BC8-D4E7-A2E4-9288-5C7E819A54E3}"/>
              </a:ext>
            </a:extLst>
          </p:cNvPr>
          <p:cNvSpPr/>
          <p:nvPr/>
        </p:nvSpPr>
        <p:spPr>
          <a:xfrm>
            <a:off x="5621066" y="4412253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CDF0D99-E8EF-42D0-2E52-927E60FB463A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E325DD1E-361F-87CD-2262-00E576AF3F51}"/>
              </a:ext>
            </a:extLst>
          </p:cNvPr>
          <p:cNvSpPr txBox="1">
            <a:spLocks/>
          </p:cNvSpPr>
          <p:nvPr/>
        </p:nvSpPr>
        <p:spPr>
          <a:xfrm>
            <a:off x="5689386" y="278505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94554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1" grpId="0"/>
      <p:bldP spid="24" grpId="0" animBg="1"/>
      <p:bldP spid="25" grpId="0" animBg="1"/>
      <p:bldP spid="28" grpId="0"/>
      <p:bldP spid="29" grpId="0"/>
      <p:bldP spid="30" grpId="0"/>
      <p:bldP spid="31" grpId="0" animBg="1"/>
      <p:bldP spid="32" grpId="0" animBg="1"/>
      <p:bldP spid="33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3000" dirty="0">
                    <a:latin typeface="Source Sans Pro"/>
                    <a:ea typeface="Source Sans Pro"/>
                  </a:rPr>
                  <a:t>Orient equations from left to right, obtaining a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rewrite system </a:t>
                </a:r>
                <a:r>
                  <a:rPr lang="en-US" sz="3000" dirty="0">
                    <a:latin typeface="Source Sans Pro"/>
                    <a:ea typeface="Source Sans Pro"/>
                  </a:rPr>
                  <a:t>from the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pPr marL="0" indent="0" algn="ctr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…</m:t>
                          </m:r>
                        </m:e>
                      </m:d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→0, … 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Rewrite systems define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(</a:t>
                </a:r>
                <a:r>
                  <a:rPr lang="en-US" sz="2400" dirty="0" err="1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-)directional evaluation rules </a:t>
                </a:r>
                <a:r>
                  <a:rPr lang="en-US" sz="2400" dirty="0">
                    <a:latin typeface="Source Sans Pro"/>
                    <a:ea typeface="Source Sans Pro"/>
                  </a:rPr>
                  <a:t>for symbolic terms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⊕0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  <a:blipFill>
                <a:blip r:embed="rId3"/>
                <a:stretch>
                  <a:fillRect l="-976" t="-2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2457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F09A150-7776-D155-DE8D-45A14E11A5B7}"/>
              </a:ext>
            </a:extLst>
          </p:cNvPr>
          <p:cNvGrpSpPr/>
          <p:nvPr/>
        </p:nvGrpSpPr>
        <p:grpSpPr>
          <a:xfrm>
            <a:off x="5825122" y="2063862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08E8022B-4B9E-45A0-8292-82DA0D49DD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A6E5158-09CE-B2CC-3582-514FF5BC08F8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0B43E8E7-76B8-DCD9-7E7A-A402130E5AE7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C8C59D5-65EA-0B6D-A6F0-80ED025CBC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7"/>
                  <a:stretch>
                    <a:fillRect t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2870D5E5-84AA-21C7-E0DC-298838A03C18}"/>
              </a:ext>
            </a:extLst>
          </p:cNvPr>
          <p:cNvSpPr txBox="1">
            <a:spLocks/>
          </p:cNvSpPr>
          <p:nvPr/>
        </p:nvSpPr>
        <p:spPr>
          <a:xfrm>
            <a:off x="-1280185" y="1779275"/>
            <a:ext cx="10402124" cy="17470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Convergence </a:t>
            </a:r>
            <a:r>
              <a:rPr lang="en-US" sz="2400" dirty="0">
                <a:latin typeface="Source Sans Pro"/>
                <a:ea typeface="Source Sans Pro"/>
              </a:rPr>
              <a:t>is important for reasoning 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With convergence, terms have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 forms</a:t>
                </a:r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i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d>
                        <m:dPr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𝑑𝑒𝑐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b="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𝐶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⟩→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𝜋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𝑒𝑛𝑐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𝑑𝑒𝑐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𝑚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𝐶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↓ =</m:t>
                    </m:r>
                    <m:r>
                      <a:rPr lang="en-US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</m:oMath>
                </a14:m>
                <a:endParaRPr lang="en-US" sz="2400" b="0" i="1" dirty="0">
                  <a:solidFill>
                    <a:schemeClr val="accent6">
                      <a:lumMod val="75000"/>
                    </a:schemeClr>
                  </a:solidFill>
                  <a:latin typeface="Cambria Math" panose="02040503050406030204" pitchFamily="18" charset="0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  <a:blipFill>
                <a:blip r:embed="rId8"/>
                <a:stretch>
                  <a:fillRect l="-976" t="-5556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550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Consider the problem: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?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R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convergent</a:t>
                </a:r>
                <a:r>
                  <a:rPr lang="en-US" sz="2400" dirty="0">
                    <a:latin typeface="Source Sans Pro"/>
                    <a:ea typeface="Source Sans Pro"/>
                  </a:rPr>
                  <a:t>, we know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unification (finding substitution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s.t.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)?                           Just normalize and then perform syntactic unification?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Let’s try unifying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Normalize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With syntactic unification, we find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p>
                      <m:s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𝜎</m:t>
                        </m:r>
                      </m:e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={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Syntactic unification won’t find this solution! </a:t>
                </a:r>
                <a:r>
                  <a:rPr lang="en-US" sz="2000" i="1" dirty="0">
                    <a:latin typeface="Source Sans Pro"/>
                    <a:ea typeface="Source Sans Pro"/>
                  </a:rPr>
                  <a:t>It relies on knowledge of the equational theory</a:t>
                </a: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In general, there could be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multiple “MGUs” modulo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! 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844" t="-1626" r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can repair our strategy for unification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7857" b="-16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95EE57-0045-D4D8-78A2-958989F50132}"/>
              </a:ext>
            </a:extLst>
          </p:cNvPr>
          <p:cNvGrpSpPr/>
          <p:nvPr/>
        </p:nvGrpSpPr>
        <p:grpSpPr>
          <a:xfrm>
            <a:off x="1004776" y="2880066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CE07780-DC8A-A468-8CE0-EED5ECA437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8309BE5-1198-7217-A4CA-9F4A58DE8786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48FB1A1-B9FE-DA09-D4FC-877E27C4C70B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30363C3-3870-9176-F8AA-0E59CC63F2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8"/>
                  <a:stretch>
                    <a:fillRect t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96637E8-8A87-E07C-FDEE-333DDAC7F0B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77808" y="4141267"/>
            <a:ext cx="256044" cy="256044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7042425-8766-E693-E797-4DCDD78E4D65}"/>
              </a:ext>
            </a:extLst>
          </p:cNvPr>
          <p:cNvCxnSpPr>
            <a:cxnSpLocks/>
          </p:cNvCxnSpPr>
          <p:nvPr/>
        </p:nvCxnSpPr>
        <p:spPr>
          <a:xfrm flipV="1">
            <a:off x="6408150" y="3644190"/>
            <a:ext cx="969168" cy="300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E02FC1F-01F3-0D8C-2187-9F733E5D67A1}"/>
              </a:ext>
            </a:extLst>
          </p:cNvPr>
          <p:cNvCxnSpPr>
            <a:cxnSpLocks/>
          </p:cNvCxnSpPr>
          <p:nvPr/>
        </p:nvCxnSpPr>
        <p:spPr>
          <a:xfrm flipV="1">
            <a:off x="6408150" y="3910821"/>
            <a:ext cx="969168" cy="121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E794C5-CE22-BF46-D9D2-6D2A3B0458A9}"/>
              </a:ext>
            </a:extLst>
          </p:cNvPr>
          <p:cNvCxnSpPr>
            <a:cxnSpLocks/>
          </p:cNvCxnSpPr>
          <p:nvPr/>
        </p:nvCxnSpPr>
        <p:spPr>
          <a:xfrm>
            <a:off x="6408150" y="4133050"/>
            <a:ext cx="969168" cy="443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CE673109-9A93-6254-DDF7-B83C2D7DDEFA}"/>
              </a:ext>
            </a:extLst>
          </p:cNvPr>
          <p:cNvSpPr txBox="1">
            <a:spLocks/>
          </p:cNvSpPr>
          <p:nvPr/>
        </p:nvSpPr>
        <p:spPr>
          <a:xfrm>
            <a:off x="6024013" y="3338230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For any substitution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We can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′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↓</m:t>
                          </m:r>
                        </m:e>
                        <m:sub>
                          <m:sSub>
                            <m:sSubPr>
                              <m:ctrlP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𝐸</m:t>
                              </m:r>
                            </m:sub>
                          </m:sSub>
                        </m:sub>
                      </m:sSub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=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𝜎</m:t>
                          </m:r>
                        </m:e>
                        <m:sup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Variants characterize “shapes” a term can take after substitution and equational reasoning</a:t>
                </a:r>
              </a:p>
              <a:p>
                <a:pPr marL="0" indent="0" algn="ctr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No equational reasoning!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  <a:blipFill>
                <a:blip r:embed="rId12"/>
                <a:stretch>
                  <a:fillRect t="-2190" r="-1288" b="-1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B3011007-A31B-524E-1E32-4D46C15B4C4D}"/>
              </a:ext>
            </a:extLst>
          </p:cNvPr>
          <p:cNvSpPr/>
          <p:nvPr/>
        </p:nvSpPr>
        <p:spPr>
          <a:xfrm>
            <a:off x="10126844" y="3719586"/>
            <a:ext cx="725556" cy="70426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974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uiExpand="1" build="allAtOnce"/>
      <p:bldP spid="11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Goal: find unifiers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DDEB33E-8C9F-1BEC-FEC2-688498D29701}"/>
              </a:ext>
            </a:extLst>
          </p:cNvPr>
          <p:cNvGrpSpPr/>
          <p:nvPr/>
        </p:nvGrpSpPr>
        <p:grpSpPr>
          <a:xfrm>
            <a:off x="1155896" y="2861718"/>
            <a:ext cx="2978990" cy="1531379"/>
            <a:chOff x="5032156" y="3199083"/>
            <a:chExt cx="2978990" cy="15313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 fontScale="92500"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1,1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:endParaRPr lang="en-US" sz="240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</m:t>
                            </m:r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96637E8-8A87-E07C-FDEE-333DDAC7F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53539" y="4002120"/>
              <a:ext cx="256044" cy="256044"/>
            </a:xfrm>
            <a:prstGeom prst="rect">
              <a:avLst/>
            </a:prstGeom>
          </p:spPr>
        </p:pic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7042425-8766-E693-E797-4DCDD78E4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505043"/>
              <a:ext cx="969168" cy="3009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E02FC1F-01F3-0D8C-2187-9F733E5D67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771674"/>
              <a:ext cx="969168" cy="1215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80E794C5-CE22-BF46-D9D2-6D2A3B0458A9}"/>
                </a:ext>
              </a:extLst>
            </p:cNvPr>
            <p:cNvCxnSpPr>
              <a:cxnSpLocks/>
            </p:cNvCxnSpPr>
            <p:nvPr/>
          </p:nvCxnSpPr>
          <p:spPr>
            <a:xfrm>
              <a:off x="5583881" y="3993903"/>
              <a:ext cx="969168" cy="4434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Content Placeholder 2">
              <a:extLst>
                <a:ext uri="{FF2B5EF4-FFF2-40B4-BE49-F238E27FC236}">
                  <a16:creationId xmlns:a16="http://schemas.microsoft.com/office/drawing/2014/main" id="{CE673109-9A93-6254-DDF7-B83C2D7DDEFA}"/>
                </a:ext>
              </a:extLst>
            </p:cNvPr>
            <p:cNvSpPr txBox="1">
              <a:spLocks/>
            </p:cNvSpPr>
            <p:nvPr/>
          </p:nvSpPr>
          <p:spPr>
            <a:xfrm>
              <a:off x="5199744" y="3199083"/>
              <a:ext cx="2262169" cy="5846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2000" dirty="0">
                  <a:latin typeface="Source Sans Pro"/>
                  <a:ea typeface="Source Sans Pro"/>
                </a:rPr>
                <a:t>Variants</a:t>
              </a:r>
              <a:endPara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endParaRPr>
            </a:p>
            <a:p>
              <a:pPr marL="0" indent="0">
                <a:buFont typeface="Arial" panose="020B0604020202020204" pitchFamily="34" charset="0"/>
                <a:buNone/>
              </a:pPr>
              <a:endParaRPr lang="en-US" sz="2000" dirty="0">
                <a:latin typeface="Source Sans Pro"/>
                <a:ea typeface="Source Sans Pro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</m:t>
                          </m:r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323E21F3-5B4D-B4DF-5CC2-38C6FB051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9015" y="3677458"/>
            <a:ext cx="256044" cy="256044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7286C70-BE50-BB3F-28D8-94971A39D67B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195127"/>
            <a:ext cx="924696" cy="297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36AB5D-D6D6-BCE3-0B5A-99B5BCE0DA8A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490614"/>
            <a:ext cx="840134" cy="652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C21335D-CCE2-237D-B51C-0F2AD52DA564}"/>
              </a:ext>
            </a:extLst>
          </p:cNvPr>
          <p:cNvCxnSpPr>
            <a:cxnSpLocks/>
          </p:cNvCxnSpPr>
          <p:nvPr/>
        </p:nvCxnSpPr>
        <p:spPr>
          <a:xfrm flipH="1">
            <a:off x="4929453" y="3694072"/>
            <a:ext cx="840134" cy="498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A5BD66E8-F947-0469-F0D3-83605D0F1E86}"/>
              </a:ext>
            </a:extLst>
          </p:cNvPr>
          <p:cNvSpPr txBox="1">
            <a:spLocks/>
          </p:cNvSpPr>
          <p:nvPr/>
        </p:nvSpPr>
        <p:spPr>
          <a:xfrm>
            <a:off x="5178144" y="2919979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43C582-A7CC-4A66-D57C-7967649CE4E9}"/>
              </a:ext>
            </a:extLst>
          </p:cNvPr>
          <p:cNvCxnSpPr/>
          <p:nvPr/>
        </p:nvCxnSpPr>
        <p:spPr>
          <a:xfrm>
            <a:off x="3478697" y="3154056"/>
            <a:ext cx="90446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765970-4E14-F11A-4A98-A29D8481D003}"/>
              </a:ext>
            </a:extLst>
          </p:cNvPr>
          <p:cNvCxnSpPr>
            <a:cxnSpLocks/>
          </p:cNvCxnSpPr>
          <p:nvPr/>
        </p:nvCxnSpPr>
        <p:spPr>
          <a:xfrm>
            <a:off x="3478697" y="3227117"/>
            <a:ext cx="909794" cy="1608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611B9D1-498B-27F7-2CFC-7C1FC7AB2855}"/>
              </a:ext>
            </a:extLst>
          </p:cNvPr>
          <p:cNvCxnSpPr>
            <a:cxnSpLocks/>
          </p:cNvCxnSpPr>
          <p:nvPr/>
        </p:nvCxnSpPr>
        <p:spPr>
          <a:xfrm>
            <a:off x="3457394" y="3258166"/>
            <a:ext cx="971183" cy="91824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475E4FF-62BE-EDE9-32AD-4327994227B7}"/>
              </a:ext>
            </a:extLst>
          </p:cNvPr>
          <p:cNvCxnSpPr>
            <a:cxnSpLocks/>
          </p:cNvCxnSpPr>
          <p:nvPr/>
        </p:nvCxnSpPr>
        <p:spPr>
          <a:xfrm flipV="1">
            <a:off x="3398160" y="3461041"/>
            <a:ext cx="964831" cy="436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100764-7D45-F99C-2E34-9D3F9E87C193}"/>
              </a:ext>
            </a:extLst>
          </p:cNvPr>
          <p:cNvCxnSpPr>
            <a:cxnSpLocks/>
          </p:cNvCxnSpPr>
          <p:nvPr/>
        </p:nvCxnSpPr>
        <p:spPr>
          <a:xfrm flipV="1">
            <a:off x="3412602" y="3229036"/>
            <a:ext cx="984937" cy="2320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E15BE68-A8CC-D5F2-CCEF-0088CBEFF078}"/>
              </a:ext>
            </a:extLst>
          </p:cNvPr>
          <p:cNvCxnSpPr>
            <a:cxnSpLocks/>
          </p:cNvCxnSpPr>
          <p:nvPr/>
        </p:nvCxnSpPr>
        <p:spPr>
          <a:xfrm>
            <a:off x="3412602" y="3577715"/>
            <a:ext cx="995181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893D3E4-ABF8-CACE-A57E-1388A9EBC78C}"/>
              </a:ext>
            </a:extLst>
          </p:cNvPr>
          <p:cNvCxnSpPr>
            <a:cxnSpLocks/>
          </p:cNvCxnSpPr>
          <p:nvPr/>
        </p:nvCxnSpPr>
        <p:spPr>
          <a:xfrm>
            <a:off x="3398160" y="4234675"/>
            <a:ext cx="1030417" cy="582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6808CE6-8A48-0D49-B907-8F36CB769544}"/>
              </a:ext>
            </a:extLst>
          </p:cNvPr>
          <p:cNvCxnSpPr>
            <a:cxnSpLocks/>
          </p:cNvCxnSpPr>
          <p:nvPr/>
        </p:nvCxnSpPr>
        <p:spPr>
          <a:xfrm flipV="1">
            <a:off x="3398160" y="3504655"/>
            <a:ext cx="1030417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72C0C58-1BB8-41B2-C5E0-B64167794608}"/>
              </a:ext>
            </a:extLst>
          </p:cNvPr>
          <p:cNvCxnSpPr>
            <a:cxnSpLocks/>
          </p:cNvCxnSpPr>
          <p:nvPr/>
        </p:nvCxnSpPr>
        <p:spPr>
          <a:xfrm flipV="1">
            <a:off x="3343761" y="3274429"/>
            <a:ext cx="1098570" cy="8267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/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latin typeface="Source Sans Pro"/>
                    <a:ea typeface="Source Sans Pro"/>
                  </a:rPr>
                  <a:t>Unifying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000" dirty="0">
                    <a:latin typeface="Source Sans Pro"/>
                    <a:ea typeface="Source Sans Pro"/>
                  </a:rPr>
                  <a:t>modulo E yields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r>
                  <a:rPr lang="en-US" sz="2000" b="1" dirty="0">
                    <a:latin typeface="Source Sans Pro"/>
                    <a:ea typeface="Source Sans Pro"/>
                  </a:rPr>
                  <a:t>and</a:t>
                </a: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endParaRPr 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blipFill>
                <a:blip r:embed="rId9"/>
                <a:stretch>
                  <a:fillRect l="-1385" t="-2857" r="-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5D249C6-DB48-BB22-1625-BCAEBC22468B}"/>
              </a:ext>
            </a:extLst>
          </p:cNvPr>
          <p:cNvSpPr txBox="1">
            <a:spLocks/>
          </p:cNvSpPr>
          <p:nvPr/>
        </p:nvSpPr>
        <p:spPr>
          <a:xfrm>
            <a:off x="2676789" y="4523666"/>
            <a:ext cx="2883223" cy="82045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Pairwise syntactic unification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Collect all unifiers!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15138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453999-6C39-E05F-3593-65A2F8DFDAC2}"/>
              </a:ext>
            </a:extLst>
          </p:cNvPr>
          <p:cNvSpPr/>
          <p:nvPr/>
        </p:nvSpPr>
        <p:spPr>
          <a:xfrm>
            <a:off x="3606800" y="3898900"/>
            <a:ext cx="5765800" cy="355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223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Partition it!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⊕−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⊕0=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𝑧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convergence and FVP!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Thankfully,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variants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unification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are already addressed in the literature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Hence, we can lift the previous algo to proceed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“modulo AC”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05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640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 general, how can Tamarin reason about special operators?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Introduce new function symbols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Axiomatize via equational theory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Borrow results from term rewriting literature to make reasoning faster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How would I apply this recipe to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arithmetic</a:t>
            </a:r>
            <a:r>
              <a:rPr lang="en-US" sz="2400" dirty="0">
                <a:latin typeface="Source Sans Pro"/>
                <a:ea typeface="Source Sans Pro"/>
              </a:rPr>
              <a:t>?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One can encode </a:t>
            </a:r>
            <a:r>
              <a:rPr lang="en-US" sz="2400" dirty="0" err="1">
                <a:latin typeface="Source Sans Pro"/>
                <a:ea typeface="Source Sans Pro"/>
              </a:rPr>
              <a:t>Peano</a:t>
            </a:r>
            <a:r>
              <a:rPr lang="en-US" sz="2400" dirty="0">
                <a:latin typeface="Source Sans Pro"/>
                <a:ea typeface="Source Sans Pro"/>
              </a:rPr>
              <a:t> or </a:t>
            </a:r>
            <a:r>
              <a:rPr lang="en-US" sz="2400" dirty="0" err="1">
                <a:latin typeface="Source Sans Pro"/>
                <a:ea typeface="Source Sans Pro"/>
              </a:rPr>
              <a:t>Presburger</a:t>
            </a:r>
            <a:r>
              <a:rPr lang="en-US" sz="2400" dirty="0">
                <a:latin typeface="Source Sans Pro"/>
                <a:ea typeface="Source Sans Pro"/>
              </a:rPr>
              <a:t> arithmetic...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Does this work? Can we do better?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Can we adapt the search strategy to reason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compositionally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498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Tamarin Property Specification Language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Language syntax and semantics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CCSA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latin typeface="Source Sans Pro"/>
                <a:ea typeface="Source Sans Pro"/>
              </a:rPr>
              <a:t>C</a:t>
            </a:r>
            <a:r>
              <a:rPr lang="en-US" dirty="0" err="1">
                <a:latin typeface="Source Sans Pro"/>
                <a:ea typeface="Source Sans Pro"/>
              </a:rPr>
              <a:t>omputionally</a:t>
            </a:r>
            <a:r>
              <a:rPr lang="en-US" dirty="0">
                <a:latin typeface="Source Sans Pro"/>
                <a:ea typeface="Source Sans Pro"/>
              </a:rPr>
              <a:t> </a:t>
            </a:r>
            <a:r>
              <a:rPr lang="en-US" b="1" dirty="0">
                <a:latin typeface="Source Sans Pro"/>
                <a:ea typeface="Source Sans Pro"/>
              </a:rPr>
              <a:t>c</a:t>
            </a:r>
            <a:r>
              <a:rPr lang="en-US" dirty="0">
                <a:latin typeface="Source Sans Pro"/>
                <a:ea typeface="Source Sans Pro"/>
              </a:rPr>
              <a:t>omplete </a:t>
            </a:r>
            <a:r>
              <a:rPr lang="en-US" b="1" dirty="0">
                <a:latin typeface="Source Sans Pro"/>
                <a:ea typeface="Source Sans Pro"/>
              </a:rPr>
              <a:t>s</a:t>
            </a:r>
            <a:r>
              <a:rPr lang="en-US" dirty="0">
                <a:latin typeface="Source Sans Pro"/>
                <a:ea typeface="Source Sans Pro"/>
              </a:rPr>
              <a:t>ymbolic </a:t>
            </a:r>
            <a:r>
              <a:rPr lang="en-US" b="1" dirty="0">
                <a:latin typeface="Source Sans Pro"/>
                <a:ea typeface="Source Sans Pro"/>
              </a:rPr>
              <a:t>a</a:t>
            </a:r>
            <a:r>
              <a:rPr lang="en-US" dirty="0">
                <a:latin typeface="Source Sans Pro"/>
                <a:ea typeface="Source Sans Pro"/>
              </a:rPr>
              <a:t>ttacker 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CCSA</a:t>
            </a:r>
            <a:r>
              <a:rPr lang="en-US" dirty="0">
                <a:latin typeface="Source Sans Pro"/>
                <a:ea typeface="Source Sans Pro"/>
              </a:rPr>
              <a:t>)</a:t>
            </a:r>
          </a:p>
          <a:p>
            <a:r>
              <a:rPr lang="en-US" dirty="0">
                <a:latin typeface="Source Sans Pro"/>
                <a:ea typeface="Source Sans Pro"/>
              </a:rPr>
              <a:t>Fundamental tradeoffs 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reason with full precision but lose automation (computational)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make simplifying assumptions but lose proof soundness (symbolic)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maintain automation and proof soundness but lose attack soundness (CCSA) (proof soundness arguably more important; but sometimes a lower bar is better) </a:t>
            </a:r>
          </a:p>
          <a:p>
            <a:r>
              <a:rPr lang="en-US" dirty="0">
                <a:latin typeface="Source Sans Pro"/>
                <a:ea typeface="Source Sans Pro"/>
              </a:rPr>
              <a:t>BC logic, </a:t>
            </a:r>
            <a:r>
              <a:rPr lang="en-US" dirty="0" err="1">
                <a:latin typeface="Source Sans Pro"/>
                <a:ea typeface="Source Sans Pro"/>
              </a:rPr>
              <a:t>subterm</a:t>
            </a:r>
            <a:r>
              <a:rPr lang="en-US" dirty="0">
                <a:latin typeface="Source Sans Pro"/>
                <a:ea typeface="Source Sans Pro"/>
              </a:rPr>
              <a:t> reasoning/eval predicate and </a:t>
            </a:r>
            <a:r>
              <a:rPr lang="en-US" dirty="0" err="1">
                <a:latin typeface="Source Sans Pro"/>
                <a:ea typeface="Source Sans Pro"/>
              </a:rPr>
              <a:t>axiomation</a:t>
            </a:r>
            <a:r>
              <a:rPr lang="en-US" dirty="0">
                <a:latin typeface="Source Sans Pro"/>
                <a:ea typeface="Source Sans Pro"/>
              </a:rPr>
              <a:t>, cryptographic axioms, and so on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14802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BAN Logic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Acronym</a:t>
            </a:r>
          </a:p>
          <a:p>
            <a:r>
              <a:rPr lang="en-US" dirty="0">
                <a:latin typeface="Source Sans Pro"/>
                <a:ea typeface="Source Sans Pro"/>
              </a:rPr>
              <a:t>Missed Needham-Schroeder bug (analysis in paper that introduced the logic!)</a:t>
            </a:r>
          </a:p>
          <a:p>
            <a:r>
              <a:rPr lang="en-US" dirty="0">
                <a:latin typeface="Source Sans Pro"/>
                <a:ea typeface="Source Sans Pro"/>
              </a:rPr>
              <a:t>Relies on manual annotations of assumptions at each protocol step</a:t>
            </a:r>
          </a:p>
          <a:p>
            <a:r>
              <a:rPr lang="en-US" dirty="0">
                <a:latin typeface="Source Sans Pro"/>
                <a:ea typeface="Source Sans Pro"/>
              </a:rPr>
              <a:t>Shifts adversarial reasoning largely from the logic to the user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198652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3628D-B4CD-4C8A-B76A-131556787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ource Sans Pro"/>
                <a:ea typeface="Source Sans Pro"/>
              </a:rPr>
              <a:t>Things to discuss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115ED-9912-DA77-67F5-5CDAA5970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62500" lnSpcReduction="20000"/>
          </a:bodyPr>
          <a:lstStyle/>
          <a:p>
            <a:r>
              <a:rPr lang="en-US" dirty="0">
                <a:latin typeface="Source Sans Pro"/>
                <a:ea typeface="Source Sans Pro"/>
              </a:rPr>
              <a:t>Could also talk about BAN and why it didn't work very well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Requires manual annotations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Doesn't reason about adversarial actions – originally sold as a benefit, but it essentially shifts adversarial reasoning from the logic to the user, which is error-prone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Public key Needham-Schroeder is BAN-secure! (check this, looks like analysis in the original paper)</a:t>
            </a:r>
          </a:p>
          <a:p>
            <a:r>
              <a:rPr lang="en-US" dirty="0">
                <a:latin typeface="Source Sans Pro"/>
                <a:ea typeface="Source Sans Pro"/>
              </a:rPr>
              <a:t>Already in report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 attacks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 dirty="0">
                <a:latin typeface="Source Sans Pro"/>
                <a:ea typeface="Source Sans Pro"/>
              </a:rPr>
              <a:t>Relationships between semantics</a:t>
            </a:r>
          </a:p>
          <a:p>
            <a:r>
              <a:rPr lang="en-US" dirty="0">
                <a:latin typeface="Source Sans Pro"/>
                <a:ea typeface="Source Sans Pro"/>
              </a:rPr>
              <a:t>Give more details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Strong typing assumption, XOR vs pairing/projection (how can it help you in one case? What about the other?)</a:t>
            </a:r>
            <a:endParaRPr lang="en-US" sz="2200" dirty="0"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 dirty="0">
                <a:latin typeface="Source Sans Pro"/>
                <a:ea typeface="Source Sans Pro"/>
              </a:rPr>
              <a:t>Reveal scenarios (required for Needham-Schroeder attack); give updated security properties</a:t>
            </a:r>
            <a:endParaRPr lang="en-US" dirty="0"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Example(s) where secrecy labels are over conservative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Symbolic model not strictly weaker than computational model</a:t>
            </a:r>
          </a:p>
          <a:p>
            <a:r>
              <a:rPr lang="en-US" dirty="0">
                <a:latin typeface="Source Sans Pro"/>
                <a:ea typeface="Source Sans Pro"/>
              </a:rPr>
              <a:t>Not in report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Protocols involving arithmetic; how Tamarin models arithmetic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Some tidbits about CCSA – overview of the BC logic, why automated reasoning about it is hard, cryptographic axioms, and spurious counterexamples</a:t>
            </a:r>
          </a:p>
        </p:txBody>
      </p:sp>
    </p:spTree>
    <p:extLst>
      <p:ext uri="{BB962C8B-B14F-4D97-AF65-F5344CB8AC3E}">
        <p14:creationId xmlns:p14="http://schemas.microsoft.com/office/powerpoint/2010/main" val="1572822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20604</TotalTime>
  <Words>8158</Words>
  <Application>Microsoft Macintosh PowerPoint</Application>
  <PresentationFormat>Widescreen</PresentationFormat>
  <Paragraphs>1118</Paragraphs>
  <Slides>123</Slides>
  <Notes>28</Notes>
  <HiddenSlides>9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34" baseType="lpstr">
      <vt:lpstr>Aptos</vt:lpstr>
      <vt:lpstr>Aptos Display</vt:lpstr>
      <vt:lpstr>Arial</vt:lpstr>
      <vt:lpstr>Avenir Next</vt:lpstr>
      <vt:lpstr>Britannic Bold</vt:lpstr>
      <vt:lpstr>Calibri</vt:lpstr>
      <vt:lpstr>Cambria Math</vt:lpstr>
      <vt:lpstr>Courier New</vt:lpstr>
      <vt:lpstr>Source Sans Pro</vt:lpstr>
      <vt:lpstr>Wingdings</vt:lpstr>
      <vt:lpstr>Office Theme</vt:lpstr>
      <vt:lpstr>Automated Reasoning for Security Protocols</vt:lpstr>
      <vt:lpstr>Introduction &amp; Motivation</vt:lpstr>
      <vt:lpstr>Introduction &amp; Motivation</vt:lpstr>
      <vt:lpstr>Introduction &amp; Motivation</vt:lpstr>
      <vt:lpstr>Roadmap</vt:lpstr>
      <vt:lpstr>Objectives</vt:lpstr>
      <vt:lpstr>Roadmap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Security of Primitives</vt:lpstr>
      <vt:lpstr>Mathematical Cryptography: Security of Primitives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Threat Models</vt:lpstr>
      <vt:lpstr>Threat Models</vt:lpstr>
      <vt:lpstr>Symbolic Model</vt:lpstr>
      <vt:lpstr>Symbolic Model</vt:lpstr>
      <vt:lpstr>Symbolic Model</vt:lpstr>
      <vt:lpstr>Symbolic Model</vt:lpstr>
      <vt:lpstr>Symbolic Model</vt:lpstr>
      <vt:lpstr>Roadmap</vt:lpstr>
      <vt:lpstr>Protocol Reasoning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Automated Property Satisfaction/Violation</vt:lpstr>
      <vt:lpstr>Automated Property Satisfaction/Violation</vt:lpstr>
      <vt:lpstr>Automated Property Satisfaction/Violation</vt:lpstr>
      <vt:lpstr>Automated Property Satisfaction/Violation</vt:lpstr>
      <vt:lpstr>Automated Property Satisfaction/Violation</vt:lpstr>
      <vt:lpstr>Roadmap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First Attack on Needham-Schroeder</vt:lpstr>
      <vt:lpstr>First Attack on Needham-Schroeder</vt:lpstr>
      <vt:lpstr>First Attack on Needham-Schroeder</vt:lpstr>
      <vt:lpstr>First Attack on Needham-Schroeder</vt:lpstr>
      <vt:lpstr>First Attack on Needham-Schroeder</vt:lpstr>
      <vt:lpstr>Needham-Schroeder Public Key Protocol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Roadmap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Other Metatheorems</vt:lpstr>
      <vt:lpstr>Roadmap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Conclusion</vt:lpstr>
      <vt:lpstr>PowerPoint Presentation</vt:lpstr>
      <vt:lpstr>Roadmap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Appendix: Tamarin Property Specification Language</vt:lpstr>
      <vt:lpstr>Appendix: CCSA Model</vt:lpstr>
      <vt:lpstr>Appendix: BAN Logic</vt:lpstr>
      <vt:lpstr>Things to discuss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1034</cp:revision>
  <cp:lastPrinted>2026-04-01T18:06:29Z</cp:lastPrinted>
  <dcterms:created xsi:type="dcterms:W3CDTF">2026-03-16T17:02:12Z</dcterms:created>
  <dcterms:modified xsi:type="dcterms:W3CDTF">2026-04-21T22:22:43Z</dcterms:modified>
</cp:coreProperties>
</file>